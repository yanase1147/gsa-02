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2" r:id="rId1"/>
  </p:sldMasterIdLst>
  <p:notesMasterIdLst>
    <p:notesMasterId r:id="rId39"/>
  </p:notesMasterIdLst>
  <p:sldIdLst>
    <p:sldId id="635" r:id="rId2"/>
    <p:sldId id="682" r:id="rId3"/>
    <p:sldId id="683" r:id="rId4"/>
    <p:sldId id="693" r:id="rId5"/>
    <p:sldId id="686" r:id="rId6"/>
    <p:sldId id="257" r:id="rId7"/>
    <p:sldId id="684" r:id="rId8"/>
    <p:sldId id="691" r:id="rId9"/>
    <p:sldId id="695" r:id="rId10"/>
    <p:sldId id="696" r:id="rId11"/>
    <p:sldId id="687" r:id="rId12"/>
    <p:sldId id="688" r:id="rId13"/>
    <p:sldId id="685" r:id="rId14"/>
    <p:sldId id="690" r:id="rId15"/>
    <p:sldId id="689" r:id="rId16"/>
    <p:sldId id="667" r:id="rId17"/>
    <p:sldId id="661" r:id="rId18"/>
    <p:sldId id="669" r:id="rId19"/>
    <p:sldId id="666" r:id="rId20"/>
    <p:sldId id="677" r:id="rId21"/>
    <p:sldId id="670" r:id="rId22"/>
    <p:sldId id="671" r:id="rId23"/>
    <p:sldId id="256" r:id="rId24"/>
    <p:sldId id="679" r:id="rId25"/>
    <p:sldId id="258" r:id="rId26"/>
    <p:sldId id="676" r:id="rId27"/>
    <p:sldId id="665" r:id="rId28"/>
    <p:sldId id="673" r:id="rId29"/>
    <p:sldId id="674" r:id="rId30"/>
    <p:sldId id="675" r:id="rId31"/>
    <p:sldId id="680" r:id="rId32"/>
    <p:sldId id="259" r:id="rId33"/>
    <p:sldId id="260" r:id="rId34"/>
    <p:sldId id="261" r:id="rId35"/>
    <p:sldId id="262" r:id="rId36"/>
    <p:sldId id="263" r:id="rId37"/>
    <p:sldId id="681" r:id="rId38"/>
  </p:sldIdLst>
  <p:sldSz cx="10693400" cy="7561263"/>
  <p:notesSz cx="6735763" cy="986631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9FCB00D2-3A16-438B-9EEA-D83C6F7866BB}">
          <p14:sldIdLst>
            <p14:sldId id="635"/>
            <p14:sldId id="682"/>
            <p14:sldId id="683"/>
            <p14:sldId id="693"/>
            <p14:sldId id="686"/>
            <p14:sldId id="257"/>
            <p14:sldId id="684"/>
            <p14:sldId id="691"/>
            <p14:sldId id="695"/>
            <p14:sldId id="696"/>
            <p14:sldId id="687"/>
            <p14:sldId id="688"/>
            <p14:sldId id="685"/>
            <p14:sldId id="690"/>
            <p14:sldId id="689"/>
            <p14:sldId id="667"/>
            <p14:sldId id="661"/>
            <p14:sldId id="669"/>
            <p14:sldId id="666"/>
            <p14:sldId id="677"/>
            <p14:sldId id="670"/>
            <p14:sldId id="671"/>
            <p14:sldId id="256"/>
            <p14:sldId id="679"/>
            <p14:sldId id="258"/>
            <p14:sldId id="676"/>
            <p14:sldId id="665"/>
            <p14:sldId id="673"/>
            <p14:sldId id="674"/>
            <p14:sldId id="675"/>
            <p14:sldId id="680"/>
            <p14:sldId id="259"/>
            <p14:sldId id="260"/>
            <p14:sldId id="261"/>
            <p14:sldId id="262"/>
            <p14:sldId id="263"/>
            <p14:sldId id="681"/>
          </p14:sldIdLst>
        </p14:section>
      </p14:sectionLst>
    </p:ext>
    <p:ext uri="{EFAFB233-063F-42B5-8137-9DF3F51BA10A}">
      <p15:sldGuideLst xmlns:p15="http://schemas.microsoft.com/office/powerpoint/2012/main">
        <p15:guide id="1" orient="horz" pos="2382">
          <p15:clr>
            <a:srgbClr val="A4A3A4"/>
          </p15:clr>
        </p15:guide>
        <p15:guide id="2" pos="3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4" roundtripDataSignature="AMtx7mgE3X5YQNVkCfK6IQlmZLeiBaORr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柳瀬崇" initials="" lastIdx="2" clrIdx="0"/>
  <p:cmAuthor id="1" name="柳瀬崇" initials="柳瀬崇" lastIdx="0" clrIdx="1">
    <p:extLst>
      <p:ext uri="{19B8F6BF-5375-455C-9EA6-DF929625EA0E}">
        <p15:presenceInfo xmlns:p15="http://schemas.microsoft.com/office/powerpoint/2012/main" userId="S-1-5-21-1348145760-402173477-3656683305-15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D624F7-45F6-4965-A375-3286DDFBF814}">
  <a:tblStyle styleId="{64D624F7-45F6-4965-A375-3286DDFBF81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501B0F7-01FF-4960-B730-E44C7A256130}" styleName="Table_1">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854B67C7-B280-42D8-B184-0A409CBFCAF9}" styleName="Table_2">
    <a:wholeTbl>
      <a:tcTxStyle b="off" i="off">
        <a:font>
          <a:latin typeface="Times New Roman"/>
          <a:ea typeface="Times New Roman"/>
          <a:cs typeface="Times New Roman"/>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b="off" i="off"/>
      <a:tcStyle>
        <a:tcBdr/>
        <a:fill>
          <a:solidFill>
            <a:srgbClr val="CFD7E7"/>
          </a:solidFill>
        </a:fill>
      </a:tcStyle>
    </a:band1H>
    <a:band2H>
      <a:tcTxStyle b="off" i="off"/>
      <a:tcStyle>
        <a:tcBdr/>
      </a:tcStyle>
    </a:band2H>
    <a:band1V>
      <a:tcTxStyle b="off" i="off"/>
      <a:tcStyle>
        <a:tcBdr/>
        <a:fill>
          <a:solidFill>
            <a:srgbClr val="CFD7E7"/>
          </a:solidFill>
        </a:fill>
      </a:tcStyle>
    </a:band1V>
    <a:band2V>
      <a:tcTxStyle b="off" i="off"/>
      <a:tcStyle>
        <a:tcBdr/>
      </a:tcStyle>
    </a:band2V>
    <a:lastCol>
      <a:tcTxStyle b="on" i="off">
        <a:font>
          <a:latin typeface="Times New Roman"/>
          <a:ea typeface="Times New Roman"/>
          <a:cs typeface="Times New Roman"/>
        </a:font>
        <a:schemeClr val="lt1"/>
      </a:tcTxStyle>
      <a:tcStyle>
        <a:tcBdr/>
        <a:fill>
          <a:solidFill>
            <a:schemeClr val="accent1"/>
          </a:solidFill>
        </a:fill>
      </a:tcStyle>
    </a:lastCol>
    <a:firstCol>
      <a:tcTxStyle b="on" i="off">
        <a:font>
          <a:latin typeface="Times New Roman"/>
          <a:ea typeface="Times New Roman"/>
          <a:cs typeface="Times New Roman"/>
        </a:font>
        <a:schemeClr val="lt1"/>
      </a:tcTxStyle>
      <a:tcStyle>
        <a:tcBdr/>
        <a:fill>
          <a:solidFill>
            <a:schemeClr val="accent1"/>
          </a:solidFill>
        </a:fill>
      </a:tcStyle>
    </a:firstCol>
    <a:lastRow>
      <a:tcTxStyle b="on" i="off">
        <a:font>
          <a:latin typeface="Times New Roman"/>
          <a:ea typeface="Times New Roman"/>
          <a:cs typeface="Times New Roman"/>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Times New Roman"/>
          <a:ea typeface="Times New Roman"/>
          <a:cs typeface="Times New Roman"/>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807" autoAdjust="0"/>
    <p:restoredTop sz="94684" autoAdjust="0"/>
  </p:normalViewPr>
  <p:slideViewPr>
    <p:cSldViewPr snapToGrid="0">
      <p:cViewPr varScale="1">
        <p:scale>
          <a:sx n="95" d="100"/>
          <a:sy n="95" d="100"/>
        </p:scale>
        <p:origin x="156" y="90"/>
      </p:cViewPr>
      <p:guideLst>
        <p:guide orient="horz" pos="2382"/>
        <p:guide pos="3368"/>
      </p:guideLst>
    </p:cSldViewPr>
  </p:slideViewPr>
  <p:outlineViewPr>
    <p:cViewPr>
      <p:scale>
        <a:sx n="33" d="100"/>
        <a:sy n="33" d="100"/>
      </p:scale>
      <p:origin x="0" y="-12306"/>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76"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74" Type="http://customschemas.google.com/relationships/presentationmetadata" Target="metadata"/><Relationship Id="rId79"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77"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75"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7.492384270602355E-2"/>
          <c:y val="2.8032619775739041E-2"/>
          <c:w val="0.91111123773171321"/>
          <c:h val="0.8013303886598252"/>
        </c:manualLayout>
      </c:layout>
      <c:barChart>
        <c:barDir val="col"/>
        <c:grouping val="stacked"/>
        <c:varyColors val="1"/>
        <c:ser>
          <c:idx val="0"/>
          <c:order val="0"/>
          <c:tx>
            <c:strRef>
              <c:f>Sheet1!$B$1</c:f>
              <c:strCache>
                <c:ptCount val="1"/>
                <c:pt idx="0">
                  <c:v>Solar</c:v>
                </c:pt>
              </c:strCache>
            </c:strRef>
          </c:tx>
          <c:spPr>
            <a:solidFill>
              <a:srgbClr val="FFC000"/>
            </a:solidFill>
          </c:spPr>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71.551032436848161</c:v>
                </c:pt>
                <c:pt idx="1">
                  <c:v>69.919405327215998</c:v>
                </c:pt>
                <c:pt idx="2">
                  <c:v>70.439173596087215</c:v>
                </c:pt>
                <c:pt idx="3">
                  <c:v>79.121424394558446</c:v>
                </c:pt>
                <c:pt idx="4">
                  <c:v>79.391360969598153</c:v>
                </c:pt>
                <c:pt idx="5">
                  <c:v>69.295556422378539</c:v>
                </c:pt>
                <c:pt idx="6">
                  <c:v>77.501776240543634</c:v>
                </c:pt>
                <c:pt idx="7">
                  <c:v>64.110032291487485</c:v>
                </c:pt>
                <c:pt idx="8">
                  <c:v>71.400655363462377</c:v>
                </c:pt>
                <c:pt idx="9">
                  <c:v>74.536827368945083</c:v>
                </c:pt>
                <c:pt idx="10">
                  <c:v>69.959750273365046</c:v>
                </c:pt>
                <c:pt idx="11">
                  <c:v>70.83065401386429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BD5-4F01-9473-60911D7C6CAA}"/>
            </c:ext>
          </c:extLst>
        </c:ser>
        <c:ser>
          <c:idx val="1"/>
          <c:order val="1"/>
          <c:tx>
            <c:strRef>
              <c:f>Sheet1!$C$1</c:f>
              <c:strCache>
                <c:ptCount val="1"/>
                <c:pt idx="0">
                  <c:v>Wind</c:v>
                </c:pt>
              </c:strCache>
            </c:strRef>
          </c:tx>
          <c:spPr>
            <a:solidFill>
              <a:srgbClr val="00B0F0"/>
            </a:solidFill>
          </c:spPr>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0">
                  <c:v>7.7244459657863569</c:v>
                </c:pt>
                <c:pt idx="1">
                  <c:v>3.7512038193945729</c:v>
                </c:pt>
                <c:pt idx="2">
                  <c:v>1.6608568001848125</c:v>
                </c:pt>
                <c:pt idx="3">
                  <c:v>0.92359371508773247</c:v>
                </c:pt>
                <c:pt idx="4">
                  <c:v>5.3249434072081261</c:v>
                </c:pt>
                <c:pt idx="5">
                  <c:v>11.100349712463164</c:v>
                </c:pt>
                <c:pt idx="6">
                  <c:v>9.0143026920733753</c:v>
                </c:pt>
                <c:pt idx="7">
                  <c:v>19.708109752596886</c:v>
                </c:pt>
                <c:pt idx="8">
                  <c:v>8.0475694710361125</c:v>
                </c:pt>
                <c:pt idx="9">
                  <c:v>2.307451243043841</c:v>
                </c:pt>
                <c:pt idx="10">
                  <c:v>4.6658318939075398</c:v>
                </c:pt>
                <c:pt idx="11">
                  <c:v>7.2034075042200136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ABD5-4F01-9473-60911D7C6CAA}"/>
            </c:ext>
          </c:extLst>
        </c:ser>
        <c:ser>
          <c:idx val="2"/>
          <c:order val="2"/>
          <c:tx>
            <c:strRef>
              <c:f>Sheet1!$D$1</c:f>
              <c:strCache>
                <c:ptCount val="1"/>
                <c:pt idx="0">
                  <c:v>Diesel</c:v>
                </c:pt>
              </c:strCache>
            </c:strRef>
          </c:tx>
          <c:invertIfNegative val="1"/>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0">
                  <c:v>0.44735322769009112</c:v>
                </c:pt>
                <c:pt idx="1">
                  <c:v>0</c:v>
                </c:pt>
                <c:pt idx="2">
                  <c:v>9.9760700053878104E-2</c:v>
                </c:pt>
                <c:pt idx="3">
                  <c:v>8.1797173577547326</c:v>
                </c:pt>
                <c:pt idx="4">
                  <c:v>7.7583742993849008</c:v>
                </c:pt>
                <c:pt idx="5">
                  <c:v>8.6237055722285021</c:v>
                </c:pt>
                <c:pt idx="6">
                  <c:v>1.6897376682011984</c:v>
                </c:pt>
                <c:pt idx="7">
                  <c:v>1.1910107247103636</c:v>
                </c:pt>
                <c:pt idx="8">
                  <c:v>2.4504974918895215</c:v>
                </c:pt>
                <c:pt idx="9">
                  <c:v>2.3178612391570872</c:v>
                </c:pt>
                <c:pt idx="10">
                  <c:v>1.9273853302948942</c:v>
                </c:pt>
                <c:pt idx="11">
                  <c:v>0</c:v>
                </c:pt>
              </c:numCache>
            </c:numRef>
          </c:val>
          <c:extLst>
            <c:ext xmlns:c16="http://schemas.microsoft.com/office/drawing/2014/chart" uri="{C3380CC4-5D6E-409C-BE32-E72D297353CC}">
              <c16:uniqueId val="{00000002-ABD5-4F01-9473-60911D7C6CAA}"/>
            </c:ext>
          </c:extLst>
        </c:ser>
        <c:dLbls>
          <c:showLegendKey val="0"/>
          <c:showVal val="0"/>
          <c:showCatName val="0"/>
          <c:showSerName val="0"/>
          <c:showPercent val="0"/>
          <c:showBubbleSize val="0"/>
        </c:dLbls>
        <c:gapWidth val="50"/>
        <c:overlap val="10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400">
                <a:latin typeface="+mn-ea"/>
                <a:ea typeface="+mn-ea"/>
              </a:defRPr>
            </a:pPr>
            <a:endParaRPr lang="ja-JP"/>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US" sz="1400">
                    <a:latin typeface="+mn-ea"/>
                    <a:ea typeface="+mn-ea"/>
                  </a:rPr>
                  <a:t>Energy (MWh)</a:t>
                </a:r>
              </a:p>
            </c:rich>
          </c:tx>
          <c:overlay val="0"/>
        </c:title>
        <c:numFmt formatCode="General" sourceLinked="1"/>
        <c:majorTickMark val="out"/>
        <c:minorTickMark val="none"/>
        <c:tickLblPos val="nextTo"/>
        <c:txPr>
          <a:bodyPr/>
          <a:lstStyle/>
          <a:p>
            <a:pPr>
              <a:defRPr sz="1100"/>
            </a:pPr>
            <a:endParaRPr lang="ja-JP"/>
          </a:p>
        </c:txPr>
        <c:crossAx val="-2068027336"/>
        <c:crosses val="autoZero"/>
        <c:crossBetween val="between"/>
      </c:valAx>
    </c:plotArea>
    <c:legend>
      <c:legendPos val="b"/>
      <c:layout>
        <c:manualLayout>
          <c:xMode val="edge"/>
          <c:yMode val="edge"/>
          <c:x val="0.2867033973040608"/>
          <c:y val="0.91038533858683279"/>
          <c:w val="0.42659310542824519"/>
          <c:h val="5.6114490806678914E-2"/>
        </c:manualLayout>
      </c:layout>
      <c:overlay val="1"/>
      <c:txPr>
        <a:bodyPr/>
        <a:lstStyle/>
        <a:p>
          <a:pPr>
            <a:defRPr sz="1400"/>
          </a:pPr>
          <a:endParaRPr lang="ja-JP"/>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2" y="0"/>
            <a:ext cx="2918621" cy="493237"/>
          </a:xfrm>
          <a:prstGeom prst="rect">
            <a:avLst/>
          </a:prstGeom>
          <a:noFill/>
          <a:ln>
            <a:noFill/>
          </a:ln>
        </p:spPr>
        <p:txBody>
          <a:bodyPr spcFirstLastPara="1" wrap="square" lIns="90630" tIns="45302" rIns="90630" bIns="45302"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15573" y="0"/>
            <a:ext cx="2918621" cy="493237"/>
          </a:xfrm>
          <a:prstGeom prst="rect">
            <a:avLst/>
          </a:prstGeom>
          <a:noFill/>
          <a:ln>
            <a:noFill/>
          </a:ln>
        </p:spPr>
        <p:txBody>
          <a:bodyPr spcFirstLastPara="1" wrap="square" lIns="90630" tIns="45302" rIns="90630" bIns="45302"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754063" y="741363"/>
            <a:ext cx="5227637" cy="36972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73892" y="4686539"/>
            <a:ext cx="5387982" cy="4439132"/>
          </a:xfrm>
          <a:prstGeom prst="rect">
            <a:avLst/>
          </a:prstGeom>
          <a:noFill/>
          <a:ln>
            <a:noFill/>
          </a:ln>
        </p:spPr>
        <p:txBody>
          <a:bodyPr spcFirstLastPara="1" wrap="square" lIns="90630" tIns="45302" rIns="90630" bIns="45302"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2" y="9371503"/>
            <a:ext cx="2918621" cy="493236"/>
          </a:xfrm>
          <a:prstGeom prst="rect">
            <a:avLst/>
          </a:prstGeom>
          <a:noFill/>
          <a:ln>
            <a:noFill/>
          </a:ln>
        </p:spPr>
        <p:txBody>
          <a:bodyPr spcFirstLastPara="1" wrap="square" lIns="90630" tIns="45302" rIns="90630" bIns="45302"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15573" y="9371503"/>
            <a:ext cx="2918621" cy="493236"/>
          </a:xfrm>
          <a:prstGeom prst="rect">
            <a:avLst/>
          </a:prstGeom>
          <a:noFill/>
          <a:ln>
            <a:noFill/>
          </a:ln>
        </p:spPr>
        <p:txBody>
          <a:bodyPr spcFirstLastPara="1" wrap="square" lIns="90630" tIns="45302" rIns="90630" bIns="45302" anchor="b" anchorCtr="0">
            <a:noAutofit/>
          </a:bodyPr>
          <a:lstStyle/>
          <a:p>
            <a:pPr algn="r">
              <a:buSzPts val="1200"/>
            </a:pPr>
            <a:fld id="{00000000-1234-1234-1234-123412341234}" type="slidenum">
              <a:rPr lang="en-US" sz="1200" smtClean="0">
                <a:solidFill>
                  <a:schemeClr val="dk1"/>
                </a:solidFill>
                <a:latin typeface="Calibri"/>
                <a:ea typeface="Calibri"/>
                <a:cs typeface="Calibri"/>
                <a:sym typeface="Calibri"/>
              </a:rPr>
              <a:pPr algn="r">
                <a:buSzPts val="1200"/>
              </a:pPr>
              <a:t>‹#›</a:t>
            </a:fld>
            <a:endParaRPr lang="en-US" sz="1200">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3909284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 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336675" y="1238250"/>
            <a:ext cx="8020050" cy="2632075"/>
          </a:xfrm>
        </p:spPr>
        <p:txBody>
          <a:bodyPr anchor="b">
            <a:normAutofit/>
          </a:bodyPr>
          <a:lstStyle>
            <a:lvl1pPr algn="ctr">
              <a:defRPr sz="3600"/>
            </a:lvl1pPr>
          </a:lstStyle>
          <a:p>
            <a:r>
              <a:rPr kumimoji="1" lang="ja-JP" altLang="en-US" dirty="0"/>
              <a:t>マスター タイトルの書式設定</a:t>
            </a:r>
          </a:p>
        </p:txBody>
      </p:sp>
      <p:sp>
        <p:nvSpPr>
          <p:cNvPr id="3" name="サブタイトル 2"/>
          <p:cNvSpPr>
            <a:spLocks noGrp="1"/>
          </p:cNvSpPr>
          <p:nvPr>
            <p:ph type="subTitle" idx="1"/>
          </p:nvPr>
        </p:nvSpPr>
        <p:spPr>
          <a:xfrm>
            <a:off x="1336675" y="3971925"/>
            <a:ext cx="8020050" cy="18256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7" name="スライド番号プレースホルダー 6"/>
          <p:cNvSpPr>
            <a:spLocks noGrp="1"/>
          </p:cNvSpPr>
          <p:nvPr>
            <p:ph type="sldNum" sz="quarter" idx="10"/>
          </p:nvPr>
        </p:nvSpPr>
        <p:spPr/>
        <p:txBody>
          <a:bodyPr/>
          <a:lstStyle/>
          <a:p>
            <a:fld id="{0396CD73-C967-4D9B-839B-6A46B6359B27}" type="slidenum">
              <a:rPr kumimoji="1" lang="ja-JP" altLang="en-US" smtClean="0"/>
              <a:pPr/>
              <a:t>‹#›</a:t>
            </a:fld>
            <a:endParaRPr kumimoji="1" lang="ja-JP" altLang="en-US"/>
          </a:p>
        </p:txBody>
      </p:sp>
    </p:spTree>
    <p:extLst>
      <p:ext uri="{BB962C8B-B14F-4D97-AF65-F5344CB8AC3E}">
        <p14:creationId xmlns:p14="http://schemas.microsoft.com/office/powerpoint/2010/main" val="16976240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61259"/>
            <a:ext cx="10003638" cy="706210"/>
          </a:xfrm>
        </p:spPr>
        <p:txBody>
          <a:bodyPr>
            <a:noAutofit/>
          </a:bodyPr>
          <a:lstStyle>
            <a:lvl1pPr>
              <a:defRPr sz="3600" i="0"/>
            </a:lvl1pPr>
          </a:lstStyle>
          <a:p>
            <a:r>
              <a:rPr kumimoji="1" lang="en-US" altLang="ja-JP" dirty="0"/>
              <a:t>Title</a:t>
            </a:r>
            <a:endParaRPr kumimoji="1" lang="ja-JP" altLang="en-US" dirty="0"/>
          </a:p>
        </p:txBody>
      </p:sp>
      <p:sp>
        <p:nvSpPr>
          <p:cNvPr id="15" name="テキスト プレースホルダー 14"/>
          <p:cNvSpPr>
            <a:spLocks noGrp="1"/>
          </p:cNvSpPr>
          <p:nvPr>
            <p:ph type="body" sz="quarter" idx="12" hasCustomPrompt="1"/>
          </p:nvPr>
        </p:nvSpPr>
        <p:spPr>
          <a:xfrm>
            <a:off x="374650" y="949973"/>
            <a:ext cx="10004425" cy="6250928"/>
          </a:xfrm>
        </p:spPr>
        <p:txBody>
          <a:bodyPr>
            <a:normAutofit/>
          </a:bodyPr>
          <a:lstStyle>
            <a:lvl1pPr>
              <a:defRPr sz="1800" i="0"/>
            </a:lvl1pPr>
            <a:lvl2pPr marL="685800" indent="-228600">
              <a:buFont typeface="Wingdings" panose="05000000000000000000" pitchFamily="2" charset="2"/>
              <a:buChar char="Ø"/>
              <a:defRPr sz="1800" i="0" baseline="0"/>
            </a:lvl2pPr>
            <a:lvl3pPr marL="1143000" indent="-228600">
              <a:buFont typeface="Wingdings" panose="05000000000000000000" pitchFamily="2" charset="2"/>
              <a:buChar char="l"/>
              <a:defRPr sz="1800" i="0" baseline="0"/>
            </a:lvl3pPr>
            <a:lvl4pPr>
              <a:defRPr sz="1800" i="0" baseline="0"/>
            </a:lvl4pPr>
            <a:lvl5pPr>
              <a:defRPr sz="1800" i="0" baseline="0"/>
            </a:lvl5pPr>
          </a:lstStyle>
          <a:p>
            <a:pPr lvl="0"/>
            <a:r>
              <a:rPr kumimoji="1" lang="en-US" altLang="ja-JP" dirty="0"/>
              <a:t>Text</a:t>
            </a:r>
            <a:endParaRPr kumimoji="1" lang="ja-JP" altLang="en-US" dirty="0"/>
          </a:p>
          <a:p>
            <a:pPr lvl="1"/>
            <a:r>
              <a:rPr kumimoji="1" lang="en-US" altLang="ja-JP" dirty="0"/>
              <a:t>Level 2</a:t>
            </a:r>
            <a:endParaRPr kumimoji="1" lang="ja-JP" altLang="en-US" dirty="0"/>
          </a:p>
          <a:p>
            <a:pPr lvl="2"/>
            <a:r>
              <a:rPr kumimoji="1" lang="en-US" altLang="ja-JP" dirty="0"/>
              <a:t>Level 3</a:t>
            </a:r>
            <a:endParaRPr kumimoji="1" lang="ja-JP" altLang="en-US" dirty="0"/>
          </a:p>
          <a:p>
            <a:pPr lvl="3"/>
            <a:r>
              <a:rPr kumimoji="1" lang="en-US" altLang="ja-JP" dirty="0"/>
              <a:t>Level 4</a:t>
            </a:r>
            <a:endParaRPr kumimoji="1" lang="ja-JP" altLang="en-US" dirty="0"/>
          </a:p>
          <a:p>
            <a:pPr lvl="4"/>
            <a:r>
              <a:rPr kumimoji="1" lang="en-US" altLang="ja-JP" dirty="0"/>
              <a:t>Level 5</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828303"/>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2353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61259"/>
            <a:ext cx="10003638" cy="706210"/>
          </a:xfrm>
        </p:spPr>
        <p:txBody>
          <a:bodyPr>
            <a:noAutofit/>
          </a:bodyPr>
          <a:lstStyle>
            <a:lvl1pPr>
              <a:defRPr sz="3600" i="0"/>
            </a:lvl1pPr>
          </a:lstStyle>
          <a:p>
            <a:r>
              <a:rPr kumimoji="1" lang="en-US" altLang="ja-JP" dirty="0"/>
              <a:t>Title</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828303"/>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36762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spTree>
      <p:nvGrpSpPr>
        <p:cNvPr id="1" name=""/>
        <p:cNvGrpSpPr/>
        <p:nvPr/>
      </p:nvGrpSpPr>
      <p:grpSpPr>
        <a:xfrm>
          <a:off x="0" y="0"/>
          <a:ext cx="0" cy="0"/>
          <a:chOff x="0" y="0"/>
          <a:chExt cx="0" cy="0"/>
        </a:xfrm>
      </p:grpSpPr>
      <p:sp>
        <p:nvSpPr>
          <p:cNvPr id="6" name="フッター プレースホルダー 2"/>
          <p:cNvSpPr txBox="1">
            <a:spLocks/>
          </p:cNvSpPr>
          <p:nvPr userDrawn="1"/>
        </p:nvSpPr>
        <p:spPr>
          <a:xfrm>
            <a:off x="3679116" y="6906827"/>
            <a:ext cx="3386243" cy="402567"/>
          </a:xfrm>
          <a:prstGeom prst="rect">
            <a:avLst/>
          </a:prstGeom>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sp>
        <p:nvSpPr>
          <p:cNvPr id="3" name="タイトル 2"/>
          <p:cNvSpPr>
            <a:spLocks noGrp="1"/>
          </p:cNvSpPr>
          <p:nvPr>
            <p:ph type="title" hasCustomPrompt="1"/>
          </p:nvPr>
        </p:nvSpPr>
        <p:spPr>
          <a:xfrm>
            <a:off x="374904" y="3370941"/>
            <a:ext cx="10003638" cy="706210"/>
          </a:xfrm>
        </p:spPr>
        <p:txBody>
          <a:bodyPr>
            <a:noAutofit/>
          </a:bodyPr>
          <a:lstStyle>
            <a:lvl1pPr>
              <a:defRPr sz="3600" i="0"/>
            </a:lvl1pPr>
          </a:lstStyle>
          <a:p>
            <a:r>
              <a:rPr kumimoji="1" lang="en-US" altLang="ja-JP" dirty="0"/>
              <a:t>Title</a:t>
            </a:r>
            <a:endParaRPr kumimoji="1" lang="ja-JP" altLang="en-US" dirty="0"/>
          </a:p>
        </p:txBody>
      </p:sp>
      <p:sp>
        <p:nvSpPr>
          <p:cNvPr id="8" name="フッター プレースホルダー 2"/>
          <p:cNvSpPr txBox="1">
            <a:spLocks/>
          </p:cNvSpPr>
          <p:nvPr userDrawn="1"/>
        </p:nvSpPr>
        <p:spPr>
          <a:xfrm>
            <a:off x="10158578" y="19905"/>
            <a:ext cx="534822" cy="251869"/>
          </a:xfrm>
          <a:prstGeom prst="rect">
            <a:avLst/>
          </a:prstGeom>
          <a:solidFill>
            <a:schemeClr val="tx2">
              <a:lumMod val="75000"/>
            </a:schemeClr>
          </a:solidFill>
        </p:spPr>
        <p:txBody>
          <a:bodyPr vert="horz" lIns="99569" tIns="49785" rIns="99569" bIns="49785" rtlCol="0" anchor="ctr"/>
          <a:lstStyle>
            <a:defPPr>
              <a:defRPr lang="ja-JP"/>
            </a:defPPr>
            <a:lvl1pPr marL="0" algn="ctr" defTabSz="995690" rtl="0" eaLnBrk="1" latinLnBrk="0" hangingPunct="1">
              <a:defRPr kumimoji="1" sz="1300" kern="1200">
                <a:solidFill>
                  <a:schemeClr val="tx1">
                    <a:tint val="75000"/>
                  </a:schemeClr>
                </a:solidFill>
                <a:latin typeface="+mn-lt"/>
                <a:ea typeface="+mn-ea"/>
                <a:cs typeface="+mn-cs"/>
              </a:defRPr>
            </a:lvl1pPr>
            <a:lvl2pPr marL="497845" algn="l" defTabSz="995690" rtl="0" eaLnBrk="1" latinLnBrk="0" hangingPunct="1">
              <a:defRPr kumimoji="1" sz="2000" kern="1200">
                <a:solidFill>
                  <a:schemeClr val="tx1"/>
                </a:solidFill>
                <a:latin typeface="+mn-lt"/>
                <a:ea typeface="+mn-ea"/>
                <a:cs typeface="+mn-cs"/>
              </a:defRPr>
            </a:lvl2pPr>
            <a:lvl3pPr marL="995690" algn="l" defTabSz="995690" rtl="0" eaLnBrk="1" latinLnBrk="0" hangingPunct="1">
              <a:defRPr kumimoji="1" sz="2000" kern="1200">
                <a:solidFill>
                  <a:schemeClr val="tx1"/>
                </a:solidFill>
                <a:latin typeface="+mn-lt"/>
                <a:ea typeface="+mn-ea"/>
                <a:cs typeface="+mn-cs"/>
              </a:defRPr>
            </a:lvl3pPr>
            <a:lvl4pPr marL="1493535" algn="l" defTabSz="995690" rtl="0" eaLnBrk="1" latinLnBrk="0" hangingPunct="1">
              <a:defRPr kumimoji="1" sz="2000" kern="1200">
                <a:solidFill>
                  <a:schemeClr val="tx1"/>
                </a:solidFill>
                <a:latin typeface="+mn-lt"/>
                <a:ea typeface="+mn-ea"/>
                <a:cs typeface="+mn-cs"/>
              </a:defRPr>
            </a:lvl4pPr>
            <a:lvl5pPr marL="1991380" algn="l" defTabSz="995690" rtl="0" eaLnBrk="1" latinLnBrk="0" hangingPunct="1">
              <a:defRPr kumimoji="1" sz="2000" kern="1200">
                <a:solidFill>
                  <a:schemeClr val="tx1"/>
                </a:solidFill>
                <a:latin typeface="+mn-lt"/>
                <a:ea typeface="+mn-ea"/>
                <a:cs typeface="+mn-cs"/>
              </a:defRPr>
            </a:lvl5pPr>
            <a:lvl6pPr marL="2489225" algn="l" defTabSz="995690" rtl="0" eaLnBrk="1" latinLnBrk="0" hangingPunct="1">
              <a:defRPr kumimoji="1" sz="2000" kern="1200">
                <a:solidFill>
                  <a:schemeClr val="tx1"/>
                </a:solidFill>
                <a:latin typeface="+mn-lt"/>
                <a:ea typeface="+mn-ea"/>
                <a:cs typeface="+mn-cs"/>
              </a:defRPr>
            </a:lvl6pPr>
            <a:lvl7pPr marL="2987070" algn="l" defTabSz="995690" rtl="0" eaLnBrk="1" latinLnBrk="0" hangingPunct="1">
              <a:defRPr kumimoji="1" sz="2000" kern="1200">
                <a:solidFill>
                  <a:schemeClr val="tx1"/>
                </a:solidFill>
                <a:latin typeface="+mn-lt"/>
                <a:ea typeface="+mn-ea"/>
                <a:cs typeface="+mn-cs"/>
              </a:defRPr>
            </a:lvl7pPr>
            <a:lvl8pPr marL="3484916" algn="l" defTabSz="995690" rtl="0" eaLnBrk="1" latinLnBrk="0" hangingPunct="1">
              <a:defRPr kumimoji="1" sz="2000" kern="1200">
                <a:solidFill>
                  <a:schemeClr val="tx1"/>
                </a:solidFill>
                <a:latin typeface="+mn-lt"/>
                <a:ea typeface="+mn-ea"/>
                <a:cs typeface="+mn-cs"/>
              </a:defRPr>
            </a:lvl8pPr>
            <a:lvl9pPr marL="3982761" algn="l" defTabSz="995690" rtl="0" eaLnBrk="1" latinLnBrk="0" hangingPunct="1">
              <a:defRPr kumimoji="1" sz="2000" kern="1200">
                <a:solidFill>
                  <a:schemeClr val="tx1"/>
                </a:solidFill>
                <a:latin typeface="+mn-lt"/>
                <a:ea typeface="+mn-ea"/>
                <a:cs typeface="+mn-cs"/>
              </a:defRPr>
            </a:lvl9pPr>
          </a:lstStyle>
          <a:p>
            <a:fld id="{66C50E4F-84EF-44D1-888E-7D075554C033}" type="slidenum">
              <a:rPr lang="ja-JP" altLang="en-US" b="1" smtClean="0">
                <a:solidFill>
                  <a:schemeClr val="bg1"/>
                </a:solidFill>
                <a:latin typeface="Meiryo UI" panose="020B0604030504040204" pitchFamily="50" charset="-128"/>
                <a:ea typeface="Meiryo UI" panose="020B0604030504040204" pitchFamily="50" charset="-128"/>
              </a:rPr>
              <a:pPr/>
              <a:t>‹#›</a:t>
            </a:fld>
            <a:endParaRPr lang="ja-JP" altLang="en-US" b="1" dirty="0">
              <a:solidFill>
                <a:schemeClr val="bg1"/>
              </a:solidFill>
              <a:latin typeface="Meiryo UI" panose="020B0604030504040204" pitchFamily="50" charset="-128"/>
              <a:ea typeface="Meiryo UI" panose="020B0604030504040204" pitchFamily="50" charset="-128"/>
            </a:endParaRPr>
          </a:p>
        </p:txBody>
      </p:sp>
      <p:cxnSp>
        <p:nvCxnSpPr>
          <p:cNvPr id="10" name="直線コネクタ 9"/>
          <p:cNvCxnSpPr/>
          <p:nvPr userDrawn="1"/>
        </p:nvCxnSpPr>
        <p:spPr>
          <a:xfrm>
            <a:off x="0" y="4111222"/>
            <a:ext cx="1069340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6411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821259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9159535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307649" y="209373"/>
            <a:ext cx="10066945" cy="495656"/>
          </a:xfrm>
          <a:prstGeom prst="rect">
            <a:avLst/>
          </a:prstGeom>
        </p:spPr>
        <p:txBody>
          <a:bodyPr vert="horz" lIns="91440" tIns="45720" rIns="91440" bIns="45720" rtlCol="0" anchor="ctr">
            <a:noAutofit/>
          </a:bodyPr>
          <a:lstStyle/>
          <a:p>
            <a:r>
              <a:rPr kumimoji="1" lang="ja-JP" altLang="en-US" dirty="0"/>
              <a:t>マスター タイトルの書式設定</a:t>
            </a:r>
          </a:p>
        </p:txBody>
      </p:sp>
      <p:sp>
        <p:nvSpPr>
          <p:cNvPr id="3" name="テキスト プレースホルダー 2"/>
          <p:cNvSpPr>
            <a:spLocks noGrp="1"/>
          </p:cNvSpPr>
          <p:nvPr>
            <p:ph type="body" idx="1"/>
          </p:nvPr>
        </p:nvSpPr>
        <p:spPr>
          <a:xfrm>
            <a:off x="307649" y="914400"/>
            <a:ext cx="10066945" cy="6413619"/>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スライド番号プレースホルダー 5"/>
          <p:cNvSpPr>
            <a:spLocks noGrp="1"/>
          </p:cNvSpPr>
          <p:nvPr>
            <p:ph type="sldNum" sz="quarter" idx="4"/>
          </p:nvPr>
        </p:nvSpPr>
        <p:spPr>
          <a:xfrm>
            <a:off x="10216571" y="7159626"/>
            <a:ext cx="476829" cy="401637"/>
          </a:xfrm>
          <a:prstGeom prst="rect">
            <a:avLst/>
          </a:prstGeom>
          <a:solidFill>
            <a:schemeClr val="tx2"/>
          </a:solidFill>
        </p:spPr>
        <p:txBody>
          <a:bodyPr vert="horz" lIns="91440" tIns="45720" rIns="91440" bIns="45720" rtlCol="0" anchor="ctr"/>
          <a:lstStyle>
            <a:lvl1pPr algn="r">
              <a:defRPr sz="1200">
                <a:solidFill>
                  <a:schemeClr val="bg1"/>
                </a:solidFill>
              </a:defRPr>
            </a:lvl1pPr>
          </a:lstStyle>
          <a:p>
            <a:fld id="{0396CD73-C967-4D9B-839B-6A46B6359B27}" type="slidenum">
              <a:rPr kumimoji="1" lang="ja-JP" altLang="en-US" smtClean="0"/>
              <a:pPr/>
              <a:t>‹#›</a:t>
            </a:fld>
            <a:endParaRPr kumimoji="1" lang="ja-JP" altLang="en-US"/>
          </a:p>
        </p:txBody>
      </p:sp>
    </p:spTree>
    <p:extLst>
      <p:ext uri="{BB962C8B-B14F-4D97-AF65-F5344CB8AC3E}">
        <p14:creationId xmlns:p14="http://schemas.microsoft.com/office/powerpoint/2010/main" val="3644967794"/>
      </p:ext>
    </p:extLst>
  </p:cSld>
  <p:clrMap bg1="lt1" tx1="dk1" bg2="lt2" tx2="dk2" accent1="accent1" accent2="accent2" accent3="accent3" accent4="accent4" accent5="accent5" accent6="accent6" hlink="hlink" folHlink="folHlink"/>
  <p:sldLayoutIdLst>
    <p:sldLayoutId id="2147483653" r:id="rId1"/>
    <p:sldLayoutId id="2147483657" r:id="rId2"/>
    <p:sldLayoutId id="2147483658" r:id="rId3"/>
    <p:sldLayoutId id="2147483659" r:id="rId4"/>
    <p:sldLayoutId id="2147483660" r:id="rId5"/>
    <p:sldLayoutId id="2147483661" r:id="rId6"/>
  </p:sldLayoutIdLst>
  <p:hf hdr="0" ftr="0" dt="0"/>
  <p:txStyles>
    <p:titleStyle>
      <a:lvl1pPr algn="l" defTabSz="914400" rtl="0" eaLnBrk="1" latinLnBrk="0" hangingPunct="1">
        <a:lnSpc>
          <a:spcPct val="90000"/>
        </a:lnSpc>
        <a:spcBef>
          <a:spcPct val="0"/>
        </a:spcBef>
        <a:buNone/>
        <a:defRPr kumimoji="1" sz="32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n"/>
        <a:defRPr kumimoji="1"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n"/>
        <a:defRPr kumimoji="1"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n"/>
        <a:defRPr kumimoji="1"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n"/>
        <a:defRPr kumimoji="1"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n"/>
        <a:defRPr kumimoji="1"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5.png"/><Relationship Id="rId1" Type="http://schemas.openxmlformats.org/officeDocument/2006/relationships/slideLayout" Target="../slideLayouts/slideLayout3.xml"/><Relationship Id="rId4" Type="http://schemas.openxmlformats.org/officeDocument/2006/relationships/image" Target="../media/image51.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61.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61256" y="1238250"/>
            <a:ext cx="10303329" cy="2632075"/>
          </a:xfrm>
        </p:spPr>
        <p:txBody>
          <a:bodyPr>
            <a:normAutofit/>
          </a:bodyPr>
          <a:lstStyle/>
          <a:p>
            <a:r>
              <a:rPr lang="ja-JP" altLang="en-US" dirty="0"/>
              <a:t>電力系統における柔軟性リソースの帯域別価値評価</a:t>
            </a:r>
            <a:br>
              <a:rPr lang="en-US" altLang="ja-JP" dirty="0"/>
            </a:br>
            <a:br>
              <a:rPr lang="en-US" altLang="ja-JP" dirty="0"/>
            </a:br>
            <a:r>
              <a:rPr lang="en-US" altLang="ja-JP" sz="1800" dirty="0"/>
              <a:t>Sobol</a:t>
            </a:r>
            <a:r>
              <a:rPr lang="ja-JP" altLang="en-US" sz="1800" dirty="0"/>
              <a:t>感度分析による定量的相互作用評価</a:t>
            </a:r>
            <a:br>
              <a:rPr lang="ja-JP" altLang="en-US" sz="1800" dirty="0"/>
            </a:br>
            <a:endParaRPr lang="ja-JP" altLang="en-US" dirty="0"/>
          </a:p>
        </p:txBody>
      </p:sp>
      <p:sp>
        <p:nvSpPr>
          <p:cNvPr id="3" name="サブタイトル 2"/>
          <p:cNvSpPr>
            <a:spLocks noGrp="1"/>
          </p:cNvSpPr>
          <p:nvPr>
            <p:ph type="subTitle" idx="1"/>
          </p:nvPr>
        </p:nvSpPr>
        <p:spPr>
          <a:xfrm>
            <a:off x="1336675" y="5334000"/>
            <a:ext cx="8020050" cy="1825625"/>
          </a:xfrm>
        </p:spPr>
        <p:txBody>
          <a:bodyPr>
            <a:normAutofit/>
          </a:bodyPr>
          <a:lstStyle/>
          <a:p>
            <a:r>
              <a:rPr lang="ja-JP" altLang="en-US" dirty="0"/>
              <a:t>柳瀬　崇</a:t>
            </a:r>
            <a:endParaRPr lang="en-US" altLang="ja-JP" dirty="0"/>
          </a:p>
          <a:p>
            <a:r>
              <a:rPr lang="en-US" altLang="ja-JP" dirty="0"/>
              <a:t>2026</a:t>
            </a:r>
            <a:r>
              <a:rPr lang="ja-JP" altLang="en-US" dirty="0"/>
              <a:t>年</a:t>
            </a:r>
            <a:r>
              <a:rPr lang="en-US" altLang="ja-JP" dirty="0"/>
              <a:t>9</a:t>
            </a:r>
            <a:r>
              <a:rPr lang="ja-JP" altLang="en-US" dirty="0"/>
              <a:t>月</a:t>
            </a:r>
            <a:r>
              <a:rPr lang="en-US" altLang="ja-JP" dirty="0"/>
              <a:t>18</a:t>
            </a:r>
            <a:r>
              <a:rPr lang="ja-JP" altLang="en-US" dirty="0"/>
              <a:t>日</a:t>
            </a:r>
            <a:endParaRPr lang="en-US" altLang="ja-JP" dirty="0"/>
          </a:p>
        </p:txBody>
      </p:sp>
      <p:sp>
        <p:nvSpPr>
          <p:cNvPr id="4" name="スライド番号プレースホルダー 3"/>
          <p:cNvSpPr>
            <a:spLocks noGrp="1"/>
          </p:cNvSpPr>
          <p:nvPr>
            <p:ph type="sldNum" sz="quarter" idx="10"/>
          </p:nvPr>
        </p:nvSpPr>
        <p:spPr>
          <a:xfrm>
            <a:off x="10216571" y="7159626"/>
            <a:ext cx="476829" cy="401637"/>
          </a:xfrm>
        </p:spPr>
        <p:txBody>
          <a:bodyPr/>
          <a:lstStyle/>
          <a:p>
            <a:fld id="{0396CD73-C967-4D9B-839B-6A46B6359B27}" type="slidenum">
              <a:rPr lang="ja-JP" altLang="en-US" smtClean="0"/>
              <a:pPr/>
              <a:t>1</a:t>
            </a:fld>
            <a:endParaRPr lang="ja-JP" altLang="en-US"/>
          </a:p>
        </p:txBody>
      </p:sp>
    </p:spTree>
    <p:extLst>
      <p:ext uri="{BB962C8B-B14F-4D97-AF65-F5344CB8AC3E}">
        <p14:creationId xmlns:p14="http://schemas.microsoft.com/office/powerpoint/2010/main" val="8739501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4EE5A20-FEC7-84B4-ED4A-2E998BD4B7A4}"/>
              </a:ext>
            </a:extLst>
          </p:cNvPr>
          <p:cNvSpPr>
            <a:spLocks noGrp="1"/>
          </p:cNvSpPr>
          <p:nvPr>
            <p:ph type="title"/>
          </p:nvPr>
        </p:nvSpPr>
        <p:spPr/>
        <p:txBody>
          <a:bodyPr/>
          <a:lstStyle/>
          <a:p>
            <a:r>
              <a:rPr lang="ja-JP" altLang="en-US" dirty="0"/>
              <a:t>容量拡張計画における不確実性の課題</a:t>
            </a:r>
            <a:endParaRPr kumimoji="1" lang="ja-JP" altLang="en-US" dirty="0"/>
          </a:p>
        </p:txBody>
      </p:sp>
      <p:sp>
        <p:nvSpPr>
          <p:cNvPr id="3" name="テキスト プレースホルダー 2">
            <a:extLst>
              <a:ext uri="{FF2B5EF4-FFF2-40B4-BE49-F238E27FC236}">
                <a16:creationId xmlns:a16="http://schemas.microsoft.com/office/drawing/2014/main" id="{90A8C274-EEA2-F1A3-AC5B-B125B0C0E90E}"/>
              </a:ext>
            </a:extLst>
          </p:cNvPr>
          <p:cNvSpPr>
            <a:spLocks noGrp="1"/>
          </p:cNvSpPr>
          <p:nvPr>
            <p:ph type="body" sz="quarter" idx="12"/>
          </p:nvPr>
        </p:nvSpPr>
        <p:spPr/>
        <p:txBody>
          <a:bodyPr/>
          <a:lstStyle/>
          <a:p>
            <a:r>
              <a:rPr kumimoji="1" lang="ja-JP" altLang="en-US" dirty="0"/>
              <a:t>決定論的最適化（</a:t>
            </a:r>
            <a:r>
              <a:rPr kumimoji="1" lang="en-US" altLang="ja-JP" dirty="0"/>
              <a:t>Deterministic</a:t>
            </a:r>
            <a:r>
              <a:rPr kumimoji="1" lang="ja-JP" altLang="en-US" dirty="0"/>
              <a:t> </a:t>
            </a:r>
            <a:r>
              <a:rPr kumimoji="1" lang="en-US" altLang="ja-JP" dirty="0"/>
              <a:t>Optimization)</a:t>
            </a:r>
          </a:p>
          <a:p>
            <a:pPr lvl="1"/>
            <a:r>
              <a:rPr lang="ja-JP" altLang="en-US" dirty="0"/>
              <a:t>特定のコスト前提（１点）に依存、感度分析も少数のパラメータを独立に変化させる。</a:t>
            </a:r>
            <a:endParaRPr lang="en-US" altLang="ja-JP" dirty="0"/>
          </a:p>
          <a:p>
            <a:pPr lvl="1"/>
            <a:r>
              <a:rPr lang="ja-JP" altLang="en-US" dirty="0"/>
              <a:t>資本コストの前提が外れると、最適解が大きく崩れる</a:t>
            </a:r>
            <a:endParaRPr lang="en-US" altLang="ja-JP" dirty="0"/>
          </a:p>
          <a:p>
            <a:pPr lvl="1"/>
            <a:r>
              <a:rPr lang="ja-JP" altLang="en-US" dirty="0"/>
              <a:t>単一のパラメータでの感度分析をすることはあっても</a:t>
            </a:r>
            <a:endParaRPr lang="en-US" altLang="ja-JP" dirty="0"/>
          </a:p>
          <a:p>
            <a:r>
              <a:rPr kumimoji="1" lang="ja-JP" altLang="en-US" dirty="0"/>
              <a:t>グローバル感度分析（</a:t>
            </a:r>
            <a:r>
              <a:rPr kumimoji="1" lang="en-US" altLang="ja-JP" dirty="0"/>
              <a:t>Global</a:t>
            </a:r>
            <a:r>
              <a:rPr kumimoji="1" lang="ja-JP" altLang="en-US" dirty="0"/>
              <a:t> </a:t>
            </a:r>
            <a:r>
              <a:rPr kumimoji="1" lang="en-US" altLang="ja-JP" dirty="0"/>
              <a:t>Sensitivity</a:t>
            </a:r>
            <a:r>
              <a:rPr kumimoji="1" lang="ja-JP" altLang="en-US" dirty="0"/>
              <a:t> </a:t>
            </a:r>
            <a:r>
              <a:rPr kumimoji="1" lang="en-US" altLang="ja-JP" dirty="0"/>
              <a:t>Analysis:</a:t>
            </a:r>
            <a:r>
              <a:rPr kumimoji="1" lang="ja-JP" altLang="en-US" dirty="0"/>
              <a:t> </a:t>
            </a:r>
            <a:r>
              <a:rPr kumimoji="1" lang="en-US" altLang="ja-JP" dirty="0"/>
              <a:t>GSA)</a:t>
            </a:r>
          </a:p>
          <a:p>
            <a:pPr lvl="1"/>
            <a:r>
              <a:rPr lang="ja-JP" altLang="en-US" dirty="0"/>
              <a:t>多数のパラメータ空間全体をマッピングし、不確実性がシステム構成と総コストにどう影響するかを定量化</a:t>
            </a:r>
            <a:endParaRPr lang="en-US" altLang="ja-JP" dirty="0"/>
          </a:p>
          <a:p>
            <a:pPr lvl="1"/>
            <a:r>
              <a:rPr kumimoji="1" lang="ja-JP" altLang="en-US" dirty="0"/>
              <a:t>コスト変動に対するシステムのロバスト性と技術間の隠れた相互作用を可視化。</a:t>
            </a:r>
            <a:endParaRPr kumimoji="1" lang="en-US" altLang="ja-JP" dirty="0"/>
          </a:p>
          <a:p>
            <a:pPr lvl="1"/>
            <a:endParaRPr kumimoji="1" lang="ja-JP" altLang="en-US" dirty="0"/>
          </a:p>
        </p:txBody>
      </p:sp>
    </p:spTree>
    <p:extLst>
      <p:ext uri="{BB962C8B-B14F-4D97-AF65-F5344CB8AC3E}">
        <p14:creationId xmlns:p14="http://schemas.microsoft.com/office/powerpoint/2010/main" val="29569453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076224-D686-77A4-375F-5A70458E5617}"/>
              </a:ext>
            </a:extLst>
          </p:cNvPr>
          <p:cNvSpPr>
            <a:spLocks noGrp="1"/>
          </p:cNvSpPr>
          <p:nvPr>
            <p:ph type="title"/>
          </p:nvPr>
        </p:nvSpPr>
        <p:spPr/>
        <p:txBody>
          <a:bodyPr/>
          <a:lstStyle/>
          <a:p>
            <a:r>
              <a:rPr kumimoji="1" lang="ja-JP" altLang="en-US" dirty="0"/>
              <a:t>実験用のサンプルモデル</a:t>
            </a:r>
          </a:p>
        </p:txBody>
      </p:sp>
      <p:sp>
        <p:nvSpPr>
          <p:cNvPr id="3" name="テキスト プレースホルダー 2">
            <a:extLst>
              <a:ext uri="{FF2B5EF4-FFF2-40B4-BE49-F238E27FC236}">
                <a16:creationId xmlns:a16="http://schemas.microsoft.com/office/drawing/2014/main" id="{749C1570-4FBC-1286-414B-7F343930F5C5}"/>
              </a:ext>
            </a:extLst>
          </p:cNvPr>
          <p:cNvSpPr>
            <a:spLocks noGrp="1"/>
          </p:cNvSpPr>
          <p:nvPr>
            <p:ph type="body" sz="quarter" idx="12"/>
          </p:nvPr>
        </p:nvSpPr>
        <p:spPr>
          <a:xfrm>
            <a:off x="374650" y="949973"/>
            <a:ext cx="10004425" cy="6550031"/>
          </a:xfrm>
        </p:spPr>
        <p:txBody>
          <a:bodyPr>
            <a:normAutofit/>
          </a:bodyPr>
          <a:lstStyle/>
          <a:p>
            <a:r>
              <a:rPr kumimoji="1" lang="ja-JP" altLang="en-US" dirty="0"/>
              <a:t>計算手法の確認のために単純化したマイクログリッドモデルを試験用モデルとした。</a:t>
            </a:r>
            <a:endParaRPr kumimoji="1" lang="en-US" altLang="ja-JP" dirty="0"/>
          </a:p>
          <a:p>
            <a:r>
              <a:rPr lang="ja-JP" altLang="en-US" dirty="0"/>
              <a:t>モデルの基本構造</a:t>
            </a:r>
            <a:endParaRPr lang="en-US" altLang="ja-JP" dirty="0"/>
          </a:p>
          <a:p>
            <a:pPr lvl="1"/>
            <a:r>
              <a:rPr lang="ja-JP" altLang="en-US" dirty="0"/>
              <a:t>単一ノード</a:t>
            </a:r>
            <a:endParaRPr lang="en-US" altLang="ja-JP" dirty="0"/>
          </a:p>
          <a:p>
            <a:pPr lvl="1"/>
            <a:r>
              <a:rPr lang="ja-JP" altLang="en-US" dirty="0"/>
              <a:t>需要プロファイル　合成年間需要データ　ピーク</a:t>
            </a:r>
            <a:r>
              <a:rPr lang="en-US" altLang="ja-JP" dirty="0"/>
              <a:t>130MW</a:t>
            </a:r>
          </a:p>
          <a:p>
            <a:pPr lvl="1"/>
            <a:r>
              <a:rPr lang="ja-JP" altLang="en-US" dirty="0"/>
              <a:t>時間解像度　代表日サンプリング</a:t>
            </a:r>
            <a:r>
              <a:rPr lang="en-US" altLang="ja-JP" dirty="0"/>
              <a:t>5</a:t>
            </a:r>
            <a:r>
              <a:rPr lang="ja-JP" altLang="en-US" dirty="0"/>
              <a:t>日おき</a:t>
            </a:r>
            <a:r>
              <a:rPr lang="en-US" altLang="ja-JP" dirty="0"/>
              <a:t>3</a:t>
            </a:r>
            <a:r>
              <a:rPr lang="ja-JP" altLang="en-US" dirty="0"/>
              <a:t>時間刻み（</a:t>
            </a:r>
            <a:r>
              <a:rPr lang="en-US" altLang="ja-JP" dirty="0"/>
              <a:t>1</a:t>
            </a:r>
            <a:r>
              <a:rPr lang="ja-JP" altLang="en-US" dirty="0"/>
              <a:t>日</a:t>
            </a:r>
            <a:r>
              <a:rPr lang="en-US" altLang="ja-JP" dirty="0"/>
              <a:t>8</a:t>
            </a:r>
            <a:r>
              <a:rPr lang="ja-JP" altLang="en-US" dirty="0"/>
              <a:t>スナップショット）</a:t>
            </a:r>
            <a:endParaRPr lang="en-US" altLang="ja-JP" dirty="0"/>
          </a:p>
          <a:p>
            <a:pPr lvl="1"/>
            <a:r>
              <a:rPr lang="ja-JP" altLang="en-US" dirty="0"/>
              <a:t>最適化手法</a:t>
            </a:r>
            <a:r>
              <a:rPr lang="en-US" altLang="ja-JP" dirty="0"/>
              <a:t>:</a:t>
            </a:r>
            <a:r>
              <a:rPr lang="ja-JP" altLang="en-US" dirty="0"/>
              <a:t>容量拡張線形計画法（年間総システムコスト（</a:t>
            </a:r>
            <a:r>
              <a:rPr lang="en-US" altLang="ja-JP" dirty="0"/>
              <a:t>CAPEX+OPEX</a:t>
            </a:r>
            <a:r>
              <a:rPr lang="ja-JP" altLang="en-US" dirty="0"/>
              <a:t>）を最小化）</a:t>
            </a:r>
            <a:endParaRPr lang="en-US" altLang="ja-JP" dirty="0"/>
          </a:p>
          <a:p>
            <a:endParaRPr kumimoji="1" lang="en-US" altLang="ja-JP" dirty="0"/>
          </a:p>
          <a:p>
            <a:pPr lvl="0"/>
            <a:r>
              <a:rPr lang="ja-JP" altLang="en-US" b="1" dirty="0"/>
              <a:t>各技術のコストの入力値</a:t>
            </a:r>
            <a:r>
              <a:rPr lang="ja-JP" altLang="ja-JP" dirty="0"/>
              <a:t>:</a:t>
            </a:r>
            <a:endParaRPr lang="en-US" altLang="ja-JP" dirty="0"/>
          </a:p>
          <a:p>
            <a:endParaRPr kumimoji="1" lang="en-US" altLang="ja-JP" dirty="0"/>
          </a:p>
          <a:p>
            <a:endParaRPr kumimoji="1" lang="ja-JP" altLang="en-US" dirty="0"/>
          </a:p>
        </p:txBody>
      </p:sp>
      <p:grpSp>
        <p:nvGrpSpPr>
          <p:cNvPr id="37" name="グループ化 36">
            <a:extLst>
              <a:ext uri="{FF2B5EF4-FFF2-40B4-BE49-F238E27FC236}">
                <a16:creationId xmlns:a16="http://schemas.microsoft.com/office/drawing/2014/main" id="{2572369F-FD6C-892C-5AD3-8B9B193B7725}"/>
              </a:ext>
            </a:extLst>
          </p:cNvPr>
          <p:cNvGrpSpPr/>
          <p:nvPr/>
        </p:nvGrpSpPr>
        <p:grpSpPr>
          <a:xfrm>
            <a:off x="1108603" y="5755410"/>
            <a:ext cx="8476193" cy="1565090"/>
            <a:chOff x="1104264" y="2082114"/>
            <a:chExt cx="8476193" cy="1565090"/>
          </a:xfrm>
        </p:grpSpPr>
        <p:sp>
          <p:nvSpPr>
            <p:cNvPr id="8" name="Google Shape;263;p14">
              <a:extLst>
                <a:ext uri="{FF2B5EF4-FFF2-40B4-BE49-F238E27FC236}">
                  <a16:creationId xmlns:a16="http://schemas.microsoft.com/office/drawing/2014/main" id="{08A43868-86B5-CBEF-0C97-892630EF0D83}"/>
                </a:ext>
              </a:extLst>
            </p:cNvPr>
            <p:cNvSpPr txBox="1"/>
            <p:nvPr/>
          </p:nvSpPr>
          <p:spPr>
            <a:xfrm>
              <a:off x="1104264" y="2850801"/>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ディーゼル発電機</a:t>
              </a:r>
              <a:endParaRPr sz="1200" b="0" i="0" u="none" strike="noStrike" cap="none" dirty="0">
                <a:solidFill>
                  <a:srgbClr val="000000"/>
                </a:solidFill>
                <a:latin typeface="Arial"/>
                <a:ea typeface="Arial"/>
                <a:cs typeface="Arial"/>
                <a:sym typeface="Arial"/>
              </a:endParaRPr>
            </a:p>
          </p:txBody>
        </p:sp>
        <p:sp>
          <p:nvSpPr>
            <p:cNvPr id="10" name="Google Shape;265;p14">
              <a:extLst>
                <a:ext uri="{FF2B5EF4-FFF2-40B4-BE49-F238E27FC236}">
                  <a16:creationId xmlns:a16="http://schemas.microsoft.com/office/drawing/2014/main" id="{3E473C40-4CAF-620E-46C8-4FC9C26B80C1}"/>
                </a:ext>
              </a:extLst>
            </p:cNvPr>
            <p:cNvSpPr txBox="1"/>
            <p:nvPr/>
          </p:nvSpPr>
          <p:spPr>
            <a:xfrm>
              <a:off x="3134970" y="2850801"/>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dirty="0"/>
                <a:t>太陽光発電</a:t>
              </a:r>
              <a:endParaRPr sz="1200" b="0" i="0" u="none" strike="noStrike" cap="none" dirty="0">
                <a:solidFill>
                  <a:srgbClr val="000000"/>
                </a:solidFill>
                <a:latin typeface="Arial"/>
                <a:ea typeface="Arial"/>
                <a:cs typeface="Arial"/>
                <a:sym typeface="Arial"/>
              </a:endParaRPr>
            </a:p>
          </p:txBody>
        </p:sp>
        <p:sp>
          <p:nvSpPr>
            <p:cNvPr id="11" name="Google Shape;266;p14">
              <a:extLst>
                <a:ext uri="{FF2B5EF4-FFF2-40B4-BE49-F238E27FC236}">
                  <a16:creationId xmlns:a16="http://schemas.microsoft.com/office/drawing/2014/main" id="{9D69A121-C5AD-BCDC-C3F6-9E0AEE446506}"/>
                </a:ext>
              </a:extLst>
            </p:cNvPr>
            <p:cNvSpPr txBox="1"/>
            <p:nvPr/>
          </p:nvSpPr>
          <p:spPr>
            <a:xfrm>
              <a:off x="4945241" y="2850801"/>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蓄電システム</a:t>
              </a:r>
              <a:endParaRPr sz="1200" b="0" i="0" u="none" strike="noStrike" cap="none" dirty="0">
                <a:solidFill>
                  <a:srgbClr val="000000"/>
                </a:solidFill>
                <a:latin typeface="Arial"/>
                <a:ea typeface="Arial"/>
                <a:cs typeface="Arial"/>
                <a:sym typeface="Arial"/>
              </a:endParaRPr>
            </a:p>
          </p:txBody>
        </p:sp>
        <p:sp>
          <p:nvSpPr>
            <p:cNvPr id="15" name="Google Shape;261;p14">
              <a:extLst>
                <a:ext uri="{FF2B5EF4-FFF2-40B4-BE49-F238E27FC236}">
                  <a16:creationId xmlns:a16="http://schemas.microsoft.com/office/drawing/2014/main" id="{2A35C3F8-8339-CD74-39D6-AC9AFAE8431F}"/>
                </a:ext>
              </a:extLst>
            </p:cNvPr>
            <p:cNvSpPr txBox="1"/>
            <p:nvPr/>
          </p:nvSpPr>
          <p:spPr>
            <a:xfrm>
              <a:off x="6755512" y="2844759"/>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風力発電</a:t>
              </a:r>
              <a:endParaRPr sz="1200" b="0" i="0" u="none" strike="noStrike" cap="none" dirty="0">
                <a:solidFill>
                  <a:srgbClr val="000000"/>
                </a:solidFill>
                <a:latin typeface="Arial"/>
                <a:ea typeface="Arial"/>
                <a:cs typeface="Arial"/>
                <a:sym typeface="Arial"/>
              </a:endParaRPr>
            </a:p>
          </p:txBody>
        </p:sp>
        <p:cxnSp>
          <p:nvCxnSpPr>
            <p:cNvPr id="18" name="直線コネクタ 17">
              <a:extLst>
                <a:ext uri="{FF2B5EF4-FFF2-40B4-BE49-F238E27FC236}">
                  <a16:creationId xmlns:a16="http://schemas.microsoft.com/office/drawing/2014/main" id="{CF7FFE7E-1CBB-6D1A-CCBC-F67DD187E9B9}"/>
                </a:ext>
              </a:extLst>
            </p:cNvPr>
            <p:cNvCxnSpPr>
              <a:cxnSpLocks/>
            </p:cNvCxnSpPr>
            <p:nvPr/>
          </p:nvCxnSpPr>
          <p:spPr>
            <a:xfrm flipV="1">
              <a:off x="1166117" y="2082114"/>
              <a:ext cx="8410831" cy="44637"/>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20" name="直線コネクタ 19">
              <a:extLst>
                <a:ext uri="{FF2B5EF4-FFF2-40B4-BE49-F238E27FC236}">
                  <a16:creationId xmlns:a16="http://schemas.microsoft.com/office/drawing/2014/main" id="{B649D64C-2DDD-1168-AB41-58572B2B1246}"/>
                </a:ext>
              </a:extLst>
            </p:cNvPr>
            <p:cNvCxnSpPr>
              <a:stCxn id="8" idx="0"/>
            </p:cNvCxnSpPr>
            <p:nvPr/>
          </p:nvCxnSpPr>
          <p:spPr>
            <a:xfrm flipH="1" flipV="1">
              <a:off x="1700373"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A8D5FAB2-1B9F-F445-0EB2-92CB05B2FA4A}"/>
                </a:ext>
              </a:extLst>
            </p:cNvPr>
            <p:cNvCxnSpPr>
              <a:cxnSpLocks/>
            </p:cNvCxnSpPr>
            <p:nvPr/>
          </p:nvCxnSpPr>
          <p:spPr>
            <a:xfrm flipH="1" flipV="1">
              <a:off x="3731956"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DC7CADEF-47E0-2ECE-3099-235EF7E7FB0B}"/>
                </a:ext>
              </a:extLst>
            </p:cNvPr>
            <p:cNvCxnSpPr>
              <a:cxnSpLocks/>
            </p:cNvCxnSpPr>
            <p:nvPr/>
          </p:nvCxnSpPr>
          <p:spPr>
            <a:xfrm flipH="1" flipV="1">
              <a:off x="5542227"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AFE041AD-7CD7-DB7F-05AA-D6B6398CA019}"/>
                </a:ext>
              </a:extLst>
            </p:cNvPr>
            <p:cNvCxnSpPr>
              <a:cxnSpLocks/>
            </p:cNvCxnSpPr>
            <p:nvPr/>
          </p:nvCxnSpPr>
          <p:spPr>
            <a:xfrm flipH="1" flipV="1">
              <a:off x="7350743"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Google Shape;261;p14">
              <a:extLst>
                <a:ext uri="{FF2B5EF4-FFF2-40B4-BE49-F238E27FC236}">
                  <a16:creationId xmlns:a16="http://schemas.microsoft.com/office/drawing/2014/main" id="{37A4C81D-D3D3-91FE-378F-64C3D9970B9F}"/>
                </a:ext>
              </a:extLst>
            </p:cNvPr>
            <p:cNvSpPr txBox="1"/>
            <p:nvPr/>
          </p:nvSpPr>
          <p:spPr>
            <a:xfrm>
              <a:off x="8384732" y="2844759"/>
              <a:ext cx="1195725" cy="796403"/>
            </a:xfrm>
            <a:prstGeom prst="rect">
              <a:avLst/>
            </a:prstGeom>
            <a:solidFill>
              <a:schemeClr val="lt1"/>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ja-JP" altLang="en-US" sz="1200" b="0" i="0" u="none" strike="noStrike" cap="none" dirty="0">
                  <a:solidFill>
                    <a:srgbClr val="000000"/>
                  </a:solidFill>
                  <a:latin typeface="Arial"/>
                  <a:ea typeface="Arial"/>
                  <a:cs typeface="Arial"/>
                  <a:sym typeface="Arial"/>
                </a:rPr>
                <a:t>電力需要</a:t>
              </a:r>
              <a:endParaRPr sz="1200" b="0" i="0" u="none" strike="noStrike" cap="none" dirty="0">
                <a:solidFill>
                  <a:srgbClr val="000000"/>
                </a:solidFill>
                <a:latin typeface="Arial"/>
                <a:ea typeface="Arial"/>
                <a:cs typeface="Arial"/>
                <a:sym typeface="Arial"/>
              </a:endParaRPr>
            </a:p>
          </p:txBody>
        </p:sp>
        <p:cxnSp>
          <p:nvCxnSpPr>
            <p:cNvPr id="25" name="直線コネクタ 24">
              <a:extLst>
                <a:ext uri="{FF2B5EF4-FFF2-40B4-BE49-F238E27FC236}">
                  <a16:creationId xmlns:a16="http://schemas.microsoft.com/office/drawing/2014/main" id="{D7509F13-45A7-FFD7-75E4-569B35C766C3}"/>
                </a:ext>
              </a:extLst>
            </p:cNvPr>
            <p:cNvCxnSpPr>
              <a:cxnSpLocks/>
            </p:cNvCxnSpPr>
            <p:nvPr/>
          </p:nvCxnSpPr>
          <p:spPr>
            <a:xfrm flipH="1" flipV="1">
              <a:off x="8979963" y="2126751"/>
              <a:ext cx="1754" cy="72405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grpSp>
      <p:graphicFrame>
        <p:nvGraphicFramePr>
          <p:cNvPr id="5" name="表 4">
            <a:extLst>
              <a:ext uri="{FF2B5EF4-FFF2-40B4-BE49-F238E27FC236}">
                <a16:creationId xmlns:a16="http://schemas.microsoft.com/office/drawing/2014/main" id="{E8C20E6D-8CA5-6FC6-C26C-A4674B9DCF98}"/>
              </a:ext>
            </a:extLst>
          </p:cNvPr>
          <p:cNvGraphicFramePr>
            <a:graphicFrameLocks noGrp="1"/>
          </p:cNvGraphicFramePr>
          <p:nvPr>
            <p:extLst>
              <p:ext uri="{D42A27DB-BD31-4B8C-83A1-F6EECF244321}">
                <p14:modId xmlns:p14="http://schemas.microsoft.com/office/powerpoint/2010/main" val="1545837552"/>
              </p:ext>
            </p:extLst>
          </p:nvPr>
        </p:nvGraphicFramePr>
        <p:xfrm>
          <a:off x="314325" y="3806054"/>
          <a:ext cx="9907674" cy="1314450"/>
        </p:xfrm>
        <a:graphic>
          <a:graphicData uri="http://schemas.openxmlformats.org/drawingml/2006/table">
            <a:tbl>
              <a:tblPr firstRow="1" firstCol="1" bandRow="1">
                <a:tableStyleId>{854B67C7-B280-42D8-B184-0A409CBFCAF9}</a:tableStyleId>
              </a:tblPr>
              <a:tblGrid>
                <a:gridCol w="1706001">
                  <a:extLst>
                    <a:ext uri="{9D8B030D-6E8A-4147-A177-3AD203B41FA5}">
                      <a16:colId xmlns:a16="http://schemas.microsoft.com/office/drawing/2014/main" val="1204599960"/>
                    </a:ext>
                  </a:extLst>
                </a:gridCol>
                <a:gridCol w="3565946">
                  <a:extLst>
                    <a:ext uri="{9D8B030D-6E8A-4147-A177-3AD203B41FA5}">
                      <a16:colId xmlns:a16="http://schemas.microsoft.com/office/drawing/2014/main" val="3188947399"/>
                    </a:ext>
                  </a:extLst>
                </a:gridCol>
                <a:gridCol w="1804584">
                  <a:extLst>
                    <a:ext uri="{9D8B030D-6E8A-4147-A177-3AD203B41FA5}">
                      <a16:colId xmlns:a16="http://schemas.microsoft.com/office/drawing/2014/main" val="1293916709"/>
                    </a:ext>
                  </a:extLst>
                </a:gridCol>
                <a:gridCol w="1325475">
                  <a:extLst>
                    <a:ext uri="{9D8B030D-6E8A-4147-A177-3AD203B41FA5}">
                      <a16:colId xmlns:a16="http://schemas.microsoft.com/office/drawing/2014/main" val="2294938888"/>
                    </a:ext>
                  </a:extLst>
                </a:gridCol>
                <a:gridCol w="1505668">
                  <a:extLst>
                    <a:ext uri="{9D8B030D-6E8A-4147-A177-3AD203B41FA5}">
                      <a16:colId xmlns:a16="http://schemas.microsoft.com/office/drawing/2014/main" val="620693798"/>
                    </a:ext>
                  </a:extLst>
                </a:gridCol>
              </a:tblGrid>
              <a:tr h="211803">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電源</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CAPEX [$/MW]</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(OPEX) [$/MWh]</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耐用年数 </a:t>
                      </a:r>
                      <a:r>
                        <a:rPr kumimoji="1" lang="en-US" altLang="ja-JP" sz="1600" b="0" kern="1200" dirty="0">
                          <a:solidFill>
                            <a:schemeClr val="lt1"/>
                          </a:solidFill>
                          <a:effectLst/>
                          <a:latin typeface="+mn-ea"/>
                          <a:ea typeface="+mn-ea"/>
                        </a:rPr>
                        <a:t>[</a:t>
                      </a:r>
                      <a:r>
                        <a:rPr kumimoji="1" lang="ja-JP" altLang="en-US" sz="1600" b="0" kern="1200" dirty="0">
                          <a:solidFill>
                            <a:schemeClr val="lt1"/>
                          </a:solidFill>
                          <a:effectLst/>
                          <a:latin typeface="+mn-ea"/>
                          <a:ea typeface="+mn-ea"/>
                        </a:rPr>
                        <a:t>年</a:t>
                      </a:r>
                      <a:r>
                        <a:rPr kumimoji="1" lang="en-US" altLang="ja-JP" sz="1600" b="0" kern="1200" dirty="0">
                          <a:solidFill>
                            <a:schemeClr val="lt1"/>
                          </a:solidFill>
                          <a:effectLst/>
                          <a:latin typeface="+mn-ea"/>
                          <a:ea typeface="+mn-ea"/>
                        </a:rPr>
                        <a:t>]</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lt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266913123"/>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Solar</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700,000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450180208"/>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Wind</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1,100,000</a:t>
                      </a:r>
                      <a:endParaRPr kumimoji="1" lang="ja-JP" altLang="ja-JP" sz="1600" b="0" i="0" kern="1200" dirty="0">
                        <a:solidFill>
                          <a:srgbClr val="FF0000"/>
                        </a:solidFill>
                        <a:effectLst/>
                        <a:latin typeface="+mn-ea"/>
                        <a:ea typeface="Times New Roman"/>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781214321"/>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Diesel</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800,000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250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3829162887"/>
                  </a:ext>
                </a:extLst>
              </a:tr>
              <a:tr h="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Battery</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600,000</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12</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6</a:t>
                      </a:r>
                      <a:r>
                        <a:rPr kumimoji="1" lang="ja-JP" altLang="en-US" sz="1600" b="0" i="0" kern="1200" dirty="0">
                          <a:solidFill>
                            <a:schemeClr val="tx1"/>
                          </a:solidFill>
                          <a:effectLst/>
                          <a:latin typeface="+mn-ea"/>
                          <a:ea typeface="+mn-ea"/>
                          <a:cs typeface="Times New Roman"/>
                        </a:rPr>
                        <a:t>時間容量</a:t>
                      </a:r>
                    </a:p>
                  </a:txBody>
                  <a:tcPr marL="9525" marR="9525" marT="9525" marB="9525" anchor="ctr"/>
                </a:tc>
                <a:extLst>
                  <a:ext uri="{0D108BD9-81ED-4DB2-BD59-A6C34878D82A}">
                    <a16:rowId xmlns:a16="http://schemas.microsoft.com/office/drawing/2014/main" val="725016267"/>
                  </a:ext>
                </a:extLst>
              </a:tr>
            </a:tbl>
          </a:graphicData>
        </a:graphic>
      </p:graphicFrame>
      <p:sp>
        <p:nvSpPr>
          <p:cNvPr id="6" name="テキスト ボックス 5">
            <a:extLst>
              <a:ext uri="{FF2B5EF4-FFF2-40B4-BE49-F238E27FC236}">
                <a16:creationId xmlns:a16="http://schemas.microsoft.com/office/drawing/2014/main" id="{57A5C554-CB99-293A-3E9E-1207BB70EC21}"/>
              </a:ext>
            </a:extLst>
          </p:cNvPr>
          <p:cNvSpPr txBox="1"/>
          <p:nvPr/>
        </p:nvSpPr>
        <p:spPr>
          <a:xfrm>
            <a:off x="5193147" y="5207907"/>
            <a:ext cx="5246253" cy="307777"/>
          </a:xfrm>
          <a:prstGeom prst="rect">
            <a:avLst/>
          </a:prstGeom>
          <a:noFill/>
        </p:spPr>
        <p:txBody>
          <a:bodyPr wrap="square" rtlCol="0">
            <a:spAutoFit/>
          </a:bodyPr>
          <a:lstStyle/>
          <a:p>
            <a:r>
              <a:rPr kumimoji="1" lang="en-US" altLang="ja-JP" dirty="0">
                <a:latin typeface="+mn-ea"/>
                <a:ea typeface="+mn-ea"/>
              </a:rPr>
              <a:t>※</a:t>
            </a:r>
            <a:r>
              <a:rPr kumimoji="1" lang="ja-JP" altLang="en-US" dirty="0">
                <a:latin typeface="+mn-ea"/>
                <a:ea typeface="+mn-ea"/>
              </a:rPr>
              <a:t>蓄電池は離島・マイクログリッドで主流となっている</a:t>
            </a:r>
            <a:r>
              <a:rPr kumimoji="1" lang="en-US" altLang="ja-JP" dirty="0">
                <a:latin typeface="+mn-ea"/>
                <a:ea typeface="+mn-ea"/>
              </a:rPr>
              <a:t>6</a:t>
            </a:r>
            <a:r>
              <a:rPr kumimoji="1" lang="ja-JP" altLang="en-US" dirty="0">
                <a:latin typeface="+mn-ea"/>
                <a:ea typeface="+mn-ea"/>
              </a:rPr>
              <a:t>時間容量で想定</a:t>
            </a:r>
          </a:p>
        </p:txBody>
      </p:sp>
    </p:spTree>
    <p:extLst>
      <p:ext uri="{BB962C8B-B14F-4D97-AF65-F5344CB8AC3E}">
        <p14:creationId xmlns:p14="http://schemas.microsoft.com/office/powerpoint/2010/main" val="26268182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A0B9C1EB-CE5F-7CBA-E05D-EEB6CE6AD389}"/>
              </a:ext>
            </a:extLst>
          </p:cNvPr>
          <p:cNvSpPr>
            <a:spLocks noGrp="1"/>
          </p:cNvSpPr>
          <p:nvPr>
            <p:ph type="title"/>
          </p:nvPr>
        </p:nvSpPr>
        <p:spPr/>
        <p:txBody>
          <a:bodyPr/>
          <a:lstStyle/>
          <a:p>
            <a:r>
              <a:rPr lang="ja-JP" altLang="en-US" dirty="0"/>
              <a:t>不確実性の設定</a:t>
            </a:r>
          </a:p>
        </p:txBody>
      </p:sp>
      <p:sp>
        <p:nvSpPr>
          <p:cNvPr id="8" name="テキスト プレースホルダー 7">
            <a:extLst>
              <a:ext uri="{FF2B5EF4-FFF2-40B4-BE49-F238E27FC236}">
                <a16:creationId xmlns:a16="http://schemas.microsoft.com/office/drawing/2014/main" id="{82BB78E2-6CF7-FA6A-733E-174150FC1351}"/>
              </a:ext>
            </a:extLst>
          </p:cNvPr>
          <p:cNvSpPr>
            <a:spLocks noGrp="1"/>
          </p:cNvSpPr>
          <p:nvPr>
            <p:ph type="body" sz="quarter" idx="12"/>
          </p:nvPr>
        </p:nvSpPr>
        <p:spPr/>
        <p:txBody>
          <a:bodyPr/>
          <a:lstStyle/>
          <a:p>
            <a:r>
              <a:rPr lang="ja-JP" altLang="en-US" dirty="0"/>
              <a:t>不確実性の設定としては</a:t>
            </a:r>
            <a:endParaRPr lang="en-US" altLang="ja-JP" dirty="0"/>
          </a:p>
          <a:p>
            <a:r>
              <a:rPr lang="ja-JP" altLang="en-US" dirty="0"/>
              <a:t>太陽光・風力・蓄電池の</a:t>
            </a:r>
            <a:r>
              <a:rPr lang="en-US" altLang="ja-JP" dirty="0"/>
              <a:t>CAPEX</a:t>
            </a:r>
            <a:r>
              <a:rPr lang="ja-JP" altLang="en-US" dirty="0"/>
              <a:t>、および、ディーゼル発電の</a:t>
            </a:r>
            <a:r>
              <a:rPr lang="en-US" altLang="ja-JP" dirty="0"/>
              <a:t>OPEX</a:t>
            </a:r>
            <a:r>
              <a:rPr lang="ja-JP" altLang="en-US" dirty="0"/>
              <a:t>を設定した。</a:t>
            </a:r>
            <a:endParaRPr lang="en-US" altLang="ja-JP" dirty="0"/>
          </a:p>
          <a:p>
            <a:endParaRPr lang="ja-JP" altLang="en-US" dirty="0"/>
          </a:p>
        </p:txBody>
      </p:sp>
      <p:graphicFrame>
        <p:nvGraphicFramePr>
          <p:cNvPr id="6" name="表 5">
            <a:extLst>
              <a:ext uri="{FF2B5EF4-FFF2-40B4-BE49-F238E27FC236}">
                <a16:creationId xmlns:a16="http://schemas.microsoft.com/office/drawing/2014/main" id="{05B682C4-B777-23E1-AE0C-A3B0282E3DB1}"/>
              </a:ext>
            </a:extLst>
          </p:cNvPr>
          <p:cNvGraphicFramePr>
            <a:graphicFrameLocks noGrp="1"/>
          </p:cNvGraphicFramePr>
          <p:nvPr>
            <p:extLst>
              <p:ext uri="{D42A27DB-BD31-4B8C-83A1-F6EECF244321}">
                <p14:modId xmlns:p14="http://schemas.microsoft.com/office/powerpoint/2010/main" val="2491673629"/>
              </p:ext>
            </p:extLst>
          </p:nvPr>
        </p:nvGraphicFramePr>
        <p:xfrm>
          <a:off x="190919" y="1702952"/>
          <a:ext cx="9907674" cy="1314450"/>
        </p:xfrm>
        <a:graphic>
          <a:graphicData uri="http://schemas.openxmlformats.org/drawingml/2006/table">
            <a:tbl>
              <a:tblPr firstRow="1" firstCol="1" bandRow="1">
                <a:tableStyleId>{854B67C7-B280-42D8-B184-0A409CBFCAF9}</a:tableStyleId>
              </a:tblPr>
              <a:tblGrid>
                <a:gridCol w="1706001">
                  <a:extLst>
                    <a:ext uri="{9D8B030D-6E8A-4147-A177-3AD203B41FA5}">
                      <a16:colId xmlns:a16="http://schemas.microsoft.com/office/drawing/2014/main" val="1204599960"/>
                    </a:ext>
                  </a:extLst>
                </a:gridCol>
                <a:gridCol w="3565946">
                  <a:extLst>
                    <a:ext uri="{9D8B030D-6E8A-4147-A177-3AD203B41FA5}">
                      <a16:colId xmlns:a16="http://schemas.microsoft.com/office/drawing/2014/main" val="3188947399"/>
                    </a:ext>
                  </a:extLst>
                </a:gridCol>
                <a:gridCol w="1804584">
                  <a:extLst>
                    <a:ext uri="{9D8B030D-6E8A-4147-A177-3AD203B41FA5}">
                      <a16:colId xmlns:a16="http://schemas.microsoft.com/office/drawing/2014/main" val="1293916709"/>
                    </a:ext>
                  </a:extLst>
                </a:gridCol>
                <a:gridCol w="1325475">
                  <a:extLst>
                    <a:ext uri="{9D8B030D-6E8A-4147-A177-3AD203B41FA5}">
                      <a16:colId xmlns:a16="http://schemas.microsoft.com/office/drawing/2014/main" val="2294938888"/>
                    </a:ext>
                  </a:extLst>
                </a:gridCol>
                <a:gridCol w="1505668">
                  <a:extLst>
                    <a:ext uri="{9D8B030D-6E8A-4147-A177-3AD203B41FA5}">
                      <a16:colId xmlns:a16="http://schemas.microsoft.com/office/drawing/2014/main" val="620693798"/>
                    </a:ext>
                  </a:extLst>
                </a:gridCol>
              </a:tblGrid>
              <a:tr h="211803">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電源</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CAPEX [$/MW]</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(OPEX) [$/MWh]</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ja-JP" altLang="en-US" sz="1600" b="0" kern="1200" dirty="0">
                          <a:solidFill>
                            <a:schemeClr val="lt1"/>
                          </a:solidFill>
                          <a:effectLst/>
                          <a:latin typeface="+mn-ea"/>
                          <a:ea typeface="+mn-ea"/>
                        </a:rPr>
                        <a:t>耐用年数 </a:t>
                      </a:r>
                      <a:r>
                        <a:rPr kumimoji="1" lang="en-US" altLang="ja-JP" sz="1600" b="0" kern="1200" dirty="0">
                          <a:solidFill>
                            <a:schemeClr val="lt1"/>
                          </a:solidFill>
                          <a:effectLst/>
                          <a:latin typeface="+mn-ea"/>
                          <a:ea typeface="+mn-ea"/>
                        </a:rPr>
                        <a:t>[</a:t>
                      </a:r>
                      <a:r>
                        <a:rPr kumimoji="1" lang="ja-JP" altLang="en-US" sz="1600" b="0" kern="1200" dirty="0">
                          <a:solidFill>
                            <a:schemeClr val="lt1"/>
                          </a:solidFill>
                          <a:effectLst/>
                          <a:latin typeface="+mn-ea"/>
                          <a:ea typeface="+mn-ea"/>
                        </a:rPr>
                        <a:t>年</a:t>
                      </a:r>
                      <a:r>
                        <a:rPr kumimoji="1" lang="en-US" altLang="ja-JP" sz="1600" b="0" kern="1200" dirty="0">
                          <a:solidFill>
                            <a:schemeClr val="lt1"/>
                          </a:solidFill>
                          <a:effectLst/>
                          <a:latin typeface="+mn-ea"/>
                          <a:ea typeface="+mn-ea"/>
                        </a:rPr>
                        <a:t>]</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lt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266913123"/>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Solar</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700,000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500,000 – 900,000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450180208"/>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Wind</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1,100,000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800,000 – 1,450,000</a:t>
                      </a:r>
                      <a:r>
                        <a:rPr kumimoji="1" lang="en-US" altLang="ja-JP" sz="1600" b="0" i="0" kern="1200" dirty="0">
                          <a:solidFill>
                            <a:srgbClr val="FF0000"/>
                          </a:solidFill>
                          <a:effectLst/>
                          <a:latin typeface="+mn-ea"/>
                          <a:ea typeface="+mn-ea"/>
                          <a:cs typeface="Times New Roman"/>
                        </a:rPr>
                        <a:t>)</a:t>
                      </a:r>
                      <a:endParaRPr kumimoji="1" lang="ja-JP" altLang="ja-JP" sz="1600" b="0" i="0" kern="1200" dirty="0">
                        <a:solidFill>
                          <a:srgbClr val="FF0000"/>
                        </a:solidFill>
                        <a:effectLst/>
                        <a:latin typeface="+mn-ea"/>
                        <a:ea typeface="Times New Roman"/>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25</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781214321"/>
                  </a:ext>
                </a:extLst>
              </a:tr>
              <a:tr h="16764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Diesel</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800,000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250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200 – 300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20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endParaRPr kumimoji="1" lang="ja-JP" altLang="en-US" sz="1600" b="0" i="0" kern="1200" dirty="0">
                        <a:solidFill>
                          <a:schemeClr val="tx1"/>
                        </a:solidFill>
                        <a:effectLst/>
                        <a:latin typeface="+mn-ea"/>
                        <a:ea typeface="+mn-ea"/>
                        <a:cs typeface="Times New Roman"/>
                      </a:endParaRPr>
                    </a:p>
                  </a:txBody>
                  <a:tcPr marL="9525" marR="9525" marT="9525" marB="9525" anchor="ctr"/>
                </a:tc>
                <a:extLst>
                  <a:ext uri="{0D108BD9-81ED-4DB2-BD59-A6C34878D82A}">
                    <a16:rowId xmlns:a16="http://schemas.microsoft.com/office/drawing/2014/main" val="3829162887"/>
                  </a:ext>
                </a:extLst>
              </a:tr>
              <a:tr h="0">
                <a:tc>
                  <a:txBody>
                    <a:bodyPr/>
                    <a:lstStyle/>
                    <a:p>
                      <a:pPr marL="0" algn="ctr" defTabSz="914400" rtl="0" eaLnBrk="1" latinLnBrk="0" hangingPunct="1">
                        <a:buNone/>
                      </a:pPr>
                      <a:r>
                        <a:rPr kumimoji="1" lang="en-US" altLang="ja-JP" sz="1600" b="0" kern="1200" dirty="0">
                          <a:solidFill>
                            <a:schemeClr val="lt1"/>
                          </a:solidFill>
                          <a:effectLst/>
                          <a:latin typeface="+mn-ea"/>
                          <a:ea typeface="+mn-ea"/>
                        </a:rPr>
                        <a:t>Battery</a:t>
                      </a:r>
                      <a:endParaRPr kumimoji="1" lang="ja-JP" altLang="en-US" sz="1600" b="0" i="0" kern="1200" dirty="0">
                        <a:solidFill>
                          <a:schemeClr val="lt1"/>
                        </a:solidFill>
                        <a:effectLst/>
                        <a:latin typeface="+mn-ea"/>
                        <a:ea typeface="+mn-ea"/>
                        <a:cs typeface="Times New Roman"/>
                      </a:endParaRPr>
                    </a:p>
                  </a:txBody>
                  <a:tcPr marL="9525" marR="9525" marT="9525" marB="9525"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600" b="0" kern="1200" dirty="0">
                          <a:solidFill>
                            <a:schemeClr val="tx1"/>
                          </a:solidFill>
                          <a:effectLst/>
                          <a:latin typeface="+mn-ea"/>
                          <a:ea typeface="+mn-ea"/>
                        </a:rPr>
                        <a:t>600,000 </a:t>
                      </a:r>
                      <a:r>
                        <a:rPr kumimoji="1" lang="en-US" altLang="ja-JP" sz="1600" b="0" kern="1200" dirty="0">
                          <a:solidFill>
                            <a:srgbClr val="FF0000"/>
                          </a:solidFill>
                          <a:effectLst/>
                          <a:latin typeface="+mn-ea"/>
                          <a:ea typeface="+mn-ea"/>
                        </a:rPr>
                        <a:t>(</a:t>
                      </a:r>
                      <a:r>
                        <a:rPr kumimoji="1" lang="ja-JP" altLang="ja-JP" sz="1600" b="0" i="0" kern="1200" dirty="0">
                          <a:solidFill>
                            <a:srgbClr val="FF0000"/>
                          </a:solidFill>
                          <a:effectLst/>
                          <a:latin typeface="+mn-ea"/>
                          <a:ea typeface="Times New Roman"/>
                          <a:cs typeface="Times New Roman"/>
                        </a:rPr>
                        <a:t>300,000 – 900,000</a:t>
                      </a:r>
                      <a:r>
                        <a:rPr kumimoji="1" lang="en-US" altLang="ja-JP" sz="1600" b="0" kern="1200" dirty="0">
                          <a:solidFill>
                            <a:srgbClr val="FF0000"/>
                          </a:solidFill>
                          <a:effectLst/>
                          <a:latin typeface="+mn-ea"/>
                          <a:ea typeface="+mn-ea"/>
                        </a:rPr>
                        <a:t>)</a:t>
                      </a:r>
                      <a:endParaRPr kumimoji="1" lang="ja-JP" altLang="en-US" sz="1600" b="0" i="0" kern="1200" dirty="0">
                        <a:solidFill>
                          <a:srgbClr val="FF0000"/>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0</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kern="1200" dirty="0">
                          <a:solidFill>
                            <a:schemeClr val="tx1"/>
                          </a:solidFill>
                          <a:effectLst/>
                          <a:latin typeface="+mn-ea"/>
                          <a:ea typeface="+mn-ea"/>
                        </a:rPr>
                        <a:t>12</a:t>
                      </a:r>
                      <a:endParaRPr kumimoji="1" lang="ja-JP" altLang="en-US" sz="1600" b="0" i="0" kern="1200" dirty="0">
                        <a:solidFill>
                          <a:schemeClr val="tx1"/>
                        </a:solidFill>
                        <a:effectLst/>
                        <a:latin typeface="+mn-ea"/>
                        <a:ea typeface="+mn-ea"/>
                        <a:cs typeface="Times New Roman"/>
                      </a:endParaRPr>
                    </a:p>
                  </a:txBody>
                  <a:tcPr marL="9525" marR="9525" marT="9525" marB="9525" anchor="ctr"/>
                </a:tc>
                <a:tc>
                  <a:txBody>
                    <a:bodyPr/>
                    <a:lstStyle/>
                    <a:p>
                      <a:pPr marL="0" algn="ctr" defTabSz="914400" rtl="0" eaLnBrk="1" latinLnBrk="0" hangingPunct="1">
                        <a:buNone/>
                      </a:pPr>
                      <a:r>
                        <a:rPr kumimoji="1" lang="en-US" altLang="ja-JP" sz="1600" b="0" i="0" kern="1200" dirty="0">
                          <a:solidFill>
                            <a:schemeClr val="tx1"/>
                          </a:solidFill>
                          <a:effectLst/>
                          <a:latin typeface="+mn-ea"/>
                          <a:ea typeface="+mn-ea"/>
                          <a:cs typeface="Times New Roman"/>
                        </a:rPr>
                        <a:t>6</a:t>
                      </a:r>
                      <a:r>
                        <a:rPr kumimoji="1" lang="ja-JP" altLang="en-US" sz="1600" b="0" i="0" kern="1200" dirty="0">
                          <a:solidFill>
                            <a:schemeClr val="tx1"/>
                          </a:solidFill>
                          <a:effectLst/>
                          <a:latin typeface="+mn-ea"/>
                          <a:ea typeface="+mn-ea"/>
                          <a:cs typeface="Times New Roman"/>
                        </a:rPr>
                        <a:t>時間容量</a:t>
                      </a:r>
                    </a:p>
                  </a:txBody>
                  <a:tcPr marL="9525" marR="9525" marT="9525" marB="9525" anchor="ctr"/>
                </a:tc>
                <a:extLst>
                  <a:ext uri="{0D108BD9-81ED-4DB2-BD59-A6C34878D82A}">
                    <a16:rowId xmlns:a16="http://schemas.microsoft.com/office/drawing/2014/main" val="725016267"/>
                  </a:ext>
                </a:extLst>
              </a:tr>
            </a:tbl>
          </a:graphicData>
        </a:graphic>
      </p:graphicFrame>
    </p:spTree>
    <p:extLst>
      <p:ext uri="{BB962C8B-B14F-4D97-AF65-F5344CB8AC3E}">
        <p14:creationId xmlns:p14="http://schemas.microsoft.com/office/powerpoint/2010/main" val="35015891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EFFD0-1B21-2D4D-53ED-FB85AA8AF002}"/>
            </a:ext>
          </a:extLst>
        </p:cNvPr>
        <p:cNvGrpSpPr/>
        <p:nvPr/>
      </p:nvGrpSpPr>
      <p:grpSpPr>
        <a:xfrm>
          <a:off x="0" y="0"/>
          <a:ext cx="0" cy="0"/>
          <a:chOff x="0" y="0"/>
          <a:chExt cx="0" cy="0"/>
        </a:xfrm>
      </p:grpSpPr>
      <p:sp>
        <p:nvSpPr>
          <p:cNvPr id="18" name="タイトル 17">
            <a:extLst>
              <a:ext uri="{FF2B5EF4-FFF2-40B4-BE49-F238E27FC236}">
                <a16:creationId xmlns:a16="http://schemas.microsoft.com/office/drawing/2014/main" id="{30A50B93-330F-C72E-2E97-450589ACA27A}"/>
              </a:ext>
            </a:extLst>
          </p:cNvPr>
          <p:cNvSpPr>
            <a:spLocks noGrp="1"/>
          </p:cNvSpPr>
          <p:nvPr>
            <p:ph type="title"/>
          </p:nvPr>
        </p:nvSpPr>
        <p:spPr>
          <a:xfrm>
            <a:off x="374904" y="61259"/>
            <a:ext cx="10003638" cy="706210"/>
          </a:xfrm>
        </p:spPr>
        <p:txBody>
          <a:bodyPr/>
          <a:lstStyle/>
          <a:p>
            <a:r>
              <a:rPr lang="en-US" altLang="zh-TW" dirty="0"/>
              <a:t>SOBOL</a:t>
            </a:r>
            <a:r>
              <a:rPr lang="zh-TW" altLang="en-US" dirty="0"/>
              <a:t>感度分析</a:t>
            </a:r>
            <a:r>
              <a:rPr lang="ja-JP" altLang="en-US" dirty="0"/>
              <a:t>計算手法</a:t>
            </a:r>
          </a:p>
        </p:txBody>
      </p:sp>
      <p:sp>
        <p:nvSpPr>
          <p:cNvPr id="27" name="テキスト プレースホルダー 26">
            <a:extLst>
              <a:ext uri="{FF2B5EF4-FFF2-40B4-BE49-F238E27FC236}">
                <a16:creationId xmlns:a16="http://schemas.microsoft.com/office/drawing/2014/main" id="{25D4D024-D4E9-A612-F867-96056266A076}"/>
              </a:ext>
            </a:extLst>
          </p:cNvPr>
          <p:cNvSpPr>
            <a:spLocks noGrp="1"/>
          </p:cNvSpPr>
          <p:nvPr>
            <p:ph type="body" sz="quarter" idx="12"/>
          </p:nvPr>
        </p:nvSpPr>
        <p:spPr>
          <a:xfrm>
            <a:off x="374650" y="949973"/>
            <a:ext cx="10004425" cy="6250928"/>
          </a:xfrm>
        </p:spPr>
        <p:txBody>
          <a:bodyPr>
            <a:normAutofit/>
          </a:bodyPr>
          <a:lstStyle/>
          <a:p>
            <a:r>
              <a:rPr lang="en-US" altLang="ja-JP" dirty="0"/>
              <a:t>LAR-PCE</a:t>
            </a:r>
            <a:r>
              <a:rPr lang="ja-JP" altLang="en-US" dirty="0"/>
              <a:t>学習によって、モンテカルロ法のような追加サンプリングが不要になる。学習済み多項式係数から即時に</a:t>
            </a:r>
            <a:r>
              <a:rPr lang="en-US" altLang="ja-JP" dirty="0"/>
              <a:t>1</a:t>
            </a:r>
            <a:r>
              <a:rPr lang="ja-JP" altLang="en-US" dirty="0"/>
              <a:t>次・</a:t>
            </a:r>
            <a:r>
              <a:rPr lang="en-US" altLang="ja-JP" dirty="0"/>
              <a:t>2</a:t>
            </a:r>
            <a:r>
              <a:rPr lang="ja-JP" altLang="en-US" dirty="0"/>
              <a:t>次・全効果</a:t>
            </a:r>
            <a:r>
              <a:rPr lang="en-US" altLang="ja-JP" dirty="0"/>
              <a:t>Sobol</a:t>
            </a:r>
            <a:r>
              <a:rPr lang="ja-JP" altLang="en-US" dirty="0"/>
              <a:t>指数を抽出。</a:t>
            </a:r>
            <a:endParaRPr lang="en-US" altLang="ja-JP" dirty="0"/>
          </a:p>
          <a:p>
            <a:r>
              <a:rPr lang="ja-JP" altLang="en-US" b="1" dirty="0"/>
              <a:t>最初のステップとして、</a:t>
            </a:r>
            <a:r>
              <a:rPr lang="en-US" altLang="ja-JP" b="1" dirty="0"/>
              <a:t>Sobol</a:t>
            </a:r>
            <a:r>
              <a:rPr lang="ja-JP" altLang="en-US" b="1" dirty="0"/>
              <a:t>指数導出までの手法の確認をする。</a:t>
            </a:r>
            <a:endParaRPr lang="en-US" altLang="ja-JP" b="1" dirty="0"/>
          </a:p>
          <a:p>
            <a:r>
              <a:rPr lang="ja-JP" altLang="en-US" dirty="0"/>
              <a:t>帯域分解への拡張は次のステップ</a:t>
            </a:r>
          </a:p>
          <a:p>
            <a:endParaRPr lang="ja-JP" altLang="en-US" dirty="0"/>
          </a:p>
          <a:p>
            <a:endParaRPr lang="ja-JP" altLang="en-US" dirty="0"/>
          </a:p>
          <a:p>
            <a:endParaRPr lang="ja-JP" altLang="en-US" dirty="0"/>
          </a:p>
        </p:txBody>
      </p:sp>
      <p:sp>
        <p:nvSpPr>
          <p:cNvPr id="21" name="四角形: 角を丸くする 20">
            <a:extLst>
              <a:ext uri="{FF2B5EF4-FFF2-40B4-BE49-F238E27FC236}">
                <a16:creationId xmlns:a16="http://schemas.microsoft.com/office/drawing/2014/main" id="{EB73C5CF-EDDE-EB44-6513-CE9BFCC5D5C3}"/>
              </a:ext>
            </a:extLst>
          </p:cNvPr>
          <p:cNvSpPr/>
          <p:nvPr/>
        </p:nvSpPr>
        <p:spPr>
          <a:xfrm>
            <a:off x="5732548"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chemeClr val="accent1">
                    <a:lumMod val="50000"/>
                  </a:schemeClr>
                </a:solidFill>
                <a:latin typeface="Calibri" pitchFamily="34" charset="0"/>
                <a:cs typeface="Calibri" pitchFamily="34" charset="-120"/>
              </a:rPr>
              <a:t>3.PCE</a:t>
            </a:r>
            <a:r>
              <a:rPr lang="ja-JP" altLang="en-US" sz="1600" b="1" dirty="0">
                <a:solidFill>
                  <a:schemeClr val="accent1">
                    <a:lumMod val="50000"/>
                  </a:schemeClr>
                </a:solidFill>
                <a:latin typeface="Calibri" pitchFamily="34" charset="0"/>
                <a:cs typeface="Calibri" pitchFamily="34" charset="-120"/>
              </a:rPr>
              <a:t>学習</a:t>
            </a:r>
            <a:br>
              <a:rPr lang="en-US" altLang="ja-JP" sz="1600" b="1" dirty="0">
                <a:solidFill>
                  <a:schemeClr val="accent1">
                    <a:lumMod val="50000"/>
                  </a:schemeClr>
                </a:solidFill>
                <a:latin typeface="Calibri" pitchFamily="34" charset="0"/>
                <a:cs typeface="Calibri" pitchFamily="34" charset="-120"/>
              </a:rPr>
            </a:br>
            <a:endParaRPr lang="en-US" altLang="ja-JP" sz="1600" b="1" dirty="0">
              <a:solidFill>
                <a:schemeClr val="accent1">
                  <a:lumMod val="50000"/>
                </a:schemeClr>
              </a:solidFill>
              <a:latin typeface="Calibri" pitchFamily="34" charset="0"/>
              <a:cs typeface="Calibri" pitchFamily="34" charset="-120"/>
            </a:endParaRPr>
          </a:p>
        </p:txBody>
      </p:sp>
      <p:sp>
        <p:nvSpPr>
          <p:cNvPr id="22" name="四角形: 角を丸くする 21">
            <a:extLst>
              <a:ext uri="{FF2B5EF4-FFF2-40B4-BE49-F238E27FC236}">
                <a16:creationId xmlns:a16="http://schemas.microsoft.com/office/drawing/2014/main" id="{6036DD56-1EDC-BC5C-301A-5FA3AEC2A520}"/>
              </a:ext>
            </a:extLst>
          </p:cNvPr>
          <p:cNvSpPr/>
          <p:nvPr/>
        </p:nvSpPr>
        <p:spPr>
          <a:xfrm>
            <a:off x="3176799"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2. LP</a:t>
            </a:r>
            <a:r>
              <a:rPr lang="ja-JP" altLang="en-US" sz="1600" b="1" dirty="0">
                <a:solidFill>
                  <a:schemeClr val="accent1">
                    <a:lumMod val="50000"/>
                  </a:schemeClr>
                </a:solidFill>
                <a:latin typeface="Calibri" pitchFamily="34" charset="0"/>
                <a:cs typeface="Calibri" pitchFamily="34" charset="-120"/>
              </a:rPr>
              <a:t>求解</a:t>
            </a:r>
          </a:p>
          <a:p>
            <a:pPr algn="ctr"/>
            <a:endParaRPr lang="en-US" altLang="ja-JP" sz="1200" b="1" dirty="0">
              <a:solidFill>
                <a:schemeClr val="tx1"/>
              </a:solidFill>
              <a:latin typeface="Calibri" pitchFamily="34" charset="0"/>
              <a:cs typeface="Calibri" pitchFamily="34" charset="-120"/>
            </a:endParaRPr>
          </a:p>
          <a:p>
            <a:pPr algn="ctr"/>
            <a:r>
              <a:rPr lang="ja-JP" altLang="en-US" sz="1200" b="1" dirty="0">
                <a:solidFill>
                  <a:schemeClr val="tx1"/>
                </a:solidFill>
                <a:latin typeface="Calibri" pitchFamily="34" charset="0"/>
                <a:cs typeface="Calibri" pitchFamily="34" charset="-120"/>
              </a:rPr>
              <a:t>コスト最小最適化モデル</a:t>
            </a:r>
            <a:endParaRPr lang="en-US" altLang="ja-JP" sz="1200" b="1" dirty="0">
              <a:solidFill>
                <a:schemeClr val="tx1"/>
              </a:solidFill>
              <a:latin typeface="Calibri" pitchFamily="34" charset="0"/>
              <a:cs typeface="Calibri" pitchFamily="34" charset="-120"/>
            </a:endParaRPr>
          </a:p>
          <a:p>
            <a:pPr algn="ctr"/>
            <a:r>
              <a:rPr lang="ja-JP" altLang="en-US" sz="1200" b="1" dirty="0">
                <a:solidFill>
                  <a:srgbClr val="FF0000"/>
                </a:solidFill>
                <a:latin typeface="Calibri" pitchFamily="34" charset="0"/>
                <a:cs typeface="Calibri" pitchFamily="34" charset="-120"/>
              </a:rPr>
              <a:t>（</a:t>
            </a:r>
            <a:r>
              <a:rPr lang="en-US" altLang="ja-JP" sz="1200" b="1" dirty="0">
                <a:solidFill>
                  <a:srgbClr val="FF0000"/>
                </a:solidFill>
                <a:latin typeface="Calibri" pitchFamily="34" charset="0"/>
                <a:cs typeface="Calibri" pitchFamily="34" charset="-120"/>
              </a:rPr>
              <a:t>320</a:t>
            </a:r>
            <a:r>
              <a:rPr lang="ja-JP" altLang="en-US" sz="1200" b="1" dirty="0">
                <a:solidFill>
                  <a:srgbClr val="FF0000"/>
                </a:solidFill>
                <a:latin typeface="Calibri" pitchFamily="34" charset="0"/>
                <a:cs typeface="Calibri" pitchFamily="34" charset="-120"/>
              </a:rPr>
              <a:t>回計算）</a:t>
            </a:r>
            <a:br>
              <a:rPr lang="ja-JP" altLang="en-US" sz="1200" b="1" dirty="0">
                <a:solidFill>
                  <a:schemeClr val="tx1"/>
                </a:solidFill>
                <a:latin typeface="Calibri" pitchFamily="34" charset="0"/>
                <a:cs typeface="Calibri" pitchFamily="34" charset="-120"/>
              </a:rPr>
            </a:br>
            <a:endParaRPr lang="en-US" altLang="ja-JP" sz="1200" b="1" dirty="0">
              <a:solidFill>
                <a:schemeClr val="tx1"/>
              </a:solidFill>
              <a:latin typeface="Calibri" pitchFamily="34" charset="0"/>
              <a:cs typeface="Calibri" pitchFamily="34" charset="-120"/>
            </a:endParaRPr>
          </a:p>
        </p:txBody>
      </p:sp>
      <p:sp>
        <p:nvSpPr>
          <p:cNvPr id="23" name="四角形: 角を丸くする 22">
            <a:extLst>
              <a:ext uri="{FF2B5EF4-FFF2-40B4-BE49-F238E27FC236}">
                <a16:creationId xmlns:a16="http://schemas.microsoft.com/office/drawing/2014/main" id="{A110E907-CF20-3E4A-81D6-E3C4C0953A0A}"/>
              </a:ext>
            </a:extLst>
          </p:cNvPr>
          <p:cNvSpPr/>
          <p:nvPr/>
        </p:nvSpPr>
        <p:spPr>
          <a:xfrm>
            <a:off x="564062"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defRPr sz="1100" b="1">
                <a:solidFill>
                  <a:srgbClr val="1E293B"/>
                </a:solidFill>
                <a:latin typeface="Liberation Sans"/>
              </a:defRPr>
            </a:pPr>
            <a:r>
              <a:rPr lang="ja-JP" altLang="en-US" sz="1600" b="1" dirty="0">
                <a:solidFill>
                  <a:schemeClr val="accent1">
                    <a:lumMod val="50000"/>
                  </a:schemeClr>
                </a:solidFill>
                <a:latin typeface="Calibri" pitchFamily="34" charset="0"/>
                <a:cs typeface="Calibri" pitchFamily="34" charset="-120"/>
              </a:rPr>
              <a:t>サンプリング</a:t>
            </a:r>
          </a:p>
          <a:p>
            <a:pPr algn="ctr">
              <a:defRPr sz="950">
                <a:solidFill>
                  <a:srgbClr val="64748B"/>
                </a:solidFill>
                <a:latin typeface="Liberation Sans"/>
              </a:defRPr>
            </a:pP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en-US" altLang="ja-JP" sz="1200" b="1" dirty="0">
                <a:solidFill>
                  <a:schemeClr val="tx1"/>
                </a:solidFill>
                <a:latin typeface="Calibri" pitchFamily="34" charset="0"/>
                <a:cs typeface="Calibri" pitchFamily="34" charset="-120"/>
              </a:rPr>
              <a:t>LHS</a:t>
            </a:r>
          </a:p>
          <a:p>
            <a:pPr algn="ctr">
              <a:defRPr sz="950">
                <a:solidFill>
                  <a:srgbClr val="64748B"/>
                </a:solidFill>
                <a:latin typeface="Liberation Sans"/>
              </a:defRPr>
            </a:pPr>
            <a:r>
              <a:rPr lang="en-US" altLang="ja-JP" sz="1200" b="1" dirty="0" err="1">
                <a:solidFill>
                  <a:schemeClr val="tx1"/>
                </a:solidFill>
                <a:latin typeface="Calibri" pitchFamily="34" charset="0"/>
                <a:cs typeface="Calibri" pitchFamily="34" charset="-120"/>
              </a:rPr>
              <a:t>Saltelli</a:t>
            </a: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ja-JP" altLang="en-US" sz="1200" b="1" dirty="0">
                <a:solidFill>
                  <a:schemeClr val="tx1"/>
                </a:solidFill>
                <a:latin typeface="Calibri" pitchFamily="34" charset="0"/>
                <a:cs typeface="Calibri" pitchFamily="34" charset="-120"/>
              </a:rPr>
              <a:t>パラメータ空間の均一カバー</a:t>
            </a:r>
            <a:br>
              <a:rPr lang="ja-JP" altLang="en-US" sz="1200" b="1" dirty="0">
                <a:solidFill>
                  <a:schemeClr val="tx1"/>
                </a:solidFill>
                <a:latin typeface="Calibri" pitchFamily="34" charset="0"/>
                <a:cs typeface="Calibri" pitchFamily="34" charset="-120"/>
              </a:rPr>
            </a:br>
            <a:r>
              <a:rPr lang="en-US" altLang="ja-JP" sz="1200" b="1" dirty="0">
                <a:solidFill>
                  <a:srgbClr val="FF0000"/>
                </a:solidFill>
                <a:latin typeface="Calibri" pitchFamily="34" charset="0"/>
                <a:cs typeface="Calibri" pitchFamily="34" charset="-120"/>
              </a:rPr>
              <a:t>(N=320</a:t>
            </a:r>
            <a:r>
              <a:rPr lang="ja-JP" altLang="en-US" sz="1200" b="1" dirty="0">
                <a:solidFill>
                  <a:srgbClr val="FF0000"/>
                </a:solidFill>
                <a:latin typeface="Calibri" pitchFamily="34" charset="0"/>
                <a:cs typeface="Calibri" pitchFamily="34" charset="-120"/>
              </a:rPr>
              <a:t>回と設定</a:t>
            </a:r>
            <a:r>
              <a:rPr lang="en-US" altLang="ja-JP" sz="1200" b="1" dirty="0">
                <a:solidFill>
                  <a:srgbClr val="FF0000"/>
                </a:solidFill>
                <a:latin typeface="Calibri" pitchFamily="34" charset="0"/>
                <a:cs typeface="Calibri" pitchFamily="34" charset="-120"/>
              </a:rPr>
              <a:t>)</a:t>
            </a:r>
          </a:p>
          <a:p>
            <a:pPr algn="ctr"/>
            <a:endParaRPr lang="en-US" altLang="ja-JP" sz="1200" b="1" dirty="0">
              <a:solidFill>
                <a:schemeClr val="tx1"/>
              </a:solidFill>
              <a:latin typeface="Calibri" pitchFamily="34" charset="0"/>
              <a:cs typeface="Calibri" pitchFamily="34" charset="-120"/>
            </a:endParaRPr>
          </a:p>
          <a:p>
            <a:pPr algn="ctr"/>
            <a:endParaRPr lang="en-US" altLang="ja-JP" sz="1200" b="1" dirty="0">
              <a:solidFill>
                <a:schemeClr val="tx1"/>
              </a:solidFill>
              <a:latin typeface="Calibri" pitchFamily="34" charset="0"/>
              <a:cs typeface="Calibri" pitchFamily="34" charset="-120"/>
            </a:endParaRPr>
          </a:p>
        </p:txBody>
      </p:sp>
      <p:sp>
        <p:nvSpPr>
          <p:cNvPr id="24" name="四角形: 角を丸くする 23">
            <a:extLst>
              <a:ext uri="{FF2B5EF4-FFF2-40B4-BE49-F238E27FC236}">
                <a16:creationId xmlns:a16="http://schemas.microsoft.com/office/drawing/2014/main" id="{AD9F6E87-22E2-7E06-1B5A-1EC62D4DA179}"/>
              </a:ext>
            </a:extLst>
          </p:cNvPr>
          <p:cNvSpPr/>
          <p:nvPr/>
        </p:nvSpPr>
        <p:spPr>
          <a:xfrm>
            <a:off x="8477709" y="2612353"/>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4. Sobol</a:t>
            </a:r>
            <a:r>
              <a:rPr lang="ja-JP" altLang="en-US" sz="1600" b="1" dirty="0">
                <a:solidFill>
                  <a:schemeClr val="accent1">
                    <a:lumMod val="50000"/>
                  </a:schemeClr>
                </a:solidFill>
                <a:latin typeface="Calibri" pitchFamily="34" charset="0"/>
                <a:cs typeface="Calibri" pitchFamily="34" charset="-120"/>
              </a:rPr>
              <a:t>指数導出</a:t>
            </a:r>
          </a:p>
          <a:p>
            <a:pPr algn="ctr">
              <a:defRPr sz="950">
                <a:solidFill>
                  <a:srgbClr val="64748B"/>
                </a:solidFill>
                <a:latin typeface="Liberation Sans"/>
              </a:defRPr>
            </a:pP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ja-JP" altLang="en-US" sz="1200" b="1" dirty="0">
                <a:solidFill>
                  <a:schemeClr val="tx1"/>
                </a:solidFill>
                <a:latin typeface="Calibri" pitchFamily="34" charset="0"/>
                <a:cs typeface="Calibri" pitchFamily="34" charset="-120"/>
              </a:rPr>
              <a:t>解析的に</a:t>
            </a:r>
            <a:r>
              <a:rPr lang="en-US" altLang="ja-JP" sz="1200" b="1" dirty="0">
                <a:solidFill>
                  <a:schemeClr val="tx1"/>
                </a:solidFill>
                <a:latin typeface="Calibri" pitchFamily="34" charset="0"/>
                <a:cs typeface="Calibri" pitchFamily="34" charset="-120"/>
              </a:rPr>
              <a:t>Sᵢ, STᵢ, Sᵢⱼ</a:t>
            </a:r>
            <a:r>
              <a:rPr lang="ja-JP" altLang="en-US" sz="1200" b="1" dirty="0">
                <a:solidFill>
                  <a:schemeClr val="tx1"/>
                </a:solidFill>
                <a:latin typeface="Calibri" pitchFamily="34" charset="0"/>
                <a:cs typeface="Calibri" pitchFamily="34" charset="-120"/>
              </a:rPr>
              <a:t>算出</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a:t>
            </a:r>
            <a:r>
              <a:rPr lang="ja-JP" altLang="en-US" sz="1200" b="1" dirty="0">
                <a:solidFill>
                  <a:schemeClr val="tx1"/>
                </a:solidFill>
                <a:latin typeface="Calibri" pitchFamily="34" charset="0"/>
                <a:cs typeface="Calibri" pitchFamily="34" charset="-120"/>
              </a:rPr>
              <a:t>交差項の符号判断</a:t>
            </a:r>
            <a:r>
              <a:rPr lang="en-US" altLang="ja-JP" sz="1200" b="1" dirty="0">
                <a:solidFill>
                  <a:schemeClr val="tx1"/>
                </a:solidFill>
                <a:latin typeface="Calibri" pitchFamily="34" charset="0"/>
                <a:cs typeface="Calibri" pitchFamily="34" charset="-120"/>
              </a:rPr>
              <a:t>)</a:t>
            </a:r>
          </a:p>
          <a:p>
            <a:pPr algn="ctr"/>
            <a:endParaRPr lang="en-US" altLang="ja-JP" sz="1200" b="1" dirty="0">
              <a:solidFill>
                <a:schemeClr val="tx1"/>
              </a:solidFill>
              <a:latin typeface="Calibri" pitchFamily="34" charset="0"/>
              <a:cs typeface="Calibri" pitchFamily="34" charset="-120"/>
            </a:endParaRPr>
          </a:p>
        </p:txBody>
      </p:sp>
    </p:spTree>
    <p:extLst>
      <p:ext uri="{BB962C8B-B14F-4D97-AF65-F5344CB8AC3E}">
        <p14:creationId xmlns:p14="http://schemas.microsoft.com/office/powerpoint/2010/main" val="33427787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txBox="1"/>
          <p:nvPr/>
        </p:nvSpPr>
        <p:spPr>
          <a:xfrm>
            <a:off x="3979757" y="1355297"/>
            <a:ext cx="3614844" cy="287303"/>
          </a:xfrm>
          <a:prstGeom prst="rect">
            <a:avLst/>
          </a:prstGeom>
          <a:noFill/>
          <a:ln/>
        </p:spPr>
        <p:txBody>
          <a:bodyPr wrap="square" lIns="0" tIns="0" rIns="0" bIns="0" rtlCol="0" anchor="ctr"/>
          <a:lstStyle/>
          <a:p>
            <a:r>
              <a:rPr lang="en-US" sz="1800" b="1" dirty="0">
                <a:solidFill>
                  <a:srgbClr val="1E2761"/>
                </a:solidFill>
                <a:latin typeface="+mn-ea"/>
                <a:ea typeface="+mn-ea"/>
                <a:cs typeface="Calibri" pitchFamily="34" charset="-120"/>
              </a:rPr>
              <a:t>単純ランダム vs LHS（N=6の例）</a:t>
            </a:r>
            <a:endParaRPr lang="en-US" sz="1800" dirty="0">
              <a:latin typeface="+mn-ea"/>
              <a:ea typeface="+mn-ea"/>
            </a:endParaRPr>
          </a:p>
        </p:txBody>
      </p:sp>
      <p:grpSp>
        <p:nvGrpSpPr>
          <p:cNvPr id="59" name="グループ化 58">
            <a:extLst>
              <a:ext uri="{FF2B5EF4-FFF2-40B4-BE49-F238E27FC236}">
                <a16:creationId xmlns:a16="http://schemas.microsoft.com/office/drawing/2014/main" id="{F20F74DE-B17F-A893-C4F4-7B132A7A72AB}"/>
              </a:ext>
            </a:extLst>
          </p:cNvPr>
          <p:cNvGrpSpPr/>
          <p:nvPr/>
        </p:nvGrpSpPr>
        <p:grpSpPr>
          <a:xfrm>
            <a:off x="2308002" y="1788182"/>
            <a:ext cx="2507632" cy="3156666"/>
            <a:chOff x="2308002" y="1788182"/>
            <a:chExt cx="2507632" cy="3156666"/>
          </a:xfrm>
        </p:grpSpPr>
        <p:sp>
          <p:nvSpPr>
            <p:cNvPr id="5" name="Shape 3"/>
            <p:cNvSpPr/>
            <p:nvPr/>
          </p:nvSpPr>
          <p:spPr>
            <a:xfrm>
              <a:off x="2308002" y="1788182"/>
              <a:ext cx="2507632" cy="2507632"/>
            </a:xfrm>
            <a:prstGeom prst="rect">
              <a:avLst/>
            </a:prstGeom>
            <a:solidFill>
              <a:srgbClr val="F7F8FC"/>
            </a:solidFill>
            <a:ln w="12700">
              <a:solidFill>
                <a:srgbClr val="C9CEE0"/>
              </a:solidFill>
              <a:prstDash val="solid"/>
            </a:ln>
          </p:spPr>
          <p:txBody>
            <a:bodyPr/>
            <a:lstStyle/>
            <a:p>
              <a:endParaRPr lang="ja-JP" altLang="en-US" sz="2400">
                <a:latin typeface="+mn-ea"/>
                <a:ea typeface="+mn-ea"/>
              </a:endParaRPr>
            </a:p>
          </p:txBody>
        </p:sp>
        <p:sp>
          <p:nvSpPr>
            <p:cNvPr id="6" name="Shape 4"/>
            <p:cNvSpPr/>
            <p:nvPr/>
          </p:nvSpPr>
          <p:spPr>
            <a:xfrm>
              <a:off x="2725940"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7" name="Shape 5"/>
            <p:cNvSpPr/>
            <p:nvPr/>
          </p:nvSpPr>
          <p:spPr>
            <a:xfrm>
              <a:off x="2308002" y="220612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8" name="Shape 6"/>
            <p:cNvSpPr/>
            <p:nvPr/>
          </p:nvSpPr>
          <p:spPr>
            <a:xfrm>
              <a:off x="3143879"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9" name="Shape 7"/>
            <p:cNvSpPr/>
            <p:nvPr/>
          </p:nvSpPr>
          <p:spPr>
            <a:xfrm>
              <a:off x="2308002" y="262406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0" name="Shape 8"/>
            <p:cNvSpPr/>
            <p:nvPr/>
          </p:nvSpPr>
          <p:spPr>
            <a:xfrm>
              <a:off x="3561817"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1" name="Shape 9"/>
            <p:cNvSpPr/>
            <p:nvPr/>
          </p:nvSpPr>
          <p:spPr>
            <a:xfrm>
              <a:off x="2308002" y="3041999"/>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2" name="Shape 10"/>
            <p:cNvSpPr/>
            <p:nvPr/>
          </p:nvSpPr>
          <p:spPr>
            <a:xfrm>
              <a:off x="3979756"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3" name="Shape 11"/>
            <p:cNvSpPr/>
            <p:nvPr/>
          </p:nvSpPr>
          <p:spPr>
            <a:xfrm>
              <a:off x="2308002" y="3459937"/>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4" name="Shape 12"/>
            <p:cNvSpPr/>
            <p:nvPr/>
          </p:nvSpPr>
          <p:spPr>
            <a:xfrm>
              <a:off x="4397694"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5" name="Shape 13"/>
            <p:cNvSpPr/>
            <p:nvPr/>
          </p:nvSpPr>
          <p:spPr>
            <a:xfrm>
              <a:off x="2308002" y="3877876"/>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16" name="Shape 14"/>
            <p:cNvSpPr/>
            <p:nvPr/>
          </p:nvSpPr>
          <p:spPr>
            <a:xfrm>
              <a:off x="2438300" y="1918481"/>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17" name="Shape 15"/>
            <p:cNvSpPr/>
            <p:nvPr/>
          </p:nvSpPr>
          <p:spPr>
            <a:xfrm>
              <a:off x="2856238" y="1918481"/>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18" name="Shape 16"/>
            <p:cNvSpPr/>
            <p:nvPr/>
          </p:nvSpPr>
          <p:spPr>
            <a:xfrm>
              <a:off x="4110055" y="2336419"/>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19" name="Shape 17"/>
            <p:cNvSpPr/>
            <p:nvPr/>
          </p:nvSpPr>
          <p:spPr>
            <a:xfrm>
              <a:off x="4110055" y="3172296"/>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20" name="Shape 18"/>
            <p:cNvSpPr/>
            <p:nvPr/>
          </p:nvSpPr>
          <p:spPr>
            <a:xfrm>
              <a:off x="4110055" y="3590235"/>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21" name="Shape 19"/>
            <p:cNvSpPr/>
            <p:nvPr/>
          </p:nvSpPr>
          <p:spPr>
            <a:xfrm>
              <a:off x="2438300" y="4008173"/>
              <a:ext cx="157342" cy="157342"/>
            </a:xfrm>
            <a:prstGeom prst="ellipse">
              <a:avLst/>
            </a:prstGeom>
            <a:solidFill>
              <a:srgbClr val="C0392B"/>
            </a:solidFill>
            <a:ln w="9525">
              <a:solidFill>
                <a:srgbClr val="FFFFFF"/>
              </a:solidFill>
              <a:prstDash val="solid"/>
            </a:ln>
          </p:spPr>
          <p:txBody>
            <a:bodyPr/>
            <a:lstStyle/>
            <a:p>
              <a:endParaRPr lang="ja-JP" altLang="en-US" sz="2400">
                <a:latin typeface="+mn-ea"/>
                <a:ea typeface="+mn-ea"/>
              </a:endParaRPr>
            </a:p>
          </p:txBody>
        </p:sp>
        <p:sp>
          <p:nvSpPr>
            <p:cNvPr id="22" name="Text 20"/>
            <p:cNvSpPr txBox="1"/>
            <p:nvPr/>
          </p:nvSpPr>
          <p:spPr>
            <a:xfrm>
              <a:off x="2308002" y="4374485"/>
              <a:ext cx="2507632" cy="295016"/>
            </a:xfrm>
            <a:prstGeom prst="rect">
              <a:avLst/>
            </a:prstGeom>
            <a:noFill/>
            <a:ln/>
          </p:spPr>
          <p:txBody>
            <a:bodyPr wrap="square" lIns="0" tIns="0" rIns="0" bIns="0" rtlCol="0" anchor="ctr"/>
            <a:lstStyle/>
            <a:p>
              <a:pPr algn="ctr"/>
              <a:r>
                <a:rPr lang="en-US" sz="1800" b="1" dirty="0">
                  <a:solidFill>
                    <a:srgbClr val="1B1B2A"/>
                  </a:solidFill>
                  <a:latin typeface="+mn-ea"/>
                  <a:ea typeface="+mn-ea"/>
                  <a:cs typeface="Calibri" pitchFamily="34" charset="-120"/>
                </a:rPr>
                <a:t>単純ランダム</a:t>
              </a:r>
              <a:endParaRPr lang="en-US" sz="1800" dirty="0">
                <a:latin typeface="+mn-ea"/>
                <a:ea typeface="+mn-ea"/>
              </a:endParaRPr>
            </a:p>
          </p:txBody>
        </p:sp>
        <p:sp>
          <p:nvSpPr>
            <p:cNvPr id="23" name="Text 21"/>
            <p:cNvSpPr txBox="1"/>
            <p:nvPr/>
          </p:nvSpPr>
          <p:spPr>
            <a:xfrm>
              <a:off x="2308002" y="4669501"/>
              <a:ext cx="2507632" cy="275347"/>
            </a:xfrm>
            <a:prstGeom prst="rect">
              <a:avLst/>
            </a:prstGeom>
            <a:noFill/>
            <a:ln/>
          </p:spPr>
          <p:txBody>
            <a:bodyPr wrap="square" lIns="0" tIns="0" rIns="0" bIns="0" rtlCol="0" anchor="ctr"/>
            <a:lstStyle/>
            <a:p>
              <a:pPr algn="ctr"/>
              <a:r>
                <a:rPr lang="en-US" dirty="0">
                  <a:solidFill>
                    <a:srgbClr val="C0392B"/>
                  </a:solidFill>
                  <a:latin typeface="+mn-ea"/>
                  <a:ea typeface="+mn-ea"/>
                  <a:cs typeface="Calibri" pitchFamily="34" charset="-120"/>
                </a:rPr>
                <a:t>偏り・空白が生じうる</a:t>
              </a:r>
              <a:endParaRPr lang="en-US" dirty="0">
                <a:latin typeface="+mn-ea"/>
                <a:ea typeface="+mn-ea"/>
              </a:endParaRPr>
            </a:p>
          </p:txBody>
        </p:sp>
      </p:grpSp>
      <p:grpSp>
        <p:nvGrpSpPr>
          <p:cNvPr id="3" name="グループ化 2">
            <a:extLst>
              <a:ext uri="{FF2B5EF4-FFF2-40B4-BE49-F238E27FC236}">
                <a16:creationId xmlns:a16="http://schemas.microsoft.com/office/drawing/2014/main" id="{E6225525-9F37-3DC0-05F5-F0E2B3573CBA}"/>
              </a:ext>
            </a:extLst>
          </p:cNvPr>
          <p:cNvGrpSpPr/>
          <p:nvPr/>
        </p:nvGrpSpPr>
        <p:grpSpPr>
          <a:xfrm>
            <a:off x="6118139" y="1788182"/>
            <a:ext cx="2507632" cy="3156666"/>
            <a:chOff x="7451639" y="1788182"/>
            <a:chExt cx="2507632" cy="3156666"/>
          </a:xfrm>
        </p:grpSpPr>
        <p:sp>
          <p:nvSpPr>
            <p:cNvPr id="24" name="Shape 22"/>
            <p:cNvSpPr/>
            <p:nvPr/>
          </p:nvSpPr>
          <p:spPr>
            <a:xfrm>
              <a:off x="7451639" y="1788182"/>
              <a:ext cx="2507632" cy="2507632"/>
            </a:xfrm>
            <a:prstGeom prst="rect">
              <a:avLst/>
            </a:prstGeom>
            <a:solidFill>
              <a:srgbClr val="F7F8FC"/>
            </a:solidFill>
            <a:ln w="12700">
              <a:solidFill>
                <a:srgbClr val="C9CEE0"/>
              </a:solidFill>
              <a:prstDash val="solid"/>
            </a:ln>
          </p:spPr>
          <p:txBody>
            <a:bodyPr/>
            <a:lstStyle/>
            <a:p>
              <a:endParaRPr lang="ja-JP" altLang="en-US" sz="2400">
                <a:latin typeface="+mn-ea"/>
                <a:ea typeface="+mn-ea"/>
              </a:endParaRPr>
            </a:p>
          </p:txBody>
        </p:sp>
        <p:sp>
          <p:nvSpPr>
            <p:cNvPr id="25" name="Shape 23"/>
            <p:cNvSpPr/>
            <p:nvPr/>
          </p:nvSpPr>
          <p:spPr>
            <a:xfrm>
              <a:off x="7869577"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6" name="Shape 24"/>
            <p:cNvSpPr/>
            <p:nvPr/>
          </p:nvSpPr>
          <p:spPr>
            <a:xfrm>
              <a:off x="7451639" y="220612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7" name="Shape 25"/>
            <p:cNvSpPr/>
            <p:nvPr/>
          </p:nvSpPr>
          <p:spPr>
            <a:xfrm>
              <a:off x="8287516"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8" name="Shape 26"/>
            <p:cNvSpPr/>
            <p:nvPr/>
          </p:nvSpPr>
          <p:spPr>
            <a:xfrm>
              <a:off x="7451639" y="2624060"/>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29" name="Shape 27"/>
            <p:cNvSpPr/>
            <p:nvPr/>
          </p:nvSpPr>
          <p:spPr>
            <a:xfrm>
              <a:off x="8705454"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0" name="Shape 28"/>
            <p:cNvSpPr/>
            <p:nvPr/>
          </p:nvSpPr>
          <p:spPr>
            <a:xfrm>
              <a:off x="7451639" y="3041999"/>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1" name="Shape 29"/>
            <p:cNvSpPr/>
            <p:nvPr/>
          </p:nvSpPr>
          <p:spPr>
            <a:xfrm>
              <a:off x="9123393"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2" name="Shape 30"/>
            <p:cNvSpPr/>
            <p:nvPr/>
          </p:nvSpPr>
          <p:spPr>
            <a:xfrm>
              <a:off x="7451639" y="3459937"/>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3" name="Shape 31"/>
            <p:cNvSpPr/>
            <p:nvPr/>
          </p:nvSpPr>
          <p:spPr>
            <a:xfrm>
              <a:off x="9541331" y="1788182"/>
              <a:ext cx="0" cy="2507632"/>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4" name="Shape 32"/>
            <p:cNvSpPr/>
            <p:nvPr/>
          </p:nvSpPr>
          <p:spPr>
            <a:xfrm>
              <a:off x="7451639" y="3877876"/>
              <a:ext cx="2507632" cy="0"/>
            </a:xfrm>
            <a:prstGeom prst="line">
              <a:avLst/>
            </a:prstGeom>
            <a:noFill/>
            <a:ln w="9525">
              <a:solidFill>
                <a:srgbClr val="DDE1EE"/>
              </a:solidFill>
              <a:prstDash val="solid"/>
            </a:ln>
          </p:spPr>
          <p:txBody>
            <a:bodyPr/>
            <a:lstStyle/>
            <a:p>
              <a:endParaRPr lang="ja-JP" altLang="en-US" sz="2400">
                <a:latin typeface="+mn-ea"/>
                <a:ea typeface="+mn-ea"/>
              </a:endParaRPr>
            </a:p>
          </p:txBody>
        </p:sp>
        <p:sp>
          <p:nvSpPr>
            <p:cNvPr id="35" name="Shape 33"/>
            <p:cNvSpPr/>
            <p:nvPr/>
          </p:nvSpPr>
          <p:spPr>
            <a:xfrm>
              <a:off x="8417815" y="1918481"/>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6" name="Shape 34"/>
            <p:cNvSpPr/>
            <p:nvPr/>
          </p:nvSpPr>
          <p:spPr>
            <a:xfrm>
              <a:off x="9671630" y="2336419"/>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7" name="Shape 35"/>
            <p:cNvSpPr/>
            <p:nvPr/>
          </p:nvSpPr>
          <p:spPr>
            <a:xfrm>
              <a:off x="7581937" y="2754358"/>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8" name="Shape 36"/>
            <p:cNvSpPr/>
            <p:nvPr/>
          </p:nvSpPr>
          <p:spPr>
            <a:xfrm>
              <a:off x="8835753" y="3172296"/>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39" name="Shape 37"/>
            <p:cNvSpPr/>
            <p:nvPr/>
          </p:nvSpPr>
          <p:spPr>
            <a:xfrm>
              <a:off x="7999875" y="3590235"/>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40" name="Shape 38"/>
            <p:cNvSpPr/>
            <p:nvPr/>
          </p:nvSpPr>
          <p:spPr>
            <a:xfrm>
              <a:off x="9253692" y="4008173"/>
              <a:ext cx="157342" cy="157342"/>
            </a:xfrm>
            <a:prstGeom prst="ellipse">
              <a:avLst/>
            </a:prstGeom>
            <a:solidFill>
              <a:srgbClr val="1E8E5A"/>
            </a:solidFill>
            <a:ln w="9525">
              <a:solidFill>
                <a:srgbClr val="FFFFFF"/>
              </a:solidFill>
              <a:prstDash val="solid"/>
            </a:ln>
          </p:spPr>
          <p:txBody>
            <a:bodyPr/>
            <a:lstStyle/>
            <a:p>
              <a:endParaRPr lang="ja-JP" altLang="en-US" sz="2400">
                <a:latin typeface="+mn-ea"/>
                <a:ea typeface="+mn-ea"/>
              </a:endParaRPr>
            </a:p>
          </p:txBody>
        </p:sp>
        <p:sp>
          <p:nvSpPr>
            <p:cNvPr id="41" name="Text 39"/>
            <p:cNvSpPr txBox="1"/>
            <p:nvPr/>
          </p:nvSpPr>
          <p:spPr>
            <a:xfrm>
              <a:off x="7451639" y="4374485"/>
              <a:ext cx="2507632" cy="295016"/>
            </a:xfrm>
            <a:prstGeom prst="rect">
              <a:avLst/>
            </a:prstGeom>
            <a:noFill/>
            <a:ln/>
          </p:spPr>
          <p:txBody>
            <a:bodyPr wrap="square" lIns="0" tIns="0" rIns="0" bIns="0" rtlCol="0" anchor="ctr"/>
            <a:lstStyle/>
            <a:p>
              <a:pPr algn="ctr"/>
              <a:r>
                <a:rPr lang="en-US" sz="2000" b="1" dirty="0">
                  <a:solidFill>
                    <a:srgbClr val="1B1B2A"/>
                  </a:solidFill>
                  <a:latin typeface="+mn-ea"/>
                  <a:ea typeface="+mn-ea"/>
                  <a:cs typeface="Calibri" pitchFamily="34" charset="-120"/>
                </a:rPr>
                <a:t>LHS</a:t>
              </a:r>
              <a:endParaRPr lang="en-US" sz="2000" dirty="0">
                <a:latin typeface="+mn-ea"/>
                <a:ea typeface="+mn-ea"/>
              </a:endParaRPr>
            </a:p>
          </p:txBody>
        </p:sp>
        <p:sp>
          <p:nvSpPr>
            <p:cNvPr id="42" name="Text 40"/>
            <p:cNvSpPr txBox="1"/>
            <p:nvPr/>
          </p:nvSpPr>
          <p:spPr>
            <a:xfrm>
              <a:off x="7451639" y="4669501"/>
              <a:ext cx="2507632" cy="275347"/>
            </a:xfrm>
            <a:prstGeom prst="rect">
              <a:avLst/>
            </a:prstGeom>
            <a:noFill/>
            <a:ln/>
          </p:spPr>
          <p:txBody>
            <a:bodyPr wrap="square" lIns="0" tIns="0" rIns="0" bIns="0" rtlCol="0" anchor="ctr"/>
            <a:lstStyle/>
            <a:p>
              <a:pPr algn="ctr"/>
              <a:r>
                <a:rPr lang="en-US" dirty="0">
                  <a:solidFill>
                    <a:srgbClr val="1E8E5A"/>
                  </a:solidFill>
                  <a:latin typeface="+mn-ea"/>
                  <a:ea typeface="+mn-ea"/>
                  <a:cs typeface="Calibri" pitchFamily="34" charset="-120"/>
                </a:rPr>
                <a:t>各行・各列に必ず1点</a:t>
              </a:r>
              <a:endParaRPr lang="en-US" dirty="0">
                <a:latin typeface="+mn-ea"/>
                <a:ea typeface="+mn-ea"/>
              </a:endParaRPr>
            </a:p>
          </p:txBody>
        </p:sp>
      </p:grpSp>
      <p:sp>
        <p:nvSpPr>
          <p:cNvPr id="43" name="Text 41"/>
          <p:cNvSpPr txBox="1"/>
          <p:nvPr/>
        </p:nvSpPr>
        <p:spPr>
          <a:xfrm>
            <a:off x="465138" y="5376264"/>
            <a:ext cx="831348" cy="276516"/>
          </a:xfrm>
          <a:prstGeom prst="rect">
            <a:avLst/>
          </a:prstGeom>
          <a:noFill/>
          <a:ln/>
        </p:spPr>
        <p:txBody>
          <a:bodyPr wrap="square" lIns="0" tIns="0" rIns="0" bIns="0" rtlCol="0" anchor="ctr"/>
          <a:lstStyle/>
          <a:p>
            <a:r>
              <a:rPr lang="en-US" sz="2000" b="1" dirty="0">
                <a:solidFill>
                  <a:srgbClr val="1E2761"/>
                </a:solidFill>
                <a:latin typeface="+mn-ea"/>
                <a:ea typeface="+mn-ea"/>
                <a:cs typeface="Calibri" pitchFamily="34" charset="-120"/>
              </a:rPr>
              <a:t>手順</a:t>
            </a:r>
            <a:endParaRPr lang="en-US" sz="2000" dirty="0">
              <a:latin typeface="+mn-ea"/>
              <a:ea typeface="+mn-ea"/>
            </a:endParaRPr>
          </a:p>
        </p:txBody>
      </p:sp>
      <p:sp>
        <p:nvSpPr>
          <p:cNvPr id="44" name="Shape 42"/>
          <p:cNvSpPr/>
          <p:nvPr/>
        </p:nvSpPr>
        <p:spPr>
          <a:xfrm>
            <a:off x="497154" y="5877341"/>
            <a:ext cx="268140" cy="240602"/>
          </a:xfrm>
          <a:prstGeom prst="ellipse">
            <a:avLst/>
          </a:prstGeom>
          <a:solidFill>
            <a:srgbClr val="1E2761"/>
          </a:solidFill>
          <a:ln/>
        </p:spPr>
        <p:txBody>
          <a:bodyPr/>
          <a:lstStyle/>
          <a:p>
            <a:endParaRPr lang="ja-JP" altLang="en-US" sz="2000">
              <a:latin typeface="+mn-ea"/>
              <a:ea typeface="+mn-ea"/>
            </a:endParaRPr>
          </a:p>
        </p:txBody>
      </p:sp>
      <p:sp>
        <p:nvSpPr>
          <p:cNvPr id="45" name="Text 43"/>
          <p:cNvSpPr txBox="1"/>
          <p:nvPr/>
        </p:nvSpPr>
        <p:spPr>
          <a:xfrm>
            <a:off x="497154" y="5877341"/>
            <a:ext cx="268140" cy="240602"/>
          </a:xfrm>
          <a:prstGeom prst="rect">
            <a:avLst/>
          </a:prstGeom>
          <a:noFill/>
          <a:ln/>
        </p:spPr>
        <p:txBody>
          <a:bodyPr wrap="square" lIns="0" tIns="0" rIns="0" bIns="0" rtlCol="0" anchor="ctr"/>
          <a:lstStyle/>
          <a:p>
            <a:pPr algn="ctr"/>
            <a:r>
              <a:rPr lang="en-US" sz="1600" b="1" dirty="0">
                <a:solidFill>
                  <a:srgbClr val="FFFFFF"/>
                </a:solidFill>
                <a:latin typeface="+mn-ea"/>
                <a:ea typeface="+mn-ea"/>
                <a:cs typeface="Calibri" pitchFamily="34" charset="-120"/>
              </a:rPr>
              <a:t>1</a:t>
            </a:r>
            <a:endParaRPr lang="en-US" sz="1600" dirty="0">
              <a:latin typeface="+mn-ea"/>
              <a:ea typeface="+mn-ea"/>
            </a:endParaRPr>
          </a:p>
        </p:txBody>
      </p:sp>
      <p:sp>
        <p:nvSpPr>
          <p:cNvPr id="46" name="Text 44"/>
          <p:cNvSpPr txBox="1"/>
          <p:nvPr/>
        </p:nvSpPr>
        <p:spPr>
          <a:xfrm>
            <a:off x="858057" y="5853281"/>
            <a:ext cx="5049958" cy="320802"/>
          </a:xfrm>
          <a:prstGeom prst="rect">
            <a:avLst/>
          </a:prstGeom>
          <a:noFill/>
          <a:ln/>
        </p:spPr>
        <p:txBody>
          <a:bodyPr wrap="square" lIns="0" tIns="0" rIns="0" bIns="0" rtlCol="0" anchor="ctr"/>
          <a:lstStyle/>
          <a:p>
            <a:r>
              <a:rPr lang="en-US" sz="1600" dirty="0">
                <a:solidFill>
                  <a:srgbClr val="1B1B2A"/>
                </a:solidFill>
                <a:latin typeface="+mn-ea"/>
                <a:ea typeface="+mn-ea"/>
                <a:cs typeface="Calibri" pitchFamily="34" charset="-120"/>
              </a:rPr>
              <a:t>各パラメータの値域をN個の等確率区間に分割</a:t>
            </a:r>
            <a:endParaRPr lang="en-US" sz="1600" dirty="0">
              <a:latin typeface="+mn-ea"/>
              <a:ea typeface="+mn-ea"/>
            </a:endParaRPr>
          </a:p>
        </p:txBody>
      </p:sp>
      <p:sp>
        <p:nvSpPr>
          <p:cNvPr id="47" name="Shape 45"/>
          <p:cNvSpPr/>
          <p:nvPr/>
        </p:nvSpPr>
        <p:spPr>
          <a:xfrm>
            <a:off x="497154" y="6246263"/>
            <a:ext cx="268140" cy="240602"/>
          </a:xfrm>
          <a:prstGeom prst="ellipse">
            <a:avLst/>
          </a:prstGeom>
          <a:solidFill>
            <a:srgbClr val="1E2761"/>
          </a:solidFill>
          <a:ln/>
        </p:spPr>
        <p:txBody>
          <a:bodyPr/>
          <a:lstStyle/>
          <a:p>
            <a:endParaRPr lang="ja-JP" altLang="en-US" sz="2000">
              <a:latin typeface="+mn-ea"/>
              <a:ea typeface="+mn-ea"/>
            </a:endParaRPr>
          </a:p>
        </p:txBody>
      </p:sp>
      <p:sp>
        <p:nvSpPr>
          <p:cNvPr id="48" name="Text 46"/>
          <p:cNvSpPr txBox="1"/>
          <p:nvPr/>
        </p:nvSpPr>
        <p:spPr>
          <a:xfrm>
            <a:off x="497154" y="6246263"/>
            <a:ext cx="268140" cy="240602"/>
          </a:xfrm>
          <a:prstGeom prst="rect">
            <a:avLst/>
          </a:prstGeom>
          <a:noFill/>
          <a:ln/>
        </p:spPr>
        <p:txBody>
          <a:bodyPr wrap="square" lIns="0" tIns="0" rIns="0" bIns="0" rtlCol="0" anchor="ctr"/>
          <a:lstStyle/>
          <a:p>
            <a:pPr algn="ctr"/>
            <a:r>
              <a:rPr lang="en-US" sz="1600" b="1" dirty="0">
                <a:solidFill>
                  <a:srgbClr val="FFFFFF"/>
                </a:solidFill>
                <a:latin typeface="+mn-ea"/>
                <a:ea typeface="+mn-ea"/>
                <a:cs typeface="Calibri" pitchFamily="34" charset="-120"/>
              </a:rPr>
              <a:t>2</a:t>
            </a:r>
            <a:endParaRPr lang="en-US" sz="1600" dirty="0">
              <a:latin typeface="+mn-ea"/>
              <a:ea typeface="+mn-ea"/>
            </a:endParaRPr>
          </a:p>
        </p:txBody>
      </p:sp>
      <p:sp>
        <p:nvSpPr>
          <p:cNvPr id="49" name="Text 47"/>
          <p:cNvSpPr txBox="1"/>
          <p:nvPr/>
        </p:nvSpPr>
        <p:spPr>
          <a:xfrm>
            <a:off x="858057" y="6222203"/>
            <a:ext cx="5049958" cy="320802"/>
          </a:xfrm>
          <a:prstGeom prst="rect">
            <a:avLst/>
          </a:prstGeom>
          <a:noFill/>
          <a:ln/>
        </p:spPr>
        <p:txBody>
          <a:bodyPr wrap="square" lIns="0" tIns="0" rIns="0" bIns="0" rtlCol="0" anchor="ctr"/>
          <a:lstStyle/>
          <a:p>
            <a:r>
              <a:rPr lang="en-US" sz="1600" dirty="0">
                <a:solidFill>
                  <a:srgbClr val="1B1B2A"/>
                </a:solidFill>
                <a:latin typeface="+mn-ea"/>
                <a:ea typeface="+mn-ea"/>
                <a:cs typeface="Calibri" pitchFamily="34" charset="-120"/>
              </a:rPr>
              <a:t>各区間から1点をランダムに抽出（パラメータごとに独立）</a:t>
            </a:r>
            <a:endParaRPr lang="en-US" sz="1600" dirty="0">
              <a:latin typeface="+mn-ea"/>
              <a:ea typeface="+mn-ea"/>
            </a:endParaRPr>
          </a:p>
        </p:txBody>
      </p:sp>
      <p:sp>
        <p:nvSpPr>
          <p:cNvPr id="50" name="Shape 48"/>
          <p:cNvSpPr/>
          <p:nvPr/>
        </p:nvSpPr>
        <p:spPr>
          <a:xfrm>
            <a:off x="497154" y="6615185"/>
            <a:ext cx="268140" cy="240602"/>
          </a:xfrm>
          <a:prstGeom prst="ellipse">
            <a:avLst/>
          </a:prstGeom>
          <a:solidFill>
            <a:srgbClr val="1E2761"/>
          </a:solidFill>
          <a:ln/>
        </p:spPr>
        <p:txBody>
          <a:bodyPr/>
          <a:lstStyle/>
          <a:p>
            <a:endParaRPr lang="ja-JP" altLang="en-US" sz="2000">
              <a:latin typeface="+mn-ea"/>
              <a:ea typeface="+mn-ea"/>
            </a:endParaRPr>
          </a:p>
        </p:txBody>
      </p:sp>
      <p:sp>
        <p:nvSpPr>
          <p:cNvPr id="51" name="Text 49"/>
          <p:cNvSpPr txBox="1"/>
          <p:nvPr/>
        </p:nvSpPr>
        <p:spPr>
          <a:xfrm>
            <a:off x="497154" y="6615185"/>
            <a:ext cx="268140" cy="240602"/>
          </a:xfrm>
          <a:prstGeom prst="rect">
            <a:avLst/>
          </a:prstGeom>
          <a:noFill/>
          <a:ln/>
        </p:spPr>
        <p:txBody>
          <a:bodyPr wrap="square" lIns="0" tIns="0" rIns="0" bIns="0" rtlCol="0" anchor="ctr"/>
          <a:lstStyle/>
          <a:p>
            <a:pPr algn="ctr"/>
            <a:r>
              <a:rPr lang="en-US" sz="1600" b="1" dirty="0">
                <a:solidFill>
                  <a:srgbClr val="FFFFFF"/>
                </a:solidFill>
                <a:latin typeface="+mn-ea"/>
                <a:ea typeface="+mn-ea"/>
                <a:cs typeface="Calibri" pitchFamily="34" charset="-120"/>
              </a:rPr>
              <a:t>3</a:t>
            </a:r>
            <a:endParaRPr lang="en-US" sz="1600" dirty="0">
              <a:latin typeface="+mn-ea"/>
              <a:ea typeface="+mn-ea"/>
            </a:endParaRPr>
          </a:p>
        </p:txBody>
      </p:sp>
      <p:sp>
        <p:nvSpPr>
          <p:cNvPr id="52" name="Text 50"/>
          <p:cNvSpPr txBox="1"/>
          <p:nvPr/>
        </p:nvSpPr>
        <p:spPr>
          <a:xfrm>
            <a:off x="858057" y="6591125"/>
            <a:ext cx="5049958" cy="320802"/>
          </a:xfrm>
          <a:prstGeom prst="rect">
            <a:avLst/>
          </a:prstGeom>
          <a:noFill/>
          <a:ln/>
        </p:spPr>
        <p:txBody>
          <a:bodyPr wrap="square" lIns="0" tIns="0" rIns="0" bIns="0" rtlCol="0" anchor="ctr"/>
          <a:lstStyle/>
          <a:p>
            <a:r>
              <a:rPr lang="en-US" sz="1600" dirty="0">
                <a:solidFill>
                  <a:srgbClr val="1B1B2A"/>
                </a:solidFill>
                <a:latin typeface="+mn-ea"/>
                <a:ea typeface="+mn-ea"/>
                <a:cs typeface="Calibri" pitchFamily="34" charset="-120"/>
              </a:rPr>
              <a:t>パラメータ間の対応をランダムに並べ替えて組み合わせる</a:t>
            </a:r>
            <a:endParaRPr lang="en-US" sz="1600" dirty="0">
              <a:latin typeface="+mn-ea"/>
              <a:ea typeface="+mn-ea"/>
            </a:endParaRPr>
          </a:p>
        </p:txBody>
      </p:sp>
      <p:sp>
        <p:nvSpPr>
          <p:cNvPr id="74" name="Shape 72"/>
          <p:cNvSpPr/>
          <p:nvPr/>
        </p:nvSpPr>
        <p:spPr>
          <a:xfrm>
            <a:off x="5908015" y="5310197"/>
            <a:ext cx="4531328" cy="1872131"/>
          </a:xfrm>
          <a:prstGeom prst="roundRect">
            <a:avLst>
              <a:gd name="adj" fmla="val 5926"/>
            </a:avLst>
          </a:prstGeom>
          <a:solidFill>
            <a:srgbClr val="1E2761"/>
          </a:solidFill>
          <a:ln/>
        </p:spPr>
        <p:txBody>
          <a:bodyPr/>
          <a:lstStyle/>
          <a:p>
            <a:r>
              <a:rPr lang="ja-JP" altLang="en-US" sz="1600" dirty="0">
                <a:solidFill>
                  <a:schemeClr val="bg1"/>
                </a:solidFill>
                <a:latin typeface="+mn-ea"/>
                <a:ea typeface="+mn-ea"/>
              </a:rPr>
              <a:t>なぜ</a:t>
            </a:r>
            <a:r>
              <a:rPr lang="en-US" altLang="ja-JP" sz="1600" dirty="0">
                <a:solidFill>
                  <a:schemeClr val="bg1"/>
                </a:solidFill>
                <a:latin typeface="+mn-ea"/>
                <a:ea typeface="+mn-ea"/>
              </a:rPr>
              <a:t>LHS</a:t>
            </a:r>
            <a:r>
              <a:rPr lang="ja-JP" altLang="en-US" sz="1600" dirty="0">
                <a:solidFill>
                  <a:schemeClr val="bg1"/>
                </a:solidFill>
                <a:latin typeface="+mn-ea"/>
                <a:ea typeface="+mn-ea"/>
              </a:rPr>
              <a:t>か　少ないサンプル数でも各パラメータの周辺分布を均等にカバーできるため、高コストな</a:t>
            </a:r>
            <a:r>
              <a:rPr lang="en-US" altLang="ja-JP" sz="1600" dirty="0">
                <a:solidFill>
                  <a:schemeClr val="bg1"/>
                </a:solidFill>
                <a:latin typeface="+mn-ea"/>
                <a:ea typeface="+mn-ea"/>
              </a:rPr>
              <a:t>LP</a:t>
            </a:r>
            <a:r>
              <a:rPr lang="ja-JP" altLang="en-US" sz="1600" dirty="0">
                <a:solidFill>
                  <a:schemeClr val="bg1"/>
                </a:solidFill>
                <a:latin typeface="+mn-ea"/>
                <a:ea typeface="+mn-ea"/>
              </a:rPr>
              <a:t>求解の回数を抑えつつ、</a:t>
            </a:r>
            <a:r>
              <a:rPr lang="en-US" altLang="ja-JP" sz="1600" dirty="0">
                <a:solidFill>
                  <a:schemeClr val="bg1"/>
                </a:solidFill>
                <a:latin typeface="+mn-ea"/>
                <a:ea typeface="+mn-ea"/>
              </a:rPr>
              <a:t>LAR-PCE</a:t>
            </a:r>
            <a:r>
              <a:rPr lang="ja-JP" altLang="en-US" sz="1600" dirty="0">
                <a:solidFill>
                  <a:schemeClr val="bg1"/>
                </a:solidFill>
                <a:latin typeface="+mn-ea"/>
                <a:ea typeface="+mn-ea"/>
              </a:rPr>
              <a:t>が安定して学習できる訓練データを設計できる。</a:t>
            </a:r>
          </a:p>
        </p:txBody>
      </p:sp>
      <p:sp>
        <p:nvSpPr>
          <p:cNvPr id="76" name="タイトル 75">
            <a:extLst>
              <a:ext uri="{FF2B5EF4-FFF2-40B4-BE49-F238E27FC236}">
                <a16:creationId xmlns:a16="http://schemas.microsoft.com/office/drawing/2014/main" id="{EEEBF390-0BD0-BD48-5438-A4DC980C45E4}"/>
              </a:ext>
            </a:extLst>
          </p:cNvPr>
          <p:cNvSpPr>
            <a:spLocks noGrp="1"/>
          </p:cNvSpPr>
          <p:nvPr>
            <p:ph type="title"/>
          </p:nvPr>
        </p:nvSpPr>
        <p:spPr/>
        <p:txBody>
          <a:bodyPr/>
          <a:lstStyle/>
          <a:p>
            <a:r>
              <a:rPr lang="en-US" altLang="ja-JP" dirty="0"/>
              <a:t>LHS</a:t>
            </a:r>
            <a:r>
              <a:rPr lang="ja-JP" altLang="en-US" dirty="0"/>
              <a:t>サンプリング（ラテン超方格サンプリング）</a:t>
            </a:r>
          </a:p>
        </p:txBody>
      </p:sp>
      <p:sp>
        <p:nvSpPr>
          <p:cNvPr id="77" name="テキスト プレースホルダー 76">
            <a:extLst>
              <a:ext uri="{FF2B5EF4-FFF2-40B4-BE49-F238E27FC236}">
                <a16:creationId xmlns:a16="http://schemas.microsoft.com/office/drawing/2014/main" id="{9E355135-4A74-8EEE-5AFC-D32C73683497}"/>
              </a:ext>
            </a:extLst>
          </p:cNvPr>
          <p:cNvSpPr>
            <a:spLocks noGrp="1"/>
          </p:cNvSpPr>
          <p:nvPr>
            <p:ph type="body" sz="quarter" idx="12"/>
          </p:nvPr>
        </p:nvSpPr>
        <p:spPr>
          <a:xfrm>
            <a:off x="446803" y="911955"/>
            <a:ext cx="10004425" cy="484750"/>
          </a:xfrm>
        </p:spPr>
        <p:txBody>
          <a:bodyPr/>
          <a:lstStyle/>
          <a:p>
            <a:r>
              <a:rPr lang="ja-JP" altLang="en-US" dirty="0"/>
              <a:t>パラメータ空間を偏りなくカバーする実験計画法</a:t>
            </a:r>
            <a:r>
              <a:rPr lang="en-US" altLang="ja-JP" dirty="0"/>
              <a:t>— LAR-PCE</a:t>
            </a:r>
            <a:r>
              <a:rPr lang="ja-JP" altLang="en-US" dirty="0"/>
              <a:t>学習用の入力サンプル設計</a:t>
            </a:r>
          </a:p>
          <a:p>
            <a:endParaRPr lang="ja-JP" altLang="en-US" dirty="0"/>
          </a:p>
        </p:txBody>
      </p:sp>
    </p:spTree>
    <p:extLst>
      <p:ext uri="{BB962C8B-B14F-4D97-AF65-F5344CB8AC3E}">
        <p14:creationId xmlns:p14="http://schemas.microsoft.com/office/powerpoint/2010/main" val="35838549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A27A84-0737-51B3-4A62-2B3AA7497378}"/>
              </a:ext>
            </a:extLst>
          </p:cNvPr>
          <p:cNvSpPr>
            <a:spLocks noGrp="1"/>
          </p:cNvSpPr>
          <p:nvPr>
            <p:ph type="title"/>
          </p:nvPr>
        </p:nvSpPr>
        <p:spPr/>
        <p:txBody>
          <a:bodyPr/>
          <a:lstStyle/>
          <a:p>
            <a:r>
              <a:rPr kumimoji="1" lang="en-US" altLang="ja-JP" dirty="0"/>
              <a:t>LP</a:t>
            </a:r>
            <a:r>
              <a:rPr kumimoji="1" lang="ja-JP" altLang="en-US" dirty="0"/>
              <a:t>求解</a:t>
            </a:r>
            <a:r>
              <a:rPr kumimoji="1" lang="en-US" altLang="ja-JP" dirty="0"/>
              <a:t>(320</a:t>
            </a:r>
            <a:r>
              <a:rPr kumimoji="1" lang="ja-JP" altLang="en-US" dirty="0"/>
              <a:t>回実施</a:t>
            </a:r>
            <a:r>
              <a:rPr kumimoji="1" lang="en-US" altLang="ja-JP" dirty="0"/>
              <a:t>)</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36738AE8-79B8-5F4B-5521-1D033F2E1ACF}"/>
                  </a:ext>
                </a:extLst>
              </p:cNvPr>
              <p:cNvSpPr>
                <a:spLocks noGrp="1"/>
              </p:cNvSpPr>
              <p:nvPr>
                <p:ph type="body" sz="quarter" idx="12"/>
              </p:nvPr>
            </p:nvSpPr>
            <p:spPr/>
            <p:txBody>
              <a:bodyPr/>
              <a:lstStyle/>
              <a:p>
                <a:pPr lvl="0"/>
                <a:r>
                  <a:rPr lang="ja-JP" altLang="ja-JP" b="1" dirty="0"/>
                  <a:t>STEP 01 | 目的関数（Objective Function）</a:t>
                </a:r>
                <a:endParaRPr lang="ja-JP" altLang="ja-JP" dirty="0"/>
              </a:p>
              <a:p>
                <a:pPr lvl="1"/>
                <a:r>
                  <a:rPr lang="ja-JP" altLang="ja-JP" b="1" dirty="0"/>
                  <a:t>定式化</a:t>
                </a:r>
                <a:r>
                  <a:rPr lang="ja-JP" altLang="ja-JP" dirty="0"/>
                  <a:t>:</a:t>
                </a:r>
                <a:r>
                  <a:rPr lang="en-US" altLang="ja-JP" dirty="0"/>
                  <a:t> </a:t>
                </a:r>
                <a14:m>
                  <m:oMath xmlns:m="http://schemas.openxmlformats.org/officeDocument/2006/math">
                    <m:func>
                      <m:funcPr>
                        <m:ctrlPr>
                          <a:rPr lang="en-US" altLang="ja-JP" b="0" i="0" dirty="0" smtClean="0">
                            <a:latin typeface="Cambria Math" panose="02040503050406030204" pitchFamily="18" charset="0"/>
                          </a:rPr>
                        </m:ctrlPr>
                      </m:funcPr>
                      <m:fName>
                        <m:r>
                          <m:rPr>
                            <m:sty m:val="p"/>
                          </m:rPr>
                          <a:rPr lang="en-US" altLang="ja-JP" b="0" i="0" dirty="0" smtClean="0">
                            <a:latin typeface="Cambria Math" panose="02040503050406030204" pitchFamily="18" charset="0"/>
                          </a:rPr>
                          <m:t>min</m:t>
                        </m:r>
                      </m:fName>
                      <m:e>
                        <m:r>
                          <a:rPr lang="en-US" altLang="ja-JP" b="0" i="1" dirty="0" smtClean="0">
                            <a:latin typeface="Cambria Math" panose="02040503050406030204" pitchFamily="18" charset="0"/>
                          </a:rPr>
                          <m:t>𝑍</m:t>
                        </m:r>
                      </m:e>
                    </m:func>
                    <m:r>
                      <a:rPr lang="ja-JP" altLang="ja-JP" i="1" dirty="0" smtClean="0">
                        <a:latin typeface="Cambria Math" panose="02040503050406030204" pitchFamily="18" charset="0"/>
                      </a:rPr>
                      <m:t>=</m:t>
                    </m:r>
                    <m:r>
                      <a:rPr lang="en-US" altLang="ja-JP" b="0" i="1" dirty="0" smtClean="0">
                        <a:latin typeface="Cambria Math" panose="02040503050406030204" pitchFamily="18" charset="0"/>
                      </a:rPr>
                      <m:t>∑</m:t>
                    </m:r>
                    <m:d>
                      <m:dPr>
                        <m:ctrlPr>
                          <a:rPr lang="en-US" altLang="ja-JP" b="0" i="1" dirty="0" smtClean="0">
                            <a:latin typeface="Cambria Math" panose="02040503050406030204" pitchFamily="18" charset="0"/>
                          </a:rPr>
                        </m:ctrlPr>
                      </m:dPr>
                      <m:e>
                        <m:r>
                          <a:rPr lang="en-US" altLang="ja-JP" b="0" i="1" dirty="0" smtClean="0">
                            <a:latin typeface="Cambria Math" panose="02040503050406030204" pitchFamily="18" charset="0"/>
                          </a:rPr>
                          <m:t>𝐶𝐴𝑃𝐸</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𝑋</m:t>
                            </m:r>
                          </m:e>
                          <m:sub>
                            <m:r>
                              <a:rPr lang="en-US" altLang="ja-JP" b="0" i="1" dirty="0" smtClean="0">
                                <a:latin typeface="Cambria Math" panose="02040503050406030204" pitchFamily="18" charset="0"/>
                              </a:rPr>
                              <m:t>𝑖</m:t>
                            </m:r>
                          </m:sub>
                        </m:sSub>
                        <m:r>
                          <a:rPr lang="en-US" altLang="ja-JP" b="0" i="1" dirty="0" smtClean="0">
                            <a:latin typeface="Cambria Math" panose="02040503050406030204" pitchFamily="18" charset="0"/>
                          </a:rPr>
                          <m:t>×</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𝐶</m:t>
                            </m:r>
                          </m:e>
                          <m:sub>
                            <m:r>
                              <a:rPr lang="en-US" altLang="ja-JP" b="0" i="1" dirty="0" smtClean="0">
                                <a:latin typeface="Cambria Math" panose="02040503050406030204" pitchFamily="18" charset="0"/>
                              </a:rPr>
                              <m:t>𝑖</m:t>
                            </m:r>
                          </m:sub>
                        </m:sSub>
                      </m:e>
                    </m:d>
                    <m:r>
                      <a:rPr lang="en-US" altLang="ja-JP" b="0" i="1" dirty="0" smtClean="0">
                        <a:latin typeface="Cambria Math" panose="02040503050406030204" pitchFamily="18" charset="0"/>
                      </a:rPr>
                      <m:t>+∑</m:t>
                    </m:r>
                    <m:d>
                      <m:dPr>
                        <m:ctrlPr>
                          <a:rPr lang="en-US" altLang="ja-JP" b="0" i="1" dirty="0" smtClean="0">
                            <a:latin typeface="Cambria Math" panose="02040503050406030204" pitchFamily="18" charset="0"/>
                          </a:rPr>
                        </m:ctrlPr>
                      </m:dPr>
                      <m:e>
                        <m:r>
                          <a:rPr lang="en-US" altLang="ja-JP" b="0" i="1" dirty="0" smtClean="0">
                            <a:latin typeface="Cambria Math" panose="02040503050406030204" pitchFamily="18" charset="0"/>
                          </a:rPr>
                          <m:t>𝑂𝑃𝐸</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𝑋</m:t>
                            </m:r>
                          </m:e>
                          <m:sub>
                            <m:r>
                              <a:rPr lang="en-US" altLang="ja-JP" b="0" i="1" dirty="0" smtClean="0">
                                <a:latin typeface="Cambria Math" panose="02040503050406030204" pitchFamily="18" charset="0"/>
                              </a:rPr>
                              <m:t>𝑖</m:t>
                            </m:r>
                          </m:sub>
                        </m:sSub>
                        <m:r>
                          <a:rPr lang="en-US" altLang="ja-JP" b="0" i="1" dirty="0" smtClean="0">
                            <a:latin typeface="Cambria Math" panose="02040503050406030204" pitchFamily="18" charset="0"/>
                          </a:rPr>
                          <m:t>×</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𝑃</m:t>
                            </m:r>
                          </m:e>
                          <m:sub>
                            <m:r>
                              <a:rPr lang="en-US" altLang="ja-JP" b="0" i="1" dirty="0" smtClean="0">
                                <a:latin typeface="Cambria Math" panose="02040503050406030204" pitchFamily="18" charset="0"/>
                              </a:rPr>
                              <m:t>𝑖</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𝑡</m:t>
                            </m:r>
                          </m:sub>
                        </m:sSub>
                      </m:e>
                    </m:d>
                  </m:oMath>
                </a14:m>
                <a:endParaRPr lang="ja-JP" altLang="ja-JP" dirty="0"/>
              </a:p>
              <a:p>
                <a:pPr lvl="1"/>
                <a:r>
                  <a:rPr lang="ja-JP" altLang="ja-JP" b="1" dirty="0"/>
                  <a:t>内容</a:t>
                </a:r>
                <a:r>
                  <a:rPr lang="ja-JP" altLang="ja-JP" dirty="0"/>
                  <a:t>: 設備建設の固定コスト（CAPEX）と全対象時刻における発電・燃料・可変維持費（OPEX）の</a:t>
                </a:r>
                <a:r>
                  <a:rPr lang="ja-JP" altLang="ja-JP" b="1" dirty="0"/>
                  <a:t>システム年間総費用を最小化</a:t>
                </a:r>
                <a:r>
                  <a:rPr lang="ja-JP" altLang="ja-JP" dirty="0"/>
                  <a:t>。すべての変数関係が1次式（線形）で記述され</a:t>
                </a:r>
                <a:r>
                  <a:rPr lang="ja-JP" altLang="en-US" dirty="0"/>
                  <a:t>る</a:t>
                </a:r>
                <a:r>
                  <a:rPr lang="ja-JP" altLang="ja-JP" dirty="0"/>
                  <a:t>。</a:t>
                </a:r>
              </a:p>
              <a:p>
                <a:pPr lvl="0"/>
                <a:r>
                  <a:rPr lang="ja-JP" altLang="ja-JP" b="1" dirty="0"/>
                  <a:t>STEP 02 | 制約条件（Constraints）</a:t>
                </a:r>
                <a:endParaRPr lang="ja-JP" altLang="ja-JP" dirty="0"/>
              </a:p>
              <a:p>
                <a:pPr lvl="1"/>
                <a:r>
                  <a:rPr lang="ja-JP" altLang="ja-JP" b="1" dirty="0"/>
                  <a:t>需給一致制約</a:t>
                </a:r>
                <a:r>
                  <a:rPr lang="ja-JP" altLang="ja-JP" dirty="0"/>
                  <a:t>: </a:t>
                </a:r>
                <a14:m>
                  <m:oMath xmlns:m="http://schemas.openxmlformats.org/officeDocument/2006/math">
                    <m:nary>
                      <m:naryPr>
                        <m:chr m:val="∑"/>
                        <m:subHide m:val="on"/>
                        <m:supHide m:val="on"/>
                        <m:ctrlPr>
                          <a:rPr lang="en-US" altLang="ja-JP" b="0" i="1" smtClean="0">
                            <a:latin typeface="Cambria Math" panose="02040503050406030204" pitchFamily="18" charset="0"/>
                          </a:rPr>
                        </m:ctrlPr>
                      </m:naryPr>
                      <m:sub/>
                      <m:sup/>
                      <m:e>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𝑃</m:t>
                            </m:r>
                          </m:e>
                          <m:sub>
                            <m:r>
                              <a:rPr lang="en-US" altLang="ja-JP" b="0" i="1" smtClean="0">
                                <a:latin typeface="Cambria Math" panose="02040503050406030204" pitchFamily="18" charset="0"/>
                              </a:rPr>
                              <m:t>𝑖</m:t>
                            </m:r>
                            <m:r>
                              <a:rPr lang="en-US" altLang="ja-JP" b="0" i="1" smtClean="0">
                                <a:latin typeface="Cambria Math" panose="02040503050406030204" pitchFamily="18" charset="0"/>
                              </a:rPr>
                              <m:t>,</m:t>
                            </m:r>
                            <m:r>
                              <a:rPr lang="en-US" altLang="ja-JP" b="0" i="1" smtClean="0">
                                <a:latin typeface="Cambria Math" panose="02040503050406030204" pitchFamily="18" charset="0"/>
                              </a:rPr>
                              <m:t>𝑡</m:t>
                            </m:r>
                          </m:sub>
                        </m:sSub>
                        <m:r>
                          <a:rPr lang="en-US" altLang="ja-JP" b="0" i="1" smtClean="0">
                            <a:latin typeface="Cambria Math" panose="02040503050406030204" pitchFamily="18" charset="0"/>
                          </a:rPr>
                          <m:t> </m:t>
                        </m:r>
                      </m:e>
                    </m:nary>
                    <m:r>
                      <a:rPr lang="en-US" altLang="ja-JP" b="0" i="1" smtClean="0">
                        <a:latin typeface="Cambria Math" panose="02040503050406030204" pitchFamily="18" charset="0"/>
                      </a:rPr>
                      <m:t>=</m:t>
                    </m:r>
                    <m:r>
                      <a:rPr lang="en-US" altLang="ja-JP" b="0" i="1" smtClean="0">
                        <a:latin typeface="Cambria Math" panose="02040503050406030204" pitchFamily="18" charset="0"/>
                      </a:rPr>
                      <m:t>𝐷𝑒𝑚𝑎𝑛</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𝑑</m:t>
                        </m:r>
                      </m:e>
                      <m:sub>
                        <m:r>
                          <a:rPr lang="en-US" altLang="ja-JP" b="0" i="1" smtClean="0">
                            <a:latin typeface="Cambria Math" panose="02040503050406030204" pitchFamily="18" charset="0"/>
                          </a:rPr>
                          <m:t>𝑡</m:t>
                        </m:r>
                      </m:sub>
                    </m:sSub>
                  </m:oMath>
                </a14:m>
                <a:r>
                  <a:rPr lang="ja-JP" altLang="ja-JP" dirty="0"/>
                  <a:t>（全8,760時間の各スナップショットで厳密な需給平衡）</a:t>
                </a:r>
              </a:p>
              <a:p>
                <a:pPr lvl="1"/>
                <a:r>
                  <a:rPr lang="ja-JP" altLang="ja-JP" b="1" dirty="0"/>
                  <a:t>出力上限・気象制約</a:t>
                </a:r>
                <a:r>
                  <a:rPr lang="ja-JP" altLang="ja-JP" dirty="0"/>
                  <a:t>: </a:t>
                </a:r>
                <a14:m>
                  <m:oMath xmlns:m="http://schemas.openxmlformats.org/officeDocument/2006/math">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𝑃</m:t>
                        </m:r>
                      </m:e>
                      <m:sub>
                        <m:r>
                          <a:rPr lang="en-US" altLang="ja-JP" b="0" i="1" smtClean="0">
                            <a:latin typeface="Cambria Math" panose="02040503050406030204" pitchFamily="18" charset="0"/>
                          </a:rPr>
                          <m:t>𝑖</m:t>
                        </m:r>
                        <m:r>
                          <a:rPr lang="en-US" altLang="ja-JP" b="0" i="1" smtClean="0">
                            <a:latin typeface="Cambria Math" panose="02040503050406030204" pitchFamily="18" charset="0"/>
                          </a:rPr>
                          <m:t>,</m:t>
                        </m:r>
                        <m:r>
                          <a:rPr lang="en-US" altLang="ja-JP" b="0" i="1" smtClean="0">
                            <a:latin typeface="Cambria Math" panose="02040503050406030204" pitchFamily="18" charset="0"/>
                          </a:rPr>
                          <m:t>𝑡</m:t>
                        </m:r>
                      </m:sub>
                    </m:sSub>
                    <m:r>
                      <a:rPr lang="en-US" altLang="ja-JP" b="0" i="1" smtClean="0">
                        <a:latin typeface="Cambria Math" panose="02040503050406030204" pitchFamily="18" charset="0"/>
                      </a:rPr>
                      <m:t>≤</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𝐶</m:t>
                        </m:r>
                      </m:e>
                      <m:sub>
                        <m:r>
                          <a:rPr lang="en-US" altLang="ja-JP" b="0" i="1" smtClean="0">
                            <a:latin typeface="Cambria Math" panose="02040503050406030204" pitchFamily="18" charset="0"/>
                          </a:rPr>
                          <m:t>𝑖</m:t>
                        </m:r>
                      </m:sub>
                    </m:sSub>
                    <m:r>
                      <a:rPr lang="en-US" altLang="ja-JP" b="0" i="1" smtClean="0">
                        <a:latin typeface="Cambria Math" panose="02040503050406030204" pitchFamily="18" charset="0"/>
                      </a:rPr>
                      <m:t>×</m:t>
                    </m:r>
                    <m:r>
                      <a:rPr lang="en-US" altLang="ja-JP" b="0" i="1" smtClean="0">
                        <a:latin typeface="Cambria Math" panose="02040503050406030204" pitchFamily="18" charset="0"/>
                      </a:rPr>
                      <m:t>𝐴𝑣𝑎𝑖𝑙𝑎𝑏𝑖𝑙𝑖𝑡</m:t>
                    </m:r>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𝑦</m:t>
                        </m:r>
                      </m:e>
                      <m:sub>
                        <m:r>
                          <a:rPr lang="en-US" altLang="ja-JP" b="0" i="1" smtClean="0">
                            <a:latin typeface="Cambria Math" panose="02040503050406030204" pitchFamily="18" charset="0"/>
                          </a:rPr>
                          <m:t>𝑖</m:t>
                        </m:r>
                        <m:r>
                          <a:rPr lang="en-US" altLang="ja-JP" b="0" i="1" smtClean="0">
                            <a:latin typeface="Cambria Math" panose="02040503050406030204" pitchFamily="18" charset="0"/>
                          </a:rPr>
                          <m:t>,</m:t>
                        </m:r>
                        <m:r>
                          <a:rPr lang="en-US" altLang="ja-JP" b="0" i="1" smtClean="0">
                            <a:latin typeface="Cambria Math" panose="02040503050406030204" pitchFamily="18" charset="0"/>
                          </a:rPr>
                          <m:t>𝑡</m:t>
                        </m:r>
                      </m:sub>
                    </m:sSub>
                  </m:oMath>
                </a14:m>
                <a:r>
                  <a:rPr lang="ja-JP" altLang="ja-JP" dirty="0"/>
                  <a:t>（太陽光・風力の時間帯別出力上限）</a:t>
                </a:r>
              </a:p>
              <a:p>
                <a:pPr lvl="1"/>
                <a:r>
                  <a:rPr lang="ja-JP" altLang="ja-JP" b="1" dirty="0"/>
                  <a:t>蓄電SOC・非負制約</a:t>
                </a:r>
                <a:r>
                  <a:rPr lang="ja-JP" altLang="ja-JP" dirty="0"/>
                  <a:t>: 充放電ロスを考慮した残量遷移と、負の容量・出力を排除する条件を設定。</a:t>
                </a:r>
              </a:p>
              <a:p>
                <a:pPr lvl="0"/>
                <a:r>
                  <a:rPr lang="ja-JP" altLang="ja-JP" b="1" dirty="0"/>
                  <a:t>STEP 03 | 求解アルゴリズム（Solving Method）</a:t>
                </a:r>
                <a:endParaRPr lang="ja-JP" altLang="ja-JP" dirty="0"/>
              </a:p>
              <a:p>
                <a:pPr lvl="1"/>
                <a:r>
                  <a:rPr lang="ja-JP" altLang="ja-JP" b="1" dirty="0"/>
                  <a:t>意思決定変数</a:t>
                </a:r>
                <a:r>
                  <a:rPr lang="ja-JP" altLang="ja-JP" dirty="0"/>
                  <a:t>: 最適な設備容量（</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𝐶</m:t>
                        </m:r>
                      </m:e>
                      <m:sub>
                        <m:r>
                          <a:rPr lang="ja-JP" altLang="ja-JP" i="1" dirty="0" smtClean="0">
                            <a:latin typeface="Cambria Math" panose="02040503050406030204" pitchFamily="18" charset="0"/>
                          </a:rPr>
                          <m:t>𝑖</m:t>
                        </m:r>
                      </m:sub>
                    </m:sSub>
                  </m:oMath>
                </a14:m>
                <a:r>
                  <a:rPr lang="ja-JP" altLang="ja-JP" dirty="0"/>
                  <a:t>）と時刻ごとの出力プロファイル（</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𝑃</m:t>
                        </m:r>
                      </m:e>
                      <m:sub>
                        <m:r>
                          <a:rPr lang="en-US" altLang="ja-JP" b="0" i="1" dirty="0" smtClean="0">
                            <a:latin typeface="Cambria Math" panose="02040503050406030204" pitchFamily="18" charset="0"/>
                          </a:rPr>
                          <m:t>𝑖</m:t>
                        </m:r>
                        <m:r>
                          <a:rPr lang="en-US" altLang="ja-JP" b="0" i="1" dirty="0" smtClean="0">
                            <a:latin typeface="Cambria Math" panose="02040503050406030204" pitchFamily="18" charset="0"/>
                          </a:rPr>
                          <m:t>,</m:t>
                        </m:r>
                        <m:r>
                          <a:rPr lang="en-US" altLang="ja-JP" b="0" i="1" dirty="0" smtClean="0">
                            <a:latin typeface="Cambria Math" panose="02040503050406030204" pitchFamily="18" charset="0"/>
                          </a:rPr>
                          <m:t>𝑡</m:t>
                        </m:r>
                      </m:sub>
                    </m:sSub>
                  </m:oMath>
                </a14:m>
                <a:r>
                  <a:rPr lang="ja-JP" altLang="ja-JP" dirty="0"/>
                  <a:t>）を一括算出。</a:t>
                </a:r>
              </a:p>
              <a:p>
                <a:pPr lvl="1"/>
                <a:r>
                  <a:rPr lang="ja-JP" altLang="ja-JP" b="1" dirty="0"/>
                  <a:t>大域的最適性</a:t>
                </a:r>
                <a:r>
                  <a:rPr lang="ja-JP" altLang="ja-JP" dirty="0"/>
                  <a:t>: 実行可能領域が「凸多面体」となるため、局所解に陥らず真の最適解（グローバル最適解）が短時間で求ま</a:t>
                </a:r>
                <a:r>
                  <a:rPr lang="ja-JP" altLang="en-US" dirty="0"/>
                  <a:t>る</a:t>
                </a:r>
                <a:r>
                  <a:rPr lang="ja-JP" altLang="ja-JP" dirty="0"/>
                  <a:t>。</a:t>
                </a:r>
              </a:p>
              <a:p>
                <a:pPr lvl="1"/>
                <a:r>
                  <a:rPr lang="ja-JP" altLang="ja-JP" b="1" dirty="0"/>
                  <a:t>限界費用（LMP）</a:t>
                </a:r>
                <a:r>
                  <a:rPr lang="ja-JP" altLang="ja-JP" dirty="0"/>
                  <a:t>: 需給制約の双対変数（Dual Values）から電力のシャドープライスも同時導出され</a:t>
                </a:r>
                <a:r>
                  <a:rPr lang="ja-JP" altLang="en-US" dirty="0"/>
                  <a:t>る。</a:t>
                </a:r>
                <a:endParaRPr lang="ja-JP" altLang="ja-JP" dirty="0"/>
              </a:p>
              <a:p>
                <a:endParaRPr kumimoji="1" lang="ja-JP" altLang="en-US" dirty="0"/>
              </a:p>
            </p:txBody>
          </p:sp>
        </mc:Choice>
        <mc:Fallback xmlns="">
          <p:sp>
            <p:nvSpPr>
              <p:cNvPr id="3" name="テキスト プレースホルダー 2">
                <a:extLst>
                  <a:ext uri="{FF2B5EF4-FFF2-40B4-BE49-F238E27FC236}">
                    <a16:creationId xmlns:a16="http://schemas.microsoft.com/office/drawing/2014/main" id="{36738AE8-79B8-5F4B-5521-1D033F2E1ACF}"/>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334101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1C627EC6-D2EB-CCDC-31AF-9728AD279F59}"/>
              </a:ext>
            </a:extLst>
          </p:cNvPr>
          <p:cNvSpPr>
            <a:spLocks noGrp="1"/>
          </p:cNvSpPr>
          <p:nvPr>
            <p:ph type="title"/>
          </p:nvPr>
        </p:nvSpPr>
        <p:spPr/>
        <p:txBody>
          <a:bodyPr/>
          <a:lstStyle/>
          <a:p>
            <a:r>
              <a:rPr lang="en-US" altLang="ja-JP" dirty="0"/>
              <a:t>Weekly</a:t>
            </a:r>
            <a:r>
              <a:rPr lang="ja-JP" altLang="en-US" dirty="0"/>
              <a:t> </a:t>
            </a:r>
            <a:r>
              <a:rPr lang="en-US" altLang="ja-JP" dirty="0"/>
              <a:t>Supply-Demand</a:t>
            </a:r>
            <a:r>
              <a:rPr lang="ja-JP" altLang="en-US" dirty="0"/>
              <a:t> </a:t>
            </a:r>
            <a:r>
              <a:rPr lang="en-US" altLang="ja-JP" dirty="0"/>
              <a:t>Balance</a:t>
            </a:r>
            <a:endParaRPr lang="ja-JP" altLang="en-US" dirty="0"/>
          </a:p>
        </p:txBody>
      </p:sp>
      <p:pic>
        <p:nvPicPr>
          <p:cNvPr id="21" name="図 20">
            <a:extLst>
              <a:ext uri="{FF2B5EF4-FFF2-40B4-BE49-F238E27FC236}">
                <a16:creationId xmlns:a16="http://schemas.microsoft.com/office/drawing/2014/main" id="{0CF68AD5-912B-E8F1-A88B-48D4276C81B1}"/>
              </a:ext>
            </a:extLst>
          </p:cNvPr>
          <p:cNvPicPr>
            <a:picLocks noChangeAspect="1"/>
          </p:cNvPicPr>
          <p:nvPr/>
        </p:nvPicPr>
        <p:blipFill>
          <a:blip r:embed="rId2"/>
          <a:stretch>
            <a:fillRect/>
          </a:stretch>
        </p:blipFill>
        <p:spPr>
          <a:xfrm>
            <a:off x="0" y="743141"/>
            <a:ext cx="10693400" cy="6074980"/>
          </a:xfrm>
          <a:prstGeom prst="rect">
            <a:avLst/>
          </a:prstGeom>
        </p:spPr>
      </p:pic>
    </p:spTree>
    <p:extLst>
      <p:ext uri="{BB962C8B-B14F-4D97-AF65-F5344CB8AC3E}">
        <p14:creationId xmlns:p14="http://schemas.microsoft.com/office/powerpoint/2010/main" val="1560787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BB7A6A8-2CBF-1FD7-1A68-438363901A8F}"/>
              </a:ext>
            </a:extLst>
          </p:cNvPr>
          <p:cNvSpPr>
            <a:spLocks noGrp="1"/>
          </p:cNvSpPr>
          <p:nvPr>
            <p:ph type="title"/>
          </p:nvPr>
        </p:nvSpPr>
        <p:spPr/>
        <p:txBody>
          <a:bodyPr/>
          <a:lstStyle/>
          <a:p>
            <a:endParaRPr kumimoji="1" lang="ja-JP" altLang="en-US"/>
          </a:p>
        </p:txBody>
      </p:sp>
      <p:pic>
        <p:nvPicPr>
          <p:cNvPr id="6" name="図 5">
            <a:extLst>
              <a:ext uri="{FF2B5EF4-FFF2-40B4-BE49-F238E27FC236}">
                <a16:creationId xmlns:a16="http://schemas.microsoft.com/office/drawing/2014/main" id="{C53DE6E9-6620-13EC-0EEB-A0B3A79A4B09}"/>
              </a:ext>
            </a:extLst>
          </p:cNvPr>
          <p:cNvPicPr>
            <a:picLocks noChangeAspect="1"/>
          </p:cNvPicPr>
          <p:nvPr/>
        </p:nvPicPr>
        <p:blipFill>
          <a:blip r:embed="rId2"/>
          <a:stretch>
            <a:fillRect/>
          </a:stretch>
        </p:blipFill>
        <p:spPr>
          <a:xfrm>
            <a:off x="5670385" y="1225012"/>
            <a:ext cx="3968327" cy="3969988"/>
          </a:xfrm>
          <a:prstGeom prst="rect">
            <a:avLst/>
          </a:prstGeom>
        </p:spPr>
      </p:pic>
      <p:pic>
        <p:nvPicPr>
          <p:cNvPr id="8" name="図 7">
            <a:extLst>
              <a:ext uri="{FF2B5EF4-FFF2-40B4-BE49-F238E27FC236}">
                <a16:creationId xmlns:a16="http://schemas.microsoft.com/office/drawing/2014/main" id="{F830AACA-E3CA-AA1C-F040-49A3EC3ECF1B}"/>
              </a:ext>
            </a:extLst>
          </p:cNvPr>
          <p:cNvPicPr>
            <a:picLocks noChangeAspect="1"/>
          </p:cNvPicPr>
          <p:nvPr/>
        </p:nvPicPr>
        <p:blipFill>
          <a:blip r:embed="rId3"/>
          <a:stretch>
            <a:fillRect/>
          </a:stretch>
        </p:blipFill>
        <p:spPr>
          <a:xfrm>
            <a:off x="803868" y="1225011"/>
            <a:ext cx="3968326" cy="3969988"/>
          </a:xfrm>
          <a:prstGeom prst="rect">
            <a:avLst/>
          </a:prstGeom>
        </p:spPr>
      </p:pic>
    </p:spTree>
    <p:extLst>
      <p:ext uri="{BB962C8B-B14F-4D97-AF65-F5344CB8AC3E}">
        <p14:creationId xmlns:p14="http://schemas.microsoft.com/office/powerpoint/2010/main" val="929052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135658-418C-CB15-0BD1-51C3BDD961BC}"/>
              </a:ext>
            </a:extLst>
          </p:cNvPr>
          <p:cNvSpPr>
            <a:spLocks noGrp="1"/>
          </p:cNvSpPr>
          <p:nvPr>
            <p:ph type="title"/>
          </p:nvPr>
        </p:nvSpPr>
        <p:spPr/>
        <p:txBody>
          <a:bodyPr/>
          <a:lstStyle/>
          <a:p>
            <a:r>
              <a:rPr lang="en-US" altLang="ja-JP" dirty="0"/>
              <a:t>Monthly Energy Dispatch</a:t>
            </a:r>
            <a:endParaRPr kumimoji="1" lang="ja-JP" altLang="en-US" dirty="0"/>
          </a:p>
        </p:txBody>
      </p:sp>
      <p:graphicFrame>
        <p:nvGraphicFramePr>
          <p:cNvPr id="4" name="Chart 3">
            <a:extLst>
              <a:ext uri="{FF2B5EF4-FFF2-40B4-BE49-F238E27FC236}">
                <a16:creationId xmlns:a16="http://schemas.microsoft.com/office/drawing/2014/main" id="{6C18B8AE-C507-D02A-FF99-893D7A0C4E98}"/>
              </a:ext>
            </a:extLst>
          </p:cNvPr>
          <p:cNvGraphicFramePr>
            <a:graphicFrameLocks noGrp="1"/>
          </p:cNvGraphicFramePr>
          <p:nvPr>
            <p:extLst>
              <p:ext uri="{D42A27DB-BD31-4B8C-83A1-F6EECF244321}">
                <p14:modId xmlns:p14="http://schemas.microsoft.com/office/powerpoint/2010/main" val="1505397151"/>
              </p:ext>
            </p:extLst>
          </p:nvPr>
        </p:nvGraphicFramePr>
        <p:xfrm>
          <a:off x="344881" y="1099288"/>
          <a:ext cx="10003638" cy="4929721"/>
        </p:xfrm>
        <a:graphic>
          <a:graphicData uri="http://schemas.openxmlformats.org/drawingml/2006/chart">
            <c:chart xmlns:c="http://schemas.openxmlformats.org/drawingml/2006/chart" xmlns:r="http://schemas.openxmlformats.org/officeDocument/2006/relationships" r:id="rId2"/>
          </a:graphicData>
        </a:graphic>
      </p:graphicFrame>
      <p:sp>
        <p:nvSpPr>
          <p:cNvPr id="13" name="テキスト ボックス 12">
            <a:extLst>
              <a:ext uri="{FF2B5EF4-FFF2-40B4-BE49-F238E27FC236}">
                <a16:creationId xmlns:a16="http://schemas.microsoft.com/office/drawing/2014/main" id="{E245B309-B2BC-3F1B-097B-ABAB794003C7}"/>
              </a:ext>
            </a:extLst>
          </p:cNvPr>
          <p:cNvSpPr txBox="1"/>
          <p:nvPr/>
        </p:nvSpPr>
        <p:spPr>
          <a:xfrm>
            <a:off x="0" y="6176268"/>
            <a:ext cx="10693400" cy="1384995"/>
          </a:xfrm>
          <a:prstGeom prst="rect">
            <a:avLst/>
          </a:prstGeom>
          <a:noFill/>
        </p:spPr>
        <p:txBody>
          <a:bodyPr wrap="square">
            <a:spAutoFit/>
          </a:bodyPr>
          <a:lstStyle/>
          <a:p>
            <a:pPr marL="342900" lvl="0" indent="-342900">
              <a:buFont typeface="Arial" panose="020B0604020202020204" pitchFamily="34" charset="0"/>
              <a:buChar char="•"/>
            </a:pPr>
            <a:r>
              <a:rPr lang="ja-JP" altLang="ja-JP" b="1" dirty="0"/>
              <a:t>年間平均自給率</a:t>
            </a:r>
            <a:r>
              <a:rPr lang="ja-JP" altLang="ja-JP" dirty="0"/>
              <a:t>: </a:t>
            </a:r>
            <a:r>
              <a:rPr lang="ja-JP" altLang="ja-JP" b="1" dirty="0"/>
              <a:t>96.8%</a:t>
            </a:r>
            <a:r>
              <a:rPr lang="ja-JP" altLang="ja-JP" dirty="0"/>
              <a:t>（年間総需要 401.5 MWh に対し、ディーゼル依存はわずか 12.8 MWh [3.2%]）</a:t>
            </a:r>
          </a:p>
          <a:p>
            <a:pPr marL="342900" lvl="0" indent="-342900">
              <a:buFont typeface="Arial" panose="020B0604020202020204" pitchFamily="34" charset="0"/>
              <a:buChar char="•"/>
            </a:pPr>
            <a:r>
              <a:rPr lang="ja-JP" altLang="ja-JP" b="1" dirty="0"/>
              <a:t>最高自給月</a:t>
            </a:r>
            <a:r>
              <a:rPr lang="ja-JP" altLang="ja-JP" dirty="0"/>
              <a:t>: </a:t>
            </a:r>
            <a:r>
              <a:rPr lang="ja-JP" altLang="ja-JP" b="1" dirty="0"/>
              <a:t>2月（99.9%）</a:t>
            </a:r>
            <a:r>
              <a:rPr lang="ja-JP" altLang="ja-JP" dirty="0"/>
              <a:t>、</a:t>
            </a:r>
            <a:r>
              <a:rPr lang="ja-JP" altLang="ja-JP" b="1" dirty="0"/>
              <a:t>12月（99.8%）</a:t>
            </a:r>
            <a:r>
              <a:rPr lang="ja-JP" altLang="ja-JP" dirty="0"/>
              <a:t>、</a:t>
            </a:r>
            <a:r>
              <a:rPr lang="ja-JP" altLang="ja-JP" b="1" dirty="0"/>
              <a:t>3月（98.8%）</a:t>
            </a:r>
            <a:r>
              <a:rPr lang="ja-JP" altLang="ja-JP" dirty="0"/>
              <a:t>、</a:t>
            </a:r>
            <a:r>
              <a:rPr lang="ja-JP" altLang="ja-JP" b="1" dirty="0"/>
              <a:t>1月（98.5%）</a:t>
            </a:r>
            <a:endParaRPr lang="ja-JP" altLang="ja-JP" dirty="0"/>
          </a:p>
          <a:p>
            <a:pPr marL="742950" lvl="1" indent="-285750">
              <a:buFont typeface="Arial" panose="020B0604020202020204" pitchFamily="34" charset="0"/>
              <a:buChar char="•"/>
            </a:pPr>
            <a:r>
              <a:rPr lang="ja-JP" altLang="ja-JP" dirty="0"/>
              <a:t>冬場〜春先は太陽光と風力の出力バランスが良く、需要の大半を自給できています。</a:t>
            </a:r>
          </a:p>
          <a:p>
            <a:pPr marL="342900" lvl="0" indent="-342900">
              <a:buFont typeface="Arial" panose="020B0604020202020204" pitchFamily="34" charset="0"/>
              <a:buChar char="•"/>
            </a:pPr>
            <a:r>
              <a:rPr lang="ja-JP" altLang="ja-JP" b="1" dirty="0"/>
              <a:t>自給率低下月</a:t>
            </a:r>
            <a:r>
              <a:rPr lang="ja-JP" altLang="ja-JP" dirty="0"/>
              <a:t>: </a:t>
            </a:r>
            <a:r>
              <a:rPr lang="ja-JP" altLang="ja-JP" b="1" dirty="0"/>
              <a:t>10月（92.9%）</a:t>
            </a:r>
            <a:r>
              <a:rPr lang="ja-JP" altLang="ja-JP" dirty="0"/>
              <a:t>、</a:t>
            </a:r>
            <a:r>
              <a:rPr lang="ja-JP" altLang="ja-JP" b="1" dirty="0"/>
              <a:t>6月（93.4%）</a:t>
            </a:r>
            <a:r>
              <a:rPr lang="ja-JP" altLang="ja-JP" dirty="0"/>
              <a:t>、</a:t>
            </a:r>
            <a:r>
              <a:rPr lang="ja-JP" altLang="ja-JP" b="1" dirty="0"/>
              <a:t>4月（95.1%）</a:t>
            </a:r>
            <a:endParaRPr lang="ja-JP" altLang="ja-JP" dirty="0"/>
          </a:p>
          <a:p>
            <a:pPr marL="742950" lvl="1" indent="-285750">
              <a:buFont typeface="Arial" panose="020B0604020202020204" pitchFamily="34" charset="0"/>
              <a:buChar char="•"/>
            </a:pPr>
            <a:r>
              <a:rPr lang="ja-JP" altLang="ja-JP" dirty="0"/>
              <a:t>端境期や梅雨時期など、一時的な日照低下や風力の落ち込みにより、深夜帯のディーゼル補填が発生した月で自給率がわずかに低下しています。</a:t>
            </a:r>
          </a:p>
        </p:txBody>
      </p:sp>
    </p:spTree>
    <p:extLst>
      <p:ext uri="{BB962C8B-B14F-4D97-AF65-F5344CB8AC3E}">
        <p14:creationId xmlns:p14="http://schemas.microsoft.com/office/powerpoint/2010/main" val="5912476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D9D849-DC50-91AA-F0A5-E176CFD30DB5}"/>
              </a:ext>
            </a:extLst>
          </p:cNvPr>
          <p:cNvSpPr>
            <a:spLocks noGrp="1"/>
          </p:cNvSpPr>
          <p:nvPr>
            <p:ph type="title"/>
          </p:nvPr>
        </p:nvSpPr>
        <p:spPr/>
        <p:txBody>
          <a:bodyPr/>
          <a:lstStyle/>
          <a:p>
            <a:r>
              <a:rPr lang="en-US" altLang="ja-JP" dirty="0"/>
              <a:t>3.PCE</a:t>
            </a:r>
            <a:r>
              <a:rPr lang="ja-JP" altLang="en-US" dirty="0"/>
              <a:t>学習</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FA264725-206B-9FE3-DA30-8230FA38C5EA}"/>
                  </a:ext>
                </a:extLst>
              </p:cNvPr>
              <p:cNvSpPr>
                <a:spLocks noGrp="1"/>
              </p:cNvSpPr>
              <p:nvPr>
                <p:ph type="body" sz="quarter" idx="12"/>
              </p:nvPr>
            </p:nvSpPr>
            <p:spPr/>
            <p:txBody>
              <a:bodyPr/>
              <a:lstStyle/>
              <a:p>
                <a:pPr lvl="0"/>
                <a:r>
                  <a:rPr lang="ja-JP" altLang="ja-JP" b="1" dirty="0"/>
                  <a:t>STEP 01 | 正解データの収集（事前サンプリング）</a:t>
                </a:r>
                <a:endParaRPr lang="ja-JP" altLang="ja-JP" dirty="0"/>
              </a:p>
              <a:p>
                <a:pPr lvl="1"/>
                <a:r>
                  <a:rPr lang="ja-JP" altLang="ja-JP" dirty="0"/>
                  <a:t>最適化モデルを 320回 のみ実行し、学習用の入出力ペアを蓄積する。</a:t>
                </a:r>
              </a:p>
              <a:p>
                <a:pPr lvl="1"/>
                <a:r>
                  <a:rPr lang="ja-JP" altLang="ja-JP" dirty="0"/>
                  <a:t>4技術（太陽光・風力・蓄電池・ディーゼル）のコスト空間からSaltelliサンプリングを行う。</a:t>
                </a:r>
              </a:p>
              <a:p>
                <a:pPr lvl="1"/>
                <a:r>
                  <a:rPr lang="ja-JP" altLang="ja-JP" dirty="0"/>
                  <a:t>全8,760時間の需給平衡・気象条件を満たす厳密なシステム総コストを正解値とする。</a:t>
                </a:r>
              </a:p>
              <a:p>
                <a:pPr lvl="0"/>
                <a:r>
                  <a:rPr lang="ja-JP" altLang="ja-JP" b="1" dirty="0"/>
                  <a:t>STEP 02 | 多項式基底の設定と回帰（PCEモデルの学習）</a:t>
                </a:r>
                <a:endParaRPr lang="ja-JP" altLang="ja-JP" dirty="0"/>
              </a:p>
              <a:p>
                <a:pPr lvl="1"/>
                <a:r>
                  <a:rPr lang="ja-JP" altLang="ja-JP" dirty="0"/>
                  <a:t>入力変数を 2次直交多項式基底（全15項）へと数学的に展開する。</a:t>
                </a:r>
              </a:p>
              <a:p>
                <a:pPr lvl="1"/>
                <a:r>
                  <a:rPr lang="ja-JP" altLang="ja-JP" dirty="0"/>
                  <a:t>RidgeCV（L2正則化＋内部交差検証）により過学習を防止しながら最適係数を同定する。</a:t>
                </a:r>
              </a:p>
              <a:p>
                <a:pPr lvl="1"/>
                <a:r>
                  <a:rPr lang="ja-JP" altLang="ja-JP" dirty="0"/>
                  <a:t>決定係数 </a:t>
                </a:r>
                <a14:m>
                  <m:oMath xmlns:m="http://schemas.openxmlformats.org/officeDocument/2006/math">
                    <m:sSup>
                      <m:sSupPr>
                        <m:ctrlPr>
                          <a:rPr lang="ja-JP" altLang="ja-JP" i="1" dirty="0" smtClean="0">
                            <a:latin typeface="Cambria Math" panose="02040503050406030204" pitchFamily="18" charset="0"/>
                          </a:rPr>
                        </m:ctrlPr>
                      </m:sSupPr>
                      <m:e>
                        <m:r>
                          <a:rPr lang="ja-JP" altLang="ja-JP" i="1" dirty="0" smtClean="0">
                            <a:latin typeface="Cambria Math" panose="02040503050406030204" pitchFamily="18" charset="0"/>
                          </a:rPr>
                          <m:t>𝑅</m:t>
                        </m:r>
                      </m:e>
                      <m:sup>
                        <m:r>
                          <a:rPr lang="en-US" altLang="ja-JP" b="0" i="1" dirty="0" smtClean="0">
                            <a:latin typeface="Cambria Math" panose="02040503050406030204" pitchFamily="18" charset="0"/>
                          </a:rPr>
                          <m:t>2</m:t>
                        </m:r>
                      </m:sup>
                    </m:sSup>
                    <m:r>
                      <a:rPr lang="ja-JP" altLang="ja-JP" i="1" dirty="0" smtClean="0">
                        <a:latin typeface="Cambria Math" panose="02040503050406030204" pitchFamily="18" charset="0"/>
                      </a:rPr>
                      <m:t>= 0.9992</m:t>
                    </m:r>
                  </m:oMath>
                </a14:m>
                <a:r>
                  <a:rPr lang="ja-JP" altLang="ja-JP" dirty="0"/>
                  <a:t>（予測誤差 0.08%）を達成し、非線形挙動をほぼ完璧に再現する。</a:t>
                </a:r>
              </a:p>
              <a:p>
                <a:pPr lvl="0"/>
                <a:r>
                  <a:rPr lang="ja-JP" altLang="ja-JP" b="1" dirty="0"/>
                  <a:t>STEP 03 | 代数展開と超高速評価（Sobol感度・符号解析）</a:t>
                </a:r>
                <a:endParaRPr lang="ja-JP" altLang="ja-JP" dirty="0"/>
              </a:p>
              <a:p>
                <a:pPr lvl="1"/>
                <a:r>
                  <a:rPr lang="ja-JP" altLang="ja-JP" dirty="0"/>
                  <a:t>10,240回の不確実性評価を代数代入処理で完了する。</a:t>
                </a:r>
              </a:p>
              <a:p>
                <a:pPr lvl="1"/>
                <a:r>
                  <a:rPr lang="ja-JP" altLang="ja-JP" dirty="0"/>
                  <a:t>Parsevalの定理に基づき、多項式係数の二乗和比率からSobol指標（</a:t>
                </a:r>
                <a14:m>
                  <m:oMath xmlns:m="http://schemas.openxmlformats.org/officeDocument/2006/math">
                    <m:r>
                      <a:rPr lang="en-US" altLang="ja-JP" b="0" i="1" dirty="0" smtClean="0">
                        <a:latin typeface="Cambria Math" panose="02040503050406030204" pitchFamily="18" charset="0"/>
                      </a:rPr>
                      <m:t> </m:t>
                    </m:r>
                    <m:sSub>
                      <m:sSubPr>
                        <m:ctrlPr>
                          <a:rPr lang="en-US" altLang="ja-JP" b="0" i="1" dirty="0" smtClean="0">
                            <a:latin typeface="Cambria Math" panose="02040503050406030204" pitchFamily="18" charset="0"/>
                          </a:rPr>
                        </m:ctrlPr>
                      </m:sSubPr>
                      <m:e>
                        <m:r>
                          <a:rPr lang="en-US" altLang="ja-JP" b="0" i="1" dirty="0" smtClean="0">
                            <a:latin typeface="Cambria Math" panose="02040503050406030204" pitchFamily="18" charset="0"/>
                          </a:rPr>
                          <m:t>𝑆</m:t>
                        </m:r>
                      </m:e>
                      <m:sub>
                        <m:r>
                          <a:rPr lang="en-US" altLang="ja-JP" b="0" i="1" dirty="0" smtClean="0">
                            <a:latin typeface="Cambria Math" panose="02040503050406030204" pitchFamily="18" charset="0"/>
                          </a:rPr>
                          <m:t>1</m:t>
                        </m:r>
                      </m:sub>
                    </m:sSub>
                    <m:r>
                      <a:rPr lang="en-US" altLang="ja-JP" b="0" i="1" dirty="0" smtClean="0">
                        <a:latin typeface="Cambria Math" panose="02040503050406030204" pitchFamily="18" charset="0"/>
                      </a:rPr>
                      <m:t>, </m:t>
                    </m:r>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ja-JP" altLang="ja-JP" i="1" dirty="0" smtClean="0">
                            <a:latin typeface="Cambria Math" panose="02040503050406030204" pitchFamily="18" charset="0"/>
                          </a:rPr>
                          <m:t>𝑇</m:t>
                        </m:r>
                      </m:sub>
                    </m:sSub>
                  </m:oMath>
                </a14:m>
                <a:r>
                  <a:rPr lang="ja-JP" altLang="ja-JP" dirty="0"/>
                  <a:t>）を直接算出する。</a:t>
                </a:r>
              </a:p>
              <a:p>
                <a:pPr lvl="1"/>
                <a:r>
                  <a:rPr lang="ja-JP" altLang="ja-JP" dirty="0"/>
                  <a:t>PCE2次交差項の符号（</a:t>
                </a:r>
                <a14:m>
                  <m:oMath xmlns:m="http://schemas.openxmlformats.org/officeDocument/2006/math">
                    <m:sSub>
                      <m:sSubPr>
                        <m:ctrlPr>
                          <a:rPr lang="en-US" altLang="ja-JP" b="0" i="1" smtClean="0">
                            <a:latin typeface="Cambria Math" panose="02040503050406030204" pitchFamily="18" charset="0"/>
                          </a:rPr>
                        </m:ctrlPr>
                      </m:sSubPr>
                      <m:e>
                        <m:r>
                          <a:rPr lang="en-US" altLang="ja-JP" b="0" i="1" smtClean="0">
                            <a:latin typeface="Cambria Math" panose="02040503050406030204" pitchFamily="18" charset="0"/>
                          </a:rPr>
                          <m:t>𝛽</m:t>
                        </m:r>
                      </m:e>
                      <m:sub>
                        <m:r>
                          <a:rPr lang="en-US" altLang="ja-JP" b="0" i="1" smtClean="0">
                            <a:latin typeface="Cambria Math" panose="02040503050406030204" pitchFamily="18" charset="0"/>
                          </a:rPr>
                          <m:t>𝑖𝑗</m:t>
                        </m:r>
                      </m:sub>
                    </m:sSub>
                  </m:oMath>
                </a14:m>
                <a:r>
                  <a:rPr lang="ja-JP" altLang="ja-JP" dirty="0"/>
                  <a:t>）により、技術間の代替（競合）・補完（相乗）関係を決定する。</a:t>
                </a:r>
              </a:p>
              <a:p>
                <a:pPr lvl="0"/>
                <a:r>
                  <a:rPr lang="ja-JP" altLang="ja-JP" b="1" dirty="0"/>
                  <a:t>【結論】（下部要約バナー）</a:t>
                </a:r>
                <a:endParaRPr lang="ja-JP" altLang="ja-JP" dirty="0"/>
              </a:p>
              <a:p>
                <a:pPr lvl="1"/>
                <a:r>
                  <a:rPr lang="ja-JP" altLang="ja-JP" dirty="0"/>
                  <a:t>PCE学習は、反復計算を要する最適化問題を「高精度な代数多項式」へ変換する技術である。</a:t>
                </a:r>
              </a:p>
              <a:p>
                <a:pPr lvl="1"/>
                <a:r>
                  <a:rPr lang="ja-JP" altLang="ja-JP" dirty="0"/>
                  <a:t>少数のサンプリングで過学習を抑制しつつ高次ダイナミクスを完璧に捕捉し、GSAおよび交互作用の符号解析を高速に実現可能とする。</a:t>
                </a:r>
              </a:p>
              <a:p>
                <a:endParaRPr kumimoji="1" lang="ja-JP" altLang="en-US" dirty="0"/>
              </a:p>
            </p:txBody>
          </p:sp>
        </mc:Choice>
        <mc:Fallback xmlns="">
          <p:sp>
            <p:nvSpPr>
              <p:cNvPr id="3" name="テキスト プレースホルダー 2">
                <a:extLst>
                  <a:ext uri="{FF2B5EF4-FFF2-40B4-BE49-F238E27FC236}">
                    <a16:creationId xmlns:a16="http://schemas.microsoft.com/office/drawing/2014/main" id="{FA264725-206B-9FE3-DA30-8230FA38C5EA}"/>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446353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FE5BBF4C-EE11-63D8-8691-736376792B53}"/>
              </a:ext>
            </a:extLst>
          </p:cNvPr>
          <p:cNvSpPr>
            <a:spLocks noGrp="1"/>
          </p:cNvSpPr>
          <p:nvPr>
            <p:ph type="title"/>
          </p:nvPr>
        </p:nvSpPr>
        <p:spPr/>
        <p:txBody>
          <a:bodyPr/>
          <a:lstStyle/>
          <a:p>
            <a:r>
              <a:rPr lang="en-US" altLang="ja-JP" dirty="0" err="1"/>
              <a:t>RidgeCV</a:t>
            </a:r>
            <a:r>
              <a:rPr lang="ja-JP" altLang="en-US" dirty="0"/>
              <a:t>について</a:t>
            </a:r>
          </a:p>
        </p:txBody>
      </p:sp>
      <p:pic>
        <p:nvPicPr>
          <p:cNvPr id="6" name="図 5">
            <a:extLst>
              <a:ext uri="{FF2B5EF4-FFF2-40B4-BE49-F238E27FC236}">
                <a16:creationId xmlns:a16="http://schemas.microsoft.com/office/drawing/2014/main" id="{E2D40529-DFE1-A268-6F25-B3E6B3FBDFD8}"/>
              </a:ext>
            </a:extLst>
          </p:cNvPr>
          <p:cNvPicPr>
            <a:picLocks noChangeAspect="1"/>
          </p:cNvPicPr>
          <p:nvPr/>
        </p:nvPicPr>
        <p:blipFill>
          <a:blip r:embed="rId2"/>
          <a:stretch>
            <a:fillRect/>
          </a:stretch>
        </p:blipFill>
        <p:spPr>
          <a:xfrm>
            <a:off x="30023" y="857692"/>
            <a:ext cx="10693400" cy="4218880"/>
          </a:xfrm>
          <a:prstGeom prst="rect">
            <a:avLst/>
          </a:prstGeom>
        </p:spPr>
      </p:pic>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88D739BD-F94C-971E-9F81-E5C2CF53B129}"/>
                  </a:ext>
                </a:extLst>
              </p:cNvPr>
              <p:cNvSpPr txBox="1"/>
              <p:nvPr/>
            </p:nvSpPr>
            <p:spPr>
              <a:xfrm>
                <a:off x="152400" y="4986349"/>
                <a:ext cx="5384800" cy="2312493"/>
              </a:xfrm>
              <a:prstGeom prst="rect">
                <a:avLst/>
              </a:prstGeom>
              <a:noFill/>
            </p:spPr>
            <p:txBody>
              <a:bodyPr wrap="square" rtlCol="0">
                <a:spAutoFit/>
              </a:bodyPr>
              <a:lstStyle/>
              <a:p>
                <a:r>
                  <a:rPr lang="ja-JP" altLang="ja-JP" sz="1200" b="1" dirty="0">
                    <a:latin typeface="+mn-ea"/>
                    <a:ea typeface="+mn-ea"/>
                  </a:rPr>
                  <a:t>交差検証誤差カーブ（Cross-Validation Error Curve）</a:t>
                </a:r>
              </a:p>
              <a:p>
                <a:pPr lvl="0"/>
                <a:r>
                  <a:rPr lang="ja-JP" altLang="ja-JP" sz="1200" b="1" dirty="0">
                    <a:latin typeface="+mn-ea"/>
                    <a:ea typeface="+mn-ea"/>
                  </a:rPr>
                  <a:t>概要</a:t>
                </a:r>
                <a:r>
                  <a:rPr lang="ja-JP" altLang="ja-JP" sz="1200" dirty="0">
                    <a:latin typeface="+mn-ea"/>
                    <a:ea typeface="+mn-ea"/>
                  </a:rPr>
                  <a:t>: 正則化の強さを表すパラメータ $\alpha$ を変化させた際の、交差検証（10-Fold CV）における予測誤差（MSE：平均二乗誤差）の推移を示している。</a:t>
                </a:r>
              </a:p>
              <a:p>
                <a:pPr lvl="0"/>
                <a:r>
                  <a:rPr lang="ja-JP" altLang="ja-JP" sz="1200" b="1" dirty="0">
                    <a:latin typeface="+mn-ea"/>
                    <a:ea typeface="+mn-ea"/>
                  </a:rPr>
                  <a:t>主要な知見</a:t>
                </a:r>
                <a:r>
                  <a:rPr lang="ja-JP" altLang="ja-JP" sz="1200" dirty="0">
                    <a:latin typeface="+mn-ea"/>
                    <a:ea typeface="+mn-ea"/>
                  </a:rPr>
                  <a:t>:</a:t>
                </a:r>
              </a:p>
              <a:p>
                <a:pPr lvl="1"/>
                <a:r>
                  <a:rPr lang="ja-JP" altLang="ja-JP" sz="1200" b="1" dirty="0">
                    <a:latin typeface="+mn-ea"/>
                    <a:ea typeface="+mn-ea"/>
                  </a:rPr>
                  <a:t>最小誤差点の特定</a:t>
                </a:r>
                <a:r>
                  <a:rPr lang="ja-JP" altLang="ja-JP" sz="1200" dirty="0">
                    <a:latin typeface="+mn-ea"/>
                    <a:ea typeface="+mn-ea"/>
                  </a:rPr>
                  <a:t>: </a:t>
                </a:r>
                <a14:m>
                  <m:oMath xmlns:m="http://schemas.openxmlformats.org/officeDocument/2006/math">
                    <m:r>
                      <a:rPr lang="en-US" altLang="ja-JP" sz="1200" b="0" i="1" dirty="0" smtClean="0">
                        <a:latin typeface="Cambria Math" panose="02040503050406030204" pitchFamily="18" charset="0"/>
                        <a:ea typeface="+mn-ea"/>
                      </a:rPr>
                      <m:t>𝛼</m:t>
                    </m:r>
                    <m:r>
                      <a:rPr lang="en-US" altLang="ja-JP" sz="1200" b="0" i="1" dirty="0" smtClean="0">
                        <a:latin typeface="Cambria Math" panose="02040503050406030204" pitchFamily="18" charset="0"/>
                        <a:ea typeface="+mn-ea"/>
                      </a:rPr>
                      <m:t>=0.001</m:t>
                    </m:r>
                  </m:oMath>
                </a14:m>
                <a:r>
                  <a:rPr lang="ja-JP" altLang="ja-JP" sz="1200" dirty="0">
                    <a:latin typeface="+mn-ea"/>
                    <a:ea typeface="+mn-ea"/>
                  </a:rPr>
                  <a:t>（赤の垂直破線）において、</a:t>
                </a:r>
                <a:r>
                  <a:rPr lang="ja-JP" altLang="ja-JP" sz="1200" b="1" dirty="0">
                    <a:latin typeface="+mn-ea"/>
                    <a:ea typeface="+mn-ea"/>
                  </a:rPr>
                  <a:t>最小予測誤差（MSE = 0.0442）</a:t>
                </a:r>
                <a:r>
                  <a:rPr lang="ja-JP" altLang="ja-JP" sz="1200" dirty="0">
                    <a:latin typeface="+mn-ea"/>
                    <a:ea typeface="+mn-ea"/>
                  </a:rPr>
                  <a:t> を記録した。</a:t>
                </a:r>
              </a:p>
              <a:p>
                <a:pPr lvl="1"/>
                <a:r>
                  <a:rPr lang="ja-JP" altLang="ja-JP" sz="1200" b="1" dirty="0">
                    <a:latin typeface="+mn-ea"/>
                    <a:ea typeface="+mn-ea"/>
                  </a:rPr>
                  <a:t>過小適合の回避</a:t>
                </a:r>
                <a:r>
                  <a:rPr lang="ja-JP" altLang="ja-JP" sz="1200" dirty="0">
                    <a:latin typeface="+mn-ea"/>
                    <a:ea typeface="+mn-ea"/>
                  </a:rPr>
                  <a:t>: </a:t>
                </a:r>
                <a14:m>
                  <m:oMath xmlns:m="http://schemas.openxmlformats.org/officeDocument/2006/math">
                    <m:r>
                      <a:rPr lang="en-US" altLang="ja-JP" sz="1200" i="1" dirty="0">
                        <a:latin typeface="Cambria Math" panose="02040503050406030204" pitchFamily="18" charset="0"/>
                        <a:ea typeface="+mn-ea"/>
                      </a:rPr>
                      <m:t>𝛼</m:t>
                    </m:r>
                  </m:oMath>
                </a14:m>
                <a:r>
                  <a:rPr lang="ja-JP" altLang="ja-JP" sz="1200" dirty="0">
                    <a:latin typeface="+mn-ea"/>
                    <a:ea typeface="+mn-ea"/>
                  </a:rPr>
                  <a:t> を大きくしすぎると（グラフ右側）、正則化ペナルティが強まりすぎて多項式の表現力が減退し、予測誤差が急増する（アンダーフィッティング）。</a:t>
                </a:r>
              </a:p>
              <a:p>
                <a:pPr lvl="1"/>
                <a:r>
                  <a:rPr lang="ja-JP" altLang="ja-JP" sz="1200" b="1" dirty="0">
                    <a:latin typeface="+mn-ea"/>
                    <a:ea typeface="+mn-ea"/>
                  </a:rPr>
                  <a:t>汎化性能の担保</a:t>
                </a:r>
                <a:r>
                  <a:rPr lang="ja-JP" altLang="ja-JP" sz="1200" dirty="0">
                    <a:latin typeface="+mn-ea"/>
                    <a:ea typeface="+mn-ea"/>
                  </a:rPr>
                  <a:t>: 最適値 </a:t>
                </a:r>
                <a14:m>
                  <m:oMath xmlns:m="http://schemas.openxmlformats.org/officeDocument/2006/math">
                    <m:r>
                      <a:rPr lang="en-US" altLang="ja-JP" sz="1200" i="1" dirty="0">
                        <a:latin typeface="Cambria Math" panose="02040503050406030204" pitchFamily="18" charset="0"/>
                        <a:ea typeface="+mn-ea"/>
                      </a:rPr>
                      <m:t>𝛼</m:t>
                    </m:r>
                    <m:r>
                      <a:rPr lang="en-US" altLang="ja-JP" sz="1200" b="0" i="1" dirty="0" smtClean="0">
                        <a:latin typeface="Cambria Math" panose="02040503050406030204" pitchFamily="18" charset="0"/>
                        <a:ea typeface="+mn-ea"/>
                      </a:rPr>
                      <m:t>=0.001</m:t>
                    </m:r>
                  </m:oMath>
                </a14:m>
                <a:r>
                  <a:rPr lang="ja-JP" altLang="ja-JP" sz="1200" dirty="0">
                    <a:latin typeface="+mn-ea"/>
                    <a:ea typeface="+mn-ea"/>
                  </a:rPr>
                  <a:t> を選定したことで、データノイズへの過剰適合（過学習）を防ぎつつ、</a:t>
                </a:r>
                <a:r>
                  <a:rPr lang="ja-JP" altLang="ja-JP" sz="1200" b="1" dirty="0">
                    <a:latin typeface="+mn-ea"/>
                    <a:ea typeface="+mn-ea"/>
                  </a:rPr>
                  <a:t>決定係数 </a:t>
                </a:r>
                <a14:m>
                  <m:oMath xmlns:m="http://schemas.openxmlformats.org/officeDocument/2006/math">
                    <m:sSup>
                      <m:sSupPr>
                        <m:ctrlPr>
                          <a:rPr lang="en-US" altLang="ja-JP" sz="1200" b="0" i="1" dirty="0" smtClean="0">
                            <a:latin typeface="Cambria Math" panose="02040503050406030204" pitchFamily="18" charset="0"/>
                            <a:ea typeface="+mn-ea"/>
                          </a:rPr>
                        </m:ctrlPr>
                      </m:sSupPr>
                      <m:e>
                        <m:r>
                          <a:rPr lang="en-US" altLang="ja-JP" sz="1200" b="0" i="1" dirty="0" smtClean="0">
                            <a:latin typeface="Cambria Math" panose="02040503050406030204" pitchFamily="18" charset="0"/>
                            <a:ea typeface="+mn-ea"/>
                          </a:rPr>
                          <m:t>𝑅</m:t>
                        </m:r>
                      </m:e>
                      <m:sup>
                        <m:r>
                          <a:rPr lang="en-US" altLang="ja-JP" sz="1200" b="0" i="1" dirty="0" smtClean="0">
                            <a:latin typeface="Cambria Math" panose="02040503050406030204" pitchFamily="18" charset="0"/>
                            <a:ea typeface="+mn-ea"/>
                          </a:rPr>
                          <m:t>2</m:t>
                        </m:r>
                      </m:sup>
                    </m:sSup>
                    <m:r>
                      <a:rPr lang="en-US" altLang="ja-JP" sz="1200" b="0" i="1" dirty="0" smtClean="0">
                        <a:latin typeface="Cambria Math" panose="02040503050406030204" pitchFamily="18" charset="0"/>
                        <a:ea typeface="+mn-ea"/>
                      </a:rPr>
                      <m:t>=0.9992</m:t>
                    </m:r>
                    <m:r>
                      <a:rPr lang="en-US" altLang="ja-JP" sz="1200" i="1" dirty="0">
                        <a:latin typeface="Cambria Math" panose="02040503050406030204" pitchFamily="18" charset="0"/>
                        <a:ea typeface="+mn-ea"/>
                      </a:rPr>
                      <m:t> </m:t>
                    </m:r>
                  </m:oMath>
                </a14:m>
                <a:r>
                  <a:rPr lang="ja-JP" altLang="en-US" sz="1200" dirty="0">
                    <a:latin typeface="+mn-ea"/>
                    <a:ea typeface="+mn-ea"/>
                  </a:rPr>
                  <a:t>と</a:t>
                </a:r>
                <a:r>
                  <a:rPr lang="ja-JP" altLang="ja-JP" sz="1200" dirty="0">
                    <a:latin typeface="+mn-ea"/>
                    <a:ea typeface="+mn-ea"/>
                  </a:rPr>
                  <a:t>いうきわめて高い未知データ予測精度を達成した。</a:t>
                </a:r>
              </a:p>
              <a:p>
                <a:endParaRPr kumimoji="1" lang="ja-JP" altLang="en-US" sz="1200" dirty="0">
                  <a:latin typeface="+mj-lt"/>
                </a:endParaRPr>
              </a:p>
            </p:txBody>
          </p:sp>
        </mc:Choice>
        <mc:Fallback xmlns="">
          <p:sp>
            <p:nvSpPr>
              <p:cNvPr id="7" name="テキスト ボックス 6">
                <a:extLst>
                  <a:ext uri="{FF2B5EF4-FFF2-40B4-BE49-F238E27FC236}">
                    <a16:creationId xmlns:a16="http://schemas.microsoft.com/office/drawing/2014/main" id="{88D739BD-F94C-971E-9F81-E5C2CF53B129}"/>
                  </a:ext>
                </a:extLst>
              </p:cNvPr>
              <p:cNvSpPr txBox="1">
                <a:spLocks noRot="1" noChangeAspect="1" noMove="1" noResize="1" noEditPoints="1" noAdjustHandles="1" noChangeArrowheads="1" noChangeShapeType="1" noTextEdit="1"/>
              </p:cNvSpPr>
              <p:nvPr/>
            </p:nvSpPr>
            <p:spPr>
              <a:xfrm>
                <a:off x="152400" y="4986349"/>
                <a:ext cx="5384800" cy="2312493"/>
              </a:xfrm>
              <a:prstGeom prst="rect">
                <a:avLst/>
              </a:prstGeom>
              <a:blipFill>
                <a:blip r:embed="rId3"/>
                <a:stretch>
                  <a:fillRect t="-264" r="-45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19E71D0B-18A4-1E9B-7830-2780FABDA0E9}"/>
                  </a:ext>
                </a:extLst>
              </p:cNvPr>
              <p:cNvSpPr txBox="1"/>
              <p:nvPr/>
            </p:nvSpPr>
            <p:spPr>
              <a:xfrm>
                <a:off x="5734050" y="5018156"/>
                <a:ext cx="4806950" cy="2339102"/>
              </a:xfrm>
              <a:prstGeom prst="rect">
                <a:avLst/>
              </a:prstGeom>
              <a:noFill/>
            </p:spPr>
            <p:txBody>
              <a:bodyPr wrap="square" rtlCol="0">
                <a:spAutoFit/>
              </a:bodyPr>
              <a:lstStyle/>
              <a:p>
                <a:r>
                  <a:rPr lang="ja-JP" altLang="ja-JP" sz="1200" b="1" dirty="0">
                    <a:latin typeface="+mn-ea"/>
                    <a:ea typeface="+mn-ea"/>
                  </a:rPr>
                  <a:t>係数シュリンク軌跡（Coefficient Shrinkage Path）</a:t>
                </a:r>
              </a:p>
              <a:p>
                <a:pPr lvl="0"/>
                <a:r>
                  <a:rPr lang="ja-JP" altLang="ja-JP" sz="1200" b="1" dirty="0">
                    <a:latin typeface="+mn-ea"/>
                    <a:ea typeface="+mn-ea"/>
                  </a:rPr>
                  <a:t>概要</a:t>
                </a:r>
                <a:r>
                  <a:rPr lang="ja-JP" altLang="ja-JP" sz="1200" dirty="0">
                    <a:latin typeface="+mn-ea"/>
                    <a:ea typeface="+mn-ea"/>
                  </a:rPr>
                  <a:t>: </a:t>
                </a:r>
                <a14:m>
                  <m:oMath xmlns:m="http://schemas.openxmlformats.org/officeDocument/2006/math">
                    <m:r>
                      <a:rPr lang="en-US" altLang="ja-JP" sz="1200" i="1" dirty="0">
                        <a:latin typeface="Cambria Math" panose="02040503050406030204" pitchFamily="18" charset="0"/>
                      </a:rPr>
                      <m:t>𝛼</m:t>
                    </m:r>
                  </m:oMath>
                </a14:m>
                <a:r>
                  <a:rPr lang="ja-JP" altLang="ja-JP" sz="1200" dirty="0">
                    <a:latin typeface="+mn-ea"/>
                    <a:ea typeface="+mn-ea"/>
                  </a:rPr>
                  <a:t>の値を大きくするにつれて、PCE多項式の各基底項（単独項・2次自乗項・2次交差項）の係数 </a:t>
                </a:r>
                <a14:m>
                  <m:oMath xmlns:m="http://schemas.openxmlformats.org/officeDocument/2006/math">
                    <m:r>
                      <a:rPr lang="en-US" altLang="ja-JP" sz="1200" b="0" i="1" dirty="0" smtClean="0">
                        <a:latin typeface="Cambria Math" panose="02040503050406030204" pitchFamily="18" charset="0"/>
                      </a:rPr>
                      <m:t>𝛽</m:t>
                    </m:r>
                  </m:oMath>
                </a14:m>
                <a:r>
                  <a:rPr lang="ja-JP" altLang="ja-JP" sz="1200" dirty="0">
                    <a:latin typeface="+mn-ea"/>
                    <a:ea typeface="+mn-ea"/>
                  </a:rPr>
                  <a:t> がゼロに向かって収縮（シュリンク）していく挙動を描いている。</a:t>
                </a:r>
              </a:p>
              <a:p>
                <a:pPr lvl="0"/>
                <a:r>
                  <a:rPr lang="ja-JP" altLang="ja-JP" sz="1200" b="1" dirty="0">
                    <a:latin typeface="+mn-ea"/>
                    <a:ea typeface="+mn-ea"/>
                  </a:rPr>
                  <a:t>主要な知見</a:t>
                </a:r>
                <a:r>
                  <a:rPr lang="ja-JP" altLang="ja-JP" sz="1200" dirty="0">
                    <a:latin typeface="+mn-ea"/>
                    <a:ea typeface="+mn-ea"/>
                  </a:rPr>
                  <a:t>:</a:t>
                </a:r>
              </a:p>
              <a:p>
                <a:pPr lvl="1"/>
                <a:r>
                  <a:rPr lang="ja-JP" altLang="ja-JP" sz="1200" b="1" dirty="0">
                    <a:latin typeface="+mn-ea"/>
                    <a:ea typeface="+mn-ea"/>
                  </a:rPr>
                  <a:t>L2正則化の機能</a:t>
                </a:r>
                <a:r>
                  <a:rPr lang="ja-JP" altLang="ja-JP" sz="1200" dirty="0">
                    <a:latin typeface="+mn-ea"/>
                    <a:ea typeface="+mn-ea"/>
                  </a:rPr>
                  <a:t>: データを過剰にフィッティングしようとする複雑な項や数値ノイズの影響が、L2ペナルティによって的確に抑制されている。</a:t>
                </a:r>
              </a:p>
              <a:p>
                <a:pPr lvl="1"/>
                <a:r>
                  <a:rPr lang="ja-JP" altLang="ja-JP" sz="1200" b="1" dirty="0">
                    <a:latin typeface="+mn-ea"/>
                    <a:ea typeface="+mn-ea"/>
                  </a:rPr>
                  <a:t>本質的な交差項の保持</a:t>
                </a:r>
                <a:r>
                  <a:rPr lang="ja-JP" altLang="ja-JP" sz="1200" dirty="0">
                    <a:latin typeface="+mn-ea"/>
                    <a:ea typeface="+mn-ea"/>
                  </a:rPr>
                  <a:t>: 最適点 </a:t>
                </a:r>
                <a14:m>
                  <m:oMath xmlns:m="http://schemas.openxmlformats.org/officeDocument/2006/math">
                    <m:r>
                      <a:rPr lang="en-US" altLang="ja-JP" sz="1200" i="1" dirty="0">
                        <a:latin typeface="Cambria Math" panose="02040503050406030204" pitchFamily="18" charset="0"/>
                      </a:rPr>
                      <m:t>𝛼</m:t>
                    </m:r>
                    <m:r>
                      <a:rPr lang="en-US" altLang="ja-JP" sz="1200" b="0" i="1" dirty="0" smtClean="0">
                        <a:latin typeface="Cambria Math" panose="02040503050406030204" pitchFamily="18" charset="0"/>
                      </a:rPr>
                      <m:t>=0.001</m:t>
                    </m:r>
                  </m:oMath>
                </a14:m>
                <a:r>
                  <a:rPr lang="ja-JP" altLang="ja-JP" sz="1200" dirty="0">
                    <a:latin typeface="+mn-ea"/>
                    <a:ea typeface="+mn-ea"/>
                  </a:rPr>
                  <a:t>（赤の垂直破線）においては、主効果のみならず、</a:t>
                </a:r>
                <a:r>
                  <a:rPr lang="ja-JP" altLang="ja-JP" sz="1200" b="1" dirty="0">
                    <a:latin typeface="+mn-ea"/>
                    <a:ea typeface="+mn-ea"/>
                  </a:rPr>
                  <a:t>「蓄電池×ディーゼル（</a:t>
                </a:r>
                <a:r>
                  <a:rPr lang="en-US" altLang="ja-JP" sz="1200" dirty="0"/>
                  <a:t> </a:t>
                </a:r>
                <a14:m>
                  <m:oMath xmlns:m="http://schemas.openxmlformats.org/officeDocument/2006/math">
                    <m:r>
                      <a:rPr lang="en-US" altLang="ja-JP" sz="1200" b="0" i="1" dirty="0" smtClean="0">
                        <a:latin typeface="Cambria Math" panose="02040503050406030204" pitchFamily="18" charset="0"/>
                      </a:rPr>
                      <m:t>𝛽</m:t>
                    </m:r>
                    <m:r>
                      <a:rPr lang="en-US" altLang="ja-JP" sz="1200" b="0" i="1" dirty="0" smtClean="0">
                        <a:latin typeface="Cambria Math" panose="02040503050406030204" pitchFamily="18" charset="0"/>
                      </a:rPr>
                      <m:t>=−0.3492</m:t>
                    </m:r>
                  </m:oMath>
                </a14:m>
                <a:r>
                  <a:rPr lang="ja-JP" altLang="ja-JP" sz="1200" b="1" dirty="0">
                    <a:latin typeface="+mn-ea"/>
                    <a:ea typeface="+mn-ea"/>
                  </a:rPr>
                  <a:t>：代替関係）」</a:t>
                </a:r>
                <a:r>
                  <a:rPr lang="ja-JP" altLang="ja-JP" sz="1200" dirty="0">
                    <a:latin typeface="+mn-ea"/>
                    <a:ea typeface="+mn-ea"/>
                  </a:rPr>
                  <a:t> や </a:t>
                </a:r>
                <a:r>
                  <a:rPr lang="ja-JP" altLang="ja-JP" sz="1200" b="1" dirty="0">
                    <a:latin typeface="+mn-ea"/>
                    <a:ea typeface="+mn-ea"/>
                  </a:rPr>
                  <a:t>「太陽光×蓄電池（</a:t>
                </a:r>
                <a:r>
                  <a:rPr lang="en-US" altLang="ja-JP" sz="1200" dirty="0"/>
                  <a:t> </a:t>
                </a:r>
                <a14:m>
                  <m:oMath xmlns:m="http://schemas.openxmlformats.org/officeDocument/2006/math">
                    <m:r>
                      <a:rPr lang="en-US" altLang="ja-JP" sz="1200" b="0" i="1" dirty="0" smtClean="0">
                        <a:latin typeface="Cambria Math" panose="02040503050406030204" pitchFamily="18" charset="0"/>
                      </a:rPr>
                      <m:t>𝛽</m:t>
                    </m:r>
                    <m:r>
                      <a:rPr lang="en-US" altLang="ja-JP" sz="1200" b="0" i="1" dirty="0" smtClean="0">
                        <a:latin typeface="Cambria Math" panose="02040503050406030204" pitchFamily="18" charset="0"/>
                      </a:rPr>
                      <m:t>=+0.1818</m:t>
                    </m:r>
                  </m:oMath>
                </a14:m>
                <a:r>
                  <a:rPr lang="ja-JP" altLang="ja-JP" sz="1200" b="1" dirty="0">
                    <a:latin typeface="+mn-ea"/>
                    <a:ea typeface="+mn-ea"/>
                  </a:rPr>
                  <a:t>：補完関係）」</a:t>
                </a:r>
                <a:r>
                  <a:rPr lang="ja-JP" altLang="ja-JP" sz="1200" dirty="0">
                    <a:latin typeface="+mn-ea"/>
                    <a:ea typeface="+mn-ea"/>
                  </a:rPr>
                  <a:t> といった物理的に重要な技術間シナジーの係数が消去されず、適切に維持されている。</a:t>
                </a:r>
              </a:p>
              <a:p>
                <a:endParaRPr kumimoji="1" lang="ja-JP" altLang="en-US" sz="1200" dirty="0">
                  <a:latin typeface="+mn-ea"/>
                  <a:ea typeface="+mn-ea"/>
                </a:endParaRPr>
              </a:p>
            </p:txBody>
          </p:sp>
        </mc:Choice>
        <mc:Fallback xmlns="">
          <p:sp>
            <p:nvSpPr>
              <p:cNvPr id="8" name="テキスト ボックス 7">
                <a:extLst>
                  <a:ext uri="{FF2B5EF4-FFF2-40B4-BE49-F238E27FC236}">
                    <a16:creationId xmlns:a16="http://schemas.microsoft.com/office/drawing/2014/main" id="{19E71D0B-18A4-1E9B-7830-2780FABDA0E9}"/>
                  </a:ext>
                </a:extLst>
              </p:cNvPr>
              <p:cNvSpPr txBox="1">
                <a:spLocks noRot="1" noChangeAspect="1" noMove="1" noResize="1" noEditPoints="1" noAdjustHandles="1" noChangeArrowheads="1" noChangeShapeType="1" noTextEdit="1"/>
              </p:cNvSpPr>
              <p:nvPr/>
            </p:nvSpPr>
            <p:spPr>
              <a:xfrm>
                <a:off x="5734050" y="5018156"/>
                <a:ext cx="4806950" cy="2339102"/>
              </a:xfrm>
              <a:prstGeom prst="rect">
                <a:avLst/>
              </a:prstGeom>
              <a:blipFill>
                <a:blip r:embed="rId4"/>
                <a:stretch>
                  <a:fillRect l="-127" r="-215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986462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9158A5-B388-5C17-BB2C-7F2FF582DE1D}"/>
              </a:ext>
            </a:extLst>
          </p:cNvPr>
          <p:cNvSpPr>
            <a:spLocks noGrp="1"/>
          </p:cNvSpPr>
          <p:nvPr>
            <p:ph type="title"/>
          </p:nvPr>
        </p:nvSpPr>
        <p:spPr/>
        <p:txBody>
          <a:bodyPr/>
          <a:lstStyle/>
          <a:p>
            <a:endParaRPr kumimoji="1" lang="ja-JP" altLang="en-US"/>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902A6884-04F5-E57C-3B2D-7A861F154924}"/>
                  </a:ext>
                </a:extLst>
              </p:cNvPr>
              <p:cNvSpPr>
                <a:spLocks noGrp="1"/>
              </p:cNvSpPr>
              <p:nvPr>
                <p:ph type="body" sz="quarter" idx="12"/>
              </p:nvPr>
            </p:nvSpPr>
            <p:spPr/>
            <p:txBody>
              <a:bodyPr/>
              <a:lstStyle/>
              <a:p>
                <a:pPr lvl="0"/>
                <a:r>
                  <a:rPr lang="ja-JP" altLang="ja-JP" b="1" dirty="0"/>
                  <a:t>Sobol感度指標比較</a:t>
                </a:r>
                <a:r>
                  <a:rPr lang="ja-JP" altLang="ja-JP" dirty="0"/>
                  <a:t>:</a:t>
                </a:r>
              </a:p>
              <a:p>
                <a:pPr lvl="1"/>
                <a:r>
                  <a:rPr lang="ja-JP" altLang="ja-JP" dirty="0"/>
                  <a:t>PCEサロゲートモデル（10,240サンプル、</a:t>
                </a:r>
                <a14:m>
                  <m:oMath xmlns:m="http://schemas.openxmlformats.org/officeDocument/2006/math">
                    <m:sSup>
                      <m:sSupPr>
                        <m:ctrlPr>
                          <a:rPr lang="ja-JP" altLang="ja-JP" i="1" dirty="0" smtClean="0">
                            <a:latin typeface="Cambria Math" panose="02040503050406030204" pitchFamily="18" charset="0"/>
                          </a:rPr>
                        </m:ctrlPr>
                      </m:sSupPr>
                      <m:e>
                        <m:r>
                          <a:rPr lang="ja-JP" altLang="ja-JP" i="1" dirty="0" smtClean="0">
                            <a:latin typeface="Cambria Math" panose="02040503050406030204" pitchFamily="18" charset="0"/>
                          </a:rPr>
                          <m:t>𝑅</m:t>
                        </m:r>
                      </m:e>
                      <m:sup>
                        <m:r>
                          <a:rPr lang="ja-JP" altLang="ja-JP" i="1" dirty="0" smtClean="0">
                            <a:latin typeface="Cambria Math" panose="02040503050406030204" pitchFamily="18" charset="0"/>
                          </a:rPr>
                          <m:t>2</m:t>
                        </m:r>
                      </m:sup>
                    </m:sSup>
                    <m:r>
                      <a:rPr lang="ja-JP" altLang="ja-JP" i="1" dirty="0" smtClean="0">
                        <a:latin typeface="Cambria Math" panose="02040503050406030204" pitchFamily="18" charset="0"/>
                      </a:rPr>
                      <m:t> = 0.9992</m:t>
                    </m:r>
                  </m:oMath>
                </a14:m>
                <a:r>
                  <a:rPr lang="ja-JP" altLang="ja-JP" dirty="0"/>
                  <a:t>）と直接最適化計算（320サンプル）における単独影響度（</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en-US" altLang="ja-JP" b="0" i="1" dirty="0" smtClean="0">
                            <a:latin typeface="Cambria Math" panose="02040503050406030204" pitchFamily="18" charset="0"/>
                          </a:rPr>
                          <m:t>1</m:t>
                        </m:r>
                      </m:sub>
                    </m:sSub>
                  </m:oMath>
                </a14:m>
                <a:r>
                  <a:rPr lang="ja-JP" altLang="ja-JP" dirty="0"/>
                  <a:t>）および総合影響度（</a:t>
                </a:r>
                <a14:m>
                  <m:oMath xmlns:m="http://schemas.openxmlformats.org/officeDocument/2006/math">
                    <m:sSub>
                      <m:sSubPr>
                        <m:ctrlPr>
                          <a:rPr lang="ja-JP" altLang="ja-JP" i="1" dirty="0" smtClean="0">
                            <a:latin typeface="Cambria Math" panose="02040503050406030204" pitchFamily="18" charset="0"/>
                          </a:rPr>
                        </m:ctrlPr>
                      </m:sSubPr>
                      <m:e>
                        <m:r>
                          <a:rPr lang="ja-JP" altLang="ja-JP" i="1" dirty="0" smtClean="0">
                            <a:latin typeface="Cambria Math" panose="02040503050406030204" pitchFamily="18" charset="0"/>
                          </a:rPr>
                          <m:t>𝑆</m:t>
                        </m:r>
                      </m:e>
                      <m:sub>
                        <m:r>
                          <a:rPr lang="ja-JP" altLang="ja-JP" i="1" dirty="0" smtClean="0">
                            <a:latin typeface="Cambria Math" panose="02040503050406030204" pitchFamily="18" charset="0"/>
                          </a:rPr>
                          <m:t>𝑇</m:t>
                        </m:r>
                      </m:sub>
                    </m:sSub>
                  </m:oMath>
                </a14:m>
                <a:r>
                  <a:rPr lang="ja-JP" altLang="ja-JP" dirty="0"/>
                  <a:t>）の定量的対比。</a:t>
                </a:r>
              </a:p>
              <a:p>
                <a:pPr lvl="0"/>
                <a:r>
                  <a:rPr lang="ja-JP" altLang="ja-JP" b="1" dirty="0"/>
                  <a:t>PCE交差項符号解析（技術間の代替・補完判定）</a:t>
                </a:r>
                <a:r>
                  <a:rPr lang="ja-JP" altLang="ja-JP" dirty="0"/>
                  <a:t>:</a:t>
                </a:r>
              </a:p>
              <a:p>
                <a:pPr lvl="1"/>
                <a:r>
                  <a:rPr lang="ja-JP" altLang="ja-JP" b="1" dirty="0"/>
                  <a:t>【代替関係（競合）】</a:t>
                </a:r>
                <a:r>
                  <a:rPr lang="ja-JP" altLang="ja-JP" dirty="0"/>
                  <a:t>: 蓄電池 </a:t>
                </a:r>
                <a:r>
                  <a:rPr lang="en-US" altLang="ja-JP" dirty="0"/>
                  <a:t>×</a:t>
                </a:r>
                <a:r>
                  <a:rPr lang="ja-JP" altLang="ja-JP" dirty="0"/>
                  <a:t> ディーゼル（係数 -0.3492 / 弱色表示）</a:t>
                </a:r>
              </a:p>
              <a:p>
                <a:pPr lvl="1"/>
                <a:r>
                  <a:rPr lang="ja-JP" altLang="ja-JP" b="1" dirty="0"/>
                  <a:t>【補完関係（相乗）】</a:t>
                </a:r>
                <a:r>
                  <a:rPr lang="ja-JP" altLang="ja-JP" dirty="0"/>
                  <a:t>: 太陽光 </a:t>
                </a:r>
                <a:r>
                  <a:rPr lang="en-US" altLang="ja-JP" dirty="0"/>
                  <a:t>×</a:t>
                </a:r>
                <a:r>
                  <a:rPr lang="ja-JP" altLang="ja-JP" dirty="0"/>
                  <a:t> 蓄電池（係数 +0.1818 / 強色表示）、太陽光 </a:t>
                </a:r>
                <a:r>
                  <a:rPr lang="en-US" altLang="ja-JP" dirty="0"/>
                  <a:t>×</a:t>
                </a:r>
                <a:r>
                  <a:rPr lang="ja-JP" altLang="ja-JP" dirty="0"/>
                  <a:t> 風力（係数 +0.1283）など全6ペアの判定と意思決定への示唆。</a:t>
                </a:r>
              </a:p>
              <a:p>
                <a:endParaRPr kumimoji="1" lang="ja-JP" altLang="en-US" dirty="0"/>
              </a:p>
            </p:txBody>
          </p:sp>
        </mc:Choice>
        <mc:Fallback xmlns="">
          <p:sp>
            <p:nvSpPr>
              <p:cNvPr id="3" name="テキスト プレースホルダー 2">
                <a:extLst>
                  <a:ext uri="{FF2B5EF4-FFF2-40B4-BE49-F238E27FC236}">
                    <a16:creationId xmlns:a16="http://schemas.microsoft.com/office/drawing/2014/main" id="{902A6884-04F5-E57C-3B2D-7A861F154924}"/>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p:pic>
        <p:nvPicPr>
          <p:cNvPr id="5" name="図 4">
            <a:extLst>
              <a:ext uri="{FF2B5EF4-FFF2-40B4-BE49-F238E27FC236}">
                <a16:creationId xmlns:a16="http://schemas.microsoft.com/office/drawing/2014/main" id="{4F40BEFA-E2FF-0065-BE2A-DA90E8632DEE}"/>
              </a:ext>
            </a:extLst>
          </p:cNvPr>
          <p:cNvPicPr>
            <a:picLocks noChangeAspect="1"/>
          </p:cNvPicPr>
          <p:nvPr/>
        </p:nvPicPr>
        <p:blipFill>
          <a:blip r:embed="rId3"/>
          <a:stretch>
            <a:fillRect/>
          </a:stretch>
        </p:blipFill>
        <p:spPr>
          <a:xfrm>
            <a:off x="0" y="3448417"/>
            <a:ext cx="10693400" cy="4112846"/>
          </a:xfrm>
          <a:prstGeom prst="rect">
            <a:avLst/>
          </a:prstGeom>
        </p:spPr>
      </p:pic>
    </p:spTree>
    <p:extLst>
      <p:ext uri="{BB962C8B-B14F-4D97-AF65-F5344CB8AC3E}">
        <p14:creationId xmlns:p14="http://schemas.microsoft.com/office/powerpoint/2010/main" val="160488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FABCAD44-FD83-C167-B141-4CD048461417}"/>
              </a:ext>
            </a:extLst>
          </p:cNvPr>
          <p:cNvSpPr>
            <a:spLocks noGrp="1"/>
          </p:cNvSpPr>
          <p:nvPr>
            <p:ph type="title"/>
          </p:nvPr>
        </p:nvSpPr>
        <p:spPr/>
        <p:txBody>
          <a:bodyPr/>
          <a:lstStyle/>
          <a:p>
            <a:endParaRPr lang="ja-JP" altLang="en-US"/>
          </a:p>
        </p:txBody>
      </p:sp>
      <p:graphicFrame>
        <p:nvGraphicFramePr>
          <p:cNvPr id="7" name="表 6">
            <a:extLst>
              <a:ext uri="{FF2B5EF4-FFF2-40B4-BE49-F238E27FC236}">
                <a16:creationId xmlns:a16="http://schemas.microsoft.com/office/drawing/2014/main" id="{1247DBE3-1BB7-760A-4C5F-0DE1081579F2}"/>
              </a:ext>
            </a:extLst>
          </p:cNvPr>
          <p:cNvGraphicFramePr>
            <a:graphicFrameLocks noGrp="1"/>
          </p:cNvGraphicFramePr>
          <p:nvPr>
            <p:extLst>
              <p:ext uri="{D42A27DB-BD31-4B8C-83A1-F6EECF244321}">
                <p14:modId xmlns:p14="http://schemas.microsoft.com/office/powerpoint/2010/main" val="1331758586"/>
              </p:ext>
            </p:extLst>
          </p:nvPr>
        </p:nvGraphicFramePr>
        <p:xfrm>
          <a:off x="1600200" y="1854200"/>
          <a:ext cx="7302500" cy="2763203"/>
        </p:xfrm>
        <a:graphic>
          <a:graphicData uri="http://schemas.openxmlformats.org/drawingml/2006/table">
            <a:tbl>
              <a:tblPr firstRow="1" firstCol="1" bandRow="1">
                <a:tableStyleId>{5C22544A-7EE6-4342-B048-85BDC9FD1C3A}</a:tableStyleId>
              </a:tblPr>
              <a:tblGrid>
                <a:gridCol w="1460500">
                  <a:extLst>
                    <a:ext uri="{9D8B030D-6E8A-4147-A177-3AD203B41FA5}">
                      <a16:colId xmlns:a16="http://schemas.microsoft.com/office/drawing/2014/main" val="562978068"/>
                    </a:ext>
                  </a:extLst>
                </a:gridCol>
                <a:gridCol w="1460500">
                  <a:extLst>
                    <a:ext uri="{9D8B030D-6E8A-4147-A177-3AD203B41FA5}">
                      <a16:colId xmlns:a16="http://schemas.microsoft.com/office/drawing/2014/main" val="3895472190"/>
                    </a:ext>
                  </a:extLst>
                </a:gridCol>
                <a:gridCol w="1460500">
                  <a:extLst>
                    <a:ext uri="{9D8B030D-6E8A-4147-A177-3AD203B41FA5}">
                      <a16:colId xmlns:a16="http://schemas.microsoft.com/office/drawing/2014/main" val="2564836635"/>
                    </a:ext>
                  </a:extLst>
                </a:gridCol>
                <a:gridCol w="1460500">
                  <a:extLst>
                    <a:ext uri="{9D8B030D-6E8A-4147-A177-3AD203B41FA5}">
                      <a16:colId xmlns:a16="http://schemas.microsoft.com/office/drawing/2014/main" val="1366780643"/>
                    </a:ext>
                  </a:extLst>
                </a:gridCol>
                <a:gridCol w="1460500">
                  <a:extLst>
                    <a:ext uri="{9D8B030D-6E8A-4147-A177-3AD203B41FA5}">
                      <a16:colId xmlns:a16="http://schemas.microsoft.com/office/drawing/2014/main" val="1171430881"/>
                    </a:ext>
                  </a:extLst>
                </a:gridCol>
              </a:tblGrid>
              <a:tr h="621030">
                <a:tc>
                  <a:txBody>
                    <a:bodyPr/>
                    <a:lstStyle/>
                    <a:p>
                      <a:pPr algn="ctr" fontAlgn="ctr">
                        <a:buNone/>
                      </a:pP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Solar</a:t>
                      </a:r>
                      <a:endParaRPr lang="ja-JP" sz="1800" b="1" i="0" u="none" strike="noStrike" dirty="0">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a:solidFill>
                            <a:srgbClr val="FFFFFF"/>
                          </a:solidFill>
                          <a:effectLst/>
                          <a:latin typeface="+mn-ea"/>
                          <a:ea typeface="+mn-ea"/>
                        </a:rPr>
                        <a:t>Wind</a:t>
                      </a:r>
                      <a:endParaRPr lang="ja-JP" sz="1800" b="1" i="0" u="none" strike="noStrike">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a:solidFill>
                            <a:srgbClr val="FFFFFF"/>
                          </a:solidFill>
                          <a:effectLst/>
                          <a:latin typeface="+mn-ea"/>
                          <a:ea typeface="+mn-ea"/>
                        </a:rPr>
                        <a:t>Battery</a:t>
                      </a:r>
                      <a:endParaRPr lang="ja-JP" sz="1800" b="1" i="0" u="none" strike="noStrike">
                        <a:solidFill>
                          <a:srgbClr val="FFFFFF"/>
                        </a:solidFill>
                        <a:effectLst/>
                        <a:latin typeface="+mn-ea"/>
                        <a:ea typeface="+mn-ea"/>
                      </a:endParaRPr>
                    </a:p>
                  </a:txBody>
                  <a:tcPr marL="4763" marR="4763" marT="4763" marB="0" anchor="ctr"/>
                </a:tc>
                <a:tc>
                  <a:txBody>
                    <a:bodyPr/>
                    <a:lstStyle/>
                    <a:p>
                      <a:pPr algn="ctr" fontAlgn="ctr">
                        <a:buNone/>
                      </a:pPr>
                      <a:r>
                        <a:rPr lang="ja-JP" sz="1800" b="1" u="none" strike="noStrike" dirty="0">
                          <a:solidFill>
                            <a:srgbClr val="FFFFFF"/>
                          </a:solidFill>
                          <a:effectLst/>
                          <a:latin typeface="+mn-ea"/>
                          <a:ea typeface="+mn-ea"/>
                        </a:rPr>
                        <a:t>Diesel</a:t>
                      </a:r>
                      <a:endParaRPr lang="ja-JP" sz="1800" b="1" i="0" u="none" strike="noStrike" dirty="0">
                        <a:solidFill>
                          <a:srgbClr val="FFFFFF"/>
                        </a:solidFill>
                        <a:effectLst/>
                        <a:latin typeface="+mn-ea"/>
                        <a:ea typeface="+mn-ea"/>
                      </a:endParaRPr>
                    </a:p>
                  </a:txBody>
                  <a:tcPr marL="4763" marR="4763" marT="4763" marB="0" anchor="ctr"/>
                </a:tc>
                <a:extLst>
                  <a:ext uri="{0D108BD9-81ED-4DB2-BD59-A6C34878D82A}">
                    <a16:rowId xmlns:a16="http://schemas.microsoft.com/office/drawing/2014/main" val="620505020"/>
                  </a:ext>
                </a:extLst>
              </a:tr>
              <a:tr h="621030">
                <a:tc>
                  <a:txBody>
                    <a:bodyPr/>
                    <a:lstStyle/>
                    <a:p>
                      <a:pPr algn="ctr" fontAlgn="b">
                        <a:buNone/>
                      </a:pPr>
                      <a:r>
                        <a:rPr lang="ja-JP" sz="1800" b="1" u="none" strike="noStrike" dirty="0">
                          <a:solidFill>
                            <a:schemeClr val="bg1"/>
                          </a:solidFill>
                          <a:effectLst/>
                          <a:latin typeface="+mn-ea"/>
                          <a:ea typeface="+mn-ea"/>
                        </a:rPr>
                        <a:t>Solar</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+0.1283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+0.1818</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+0.0023</a:t>
                      </a:r>
                      <a:endParaRPr lang="ja-JP" sz="1800" b="1" i="0" u="none" strike="noStrike">
                        <a:solidFill>
                          <a:srgbClr val="375623"/>
                        </a:solidFill>
                        <a:effectLst/>
                        <a:latin typeface="+mn-ea"/>
                        <a:ea typeface="+mn-ea"/>
                      </a:endParaRPr>
                    </a:p>
                  </a:txBody>
                  <a:tcPr marL="4763" marR="4763" marT="4763" marB="0" anchor="ctr"/>
                </a:tc>
                <a:extLst>
                  <a:ext uri="{0D108BD9-81ED-4DB2-BD59-A6C34878D82A}">
                    <a16:rowId xmlns:a16="http://schemas.microsoft.com/office/drawing/2014/main" val="2643431878"/>
                  </a:ext>
                </a:extLst>
              </a:tr>
              <a:tr h="621030">
                <a:tc>
                  <a:txBody>
                    <a:bodyPr/>
                    <a:lstStyle/>
                    <a:p>
                      <a:pPr algn="ctr" fontAlgn="b">
                        <a:buNone/>
                      </a:pPr>
                      <a:r>
                        <a:rPr lang="ja-JP" sz="1800" b="1" u="none" strike="noStrike" dirty="0">
                          <a:solidFill>
                            <a:schemeClr val="bg1"/>
                          </a:solidFill>
                          <a:effectLst/>
                          <a:latin typeface="+mn-ea"/>
                          <a:ea typeface="+mn-ea"/>
                        </a:rPr>
                        <a:t>Wind</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375623"/>
                          </a:solidFill>
                          <a:effectLst/>
                          <a:latin typeface="+mn-ea"/>
                          <a:ea typeface="+mn-ea"/>
                        </a:rPr>
                        <a:t>+0.1283</a:t>
                      </a:r>
                      <a:endParaRPr lang="ja-JP" sz="1800" b="1" i="0" u="none" strike="noStrike" dirty="0">
                        <a:solidFill>
                          <a:srgbClr val="375623"/>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C65911"/>
                          </a:solidFill>
                          <a:effectLst/>
                          <a:latin typeface="+mn-ea"/>
                          <a:ea typeface="+mn-ea"/>
                        </a:rPr>
                        <a:t>-0.0114</a:t>
                      </a:r>
                      <a:endParaRPr lang="ja-JP" sz="1800" b="1" i="0" u="none" strike="noStrike" dirty="0">
                        <a:solidFill>
                          <a:srgbClr val="C6591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+0.0213</a:t>
                      </a:r>
                      <a:endParaRPr lang="ja-JP" sz="1800" b="1" i="0" u="none" strike="noStrike">
                        <a:solidFill>
                          <a:srgbClr val="375623"/>
                        </a:solidFill>
                        <a:effectLst/>
                        <a:latin typeface="+mn-ea"/>
                        <a:ea typeface="+mn-ea"/>
                      </a:endParaRPr>
                    </a:p>
                  </a:txBody>
                  <a:tcPr marL="4763" marR="4763" marT="4763" marB="0" anchor="ctr"/>
                </a:tc>
                <a:extLst>
                  <a:ext uri="{0D108BD9-81ED-4DB2-BD59-A6C34878D82A}">
                    <a16:rowId xmlns:a16="http://schemas.microsoft.com/office/drawing/2014/main" val="684079685"/>
                  </a:ext>
                </a:extLst>
              </a:tr>
              <a:tr h="0">
                <a:tc>
                  <a:txBody>
                    <a:bodyPr/>
                    <a:lstStyle/>
                    <a:p>
                      <a:pPr algn="ctr" fontAlgn="b">
                        <a:buNone/>
                      </a:pPr>
                      <a:r>
                        <a:rPr lang="ja-JP" sz="1800" b="1" u="none" strike="noStrike" dirty="0">
                          <a:solidFill>
                            <a:schemeClr val="bg1"/>
                          </a:solidFill>
                          <a:effectLst/>
                          <a:latin typeface="+mn-ea"/>
                          <a:ea typeface="+mn-ea"/>
                        </a:rPr>
                        <a:t>Battery</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+0.1818</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C65911"/>
                          </a:solidFill>
                          <a:effectLst/>
                          <a:latin typeface="+mn-ea"/>
                          <a:ea typeface="+mn-ea"/>
                        </a:rPr>
                        <a:t>-0.0114</a:t>
                      </a:r>
                      <a:endParaRPr lang="ja-JP" sz="1800" b="1" i="0" u="none" strike="noStrike">
                        <a:solidFill>
                          <a:srgbClr val="C6591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tc>
                  <a:txBody>
                    <a:bodyPr/>
                    <a:lstStyle/>
                    <a:p>
                      <a:pPr algn="ctr" fontAlgn="b">
                        <a:buNone/>
                      </a:pPr>
                      <a:r>
                        <a:rPr lang="ja-JP" sz="1800" b="1" u="none" strike="noStrike" dirty="0">
                          <a:solidFill>
                            <a:srgbClr val="C65911"/>
                          </a:solidFill>
                          <a:effectLst/>
                          <a:latin typeface="+mn-ea"/>
                          <a:ea typeface="+mn-ea"/>
                        </a:rPr>
                        <a:t>-0.3492</a:t>
                      </a:r>
                      <a:endParaRPr lang="ja-JP" sz="1800" b="1" i="0" u="none" strike="noStrike" dirty="0">
                        <a:solidFill>
                          <a:srgbClr val="C65911"/>
                        </a:solidFill>
                        <a:effectLst/>
                        <a:latin typeface="+mn-ea"/>
                        <a:ea typeface="+mn-ea"/>
                      </a:endParaRPr>
                    </a:p>
                  </a:txBody>
                  <a:tcPr marL="4763" marR="4763" marT="4763" marB="0" anchor="ctr"/>
                </a:tc>
                <a:extLst>
                  <a:ext uri="{0D108BD9-81ED-4DB2-BD59-A6C34878D82A}">
                    <a16:rowId xmlns:a16="http://schemas.microsoft.com/office/drawing/2014/main" val="4286866542"/>
                  </a:ext>
                </a:extLst>
              </a:tr>
              <a:tr h="621030">
                <a:tc>
                  <a:txBody>
                    <a:bodyPr/>
                    <a:lstStyle/>
                    <a:p>
                      <a:pPr algn="ctr" fontAlgn="b">
                        <a:buNone/>
                      </a:pPr>
                      <a:r>
                        <a:rPr lang="ja-JP" sz="1800" b="1" u="none" strike="noStrike" dirty="0">
                          <a:solidFill>
                            <a:schemeClr val="bg1"/>
                          </a:solidFill>
                          <a:effectLst/>
                          <a:latin typeface="+mn-ea"/>
                          <a:ea typeface="+mn-ea"/>
                        </a:rPr>
                        <a:t>Diesel</a:t>
                      </a:r>
                      <a:endParaRPr lang="ja-JP" sz="1800" b="1" i="0" u="none" strike="noStrike" dirty="0">
                        <a:solidFill>
                          <a:schemeClr val="bg1"/>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+0.0023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375623"/>
                          </a:solidFill>
                          <a:effectLst/>
                          <a:latin typeface="+mn-ea"/>
                          <a:ea typeface="+mn-ea"/>
                        </a:rPr>
                        <a:t>+0.0213</a:t>
                      </a:r>
                      <a:endParaRPr lang="ja-JP" sz="1800" b="1" i="0" u="none" strike="noStrike">
                        <a:solidFill>
                          <a:srgbClr val="375623"/>
                        </a:solidFill>
                        <a:effectLst/>
                        <a:latin typeface="+mn-ea"/>
                        <a:ea typeface="+mn-ea"/>
                      </a:endParaRPr>
                    </a:p>
                  </a:txBody>
                  <a:tcPr marL="4763" marR="4763" marT="4763" marB="0" anchor="ctr"/>
                </a:tc>
                <a:tc>
                  <a:txBody>
                    <a:bodyPr/>
                    <a:lstStyle/>
                    <a:p>
                      <a:pPr algn="ctr" fontAlgn="b">
                        <a:buNone/>
                      </a:pPr>
                      <a:r>
                        <a:rPr lang="ja-JP" sz="1800" b="1" u="none" strike="noStrike">
                          <a:solidFill>
                            <a:srgbClr val="C65911"/>
                          </a:solidFill>
                          <a:effectLst/>
                          <a:latin typeface="+mn-ea"/>
                          <a:ea typeface="+mn-ea"/>
                        </a:rPr>
                        <a:t>-0.3492</a:t>
                      </a:r>
                      <a:endParaRPr lang="ja-JP" sz="1800" b="1" i="0" u="none" strike="noStrike">
                        <a:solidFill>
                          <a:srgbClr val="C65911"/>
                        </a:solidFill>
                        <a:effectLst/>
                        <a:latin typeface="+mn-ea"/>
                        <a:ea typeface="+mn-ea"/>
                      </a:endParaRPr>
                    </a:p>
                  </a:txBody>
                  <a:tcPr marL="4763" marR="4763" marT="4763" marB="0" anchor="ctr"/>
                </a:tc>
                <a:tc>
                  <a:txBody>
                    <a:bodyPr/>
                    <a:lstStyle/>
                    <a:p>
                      <a:pPr algn="ctr" fontAlgn="b">
                        <a:buNone/>
                      </a:pPr>
                      <a:r>
                        <a:rPr lang="ja-JP" sz="1800" b="0" u="none" strike="noStrike" dirty="0">
                          <a:solidFill>
                            <a:srgbClr val="000000"/>
                          </a:solidFill>
                          <a:effectLst/>
                          <a:latin typeface="+mn-ea"/>
                          <a:ea typeface="+mn-ea"/>
                        </a:rPr>
                        <a:t>-</a:t>
                      </a:r>
                      <a:endParaRPr lang="ja-JP" sz="1800" b="0" i="0" u="none" strike="noStrike" dirty="0">
                        <a:solidFill>
                          <a:srgbClr val="000000"/>
                        </a:solidFill>
                        <a:effectLst/>
                        <a:latin typeface="+mn-ea"/>
                        <a:ea typeface="+mn-ea"/>
                      </a:endParaRPr>
                    </a:p>
                  </a:txBody>
                  <a:tcPr marL="4763" marR="4763" marT="4763" marB="0" anchor="ctr"/>
                </a:tc>
                <a:extLst>
                  <a:ext uri="{0D108BD9-81ED-4DB2-BD59-A6C34878D82A}">
                    <a16:rowId xmlns:a16="http://schemas.microsoft.com/office/drawing/2014/main" val="274947588"/>
                  </a:ext>
                </a:extLst>
              </a:tr>
            </a:tbl>
          </a:graphicData>
        </a:graphic>
      </p:graphicFrame>
    </p:spTree>
    <p:extLst>
      <p:ext uri="{BB962C8B-B14F-4D97-AF65-F5344CB8AC3E}">
        <p14:creationId xmlns:p14="http://schemas.microsoft.com/office/powerpoint/2010/main" val="12754654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29241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E2AE3C-92F6-CF63-D159-BA4B818F5320}"/>
              </a:ext>
            </a:extLst>
          </p:cNvPr>
          <p:cNvSpPr>
            <a:spLocks noGrp="1"/>
          </p:cNvSpPr>
          <p:nvPr>
            <p:ph type="title"/>
          </p:nvPr>
        </p:nvSpPr>
        <p:spPr/>
        <p:txBody>
          <a:bodyPr/>
          <a:lstStyle/>
          <a:p>
            <a:r>
              <a:rPr kumimoji="1" lang="ja-JP" altLang="en-US" sz="2800" dirty="0"/>
              <a:t>従来研究の</a:t>
            </a:r>
            <a:r>
              <a:rPr kumimoji="1" lang="en-US" altLang="ja-JP" sz="2800" dirty="0"/>
              <a:t>2</a:t>
            </a:r>
            <a:r>
              <a:rPr lang="ja-JP" altLang="en-US" sz="2800" dirty="0"/>
              <a:t>つの</a:t>
            </a:r>
            <a:r>
              <a:rPr kumimoji="1" lang="ja-JP" altLang="en-US" sz="2800" dirty="0"/>
              <a:t>限界と本研究が解決するリサーチギャップ</a:t>
            </a:r>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225F805F-000E-E9C0-853F-414E87C1AF6F}"/>
                  </a:ext>
                </a:extLst>
              </p:cNvPr>
              <p:cNvSpPr>
                <a:spLocks noGrp="1"/>
              </p:cNvSpPr>
              <p:nvPr>
                <p:ph type="body" sz="quarter" idx="12"/>
              </p:nvPr>
            </p:nvSpPr>
            <p:spPr/>
            <p:txBody>
              <a:bodyPr>
                <a:normAutofit/>
              </a:bodyPr>
              <a:lstStyle/>
              <a:p>
                <a:r>
                  <a:rPr lang="ja-JP" altLang="en-US" sz="2000" dirty="0"/>
                  <a:t>競合・相補の判定不能</a:t>
                </a:r>
                <a:r>
                  <a:rPr lang="en-US" altLang="ja-JP" sz="2000" dirty="0"/>
                  <a:t>(Interaction Sign Ambiguity)</a:t>
                </a:r>
              </a:p>
              <a:p>
                <a:pPr lvl="1"/>
                <a:r>
                  <a:rPr lang="ja-JP" altLang="en-US" sz="2000" dirty="0"/>
                  <a:t>従来手法の限界：従来の</a:t>
                </a:r>
                <a:r>
                  <a:rPr lang="en-US" altLang="ja-JP" sz="2000" dirty="0"/>
                  <a:t>Sobol</a:t>
                </a:r>
                <a:r>
                  <a:rPr lang="ja-JP" altLang="en-US" sz="2000" dirty="0"/>
                  <a:t>指標（二乗値に基づく分散分解）は非負（</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𝑆</m:t>
                        </m:r>
                      </m:e>
                      <m:sub>
                        <m:r>
                          <a:rPr lang="en-US" altLang="ja-JP" sz="2000" i="1">
                            <a:latin typeface="Cambria Math" panose="02040503050406030204" pitchFamily="18" charset="0"/>
                          </a:rPr>
                          <m:t>𝑖</m:t>
                        </m:r>
                      </m:sub>
                    </m:sSub>
                    <m:r>
                      <a:rPr lang="en-US" altLang="ja-JP" sz="2000" i="1">
                        <a:latin typeface="Cambria Math" panose="02040503050406030204" pitchFamily="18" charset="0"/>
                      </a:rPr>
                      <m:t>≥0</m:t>
                    </m:r>
                  </m:oMath>
                </a14:m>
                <a:r>
                  <a:rPr lang="ja-JP" altLang="en-US" sz="2000" dirty="0"/>
                  <a:t>）であり、影響の「大きさ」しか測れない。</a:t>
                </a:r>
              </a:p>
              <a:p>
                <a:pPr lvl="1"/>
                <a:r>
                  <a:rPr lang="ja-JP" altLang="en-US" sz="2000" dirty="0"/>
                  <a:t>現場での実害：複数技術が仕事を奪い合う「競合（代替）」なのか、助け合う「相補（補完）」なのかの「正負の向き」が判別不能。</a:t>
                </a:r>
              </a:p>
              <a:p>
                <a:pPr lvl="1"/>
                <a:r>
                  <a:rPr lang="ja-JP" altLang="en-US" sz="2000" dirty="0"/>
                  <a:t>本研究の解決策：</a:t>
                </a:r>
                <a:r>
                  <a:rPr lang="en-US" altLang="ja-JP" sz="2000" dirty="0"/>
                  <a:t>LAR-PCE</a:t>
                </a:r>
                <a:r>
                  <a:rPr lang="ja-JP" altLang="en-US" sz="2000" dirty="0"/>
                  <a:t>（スパース多項式近似）の</a:t>
                </a:r>
                <a:r>
                  <a:rPr lang="en-US" altLang="ja-JP" sz="2000" dirty="0"/>
                  <a:t>2</a:t>
                </a:r>
                <a:r>
                  <a:rPr lang="ja-JP" altLang="en-US" sz="2000" dirty="0"/>
                  <a:t>次交差項の多項式係数 </a:t>
                </a:r>
                <a14:m>
                  <m:oMath xmlns:m="http://schemas.openxmlformats.org/officeDocument/2006/math">
                    <m:sSub>
                      <m:sSubPr>
                        <m:ctrlPr>
                          <a:rPr lang="en-US" altLang="ja-JP" sz="2000" i="1">
                            <a:latin typeface="Cambria Math" panose="02040503050406030204" pitchFamily="18" charset="0"/>
                          </a:rPr>
                        </m:ctrlPr>
                      </m:sSubPr>
                      <m:e>
                        <m:r>
                          <a:rPr lang="en-US" altLang="ja-JP" sz="2000" i="1">
                            <a:latin typeface="Cambria Math" panose="02040503050406030204" pitchFamily="18" charset="0"/>
                          </a:rPr>
                          <m:t>𝐶</m:t>
                        </m:r>
                      </m:e>
                      <m:sub>
                        <m:r>
                          <a:rPr lang="en-US" altLang="ja-JP" sz="2000" i="1">
                            <a:latin typeface="Cambria Math" panose="02040503050406030204" pitchFamily="18" charset="0"/>
                          </a:rPr>
                          <m:t>𝑖𝑗</m:t>
                        </m:r>
                      </m:sub>
                    </m:sSub>
                  </m:oMath>
                </a14:m>
                <a:r>
                  <a:rPr lang="ja-JP" altLang="en-US" sz="2000" dirty="0"/>
                  <a:t>の「符号（正・負）」により、関係性を数理診断。</a:t>
                </a:r>
                <a:endParaRPr lang="en-US" altLang="ja-JP" sz="2000" dirty="0"/>
              </a:p>
              <a:p>
                <a:pPr lvl="1"/>
                <a:endParaRPr lang="ja-JP" altLang="en-US" sz="2000" dirty="0"/>
              </a:p>
              <a:p>
                <a:r>
                  <a:rPr kumimoji="1" lang="ja-JP" altLang="en-US" sz="2000" dirty="0"/>
                  <a:t>時間分解能の欠如</a:t>
                </a:r>
                <a:r>
                  <a:rPr kumimoji="1" lang="en-US" altLang="ja-JP" sz="2000" dirty="0"/>
                  <a:t>(Temporal Scale Blindness)</a:t>
                </a:r>
              </a:p>
              <a:p>
                <a:pPr lvl="1"/>
                <a:r>
                  <a:rPr kumimoji="1" lang="ja-JP" altLang="en-US" sz="2000" dirty="0"/>
                  <a:t>従来手法の限界：全体の総コストや年間平均値の分散（ブレ）のみを算出するため、どの時間軸で不確実性が生じているか不透明。</a:t>
                </a:r>
              </a:p>
              <a:p>
                <a:pPr lvl="1"/>
                <a:r>
                  <a:rPr kumimoji="1" lang="ja-JP" altLang="en-US" sz="2000" dirty="0"/>
                  <a:t>現場での実害：日次（充放電）か、週次（気象変動）か、季節間（長周期貯蔵）か、ボトルネックとなる時間スケール（物理帯域）が特定不能。</a:t>
                </a:r>
              </a:p>
              <a:p>
                <a:pPr lvl="1"/>
                <a:r>
                  <a:rPr kumimoji="1" lang="ja-JP" altLang="en-US" sz="2000" dirty="0"/>
                  <a:t>本研究の解決策：</a:t>
                </a:r>
                <a:r>
                  <a:rPr kumimoji="1" lang="en-US" altLang="ja-JP" sz="2000" dirty="0"/>
                  <a:t>MODWT</a:t>
                </a:r>
                <a:r>
                  <a:rPr kumimoji="1" lang="ja-JP" altLang="en-US" sz="2000" dirty="0"/>
                  <a:t>（ウェーブレット変換）を用いて、時系列データを</a:t>
                </a:r>
                <a:r>
                  <a:rPr kumimoji="1" lang="en-US" altLang="ja-JP" sz="2000" dirty="0"/>
                  <a:t>5</a:t>
                </a:r>
                <a:r>
                  <a:rPr kumimoji="1" lang="ja-JP" altLang="en-US" sz="2000" dirty="0"/>
                  <a:t>つの物理周波数帯へ完全分解し、時間軸ごとの不確実性を可視化。</a:t>
                </a:r>
                <a:endParaRPr kumimoji="1" lang="en-US" altLang="ja-JP" sz="2000" dirty="0"/>
              </a:p>
            </p:txBody>
          </p:sp>
        </mc:Choice>
        <mc:Fallback xmlns="">
          <p:sp>
            <p:nvSpPr>
              <p:cNvPr id="3" name="テキスト プレースホルダー 2">
                <a:extLst>
                  <a:ext uri="{FF2B5EF4-FFF2-40B4-BE49-F238E27FC236}">
                    <a16:creationId xmlns:a16="http://schemas.microsoft.com/office/drawing/2014/main" id="{225F805F-000E-E9C0-853F-414E87C1AF6F}"/>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548" t="-1073" r="-91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83864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タイトル 17">
            <a:extLst>
              <a:ext uri="{FF2B5EF4-FFF2-40B4-BE49-F238E27FC236}">
                <a16:creationId xmlns:a16="http://schemas.microsoft.com/office/drawing/2014/main" id="{FB3F73B9-74B1-5C82-392B-2408186C7B24}"/>
              </a:ext>
            </a:extLst>
          </p:cNvPr>
          <p:cNvSpPr>
            <a:spLocks noGrp="1"/>
          </p:cNvSpPr>
          <p:nvPr>
            <p:ph type="title"/>
          </p:nvPr>
        </p:nvSpPr>
        <p:spPr>
          <a:xfrm>
            <a:off x="374904" y="61259"/>
            <a:ext cx="10003638" cy="706210"/>
          </a:xfrm>
        </p:spPr>
        <p:txBody>
          <a:bodyPr/>
          <a:lstStyle/>
          <a:p>
            <a:r>
              <a:rPr lang="zh-TW" altLang="en-US" dirty="0"/>
              <a:t>時間帯域別</a:t>
            </a:r>
            <a:r>
              <a:rPr lang="en-US" altLang="zh-TW" dirty="0"/>
              <a:t>SOBOL</a:t>
            </a:r>
            <a:r>
              <a:rPr lang="zh-TW" altLang="en-US" dirty="0"/>
              <a:t>感度分析</a:t>
            </a:r>
            <a:r>
              <a:rPr lang="ja-JP" altLang="en-US" dirty="0"/>
              <a:t>計算手法</a:t>
            </a:r>
          </a:p>
        </p:txBody>
      </p:sp>
      <p:sp>
        <p:nvSpPr>
          <p:cNvPr id="27" name="テキスト プレースホルダー 26">
            <a:extLst>
              <a:ext uri="{FF2B5EF4-FFF2-40B4-BE49-F238E27FC236}">
                <a16:creationId xmlns:a16="http://schemas.microsoft.com/office/drawing/2014/main" id="{4B378384-BEBA-96A6-A6CA-B2332F41E716}"/>
              </a:ext>
            </a:extLst>
          </p:cNvPr>
          <p:cNvSpPr>
            <a:spLocks noGrp="1"/>
          </p:cNvSpPr>
          <p:nvPr>
            <p:ph type="body" sz="quarter" idx="12"/>
          </p:nvPr>
        </p:nvSpPr>
        <p:spPr>
          <a:xfrm>
            <a:off x="374650" y="949973"/>
            <a:ext cx="10004425" cy="6250928"/>
          </a:xfrm>
        </p:spPr>
        <p:txBody>
          <a:bodyPr>
            <a:normAutofit/>
          </a:bodyPr>
          <a:lstStyle/>
          <a:p>
            <a:r>
              <a:rPr lang="en-US" altLang="ja-JP" dirty="0"/>
              <a:t>LAR-PCE</a:t>
            </a:r>
            <a:r>
              <a:rPr lang="ja-JP" altLang="en-US" dirty="0"/>
              <a:t>学習によって、モンテカルロ法のような追加サンプリングが不要になる。学習済み多項式係数から即時に</a:t>
            </a:r>
            <a:r>
              <a:rPr lang="en-US" altLang="ja-JP" dirty="0"/>
              <a:t>1</a:t>
            </a:r>
            <a:r>
              <a:rPr lang="ja-JP" altLang="en-US" dirty="0"/>
              <a:t>次・</a:t>
            </a:r>
            <a:r>
              <a:rPr lang="en-US" altLang="ja-JP" dirty="0"/>
              <a:t>2</a:t>
            </a:r>
            <a:r>
              <a:rPr lang="ja-JP" altLang="en-US" dirty="0"/>
              <a:t>次・全効果</a:t>
            </a:r>
            <a:r>
              <a:rPr lang="en-US" altLang="ja-JP" dirty="0"/>
              <a:t>Sobol</a:t>
            </a:r>
            <a:r>
              <a:rPr lang="ja-JP" altLang="en-US" dirty="0"/>
              <a:t>指数を抽出。</a:t>
            </a:r>
            <a:endParaRPr lang="en-US" altLang="ja-JP" dirty="0"/>
          </a:p>
          <a:p>
            <a:r>
              <a:rPr lang="ja-JP" altLang="en-US" dirty="0"/>
              <a:t>最初のステップとして、</a:t>
            </a:r>
            <a:r>
              <a:rPr lang="en-US" altLang="ja-JP" dirty="0"/>
              <a:t>Sobol</a:t>
            </a:r>
            <a:r>
              <a:rPr lang="ja-JP" altLang="en-US" dirty="0"/>
              <a:t>指数導出までの手法の確認をする。</a:t>
            </a:r>
            <a:endParaRPr lang="en-US" altLang="ja-JP" dirty="0"/>
          </a:p>
          <a:p>
            <a:r>
              <a:rPr lang="ja-JP" altLang="en-US" dirty="0"/>
              <a:t>帯域分解への拡張は次のステップ</a:t>
            </a:r>
          </a:p>
          <a:p>
            <a:endParaRPr lang="ja-JP" altLang="en-US" dirty="0"/>
          </a:p>
          <a:p>
            <a:endParaRPr lang="ja-JP" altLang="en-US" dirty="0"/>
          </a:p>
          <a:p>
            <a:endParaRPr lang="ja-JP" altLang="en-US" dirty="0"/>
          </a:p>
        </p:txBody>
      </p:sp>
      <p:sp>
        <p:nvSpPr>
          <p:cNvPr id="21" name="四角形: 角を丸くする 20">
            <a:extLst>
              <a:ext uri="{FF2B5EF4-FFF2-40B4-BE49-F238E27FC236}">
                <a16:creationId xmlns:a16="http://schemas.microsoft.com/office/drawing/2014/main" id="{595D8363-2288-5F61-7C0F-356DBE591A16}"/>
              </a:ext>
            </a:extLst>
          </p:cNvPr>
          <p:cNvSpPr/>
          <p:nvPr/>
        </p:nvSpPr>
        <p:spPr>
          <a:xfrm>
            <a:off x="5863843"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chemeClr val="accent1">
                    <a:lumMod val="50000"/>
                  </a:schemeClr>
                </a:solidFill>
                <a:latin typeface="Calibri" pitchFamily="34" charset="0"/>
                <a:cs typeface="Calibri" pitchFamily="34" charset="-120"/>
              </a:rPr>
              <a:t>3. LAR-PCE</a:t>
            </a:r>
            <a:r>
              <a:rPr lang="ja-JP" altLang="en-US" sz="1600" b="1" dirty="0">
                <a:solidFill>
                  <a:schemeClr val="accent1">
                    <a:lumMod val="50000"/>
                  </a:schemeClr>
                </a:solidFill>
                <a:latin typeface="Calibri" pitchFamily="34" charset="0"/>
                <a:cs typeface="Calibri" pitchFamily="34" charset="-120"/>
              </a:rPr>
              <a:t>学習</a:t>
            </a:r>
          </a:p>
          <a:p>
            <a:pPr algn="ctr"/>
            <a:endParaRPr lang="en-US" altLang="ja-JP" sz="1200" b="1" dirty="0">
              <a:solidFill>
                <a:schemeClr val="tx1"/>
              </a:solidFill>
              <a:latin typeface="Calibri" pitchFamily="34" charset="0"/>
              <a:cs typeface="Calibri" pitchFamily="34" charset="-120"/>
            </a:endParaRPr>
          </a:p>
          <a:p>
            <a:pPr algn="ctr"/>
            <a:r>
              <a:rPr lang="ja-JP" altLang="en-US" sz="1200" b="1" dirty="0">
                <a:solidFill>
                  <a:schemeClr val="tx1"/>
                </a:solidFill>
                <a:latin typeface="Calibri" pitchFamily="34" charset="0"/>
                <a:cs typeface="Calibri" pitchFamily="34" charset="-120"/>
              </a:rPr>
              <a:t>スパース多項式近似</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(LOO</a:t>
            </a:r>
            <a:r>
              <a:rPr lang="ja-JP" altLang="en-US" sz="1200" b="1" dirty="0">
                <a:solidFill>
                  <a:schemeClr val="tx1"/>
                </a:solidFill>
                <a:latin typeface="Calibri" pitchFamily="34" charset="0"/>
                <a:cs typeface="Calibri" pitchFamily="34" charset="-120"/>
              </a:rPr>
              <a:t>交差検証で決定</a:t>
            </a:r>
            <a:r>
              <a:rPr lang="en-US" altLang="ja-JP" sz="1200" b="1" dirty="0">
                <a:solidFill>
                  <a:schemeClr val="tx1"/>
                </a:solidFill>
                <a:latin typeface="Calibri" pitchFamily="34" charset="0"/>
                <a:cs typeface="Calibri" pitchFamily="34" charset="-120"/>
              </a:rPr>
              <a:t>)</a:t>
            </a:r>
          </a:p>
        </p:txBody>
      </p:sp>
      <p:sp>
        <p:nvSpPr>
          <p:cNvPr id="22" name="四角形: 角を丸くする 21">
            <a:extLst>
              <a:ext uri="{FF2B5EF4-FFF2-40B4-BE49-F238E27FC236}">
                <a16:creationId xmlns:a16="http://schemas.microsoft.com/office/drawing/2014/main" id="{22A90AB5-B9E6-B751-85C3-ACE8BD0FDCEB}"/>
              </a:ext>
            </a:extLst>
          </p:cNvPr>
          <p:cNvSpPr/>
          <p:nvPr/>
        </p:nvSpPr>
        <p:spPr>
          <a:xfrm>
            <a:off x="3058636"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2. LP</a:t>
            </a:r>
            <a:r>
              <a:rPr lang="ja-JP" altLang="en-US" sz="1600" b="1" dirty="0">
                <a:solidFill>
                  <a:schemeClr val="accent1">
                    <a:lumMod val="50000"/>
                  </a:schemeClr>
                </a:solidFill>
                <a:latin typeface="Calibri" pitchFamily="34" charset="0"/>
                <a:cs typeface="Calibri" pitchFamily="34" charset="-120"/>
              </a:rPr>
              <a:t>求解</a:t>
            </a:r>
          </a:p>
          <a:p>
            <a:pPr algn="ctr"/>
            <a:endParaRPr lang="en-US" altLang="ja-JP" sz="1200" b="1" dirty="0">
              <a:solidFill>
                <a:schemeClr val="tx1"/>
              </a:solidFill>
              <a:latin typeface="Calibri" pitchFamily="34" charset="0"/>
              <a:cs typeface="Calibri" pitchFamily="34" charset="-120"/>
            </a:endParaRPr>
          </a:p>
          <a:p>
            <a:pPr algn="ctr"/>
            <a:r>
              <a:rPr lang="ja-JP" altLang="en-US" sz="1200" b="1" dirty="0">
                <a:solidFill>
                  <a:schemeClr val="tx1"/>
                </a:solidFill>
                <a:latin typeface="Calibri" pitchFamily="34" charset="0"/>
                <a:cs typeface="Calibri" pitchFamily="34" charset="-120"/>
              </a:rPr>
              <a:t>コスト最小最適化モデル</a:t>
            </a:r>
            <a:br>
              <a:rPr lang="ja-JP" altLang="en-US" sz="1200" b="1" dirty="0">
                <a:solidFill>
                  <a:schemeClr val="tx1"/>
                </a:solidFill>
                <a:latin typeface="Calibri" pitchFamily="34" charset="0"/>
                <a:cs typeface="Calibri" pitchFamily="34" charset="-120"/>
              </a:rPr>
            </a:br>
            <a:endParaRPr lang="en-US" altLang="ja-JP" sz="1200" b="1" dirty="0">
              <a:solidFill>
                <a:schemeClr val="tx1"/>
              </a:solidFill>
              <a:latin typeface="Calibri" pitchFamily="34" charset="0"/>
              <a:cs typeface="Calibri" pitchFamily="34" charset="-120"/>
            </a:endParaRPr>
          </a:p>
        </p:txBody>
      </p:sp>
      <p:sp>
        <p:nvSpPr>
          <p:cNvPr id="23" name="四角形: 角を丸くする 22">
            <a:extLst>
              <a:ext uri="{FF2B5EF4-FFF2-40B4-BE49-F238E27FC236}">
                <a16:creationId xmlns:a16="http://schemas.microsoft.com/office/drawing/2014/main" id="{7ABF51B7-3665-4E1D-7665-37F60B34A520}"/>
              </a:ext>
            </a:extLst>
          </p:cNvPr>
          <p:cNvSpPr/>
          <p:nvPr/>
        </p:nvSpPr>
        <p:spPr>
          <a:xfrm>
            <a:off x="374904"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1. LHS</a:t>
            </a:r>
            <a:r>
              <a:rPr lang="ja-JP" altLang="en-US" sz="1600" b="1" dirty="0">
                <a:solidFill>
                  <a:schemeClr val="accent1">
                    <a:lumMod val="50000"/>
                  </a:schemeClr>
                </a:solidFill>
                <a:latin typeface="Calibri" pitchFamily="34" charset="0"/>
                <a:cs typeface="Calibri" pitchFamily="34" charset="-120"/>
              </a:rPr>
              <a:t>サンプリング</a:t>
            </a:r>
          </a:p>
          <a:p>
            <a:pPr algn="ctr">
              <a:defRPr sz="950">
                <a:solidFill>
                  <a:srgbClr val="64748B"/>
                </a:solidFill>
                <a:latin typeface="Liberation Sans"/>
              </a:defRPr>
            </a:pP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ja-JP" altLang="en-US" sz="1200" b="1" dirty="0">
                <a:solidFill>
                  <a:schemeClr val="tx1"/>
                </a:solidFill>
                <a:latin typeface="Calibri" pitchFamily="34" charset="0"/>
                <a:cs typeface="Calibri" pitchFamily="34" charset="-120"/>
              </a:rPr>
              <a:t>パラメータ空間の均一カバー</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(N=300〜600</a:t>
            </a:r>
            <a:r>
              <a:rPr lang="ja-JP" altLang="en-US" sz="1200" b="1" dirty="0">
                <a:solidFill>
                  <a:schemeClr val="tx1"/>
                </a:solidFill>
                <a:latin typeface="Calibri" pitchFamily="34" charset="0"/>
                <a:cs typeface="Calibri" pitchFamily="34" charset="-120"/>
              </a:rPr>
              <a:t>点</a:t>
            </a:r>
            <a:r>
              <a:rPr lang="en-US" altLang="ja-JP" sz="1200" b="1" dirty="0">
                <a:solidFill>
                  <a:schemeClr val="tx1"/>
                </a:solidFill>
                <a:latin typeface="Calibri" pitchFamily="34" charset="0"/>
                <a:cs typeface="Calibri" pitchFamily="34" charset="-120"/>
              </a:rPr>
              <a:t>)</a:t>
            </a:r>
          </a:p>
          <a:p>
            <a:pPr algn="ctr"/>
            <a:endParaRPr lang="en-US" altLang="ja-JP" sz="1200" b="1" dirty="0">
              <a:solidFill>
                <a:schemeClr val="tx1"/>
              </a:solidFill>
              <a:latin typeface="Calibri" pitchFamily="34" charset="0"/>
              <a:cs typeface="Calibri" pitchFamily="34" charset="-120"/>
            </a:endParaRPr>
          </a:p>
          <a:p>
            <a:pPr algn="ctr"/>
            <a:endParaRPr lang="en-US" altLang="ja-JP" sz="1200" b="1" dirty="0">
              <a:solidFill>
                <a:schemeClr val="tx1"/>
              </a:solidFill>
              <a:latin typeface="Calibri" pitchFamily="34" charset="0"/>
              <a:cs typeface="Calibri" pitchFamily="34" charset="-120"/>
            </a:endParaRPr>
          </a:p>
        </p:txBody>
      </p:sp>
      <p:sp>
        <p:nvSpPr>
          <p:cNvPr id="24" name="四角形: 角を丸くする 23">
            <a:extLst>
              <a:ext uri="{FF2B5EF4-FFF2-40B4-BE49-F238E27FC236}">
                <a16:creationId xmlns:a16="http://schemas.microsoft.com/office/drawing/2014/main" id="{E0FFF9D6-142A-4527-8FF2-5BA247B4741D}"/>
              </a:ext>
            </a:extLst>
          </p:cNvPr>
          <p:cNvSpPr/>
          <p:nvPr/>
        </p:nvSpPr>
        <p:spPr>
          <a:xfrm>
            <a:off x="8412197" y="2883482"/>
            <a:ext cx="1841041" cy="2336555"/>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100" b="1">
                <a:solidFill>
                  <a:srgbClr val="1E293B"/>
                </a:solidFill>
                <a:latin typeface="Liberation Sans"/>
              </a:defRPr>
            </a:pPr>
            <a:r>
              <a:rPr lang="en-US" altLang="ja-JP" sz="1600" b="1" dirty="0">
                <a:solidFill>
                  <a:schemeClr val="accent1">
                    <a:lumMod val="50000"/>
                  </a:schemeClr>
                </a:solidFill>
                <a:latin typeface="Calibri" pitchFamily="34" charset="0"/>
                <a:cs typeface="Calibri" pitchFamily="34" charset="-120"/>
              </a:rPr>
              <a:t>4. Sobol</a:t>
            </a:r>
            <a:r>
              <a:rPr lang="ja-JP" altLang="en-US" sz="1600" b="1" dirty="0">
                <a:solidFill>
                  <a:schemeClr val="accent1">
                    <a:lumMod val="50000"/>
                  </a:schemeClr>
                </a:solidFill>
                <a:latin typeface="Calibri" pitchFamily="34" charset="0"/>
                <a:cs typeface="Calibri" pitchFamily="34" charset="-120"/>
              </a:rPr>
              <a:t>指数導出</a:t>
            </a:r>
          </a:p>
          <a:p>
            <a:pPr algn="ctr">
              <a:defRPr sz="950">
                <a:solidFill>
                  <a:srgbClr val="64748B"/>
                </a:solidFill>
                <a:latin typeface="Liberation Sans"/>
              </a:defRPr>
            </a:pPr>
            <a:endParaRPr lang="en-US" altLang="ja-JP" sz="1200" b="1" dirty="0">
              <a:solidFill>
                <a:schemeClr val="tx1"/>
              </a:solidFill>
              <a:latin typeface="Calibri" pitchFamily="34" charset="0"/>
              <a:cs typeface="Calibri" pitchFamily="34" charset="-120"/>
            </a:endParaRPr>
          </a:p>
          <a:p>
            <a:pPr algn="ctr">
              <a:defRPr sz="950">
                <a:solidFill>
                  <a:srgbClr val="64748B"/>
                </a:solidFill>
                <a:latin typeface="Liberation Sans"/>
              </a:defRPr>
            </a:pPr>
            <a:r>
              <a:rPr lang="ja-JP" altLang="en-US" sz="1200" b="1" dirty="0">
                <a:solidFill>
                  <a:schemeClr val="tx1"/>
                </a:solidFill>
                <a:latin typeface="Calibri" pitchFamily="34" charset="0"/>
                <a:cs typeface="Calibri" pitchFamily="34" charset="-120"/>
              </a:rPr>
              <a:t>解析的に</a:t>
            </a:r>
            <a:r>
              <a:rPr lang="en-US" altLang="ja-JP" sz="1200" b="1" dirty="0">
                <a:solidFill>
                  <a:schemeClr val="tx1"/>
                </a:solidFill>
                <a:latin typeface="Calibri" pitchFamily="34" charset="0"/>
                <a:cs typeface="Calibri" pitchFamily="34" charset="-120"/>
              </a:rPr>
              <a:t>Sᵢ, STᵢ, Sᵢⱼ</a:t>
            </a:r>
            <a:r>
              <a:rPr lang="ja-JP" altLang="en-US" sz="1200" b="1" dirty="0">
                <a:solidFill>
                  <a:schemeClr val="tx1"/>
                </a:solidFill>
                <a:latin typeface="Calibri" pitchFamily="34" charset="0"/>
                <a:cs typeface="Calibri" pitchFamily="34" charset="-120"/>
              </a:rPr>
              <a:t>算出</a:t>
            </a:r>
            <a:br>
              <a:rPr lang="ja-JP" altLang="en-US" sz="1200" b="1" dirty="0">
                <a:solidFill>
                  <a:schemeClr val="tx1"/>
                </a:solidFill>
                <a:latin typeface="Calibri" pitchFamily="34" charset="0"/>
                <a:cs typeface="Calibri" pitchFamily="34" charset="-120"/>
              </a:rPr>
            </a:br>
            <a:r>
              <a:rPr lang="en-US" altLang="ja-JP" sz="1200" b="1" dirty="0">
                <a:solidFill>
                  <a:schemeClr val="tx1"/>
                </a:solidFill>
                <a:latin typeface="Calibri" pitchFamily="34" charset="0"/>
                <a:cs typeface="Calibri" pitchFamily="34" charset="-120"/>
              </a:rPr>
              <a:t>(</a:t>
            </a:r>
            <a:r>
              <a:rPr lang="ja-JP" altLang="en-US" sz="1200" b="1" dirty="0">
                <a:solidFill>
                  <a:schemeClr val="tx1"/>
                </a:solidFill>
                <a:latin typeface="Calibri" pitchFamily="34" charset="0"/>
                <a:cs typeface="Calibri" pitchFamily="34" charset="-120"/>
              </a:rPr>
              <a:t>交差項の符号判断</a:t>
            </a:r>
            <a:r>
              <a:rPr lang="en-US" altLang="ja-JP" sz="1200" b="1" dirty="0">
                <a:solidFill>
                  <a:schemeClr val="tx1"/>
                </a:solidFill>
                <a:latin typeface="Calibri" pitchFamily="34" charset="0"/>
                <a:cs typeface="Calibri" pitchFamily="34" charset="-120"/>
              </a:rPr>
              <a:t>)</a:t>
            </a:r>
          </a:p>
          <a:p>
            <a:pPr algn="ctr"/>
            <a:endParaRPr lang="en-US" altLang="ja-JP" sz="1200" b="1" dirty="0">
              <a:solidFill>
                <a:schemeClr val="tx1"/>
              </a:solidFill>
              <a:latin typeface="Calibri" pitchFamily="34" charset="0"/>
              <a:cs typeface="Calibri" pitchFamily="34" charset="-120"/>
            </a:endParaRPr>
          </a:p>
        </p:txBody>
      </p:sp>
    </p:spTree>
    <p:extLst>
      <p:ext uri="{BB962C8B-B14F-4D97-AF65-F5344CB8AC3E}">
        <p14:creationId xmlns:p14="http://schemas.microsoft.com/office/powerpoint/2010/main" val="17939957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CA7605C8-7E26-86BC-3DFB-D027ABC91BB8}"/>
              </a:ext>
            </a:extLst>
          </p:cNvPr>
          <p:cNvSpPr>
            <a:spLocks noGrp="1"/>
          </p:cNvSpPr>
          <p:nvPr>
            <p:ph type="title"/>
          </p:nvPr>
        </p:nvSpPr>
        <p:spPr/>
        <p:txBody>
          <a:bodyPr/>
          <a:lstStyle/>
          <a:p>
            <a:r>
              <a:rPr lang="ja-JP" altLang="en-US" dirty="0"/>
              <a:t>時間スケールの区分</a:t>
            </a:r>
          </a:p>
        </p:txBody>
      </p:sp>
      <mc:AlternateContent xmlns:mc="http://schemas.openxmlformats.org/markup-compatibility/2006" xmlns:a14="http://schemas.microsoft.com/office/drawing/2010/main">
        <mc:Choice Requires="a14">
          <p:graphicFrame>
            <p:nvGraphicFramePr>
              <p:cNvPr id="7" name="表 6">
                <a:extLst>
                  <a:ext uri="{FF2B5EF4-FFF2-40B4-BE49-F238E27FC236}">
                    <a16:creationId xmlns:a16="http://schemas.microsoft.com/office/drawing/2014/main" id="{F30682C8-91AA-786E-90B5-C46853AED9EF}"/>
                  </a:ext>
                </a:extLst>
              </p:cNvPr>
              <p:cNvGraphicFramePr>
                <a:graphicFrameLocks noGrp="1"/>
              </p:cNvGraphicFramePr>
              <p:nvPr>
                <p:extLst>
                  <p:ext uri="{D42A27DB-BD31-4B8C-83A1-F6EECF244321}">
                    <p14:modId xmlns:p14="http://schemas.microsoft.com/office/powerpoint/2010/main" val="3678566242"/>
                  </p:ext>
                </p:extLst>
              </p:nvPr>
            </p:nvGraphicFramePr>
            <p:xfrm>
              <a:off x="219075" y="914401"/>
              <a:ext cx="10296525" cy="4857692"/>
            </p:xfrm>
            <a:graphic>
              <a:graphicData uri="http://schemas.openxmlformats.org/drawingml/2006/table">
                <a:tbl>
                  <a:tblPr firstRow="1" bandRow="1">
                    <a:tableStyleId>{854B67C7-B280-42D8-B184-0A409CBFCAF9}</a:tableStyleId>
                  </a:tblPr>
                  <a:tblGrid>
                    <a:gridCol w="1405748">
                      <a:extLst>
                        <a:ext uri="{9D8B030D-6E8A-4147-A177-3AD203B41FA5}">
                          <a16:colId xmlns:a16="http://schemas.microsoft.com/office/drawing/2014/main" val="1640815741"/>
                        </a:ext>
                      </a:extLst>
                    </a:gridCol>
                    <a:gridCol w="1440105">
                      <a:extLst>
                        <a:ext uri="{9D8B030D-6E8A-4147-A177-3AD203B41FA5}">
                          <a16:colId xmlns:a16="http://schemas.microsoft.com/office/drawing/2014/main" val="2757899961"/>
                        </a:ext>
                      </a:extLst>
                    </a:gridCol>
                    <a:gridCol w="2358600">
                      <a:extLst>
                        <a:ext uri="{9D8B030D-6E8A-4147-A177-3AD203B41FA5}">
                          <a16:colId xmlns:a16="http://schemas.microsoft.com/office/drawing/2014/main" val="4073873486"/>
                        </a:ext>
                      </a:extLst>
                    </a:gridCol>
                    <a:gridCol w="2188507">
                      <a:extLst>
                        <a:ext uri="{9D8B030D-6E8A-4147-A177-3AD203B41FA5}">
                          <a16:colId xmlns:a16="http://schemas.microsoft.com/office/drawing/2014/main" val="743584510"/>
                        </a:ext>
                      </a:extLst>
                    </a:gridCol>
                    <a:gridCol w="2903565">
                      <a:extLst>
                        <a:ext uri="{9D8B030D-6E8A-4147-A177-3AD203B41FA5}">
                          <a16:colId xmlns:a16="http://schemas.microsoft.com/office/drawing/2014/main" val="2422390879"/>
                        </a:ext>
                      </a:extLst>
                    </a:gridCol>
                  </a:tblGrid>
                  <a:tr h="374229">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帯域名</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時間スケール</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主な気象・需給変動現象</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主な対応柔軟性リソース</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系統評価上の特徴（</a:t>
                          </a:r>
                          <a:r>
                            <a:rPr kumimoji="1" lang="en-US" altLang="ja-JP" sz="1400" b="1" i="0" kern="1200" dirty="0">
                              <a:solidFill>
                                <a:schemeClr val="bg1"/>
                              </a:solidFill>
                              <a:latin typeface="+mn-ea"/>
                              <a:ea typeface="+mn-ea"/>
                              <a:cs typeface="Times New Roman"/>
                            </a:rPr>
                            <a:t>Sobol</a:t>
                          </a:r>
                          <a:r>
                            <a:rPr kumimoji="1" lang="ja-JP" altLang="en-US" sz="1400" b="1" i="0" kern="1200" dirty="0">
                              <a:solidFill>
                                <a:schemeClr val="bg1"/>
                              </a:solidFill>
                              <a:latin typeface="+mn-ea"/>
                              <a:ea typeface="+mn-ea"/>
                              <a:cs typeface="Times New Roman"/>
                            </a:rPr>
                            <a:t>感度特性）</a:t>
                          </a:r>
                        </a:p>
                      </a:txBody>
                      <a:tcPr marL="52142" marR="52142" marT="26071" marB="26071" anchor="ctr"/>
                    </a:tc>
                    <a:extLst>
                      <a:ext uri="{0D108BD9-81ED-4DB2-BD59-A6C34878D82A}">
                        <a16:rowId xmlns:a16="http://schemas.microsoft.com/office/drawing/2014/main" val="972087235"/>
                      </a:ext>
                    </a:extLst>
                  </a:tr>
                  <a:tr h="431185">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サブ日内帯</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&lt; 12</a:t>
                          </a:r>
                          <a:r>
                            <a:rPr kumimoji="1" lang="ja-JP" altLang="en-US" sz="1400" b="0" i="0" kern="1200">
                              <a:solidFill>
                                <a:schemeClr val="dk1"/>
                              </a:solidFill>
                              <a:latin typeface="+mn-ea"/>
                              <a:ea typeface="+mn-ea"/>
                              <a:cs typeface="Times New Roman"/>
                            </a:rPr>
                            <a:t>時間</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太陽光の急変（雲遮り）や短時間の需要ランプ変動</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定置用蓄電池（短周期）、</a:t>
                          </a: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a:t>
                          </a:r>
                          <a:r>
                            <a:rPr kumimoji="1" lang="en-US" altLang="ja-JP" sz="1400" b="0" i="0" kern="1200">
                              <a:solidFill>
                                <a:schemeClr val="dk1"/>
                              </a:solidFill>
                              <a:latin typeface="+mn-ea"/>
                              <a:ea typeface="+mn-ea"/>
                              <a:cs typeface="Times New Roman"/>
                            </a:rPr>
                            <a:t>EV</a:t>
                          </a:r>
                          <a:r>
                            <a:rPr kumimoji="1" lang="ja-JP" altLang="en-US" sz="1400" b="0" i="0" kern="1200">
                              <a:solidFill>
                                <a:schemeClr val="dk1"/>
                              </a:solidFill>
                              <a:latin typeface="+mn-ea"/>
                              <a:ea typeface="+mn-ea"/>
                              <a:cs typeface="Times New Roman"/>
                            </a:rPr>
                            <a:t>）、水電解槽（高速応答）</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周波数調整や短時間の需給ギャップに対応。蓄電池と</a:t>
                          </a:r>
                          <a:r>
                            <a:rPr kumimoji="1" lang="en-US" altLang="ja-JP" sz="1400" b="0" i="0" kern="1200" dirty="0">
                              <a:solidFill>
                                <a:schemeClr val="dk1"/>
                              </a:solidFill>
                              <a:latin typeface="+mn-ea"/>
                              <a:ea typeface="+mn-ea"/>
                              <a:cs typeface="Times New Roman"/>
                            </a:rPr>
                            <a:t>V1G</a:t>
                          </a:r>
                          <a:r>
                            <a:rPr kumimoji="1" lang="ja-JP" altLang="en-US" sz="1400" b="0" i="0" kern="1200" dirty="0">
                              <a:solidFill>
                                <a:schemeClr val="dk1"/>
                              </a:solidFill>
                              <a:latin typeface="+mn-ea"/>
                              <a:ea typeface="+mn-ea"/>
                              <a:cs typeface="Times New Roman"/>
                            </a:rPr>
                            <a:t>の初期応答が機能。</a:t>
                          </a:r>
                        </a:p>
                      </a:txBody>
                      <a:tcPr marL="52142" marR="52142" marT="26071" marB="26071" anchor="ctr"/>
                    </a:tc>
                    <a:extLst>
                      <a:ext uri="{0D108BD9-81ED-4DB2-BD59-A6C34878D82A}">
                        <a16:rowId xmlns:a16="http://schemas.microsoft.com/office/drawing/2014/main" val="988282298"/>
                      </a:ext>
                    </a:extLst>
                  </a:tr>
                  <a:tr h="510452">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日次帯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12〜36</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1〜1.5</a:t>
                          </a:r>
                          <a:r>
                            <a:rPr kumimoji="1" lang="ja-JP" altLang="en-US" sz="1400" b="0" i="0" kern="1200" dirty="0">
                              <a:solidFill>
                                <a:schemeClr val="dk1"/>
                              </a:solidFill>
                              <a:latin typeface="+mn-ea"/>
                              <a:ea typeface="+mn-ea"/>
                              <a:cs typeface="Times New Roman"/>
                            </a:rPr>
                            <a:t>日）</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昼間の太陽光余剰電力の発生、夜間需要、日内ピークシフト</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、定置用蓄電池、水電解槽</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不確実性が最も集中する帯域。同じ余剰電力を奪い合うため、技術間の強い競合関係（負の交差項 </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mn-ea"/>
                                    </a:rPr>
                                  </m:ctrlPr>
                                </m:sSubPr>
                                <m:e>
                                  <m:r>
                                    <a:rPr kumimoji="1" lang="en-US" altLang="ja-JP" sz="1400" b="0" i="0" kern="1200" smtClean="0">
                                      <a:solidFill>
                                        <a:schemeClr val="dk1"/>
                                      </a:solidFill>
                                      <a:latin typeface="Cambria Math" panose="02040503050406030204" pitchFamily="18" charset="0"/>
                                      <a:ea typeface="+mn-ea"/>
                                    </a:rPr>
                                    <m:t>𝐶</m:t>
                                  </m:r>
                                </m:e>
                                <m:sub>
                                  <m:r>
                                    <a:rPr kumimoji="1" lang="en-US" altLang="ja-JP" sz="1400" b="0" i="0" kern="1200" smtClean="0">
                                      <a:solidFill>
                                        <a:schemeClr val="dk1"/>
                                      </a:solidFill>
                                      <a:latin typeface="Cambria Math" panose="02040503050406030204" pitchFamily="18" charset="0"/>
                                      <a:ea typeface="+mn-ea"/>
                                    </a:rPr>
                                    <m:t>𝑖𝑗</m:t>
                                  </m:r>
                                </m:sub>
                              </m:sSub>
                              <m:r>
                                <a:rPr kumimoji="1" lang="en-US" altLang="ja-JP" sz="1400" b="0" i="0" kern="1200" smtClean="0">
                                  <a:solidFill>
                                    <a:schemeClr val="dk1"/>
                                  </a:solidFill>
                                  <a:latin typeface="Cambria Math" panose="02040503050406030204" pitchFamily="18" charset="0"/>
                                  <a:ea typeface="+mn-ea"/>
                                </a:rPr>
                                <m:t>&lt;0</m:t>
                              </m:r>
                            </m:oMath>
                          </a14:m>
                          <a:r>
                            <a:rPr kumimoji="1" lang="ja-JP" altLang="en-US" sz="1400" b="0" i="0" kern="1200" dirty="0">
                              <a:solidFill>
                                <a:schemeClr val="dk1"/>
                              </a:solidFill>
                              <a:latin typeface="+mn-ea"/>
                              <a:ea typeface="+mn-ea"/>
                              <a:cs typeface="Times New Roman"/>
                            </a:rPr>
                            <a:t>）が発生。</a:t>
                          </a:r>
                        </a:p>
                      </a:txBody>
                      <a:tcPr marL="52142" marR="52142" marT="26071" marB="26071" anchor="ctr"/>
                    </a:tc>
                    <a:extLst>
                      <a:ext uri="{0D108BD9-81ED-4DB2-BD59-A6C34878D82A}">
                        <a16:rowId xmlns:a16="http://schemas.microsoft.com/office/drawing/2014/main" val="692508105"/>
                      </a:ext>
                    </a:extLst>
                  </a:tr>
                  <a:tr h="574927">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総観規模帯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36〜192</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3</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週間）</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低気圧・高気圧の移動に伴う数日周期の天候変化（無照・無風）</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地域間送電線（広域融通）、中周期蓄電</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分散型リソースでは長周期すぎ、水素等では短周期すぎる「柔軟性の空白帯」。送電線による広域補完（正の交差項 </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mn-ea"/>
                                    </a:rPr>
                                  </m:ctrlPr>
                                </m:sSubPr>
                                <m:e>
                                  <m:r>
                                    <a:rPr kumimoji="1" lang="en-US" altLang="ja-JP" sz="1400" b="0" i="0" kern="1200" smtClean="0">
                                      <a:solidFill>
                                        <a:schemeClr val="dk1"/>
                                      </a:solidFill>
                                      <a:latin typeface="Cambria Math" panose="02040503050406030204" pitchFamily="18" charset="0"/>
                                      <a:ea typeface="+mn-ea"/>
                                    </a:rPr>
                                    <m:t>𝐶</m:t>
                                  </m:r>
                                </m:e>
                                <m:sub>
                                  <m:r>
                                    <a:rPr kumimoji="1" lang="en-US" altLang="ja-JP" sz="1400" b="0" i="0" kern="1200" smtClean="0">
                                      <a:solidFill>
                                        <a:schemeClr val="dk1"/>
                                      </a:solidFill>
                                      <a:latin typeface="Cambria Math" panose="02040503050406030204" pitchFamily="18" charset="0"/>
                                      <a:ea typeface="+mn-ea"/>
                                    </a:rPr>
                                    <m:t>𝑖𝑗</m:t>
                                  </m:r>
                                </m:sub>
                              </m:sSub>
                              <m:r>
                                <a:rPr kumimoji="1" lang="en-US" altLang="ja-JP" sz="1400" b="0" i="0" kern="1200" smtClean="0">
                                  <a:solidFill>
                                    <a:schemeClr val="dk1"/>
                                  </a:solidFill>
                                  <a:latin typeface="Cambria Math" panose="02040503050406030204" pitchFamily="18" charset="0"/>
                                  <a:ea typeface="+mn-ea"/>
                                </a:rPr>
                                <m:t>&gt;0</m:t>
                              </m:r>
                            </m:oMath>
                          </a14:m>
                          <a:r>
                            <a:rPr kumimoji="1" lang="ja-JP" altLang="en-US" sz="1400" b="0" i="0" kern="1200" dirty="0">
                              <a:solidFill>
                                <a:schemeClr val="dk1"/>
                              </a:solidFill>
                              <a:latin typeface="+mn-ea"/>
                              <a:ea typeface="+mn-ea"/>
                              <a:cs typeface="Times New Roman"/>
                            </a:rPr>
                            <a:t>）が重要。</a:t>
                          </a:r>
                        </a:p>
                      </a:txBody>
                      <a:tcPr marL="52142" marR="52142" marT="26071" marB="26071" anchor="ctr"/>
                    </a:tc>
                    <a:extLst>
                      <a:ext uri="{0D108BD9-81ED-4DB2-BD59-A6C34878D82A}">
                        <a16:rowId xmlns:a16="http://schemas.microsoft.com/office/drawing/2014/main" val="2649585087"/>
                      </a:ext>
                    </a:extLst>
                  </a:tr>
                  <a:tr h="431185">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Dunkelflaute</a:t>
                          </a:r>
                          <a:r>
                            <a:rPr kumimoji="1" lang="ja-JP" altLang="en-US" sz="1400" b="0" i="0" kern="1200">
                              <a:solidFill>
                                <a:schemeClr val="dk1"/>
                              </a:solidFill>
                              <a:latin typeface="+mn-ea"/>
                              <a:ea typeface="+mn-ea"/>
                              <a:cs typeface="Times New Roman"/>
                            </a:rPr>
                            <a:t>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192〜720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8</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広域で高気圧が停滞し、太陽光・風力が同時に落ち込む長期間の無照・無風</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水素貯蔵、</a:t>
                          </a:r>
                          <a:r>
                            <a:rPr kumimoji="1" lang="en-US" altLang="ja-JP" sz="1400" b="0" i="0" kern="1200">
                              <a:solidFill>
                                <a:schemeClr val="dk1"/>
                              </a:solidFill>
                              <a:latin typeface="+mn-ea"/>
                              <a:ea typeface="+mn-ea"/>
                              <a:cs typeface="Times New Roman"/>
                            </a:rPr>
                            <a:t>e-fuel</a:t>
                          </a:r>
                          <a:r>
                            <a:rPr kumimoji="1" lang="ja-JP" altLang="en-US" sz="1400" b="0" i="0" kern="1200">
                              <a:solidFill>
                                <a:schemeClr val="dk1"/>
                              </a:solidFill>
                              <a:latin typeface="+mn-ea"/>
                              <a:ea typeface="+mn-ea"/>
                              <a:cs typeface="Times New Roman"/>
                            </a:rPr>
                            <a:t>（合成燃料）、バイオマス発電</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蓄電池や送電融通だけでは枯渇するため、大量の化学エネルギー（水素等）を取り崩して耐え抜く広域長周期リスク帯域。</a:t>
                          </a:r>
                        </a:p>
                      </a:txBody>
                      <a:tcPr marL="52142" marR="52142" marT="26071" marB="26071" anchor="ctr"/>
                    </a:tc>
                    <a:extLst>
                      <a:ext uri="{0D108BD9-81ED-4DB2-BD59-A6C34878D82A}">
                        <a16:rowId xmlns:a16="http://schemas.microsoft.com/office/drawing/2014/main" val="3217455596"/>
                      </a:ext>
                    </a:extLst>
                  </a:tr>
                  <a:tr h="935572">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季節帯</a:t>
                          </a:r>
                        </a:p>
                      </a:txBody>
                      <a:tcPr marL="52142" marR="52142" marT="26071" marB="26071" anchor="ctr"/>
                    </a:tc>
                    <a:tc>
                      <a:txBody>
                        <a:bodyPr/>
                        <a:lstStyle/>
                        <a:p>
                          <a:pPr marL="0" indent="0" algn="l" defTabSz="914400" rtl="0" eaLnBrk="1" latinLnBrk="0" hangingPunct="1">
                            <a:buFont typeface="Wingdings" panose="05000000000000000000" pitchFamily="2" charset="2"/>
                            <a:buNone/>
                          </a:pPr>
                          <a:r>
                            <a:rPr kumimoji="1" lang="en-US" altLang="ja-JP" sz="1400" b="0" i="0" kern="1200" dirty="0">
                              <a:solidFill>
                                <a:schemeClr val="dk1"/>
                              </a:solidFill>
                              <a:latin typeface="+mn-ea"/>
                              <a:ea typeface="+mn-ea"/>
                              <a:cs typeface="Times New Roman"/>
                            </a:rPr>
                            <a:t>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indent="0" algn="l" defTabSz="914400" rtl="0" eaLnBrk="1" latinLnBrk="0" hangingPunct="1">
                            <a:buFont typeface="Wingdings" panose="05000000000000000000" pitchFamily="2" charset="2"/>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ヶ月以上）</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夏・冬の需要ピーク格差や、季節間の再エネ発電量の構造的変動</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水素輸入・大型貯蔵、バイオマス利用</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短周期リソースと時間軸が分離しているため相互作用が小さく、該当技術の単独コスト不確実性（</a:t>
                          </a:r>
                          <a14:m>
                            <m:oMath xmlns:m="http://schemas.openxmlformats.org/officeDocument/2006/math">
                              <m:sSub>
                                <m:sSubPr>
                                  <m:ctrlPr>
                                    <a:rPr kumimoji="1" lang="en-US" altLang="ja-JP" sz="1400" b="0" i="1" kern="1200" smtClean="0">
                                      <a:solidFill>
                                        <a:schemeClr val="dk1"/>
                                      </a:solidFill>
                                      <a:latin typeface="Cambria Math" panose="02040503050406030204" pitchFamily="18" charset="0"/>
                                      <a:ea typeface="Times New Roman"/>
                                      <a:cs typeface="Times New Roman"/>
                                    </a:rPr>
                                  </m:ctrlPr>
                                </m:sSubPr>
                                <m:e>
                                  <m:r>
                                    <a:rPr kumimoji="1" lang="en-US" altLang="ja-JP" sz="1400" b="0" i="1" kern="1200" smtClean="0">
                                      <a:solidFill>
                                        <a:schemeClr val="dk1"/>
                                      </a:solidFill>
                                      <a:latin typeface="Cambria Math" panose="02040503050406030204" pitchFamily="18" charset="0"/>
                                      <a:ea typeface="Times New Roman"/>
                                      <a:cs typeface="Times New Roman"/>
                                    </a:rPr>
                                    <m:t>𝑆</m:t>
                                  </m:r>
                                </m:e>
                                <m:sub>
                                  <m:r>
                                    <a:rPr kumimoji="1" lang="en-US" altLang="ja-JP" sz="1400" b="0" i="0" kern="1200" smtClean="0">
                                      <a:solidFill>
                                        <a:schemeClr val="dk1"/>
                                      </a:solidFill>
                                      <a:latin typeface="Cambria Math" panose="02040503050406030204" pitchFamily="18" charset="0"/>
                                      <a:ea typeface="Times New Roman"/>
                                      <a:cs typeface="Times New Roman"/>
                                    </a:rPr>
                                    <m:t>𝑖</m:t>
                                  </m:r>
                                </m:sub>
                              </m:sSub>
                            </m:oMath>
                          </a14:m>
                          <a:r>
                            <a:rPr kumimoji="1" lang="ja-JP" altLang="en-US" sz="1400" b="0" i="0" kern="1200" dirty="0">
                              <a:solidFill>
                                <a:schemeClr val="dk1"/>
                              </a:solidFill>
                              <a:latin typeface="+mn-ea"/>
                              <a:ea typeface="+mn-ea"/>
                              <a:cs typeface="Times New Roman"/>
                            </a:rPr>
                            <a:t>）がそのまま系統リスクを支配。</a:t>
                          </a:r>
                        </a:p>
                      </a:txBody>
                      <a:tcPr marL="52142" marR="52142" marT="26071" marB="26071" anchor="ctr"/>
                    </a:tc>
                    <a:extLst>
                      <a:ext uri="{0D108BD9-81ED-4DB2-BD59-A6C34878D82A}">
                        <a16:rowId xmlns:a16="http://schemas.microsoft.com/office/drawing/2014/main" val="320217070"/>
                      </a:ext>
                    </a:extLst>
                  </a:tr>
                </a:tbl>
              </a:graphicData>
            </a:graphic>
          </p:graphicFrame>
        </mc:Choice>
        <mc:Fallback xmlns="">
          <p:graphicFrame>
            <p:nvGraphicFramePr>
              <p:cNvPr id="7" name="表 6">
                <a:extLst>
                  <a:ext uri="{FF2B5EF4-FFF2-40B4-BE49-F238E27FC236}">
                    <a16:creationId xmlns:a16="http://schemas.microsoft.com/office/drawing/2014/main" id="{F30682C8-91AA-786E-90B5-C46853AED9EF}"/>
                  </a:ext>
                </a:extLst>
              </p:cNvPr>
              <p:cNvGraphicFramePr>
                <a:graphicFrameLocks noGrp="1"/>
              </p:cNvGraphicFramePr>
              <p:nvPr>
                <p:extLst>
                  <p:ext uri="{D42A27DB-BD31-4B8C-83A1-F6EECF244321}">
                    <p14:modId xmlns:p14="http://schemas.microsoft.com/office/powerpoint/2010/main" val="3678566242"/>
                  </p:ext>
                </p:extLst>
              </p:nvPr>
            </p:nvGraphicFramePr>
            <p:xfrm>
              <a:off x="219075" y="914401"/>
              <a:ext cx="10296525" cy="4857692"/>
            </p:xfrm>
            <a:graphic>
              <a:graphicData uri="http://schemas.openxmlformats.org/drawingml/2006/table">
                <a:tbl>
                  <a:tblPr firstRow="1" bandRow="1">
                    <a:tableStyleId>{854B67C7-B280-42D8-B184-0A409CBFCAF9}</a:tableStyleId>
                  </a:tblPr>
                  <a:tblGrid>
                    <a:gridCol w="1405748">
                      <a:extLst>
                        <a:ext uri="{9D8B030D-6E8A-4147-A177-3AD203B41FA5}">
                          <a16:colId xmlns:a16="http://schemas.microsoft.com/office/drawing/2014/main" val="1640815741"/>
                        </a:ext>
                      </a:extLst>
                    </a:gridCol>
                    <a:gridCol w="1440105">
                      <a:extLst>
                        <a:ext uri="{9D8B030D-6E8A-4147-A177-3AD203B41FA5}">
                          <a16:colId xmlns:a16="http://schemas.microsoft.com/office/drawing/2014/main" val="2757899961"/>
                        </a:ext>
                      </a:extLst>
                    </a:gridCol>
                    <a:gridCol w="2358600">
                      <a:extLst>
                        <a:ext uri="{9D8B030D-6E8A-4147-A177-3AD203B41FA5}">
                          <a16:colId xmlns:a16="http://schemas.microsoft.com/office/drawing/2014/main" val="4073873486"/>
                        </a:ext>
                      </a:extLst>
                    </a:gridCol>
                    <a:gridCol w="2188507">
                      <a:extLst>
                        <a:ext uri="{9D8B030D-6E8A-4147-A177-3AD203B41FA5}">
                          <a16:colId xmlns:a16="http://schemas.microsoft.com/office/drawing/2014/main" val="743584510"/>
                        </a:ext>
                      </a:extLst>
                    </a:gridCol>
                    <a:gridCol w="2903565">
                      <a:extLst>
                        <a:ext uri="{9D8B030D-6E8A-4147-A177-3AD203B41FA5}">
                          <a16:colId xmlns:a16="http://schemas.microsoft.com/office/drawing/2014/main" val="2422390879"/>
                        </a:ext>
                      </a:extLst>
                    </a:gridCol>
                  </a:tblGrid>
                  <a:tr h="478862">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帯域名</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時間スケール</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主な気象・需給変動現象</a:t>
                          </a:r>
                        </a:p>
                      </a:txBody>
                      <a:tcPr marL="52142" marR="52142" marT="26071" marB="26071" anchor="ctr"/>
                    </a:tc>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主な対応柔軟性リソース</a:t>
                          </a:r>
                        </a:p>
                      </a:txBody>
                      <a:tcPr marL="52142" marR="52142" marT="26071" marB="26071"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系統評価上の特徴（</a:t>
                          </a:r>
                          <a:r>
                            <a:rPr kumimoji="1" lang="en-US" altLang="ja-JP" sz="1400" b="1" i="0" kern="1200" dirty="0">
                              <a:solidFill>
                                <a:schemeClr val="bg1"/>
                              </a:solidFill>
                              <a:latin typeface="+mn-ea"/>
                              <a:ea typeface="+mn-ea"/>
                              <a:cs typeface="Times New Roman"/>
                            </a:rPr>
                            <a:t>Sobol</a:t>
                          </a:r>
                          <a:r>
                            <a:rPr kumimoji="1" lang="ja-JP" altLang="en-US" sz="1400" b="1" i="0" kern="1200" dirty="0">
                              <a:solidFill>
                                <a:schemeClr val="bg1"/>
                              </a:solidFill>
                              <a:latin typeface="+mn-ea"/>
                              <a:ea typeface="+mn-ea"/>
                              <a:cs typeface="Times New Roman"/>
                            </a:rPr>
                            <a:t>感度特性）</a:t>
                          </a:r>
                        </a:p>
                      </a:txBody>
                      <a:tcPr marL="52142" marR="52142" marT="26071" marB="26071" anchor="ctr"/>
                    </a:tc>
                    <a:extLst>
                      <a:ext uri="{0D108BD9-81ED-4DB2-BD59-A6C34878D82A}">
                        <a16:rowId xmlns:a16="http://schemas.microsoft.com/office/drawing/2014/main" val="972087235"/>
                      </a:ext>
                    </a:extLst>
                  </a:tr>
                  <a:tr h="692222">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サブ日内帯</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&lt; 12</a:t>
                          </a:r>
                          <a:r>
                            <a:rPr kumimoji="1" lang="ja-JP" altLang="en-US" sz="1400" b="0" i="0" kern="1200">
                              <a:solidFill>
                                <a:schemeClr val="dk1"/>
                              </a:solidFill>
                              <a:latin typeface="+mn-ea"/>
                              <a:ea typeface="+mn-ea"/>
                              <a:cs typeface="Times New Roman"/>
                            </a:rPr>
                            <a:t>時間</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太陽光の急変（雲遮り）や短時間の需要ランプ変動</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定置用蓄電池（短周期）、</a:t>
                          </a: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a:t>
                          </a:r>
                          <a:r>
                            <a:rPr kumimoji="1" lang="en-US" altLang="ja-JP" sz="1400" b="0" i="0" kern="1200">
                              <a:solidFill>
                                <a:schemeClr val="dk1"/>
                              </a:solidFill>
                              <a:latin typeface="+mn-ea"/>
                              <a:ea typeface="+mn-ea"/>
                              <a:cs typeface="Times New Roman"/>
                            </a:rPr>
                            <a:t>EV</a:t>
                          </a:r>
                          <a:r>
                            <a:rPr kumimoji="1" lang="ja-JP" altLang="en-US" sz="1400" b="0" i="0" kern="1200">
                              <a:solidFill>
                                <a:schemeClr val="dk1"/>
                              </a:solidFill>
                              <a:latin typeface="+mn-ea"/>
                              <a:ea typeface="+mn-ea"/>
                              <a:cs typeface="Times New Roman"/>
                            </a:rPr>
                            <a:t>）、水電解槽（高速応答）</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周波数調整や短時間の需給ギャップに対応。蓄電池と</a:t>
                          </a:r>
                          <a:r>
                            <a:rPr kumimoji="1" lang="en-US" altLang="ja-JP" sz="1400" b="0" i="0" kern="1200" dirty="0">
                              <a:solidFill>
                                <a:schemeClr val="dk1"/>
                              </a:solidFill>
                              <a:latin typeface="+mn-ea"/>
                              <a:ea typeface="+mn-ea"/>
                              <a:cs typeface="Times New Roman"/>
                            </a:rPr>
                            <a:t>V1G</a:t>
                          </a:r>
                          <a:r>
                            <a:rPr kumimoji="1" lang="ja-JP" altLang="en-US" sz="1400" b="0" i="0" kern="1200" dirty="0">
                              <a:solidFill>
                                <a:schemeClr val="dk1"/>
                              </a:solidFill>
                              <a:latin typeface="+mn-ea"/>
                              <a:ea typeface="+mn-ea"/>
                              <a:cs typeface="Times New Roman"/>
                            </a:rPr>
                            <a:t>の初期応答が機能。</a:t>
                          </a:r>
                        </a:p>
                      </a:txBody>
                      <a:tcPr marL="52142" marR="52142" marT="26071" marB="26071" anchor="ctr"/>
                    </a:tc>
                    <a:extLst>
                      <a:ext uri="{0D108BD9-81ED-4DB2-BD59-A6C34878D82A}">
                        <a16:rowId xmlns:a16="http://schemas.microsoft.com/office/drawing/2014/main" val="988282298"/>
                      </a:ext>
                    </a:extLst>
                  </a:tr>
                  <a:tr h="922727">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日次帯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12〜36</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1〜1.5</a:t>
                          </a:r>
                          <a:r>
                            <a:rPr kumimoji="1" lang="ja-JP" altLang="en-US" sz="1400" b="0" i="0" kern="1200" dirty="0">
                              <a:solidFill>
                                <a:schemeClr val="dk1"/>
                              </a:solidFill>
                              <a:latin typeface="+mn-ea"/>
                              <a:ea typeface="+mn-ea"/>
                              <a:cs typeface="Times New Roman"/>
                            </a:rPr>
                            <a:t>日）</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昼間の太陽光余剰電力の発生、夜間需要、日内ピークシフト</a:t>
                          </a:r>
                        </a:p>
                      </a:txBody>
                      <a:tcPr marL="52142" marR="52142" marT="26071" marB="26071" anchor="ctr"/>
                    </a:tc>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V1G</a:t>
                          </a:r>
                          <a:r>
                            <a:rPr kumimoji="1" lang="ja-JP" altLang="en-US" sz="1400" b="0" i="0" kern="1200">
                              <a:solidFill>
                                <a:schemeClr val="dk1"/>
                              </a:solidFill>
                              <a:latin typeface="+mn-ea"/>
                              <a:ea typeface="+mn-ea"/>
                              <a:cs typeface="Times New Roman"/>
                            </a:rPr>
                            <a:t>、定置用蓄電池、水電解槽</a:t>
                          </a:r>
                        </a:p>
                      </a:txBody>
                      <a:tcPr marL="52142" marR="52142" marT="26071" marB="26071" anchor="ctr"/>
                    </a:tc>
                    <a:tc>
                      <a:txBody>
                        <a:bodyPr/>
                        <a:lstStyle/>
                        <a:p>
                          <a:endParaRPr lang="ja-JP"/>
                        </a:p>
                      </a:txBody>
                      <a:tcPr marL="52142" marR="52142" marT="26071" marB="26071" anchor="ctr">
                        <a:blipFill>
                          <a:blip r:embed="rId2"/>
                          <a:stretch>
                            <a:fillRect l="-254507" t="-129605" r="-1048" b="-305263"/>
                          </a:stretch>
                        </a:blipFill>
                      </a:tcPr>
                    </a:tc>
                    <a:extLst>
                      <a:ext uri="{0D108BD9-81ED-4DB2-BD59-A6C34878D82A}">
                        <a16:rowId xmlns:a16="http://schemas.microsoft.com/office/drawing/2014/main" val="692508105"/>
                      </a:ext>
                    </a:extLst>
                  </a:tr>
                  <a:tr h="922727">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総観規模帯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36〜192</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3</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週間）</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低気圧・高気圧の移動に伴う数日周期の天候変化（無照・無風）</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地域間送電線（広域融通）、中周期蓄電</a:t>
                          </a:r>
                        </a:p>
                      </a:txBody>
                      <a:tcPr marL="52142" marR="52142" marT="26071" marB="26071" anchor="ctr"/>
                    </a:tc>
                    <a:tc>
                      <a:txBody>
                        <a:bodyPr/>
                        <a:lstStyle/>
                        <a:p>
                          <a:endParaRPr lang="ja-JP"/>
                        </a:p>
                      </a:txBody>
                      <a:tcPr marL="52142" marR="52142" marT="26071" marB="26071" anchor="ctr">
                        <a:blipFill>
                          <a:blip r:embed="rId2"/>
                          <a:stretch>
                            <a:fillRect l="-254507" t="-231126" r="-1048" b="-207285"/>
                          </a:stretch>
                        </a:blipFill>
                      </a:tcPr>
                    </a:tc>
                    <a:extLst>
                      <a:ext uri="{0D108BD9-81ED-4DB2-BD59-A6C34878D82A}">
                        <a16:rowId xmlns:a16="http://schemas.microsoft.com/office/drawing/2014/main" val="2649585087"/>
                      </a:ext>
                    </a:extLst>
                  </a:tr>
                  <a:tr h="905582">
                    <a:tc>
                      <a:txBody>
                        <a:bodyPr/>
                        <a:lstStyle/>
                        <a:p>
                          <a:pPr marL="0" algn="l" defTabSz="914400" rtl="0" eaLnBrk="1" latinLnBrk="0" hangingPunct="1">
                            <a:buNone/>
                          </a:pPr>
                          <a:r>
                            <a:rPr kumimoji="1" lang="en-US" altLang="ja-JP" sz="1400" b="0" i="0" kern="1200">
                              <a:solidFill>
                                <a:schemeClr val="dk1"/>
                              </a:solidFill>
                              <a:latin typeface="+mn-ea"/>
                              <a:ea typeface="+mn-ea"/>
                              <a:cs typeface="Times New Roman"/>
                            </a:rPr>
                            <a:t>Dunkelflaute</a:t>
                          </a:r>
                          <a:r>
                            <a:rPr kumimoji="1" lang="ja-JP" altLang="en-US" sz="1400" b="0" i="0" kern="1200">
                              <a:solidFill>
                                <a:schemeClr val="dk1"/>
                              </a:solidFill>
                              <a:latin typeface="+mn-ea"/>
                              <a:ea typeface="+mn-ea"/>
                              <a:cs typeface="Times New Roman"/>
                            </a:rPr>
                            <a:t>帯</a:t>
                          </a:r>
                        </a:p>
                      </a:txBody>
                      <a:tcPr marL="52142" marR="52142" marT="26071" marB="26071" anchor="ctr"/>
                    </a:tc>
                    <a:tc>
                      <a:txBody>
                        <a:bodyPr/>
                        <a:lstStyle/>
                        <a:p>
                          <a:pPr marL="0" algn="l" defTabSz="914400" rtl="0" eaLnBrk="1" latinLnBrk="0" hangingPunct="1">
                            <a:buNone/>
                          </a:pPr>
                          <a:r>
                            <a:rPr kumimoji="1" lang="en-US" altLang="ja-JP" sz="1400" b="0" i="0" kern="1200" dirty="0">
                              <a:solidFill>
                                <a:schemeClr val="dk1"/>
                              </a:solidFill>
                              <a:latin typeface="+mn-ea"/>
                              <a:ea typeface="+mn-ea"/>
                              <a:cs typeface="Times New Roman"/>
                            </a:rPr>
                            <a:t>192〜720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algn="l" defTabSz="914400" rtl="0" eaLnBrk="1" latinLnBrk="0" hangingPunct="1">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8</a:t>
                          </a:r>
                          <a:r>
                            <a:rPr kumimoji="1" lang="ja-JP" altLang="en-US" sz="1400" b="0" i="0" kern="1200" dirty="0">
                              <a:solidFill>
                                <a:schemeClr val="dk1"/>
                              </a:solidFill>
                              <a:latin typeface="+mn-ea"/>
                              <a:ea typeface="+mn-ea"/>
                              <a:cs typeface="Times New Roman"/>
                            </a:rPr>
                            <a:t>日</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広域で高気圧が停滞し、太陽光・風力が同時に落ち込む長期間の無照・無風</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水素貯蔵、</a:t>
                          </a:r>
                          <a:r>
                            <a:rPr kumimoji="1" lang="en-US" altLang="ja-JP" sz="1400" b="0" i="0" kern="1200">
                              <a:solidFill>
                                <a:schemeClr val="dk1"/>
                              </a:solidFill>
                              <a:latin typeface="+mn-ea"/>
                              <a:ea typeface="+mn-ea"/>
                              <a:cs typeface="Times New Roman"/>
                            </a:rPr>
                            <a:t>e-fuel</a:t>
                          </a:r>
                          <a:r>
                            <a:rPr kumimoji="1" lang="ja-JP" altLang="en-US" sz="1400" b="0" i="0" kern="1200">
                              <a:solidFill>
                                <a:schemeClr val="dk1"/>
                              </a:solidFill>
                              <a:latin typeface="+mn-ea"/>
                              <a:ea typeface="+mn-ea"/>
                              <a:cs typeface="Times New Roman"/>
                            </a:rPr>
                            <a:t>（合成燃料）、バイオマス発電</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蓄電池や送電融通だけでは枯渇するため、大量の化学エネルギー（水素等）を取り崩して耐え抜く広域長周期リスク帯域。</a:t>
                          </a:r>
                        </a:p>
                      </a:txBody>
                      <a:tcPr marL="52142" marR="52142" marT="26071" marB="26071" anchor="ctr"/>
                    </a:tc>
                    <a:extLst>
                      <a:ext uri="{0D108BD9-81ED-4DB2-BD59-A6C34878D82A}">
                        <a16:rowId xmlns:a16="http://schemas.microsoft.com/office/drawing/2014/main" val="3217455596"/>
                      </a:ext>
                    </a:extLst>
                  </a:tr>
                  <a:tr h="935572">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季節帯</a:t>
                          </a:r>
                        </a:p>
                      </a:txBody>
                      <a:tcPr marL="52142" marR="52142" marT="26071" marB="26071" anchor="ctr"/>
                    </a:tc>
                    <a:tc>
                      <a:txBody>
                        <a:bodyPr/>
                        <a:lstStyle/>
                        <a:p>
                          <a:pPr marL="0" indent="0" algn="l" defTabSz="914400" rtl="0" eaLnBrk="1" latinLnBrk="0" hangingPunct="1">
                            <a:buFont typeface="Wingdings" panose="05000000000000000000" pitchFamily="2" charset="2"/>
                            <a:buNone/>
                          </a:pPr>
                          <a:r>
                            <a:rPr kumimoji="1" lang="en-US" altLang="ja-JP" sz="1400" b="0" i="0" kern="1200" dirty="0">
                              <a:solidFill>
                                <a:schemeClr val="dk1"/>
                              </a:solidFill>
                              <a:latin typeface="+mn-ea"/>
                              <a:ea typeface="+mn-ea"/>
                              <a:cs typeface="Times New Roman"/>
                            </a:rPr>
                            <a:t>720</a:t>
                          </a:r>
                          <a:r>
                            <a:rPr kumimoji="1" lang="ja-JP" altLang="en-US" sz="1400" b="0" i="0" kern="1200" dirty="0">
                              <a:solidFill>
                                <a:schemeClr val="dk1"/>
                              </a:solidFill>
                              <a:latin typeface="+mn-ea"/>
                              <a:ea typeface="+mn-ea"/>
                              <a:cs typeface="Times New Roman"/>
                            </a:rPr>
                            <a:t>時間</a:t>
                          </a:r>
                          <a:endParaRPr kumimoji="1" lang="en-US" altLang="ja-JP" sz="1400" b="0" i="0" kern="1200" dirty="0">
                            <a:solidFill>
                              <a:schemeClr val="dk1"/>
                            </a:solidFill>
                            <a:latin typeface="+mn-ea"/>
                            <a:ea typeface="+mn-ea"/>
                            <a:cs typeface="Times New Roman"/>
                          </a:endParaRPr>
                        </a:p>
                        <a:p>
                          <a:pPr marL="0" indent="0" algn="l" defTabSz="914400" rtl="0" eaLnBrk="1" latinLnBrk="0" hangingPunct="1">
                            <a:buFont typeface="Wingdings" panose="05000000000000000000" pitchFamily="2" charset="2"/>
                            <a:buNone/>
                          </a:pPr>
                          <a:r>
                            <a:rPr kumimoji="1" lang="ja-JP" altLang="en-US" sz="1400" b="0" i="0" kern="1200" dirty="0">
                              <a:solidFill>
                                <a:schemeClr val="dk1"/>
                              </a:solidFill>
                              <a:latin typeface="+mn-ea"/>
                              <a:ea typeface="+mn-ea"/>
                              <a:cs typeface="Times New Roman"/>
                            </a:rPr>
                            <a:t>（約</a:t>
                          </a:r>
                          <a:r>
                            <a:rPr kumimoji="1" lang="en-US" altLang="ja-JP" sz="1400" b="0" i="0" kern="1200" dirty="0">
                              <a:solidFill>
                                <a:schemeClr val="dk1"/>
                              </a:solidFill>
                              <a:latin typeface="+mn-ea"/>
                              <a:ea typeface="+mn-ea"/>
                              <a:cs typeface="Times New Roman"/>
                            </a:rPr>
                            <a:t>1</a:t>
                          </a:r>
                          <a:r>
                            <a:rPr kumimoji="1" lang="ja-JP" altLang="en-US" sz="1400" b="0" i="0" kern="1200" dirty="0">
                              <a:solidFill>
                                <a:schemeClr val="dk1"/>
                              </a:solidFill>
                              <a:latin typeface="+mn-ea"/>
                              <a:ea typeface="+mn-ea"/>
                              <a:cs typeface="Times New Roman"/>
                            </a:rPr>
                            <a:t>ヶ月以上）</a:t>
                          </a:r>
                        </a:p>
                      </a:txBody>
                      <a:tcPr marL="52142" marR="52142" marT="26071" marB="26071" anchor="ctr"/>
                    </a:tc>
                    <a:tc>
                      <a:txBody>
                        <a:bodyPr/>
                        <a:lstStyle/>
                        <a:p>
                          <a:pPr marL="0" algn="l" defTabSz="914400" rtl="0" eaLnBrk="1" latinLnBrk="0" hangingPunct="1">
                            <a:buNone/>
                          </a:pPr>
                          <a:r>
                            <a:rPr kumimoji="1" lang="ja-JP" altLang="en-US" sz="1400" b="0" i="0" kern="1200">
                              <a:solidFill>
                                <a:schemeClr val="dk1"/>
                              </a:solidFill>
                              <a:latin typeface="+mn-ea"/>
                              <a:ea typeface="+mn-ea"/>
                              <a:cs typeface="Times New Roman"/>
                            </a:rPr>
                            <a:t>夏・冬の需要ピーク格差や、季節間の再エネ発電量の構造的変動</a:t>
                          </a:r>
                        </a:p>
                      </a:txBody>
                      <a:tcPr marL="52142" marR="52142" marT="26071" marB="26071" anchor="ctr"/>
                    </a:tc>
                    <a:tc>
                      <a:txBody>
                        <a:bodyPr/>
                        <a:lstStyle/>
                        <a:p>
                          <a:pPr marL="0" algn="l" defTabSz="914400" rtl="0" eaLnBrk="1" latinLnBrk="0" hangingPunct="1">
                            <a:buNone/>
                          </a:pPr>
                          <a:r>
                            <a:rPr kumimoji="1" lang="ja-JP" altLang="en-US" sz="1400" b="0" i="0" kern="1200" dirty="0">
                              <a:solidFill>
                                <a:schemeClr val="dk1"/>
                              </a:solidFill>
                              <a:latin typeface="+mn-ea"/>
                              <a:ea typeface="+mn-ea"/>
                              <a:cs typeface="Times New Roman"/>
                            </a:rPr>
                            <a:t>水素輸入・大型貯蔵、バイオマス利用</a:t>
                          </a:r>
                        </a:p>
                      </a:txBody>
                      <a:tcPr marL="52142" marR="52142" marT="26071" marB="26071" anchor="ctr"/>
                    </a:tc>
                    <a:tc>
                      <a:txBody>
                        <a:bodyPr/>
                        <a:lstStyle/>
                        <a:p>
                          <a:endParaRPr lang="ja-JP"/>
                        </a:p>
                      </a:txBody>
                      <a:tcPr marL="52142" marR="52142" marT="26071" marB="26071" anchor="ctr">
                        <a:blipFill>
                          <a:blip r:embed="rId2"/>
                          <a:stretch>
                            <a:fillRect l="-254507" t="-424183" r="-1048" b="-7190"/>
                          </a:stretch>
                        </a:blipFill>
                      </a:tcPr>
                    </a:tc>
                    <a:extLst>
                      <a:ext uri="{0D108BD9-81ED-4DB2-BD59-A6C34878D82A}">
                        <a16:rowId xmlns:a16="http://schemas.microsoft.com/office/drawing/2014/main" val="320217070"/>
                      </a:ext>
                    </a:extLst>
                  </a:tr>
                </a:tbl>
              </a:graphicData>
            </a:graphic>
          </p:graphicFrame>
        </mc:Fallback>
      </mc:AlternateContent>
    </p:spTree>
    <p:extLst>
      <p:ext uri="{BB962C8B-B14F-4D97-AF65-F5344CB8AC3E}">
        <p14:creationId xmlns:p14="http://schemas.microsoft.com/office/powerpoint/2010/main" val="22409317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0752B7BF-D75C-1079-3E4C-D6D71CC8204A}"/>
              </a:ext>
            </a:extLst>
          </p:cNvPr>
          <p:cNvSpPr>
            <a:spLocks noGrp="1"/>
          </p:cNvSpPr>
          <p:nvPr>
            <p:ph type="title"/>
          </p:nvPr>
        </p:nvSpPr>
        <p:spPr/>
        <p:txBody>
          <a:bodyPr/>
          <a:lstStyle/>
          <a:p>
            <a:r>
              <a:rPr lang="ja-JP" altLang="ja-JP" sz="3200" b="1" dirty="0"/>
              <a:t>M</a:t>
            </a:r>
            <a:r>
              <a:rPr lang="ja-JP" altLang="ja-JP" sz="3200" dirty="0"/>
              <a:t>aximum </a:t>
            </a:r>
            <a:r>
              <a:rPr lang="ja-JP" altLang="ja-JP" sz="3200" b="1" dirty="0"/>
              <a:t>O</a:t>
            </a:r>
            <a:r>
              <a:rPr lang="ja-JP" altLang="ja-JP" sz="3200" dirty="0"/>
              <a:t>verlap </a:t>
            </a:r>
            <a:r>
              <a:rPr lang="ja-JP" altLang="ja-JP" sz="3200" b="1" dirty="0"/>
              <a:t>D</a:t>
            </a:r>
            <a:r>
              <a:rPr lang="ja-JP" altLang="ja-JP" sz="3200" dirty="0"/>
              <a:t>iscrete </a:t>
            </a:r>
            <a:r>
              <a:rPr lang="ja-JP" altLang="ja-JP" sz="3200" b="1" dirty="0"/>
              <a:t>W</a:t>
            </a:r>
            <a:r>
              <a:rPr lang="ja-JP" altLang="ja-JP" sz="3200" dirty="0"/>
              <a:t>avelet </a:t>
            </a:r>
            <a:r>
              <a:rPr lang="ja-JP" altLang="ja-JP" sz="3200" b="1" dirty="0"/>
              <a:t>T</a:t>
            </a:r>
            <a:r>
              <a:rPr lang="ja-JP" altLang="ja-JP" sz="3200" dirty="0"/>
              <a:t>ransform</a:t>
            </a:r>
            <a:endParaRPr lang="ja-JP" altLang="en-US" sz="3200" dirty="0"/>
          </a:p>
        </p:txBody>
      </p:sp>
      <p:sp>
        <p:nvSpPr>
          <p:cNvPr id="7" name="テキスト プレースホルダー 6">
            <a:extLst>
              <a:ext uri="{FF2B5EF4-FFF2-40B4-BE49-F238E27FC236}">
                <a16:creationId xmlns:a16="http://schemas.microsoft.com/office/drawing/2014/main" id="{84085115-A3BF-908B-010A-052660167421}"/>
              </a:ext>
            </a:extLst>
          </p:cNvPr>
          <p:cNvSpPr>
            <a:spLocks noGrp="1"/>
          </p:cNvSpPr>
          <p:nvPr>
            <p:ph type="body" sz="quarter" idx="12"/>
          </p:nvPr>
        </p:nvSpPr>
        <p:spPr>
          <a:xfrm>
            <a:off x="320671" y="5629618"/>
            <a:ext cx="10004425" cy="1854319"/>
          </a:xfrm>
        </p:spPr>
        <p:txBody>
          <a:bodyPr/>
          <a:lstStyle/>
          <a:p>
            <a:r>
              <a:rPr lang="ja-JP" altLang="en-US" dirty="0"/>
              <a:t>最大重複離散ウェーブレット変換（</a:t>
            </a:r>
            <a:r>
              <a:rPr lang="en-US" altLang="ja-JP" dirty="0"/>
              <a:t>Maximum Overlap Discrete Wavelet Transform, MODWT </a:t>
            </a:r>
            <a:r>
              <a:rPr lang="ja-JP" altLang="en-US" dirty="0"/>
              <a:t>）</a:t>
            </a:r>
          </a:p>
        </p:txBody>
      </p:sp>
      <p:pic>
        <p:nvPicPr>
          <p:cNvPr id="3" name="Picture 2">
            <a:extLst>
              <a:ext uri="{FF2B5EF4-FFF2-40B4-BE49-F238E27FC236}">
                <a16:creationId xmlns:a16="http://schemas.microsoft.com/office/drawing/2014/main" id="{496AB1B1-77B1-234A-6F22-DC74DAC0460D}"/>
              </a:ext>
            </a:extLst>
          </p:cNvPr>
          <p:cNvPicPr>
            <a:picLocks noChangeAspect="1"/>
          </p:cNvPicPr>
          <p:nvPr/>
        </p:nvPicPr>
        <p:blipFill>
          <a:blip r:embed="rId2"/>
          <a:srcRect l="1847" t="10661" r="1959" b="15099"/>
          <a:stretch>
            <a:fillRect/>
          </a:stretch>
        </p:blipFill>
        <p:spPr>
          <a:xfrm>
            <a:off x="766539" y="1117600"/>
            <a:ext cx="9220368" cy="3969404"/>
          </a:xfrm>
          <a:prstGeom prst="rect">
            <a:avLst/>
          </a:prstGeom>
        </p:spPr>
      </p:pic>
    </p:spTree>
    <p:extLst>
      <p:ext uri="{BB962C8B-B14F-4D97-AF65-F5344CB8AC3E}">
        <p14:creationId xmlns:p14="http://schemas.microsoft.com/office/powerpoint/2010/main" val="27762773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ECEABD6-8064-D487-89CB-4E1C641EE0B4}"/>
              </a:ext>
            </a:extLst>
          </p:cNvPr>
          <p:cNvSpPr>
            <a:spLocks noGrp="1"/>
          </p:cNvSpPr>
          <p:nvPr>
            <p:ph type="title"/>
          </p:nvPr>
        </p:nvSpPr>
        <p:spPr/>
        <p:txBody>
          <a:bodyPr/>
          <a:lstStyle/>
          <a:p>
            <a:r>
              <a:rPr lang="zh-TW" altLang="en-US" dirty="0">
                <a:latin typeface="+mn-ea"/>
              </a:rPr>
              <a:t>時間帯域別</a:t>
            </a:r>
            <a:r>
              <a:rPr lang="en-US" altLang="zh-TW" dirty="0">
                <a:latin typeface="+mn-ea"/>
              </a:rPr>
              <a:t>SOBOL</a:t>
            </a:r>
            <a:r>
              <a:rPr lang="zh-TW" altLang="en-US" dirty="0">
                <a:latin typeface="+mn-ea"/>
              </a:rPr>
              <a:t>感度分析</a:t>
            </a:r>
            <a:endParaRPr kumimoji="1" lang="ja-JP" altLang="en-US" dirty="0"/>
          </a:p>
        </p:txBody>
      </p:sp>
      <p:sp>
        <p:nvSpPr>
          <p:cNvPr id="5" name="テキスト プレースホルダー 4">
            <a:extLst>
              <a:ext uri="{FF2B5EF4-FFF2-40B4-BE49-F238E27FC236}">
                <a16:creationId xmlns:a16="http://schemas.microsoft.com/office/drawing/2014/main" id="{5BDA2813-DAF3-7A5D-6174-1F0AE2BD6F67}"/>
              </a:ext>
            </a:extLst>
          </p:cNvPr>
          <p:cNvSpPr>
            <a:spLocks noGrp="1"/>
          </p:cNvSpPr>
          <p:nvPr>
            <p:ph type="body" sz="quarter" idx="12"/>
          </p:nvPr>
        </p:nvSpPr>
        <p:spPr/>
        <p:txBody>
          <a:bodyPr>
            <a:normAutofit fontScale="92500" lnSpcReduction="10000"/>
          </a:bodyPr>
          <a:lstStyle/>
          <a:p>
            <a:r>
              <a:rPr lang="en-US" altLang="ja-JP" dirty="0"/>
              <a:t>【</a:t>
            </a:r>
            <a:r>
              <a:rPr lang="ja-JP" altLang="en-US" dirty="0"/>
              <a:t>代替関係（競合）</a:t>
            </a:r>
            <a:r>
              <a:rPr lang="en-US" altLang="ja-JP" dirty="0"/>
              <a:t>】 Substitutes</a:t>
            </a:r>
          </a:p>
          <a:p>
            <a:pPr lvl="1"/>
            <a:r>
              <a:rPr lang="ja-JP" altLang="en-US" dirty="0"/>
              <a:t>数理的判定条件</a:t>
            </a:r>
            <a:endParaRPr lang="en-US" altLang="ja-JP" dirty="0"/>
          </a:p>
          <a:p>
            <a:pPr lvl="2"/>
            <a:r>
              <a:rPr lang="ja-JP" altLang="en-US" dirty="0"/>
              <a:t>同一周波数帯において両者の主効果 </a:t>
            </a:r>
            <a:r>
              <a:rPr lang="en-US" altLang="ja-JP" dirty="0"/>
              <a:t>Sᵢ(b) </a:t>
            </a:r>
            <a:r>
              <a:rPr lang="ja-JP" altLang="en-US" dirty="0"/>
              <a:t>が大きい</a:t>
            </a:r>
            <a:endParaRPr lang="en-US" altLang="ja-JP" dirty="0"/>
          </a:p>
          <a:p>
            <a:pPr lvl="2"/>
            <a:r>
              <a:rPr lang="en-US" altLang="ja-JP" dirty="0"/>
              <a:t>2</a:t>
            </a:r>
            <a:r>
              <a:rPr lang="ja-JP" altLang="en-US" dirty="0"/>
              <a:t>次交差項の多項式係数が負 </a:t>
            </a:r>
            <a:r>
              <a:rPr lang="en-US" altLang="ja-JP" dirty="0"/>
              <a:t>(cᵢⱼ &lt; 0)</a:t>
            </a:r>
          </a:p>
          <a:p>
            <a:pPr lvl="1"/>
            <a:r>
              <a:rPr lang="ja-JP" altLang="en-US" dirty="0"/>
              <a:t>物理的メカニズム</a:t>
            </a:r>
          </a:p>
          <a:p>
            <a:pPr lvl="2"/>
            <a:r>
              <a:rPr lang="ja-JP" altLang="en-US" dirty="0"/>
              <a:t>同じ時間スケールで</a:t>
            </a:r>
            <a:r>
              <a:rPr lang="en-US" altLang="ja-JP" dirty="0"/>
              <a:t>『</a:t>
            </a:r>
            <a:r>
              <a:rPr lang="ja-JP" altLang="en-US" dirty="0"/>
              <a:t>全く同じ物理仕事（例</a:t>
            </a:r>
            <a:r>
              <a:rPr lang="en-US" altLang="ja-JP" dirty="0"/>
              <a:t>: </a:t>
            </a:r>
            <a:r>
              <a:rPr lang="ja-JP" altLang="en-US" dirty="0"/>
              <a:t>昼間の余剰電力吸収）</a:t>
            </a:r>
            <a:r>
              <a:rPr lang="en-US" altLang="ja-JP" dirty="0"/>
              <a:t>』</a:t>
            </a:r>
            <a:r>
              <a:rPr lang="ja-JP" altLang="en-US" dirty="0"/>
              <a:t>を競い合う。片方が稼働して余剰電力を消費すると、もう片方が提供できる追加</a:t>
            </a:r>
            <a:r>
              <a:rPr lang="en-US" altLang="ja-JP" dirty="0"/>
              <a:t>1</a:t>
            </a:r>
            <a:r>
              <a:rPr lang="ja-JP" altLang="en-US" dirty="0"/>
              <a:t>単位の影の価格（限界価値）が低下する。</a:t>
            </a:r>
          </a:p>
          <a:p>
            <a:pPr lvl="1"/>
            <a:r>
              <a:rPr lang="ja-JP" altLang="en-US" dirty="0"/>
              <a:t>代表的技術ペア</a:t>
            </a:r>
            <a:endParaRPr lang="en-US" altLang="ja-JP" dirty="0"/>
          </a:p>
          <a:p>
            <a:pPr lvl="2"/>
            <a:r>
              <a:rPr lang="en-US" altLang="ja-JP" dirty="0"/>
              <a:t>V1G</a:t>
            </a:r>
            <a:r>
              <a:rPr lang="ja-JP" altLang="en-US" dirty="0"/>
              <a:t>（</a:t>
            </a:r>
            <a:r>
              <a:rPr lang="en-US" altLang="ja-JP" dirty="0"/>
              <a:t>EV</a:t>
            </a:r>
            <a:r>
              <a:rPr lang="ja-JP" altLang="en-US" dirty="0"/>
              <a:t>スマート充電） </a:t>
            </a:r>
            <a:r>
              <a:rPr lang="en-US" altLang="ja-JP" dirty="0"/>
              <a:t>× </a:t>
            </a:r>
            <a:r>
              <a:rPr lang="ja-JP" altLang="en-US" dirty="0"/>
              <a:t>定置用蓄電池</a:t>
            </a:r>
            <a:endParaRPr lang="en-US" altLang="ja-JP" dirty="0"/>
          </a:p>
          <a:p>
            <a:pPr lvl="2"/>
            <a:r>
              <a:rPr lang="en-US" altLang="ja-JP" dirty="0"/>
              <a:t>V1G × </a:t>
            </a:r>
            <a:r>
              <a:rPr lang="ja-JP" altLang="en-US" dirty="0"/>
              <a:t>水電解槽（水素製造）</a:t>
            </a:r>
            <a:endParaRPr lang="en-US" altLang="ja-JP" dirty="0"/>
          </a:p>
          <a:p>
            <a:pPr lvl="2"/>
            <a:r>
              <a:rPr lang="ja-JP" altLang="en-US" dirty="0"/>
              <a:t>定置用蓄電池 </a:t>
            </a:r>
            <a:r>
              <a:rPr lang="en-US" altLang="ja-JP" dirty="0"/>
              <a:t>× </a:t>
            </a:r>
            <a:r>
              <a:rPr lang="ja-JP" altLang="en-US" dirty="0"/>
              <a:t>水電解槽</a:t>
            </a:r>
            <a:endParaRPr lang="en-US" altLang="ja-JP" dirty="0"/>
          </a:p>
          <a:p>
            <a:r>
              <a:rPr lang="en-US" altLang="ja-JP" dirty="0"/>
              <a:t>【</a:t>
            </a:r>
            <a:r>
              <a:rPr lang="ja-JP" altLang="en-US" dirty="0"/>
              <a:t>相補関係（補完）</a:t>
            </a:r>
            <a:r>
              <a:rPr lang="en-US" altLang="ja-JP" dirty="0"/>
              <a:t>】 Complements</a:t>
            </a:r>
          </a:p>
          <a:p>
            <a:pPr lvl="1"/>
            <a:r>
              <a:rPr lang="ja-JP" altLang="en-US" dirty="0"/>
              <a:t>数理的判定条件</a:t>
            </a:r>
          </a:p>
          <a:p>
            <a:pPr lvl="2"/>
            <a:r>
              <a:rPr lang="ja-JP" altLang="en-US" dirty="0"/>
              <a:t>主効果 </a:t>
            </a:r>
            <a:r>
              <a:rPr lang="en-US" altLang="ja-JP" dirty="0"/>
              <a:t>Sᵢ(b) </a:t>
            </a:r>
            <a:r>
              <a:rPr lang="ja-JP" altLang="en-US" dirty="0"/>
              <a:t>のピーク帯域が異なる（帯域分離）</a:t>
            </a:r>
            <a:br>
              <a:rPr lang="ja-JP" altLang="en-US" dirty="0"/>
            </a:br>
            <a:r>
              <a:rPr lang="ja-JP" altLang="en-US" dirty="0"/>
              <a:t>・または同一帯域で</a:t>
            </a:r>
            <a:r>
              <a:rPr lang="en-US" altLang="ja-JP" dirty="0"/>
              <a:t>2</a:t>
            </a:r>
            <a:r>
              <a:rPr lang="ja-JP" altLang="en-US" dirty="0"/>
              <a:t>次交差項の多項式係数が正 </a:t>
            </a:r>
            <a:r>
              <a:rPr lang="en-US" altLang="ja-JP" dirty="0"/>
              <a:t>(cᵢⱼ &gt; 0)</a:t>
            </a:r>
          </a:p>
          <a:p>
            <a:pPr lvl="1"/>
            <a:r>
              <a:rPr lang="ja-JP" altLang="en-US" dirty="0"/>
              <a:t>物理的メカニズム</a:t>
            </a:r>
            <a:endParaRPr lang="en-US" altLang="ja-JP" dirty="0"/>
          </a:p>
          <a:p>
            <a:pPr lvl="2"/>
            <a:r>
              <a:rPr lang="ja-JP" altLang="en-US" dirty="0"/>
              <a:t>役割を担う物理時間軸が分かれているため仕事の奪い合いが発生しない。短周期の変動を分散型リソースが吸収することで局所混雑が緩和され、広域・長周期リソースが本来の機能をフルに発揮できる。</a:t>
            </a:r>
          </a:p>
          <a:p>
            <a:pPr lvl="1"/>
            <a:r>
              <a:rPr lang="ja-JP" altLang="en-US" dirty="0"/>
              <a:t>代表的技術ペア</a:t>
            </a:r>
            <a:endParaRPr lang="en-US" altLang="ja-JP" dirty="0"/>
          </a:p>
          <a:p>
            <a:pPr lvl="2"/>
            <a:r>
              <a:rPr lang="en-US" altLang="ja-JP" dirty="0"/>
              <a:t>V1G</a:t>
            </a:r>
            <a:r>
              <a:rPr lang="ja-JP" altLang="en-US" dirty="0"/>
              <a:t>（短周期） </a:t>
            </a:r>
            <a:r>
              <a:rPr lang="en-US" altLang="ja-JP" dirty="0"/>
              <a:t>× </a:t>
            </a:r>
            <a:r>
              <a:rPr lang="ja-JP" altLang="en-US" dirty="0"/>
              <a:t>地域間送電線（中周期）</a:t>
            </a:r>
            <a:endParaRPr lang="en-US" altLang="ja-JP" dirty="0"/>
          </a:p>
          <a:p>
            <a:pPr lvl="2"/>
            <a:r>
              <a:rPr lang="ja-JP" altLang="en-US" dirty="0"/>
              <a:t>地域間送電線 </a:t>
            </a:r>
            <a:r>
              <a:rPr lang="en-US" altLang="ja-JP" dirty="0"/>
              <a:t>× </a:t>
            </a:r>
            <a:r>
              <a:rPr lang="ja-JP" altLang="en-US" dirty="0"/>
              <a:t>水素季節貯蔵（長周期）</a:t>
            </a:r>
            <a:endParaRPr lang="en-US" altLang="ja-JP" dirty="0"/>
          </a:p>
          <a:p>
            <a:pPr lvl="2"/>
            <a:r>
              <a:rPr lang="ja-JP" altLang="en-US" dirty="0"/>
              <a:t>水電解槽 </a:t>
            </a:r>
            <a:r>
              <a:rPr lang="en-US" altLang="ja-JP" dirty="0"/>
              <a:t>× </a:t>
            </a:r>
            <a:r>
              <a:rPr lang="ja-JP" altLang="en-US" dirty="0"/>
              <a:t>水素輸入インフラ</a:t>
            </a:r>
          </a:p>
          <a:p>
            <a:endParaRPr lang="ja-JP" altLang="en-US" dirty="0"/>
          </a:p>
          <a:p>
            <a:endParaRPr lang="ja-JP" altLang="en-US" dirty="0"/>
          </a:p>
        </p:txBody>
      </p:sp>
      <p:sp>
        <p:nvSpPr>
          <p:cNvPr id="4" name="TextBox 2">
            <a:extLst>
              <a:ext uri="{FF2B5EF4-FFF2-40B4-BE49-F238E27FC236}">
                <a16:creationId xmlns:a16="http://schemas.microsoft.com/office/drawing/2014/main" id="{5C2B3D78-FE94-3EF9-9EA9-0FED043C0760}"/>
              </a:ext>
            </a:extLst>
          </p:cNvPr>
          <p:cNvSpPr txBox="1"/>
          <p:nvPr/>
        </p:nvSpPr>
        <p:spPr>
          <a:xfrm>
            <a:off x="233223" y="7106406"/>
            <a:ext cx="10287000" cy="276999"/>
          </a:xfrm>
          <a:prstGeom prst="rect">
            <a:avLst/>
          </a:prstGeom>
          <a:solidFill>
            <a:schemeClr val="accent1">
              <a:lumMod val="50000"/>
            </a:schemeClr>
          </a:solidFill>
        </p:spPr>
        <p:txBody>
          <a:bodyPr wrap="square" lIns="0" tIns="0" rIns="0" bIns="0">
            <a:spAutoFit/>
          </a:bodyPr>
          <a:lstStyle/>
          <a:p>
            <a:pPr algn="ctr">
              <a:defRPr sz="1700" b="1">
                <a:solidFill>
                  <a:srgbClr val="1E293B"/>
                </a:solidFill>
                <a:latin typeface="Liberation Sans"/>
              </a:defRPr>
            </a:pPr>
            <a:r>
              <a:rPr sz="1800" dirty="0" err="1">
                <a:solidFill>
                  <a:schemeClr val="bg1"/>
                </a:solidFill>
                <a:latin typeface="+mn-ea"/>
                <a:ea typeface="+mn-ea"/>
              </a:rPr>
              <a:t>同一帯域での</a:t>
            </a:r>
            <a:r>
              <a:rPr lang="ja-JP" altLang="en-US" sz="1800" dirty="0">
                <a:solidFill>
                  <a:schemeClr val="bg1"/>
                </a:solidFill>
                <a:latin typeface="+mn-ea"/>
                <a:ea typeface="+mn-ea"/>
              </a:rPr>
              <a:t>仕事</a:t>
            </a:r>
            <a:r>
              <a:rPr sz="1800" dirty="0" err="1">
                <a:solidFill>
                  <a:schemeClr val="bg1"/>
                </a:solidFill>
                <a:latin typeface="+mn-ea"/>
                <a:ea typeface="+mn-ea"/>
              </a:rPr>
              <a:t>の奪い合い（負の交差項）と帯域分離による機能分担（正の交差項</a:t>
            </a:r>
            <a:r>
              <a:rPr sz="1800" dirty="0">
                <a:solidFill>
                  <a:schemeClr val="bg1"/>
                </a:solidFill>
                <a:latin typeface="+mn-ea"/>
                <a:ea typeface="+mn-ea"/>
              </a:rPr>
              <a:t>）</a:t>
            </a:r>
            <a:r>
              <a:rPr lang="ja-JP" altLang="en-US" sz="1800" dirty="0">
                <a:solidFill>
                  <a:schemeClr val="bg1"/>
                </a:solidFill>
                <a:latin typeface="+mn-ea"/>
                <a:ea typeface="+mn-ea"/>
              </a:rPr>
              <a:t>を定量的に評価</a:t>
            </a:r>
            <a:endParaRPr sz="1800" dirty="0">
              <a:solidFill>
                <a:schemeClr val="bg1"/>
              </a:solidFill>
              <a:latin typeface="+mn-ea"/>
              <a:ea typeface="+mn-ea"/>
            </a:endParaRPr>
          </a:p>
        </p:txBody>
      </p:sp>
    </p:spTree>
    <p:extLst>
      <p:ext uri="{BB962C8B-B14F-4D97-AF65-F5344CB8AC3E}">
        <p14:creationId xmlns:p14="http://schemas.microsoft.com/office/powerpoint/2010/main" val="7834233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タイトル 3">
                <a:extLst>
                  <a:ext uri="{FF2B5EF4-FFF2-40B4-BE49-F238E27FC236}">
                    <a16:creationId xmlns:a16="http://schemas.microsoft.com/office/drawing/2014/main" id="{4EBAD974-DFF1-1BC7-0FAD-94D72F7DB36C}"/>
                  </a:ext>
                </a:extLst>
              </p:cNvPr>
              <p:cNvSpPr>
                <a:spLocks noGrp="1"/>
              </p:cNvSpPr>
              <p:nvPr>
                <p:ph type="title"/>
              </p:nvPr>
            </p:nvSpPr>
            <p:spPr/>
            <p:txBody>
              <a:bodyPr/>
              <a:lstStyle/>
              <a:p>
                <a14:m>
                  <m:oMath xmlns:m="http://schemas.openxmlformats.org/officeDocument/2006/math">
                    <m:sSub>
                      <m:sSubPr>
                        <m:ctrlPr>
                          <a:rPr lang="en-US" altLang="ja-JP" sz="3200" b="0" i="1" smtClean="0">
                            <a:latin typeface="Cambria Math" panose="02040503050406030204" pitchFamily="18" charset="0"/>
                          </a:rPr>
                        </m:ctrlPr>
                      </m:sSubPr>
                      <m:e>
                        <m:r>
                          <a:rPr lang="en-US" altLang="ja-JP" sz="3200" b="0" i="1" smtClean="0">
                            <a:latin typeface="Cambria Math" panose="02040503050406030204" pitchFamily="18" charset="0"/>
                          </a:rPr>
                          <m:t>𝑆</m:t>
                        </m:r>
                      </m:e>
                      <m:sub>
                        <m:r>
                          <a:rPr lang="en-US" altLang="ja-JP" sz="3200" b="0" i="1" smtClean="0">
                            <a:latin typeface="Cambria Math" panose="02040503050406030204" pitchFamily="18" charset="0"/>
                          </a:rPr>
                          <m:t>𝑖</m:t>
                        </m:r>
                      </m:sub>
                    </m:sSub>
                  </m:oMath>
                </a14:m>
                <a:r>
                  <a:rPr lang="ja-JP" altLang="en-US" sz="3200" dirty="0"/>
                  <a:t> と </a:t>
                </a:r>
                <a14:m>
                  <m:oMath xmlns:m="http://schemas.openxmlformats.org/officeDocument/2006/math">
                    <m:sSub>
                      <m:sSubPr>
                        <m:ctrlPr>
                          <a:rPr lang="en-US" altLang="ja-JP" sz="3200" i="1">
                            <a:latin typeface="Cambria Math" panose="02040503050406030204" pitchFamily="18" charset="0"/>
                          </a:rPr>
                        </m:ctrlPr>
                      </m:sSubPr>
                      <m:e>
                        <m:r>
                          <a:rPr lang="en-US" altLang="ja-JP" sz="3200" i="1">
                            <a:latin typeface="Cambria Math" panose="02040503050406030204" pitchFamily="18" charset="0"/>
                          </a:rPr>
                          <m:t>𝑆</m:t>
                        </m:r>
                        <m:r>
                          <a:rPr lang="en-US" altLang="ja-JP" sz="3200" b="0" i="1" smtClean="0">
                            <a:latin typeface="Cambria Math" panose="02040503050406030204" pitchFamily="18" charset="0"/>
                          </a:rPr>
                          <m:t>𝑇</m:t>
                        </m:r>
                      </m:e>
                      <m:sub>
                        <m:r>
                          <a:rPr lang="en-US" altLang="ja-JP" sz="3200" i="1">
                            <a:latin typeface="Cambria Math" panose="02040503050406030204" pitchFamily="18" charset="0"/>
                          </a:rPr>
                          <m:t>𝑖</m:t>
                        </m:r>
                      </m:sub>
                    </m:sSub>
                    <m:r>
                      <a:rPr lang="ja-JP" altLang="en-US" sz="3200" i="1" smtClean="0">
                        <a:latin typeface="Cambria Math" panose="02040503050406030204" pitchFamily="18" charset="0"/>
                      </a:rPr>
                      <m:t>の</m:t>
                    </m:r>
                  </m:oMath>
                </a14:m>
                <a:r>
                  <a:rPr lang="ja-JP" altLang="en-US" sz="3200" dirty="0"/>
                  <a:t>アウトプットイメージ</a:t>
                </a:r>
              </a:p>
            </p:txBody>
          </p:sp>
        </mc:Choice>
        <mc:Fallback xmlns="">
          <p:sp>
            <p:nvSpPr>
              <p:cNvPr id="4" name="タイトル 3">
                <a:extLst>
                  <a:ext uri="{FF2B5EF4-FFF2-40B4-BE49-F238E27FC236}">
                    <a16:creationId xmlns:a16="http://schemas.microsoft.com/office/drawing/2014/main" id="{4EBAD974-DFF1-1BC7-0FAD-94D72F7DB36C}"/>
                  </a:ext>
                </a:extLst>
              </p:cNvPr>
              <p:cNvSpPr>
                <a:spLocks noGrp="1" noRot="1" noChangeAspect="1" noMove="1" noResize="1" noEditPoints="1" noAdjustHandles="1" noChangeArrowheads="1" noChangeShapeType="1" noTextEdit="1"/>
              </p:cNvSpPr>
              <p:nvPr>
                <p:ph type="title"/>
              </p:nvPr>
            </p:nvSpPr>
            <p:spPr>
              <a:blipFill>
                <a:blip r:embed="rId2"/>
                <a:stretch>
                  <a:fillRect t="-7759" b="-13793"/>
                </a:stretch>
              </a:blipFill>
            </p:spPr>
            <p:txBody>
              <a:bodyPr/>
              <a:lstStyle/>
              <a:p>
                <a:r>
                  <a:rPr lang="ja-JP" altLang="en-US">
                    <a:noFill/>
                  </a:rPr>
                  <a:t> </a:t>
                </a:r>
              </a:p>
            </p:txBody>
          </p:sp>
        </mc:Fallback>
      </mc:AlternateContent>
      <p:graphicFrame>
        <p:nvGraphicFramePr>
          <p:cNvPr id="6" name="Table 4">
            <a:extLst>
              <a:ext uri="{FF2B5EF4-FFF2-40B4-BE49-F238E27FC236}">
                <a16:creationId xmlns:a16="http://schemas.microsoft.com/office/drawing/2014/main" id="{ED4E6048-4D0E-6DE7-793D-B9C5EC91025B}"/>
              </a:ext>
            </a:extLst>
          </p:cNvPr>
          <p:cNvGraphicFramePr>
            <a:graphicFrameLocks noGrp="1"/>
          </p:cNvGraphicFramePr>
          <p:nvPr>
            <p:extLst>
              <p:ext uri="{D42A27DB-BD31-4B8C-83A1-F6EECF244321}">
                <p14:modId xmlns:p14="http://schemas.microsoft.com/office/powerpoint/2010/main" val="1111993271"/>
              </p:ext>
            </p:extLst>
          </p:nvPr>
        </p:nvGraphicFramePr>
        <p:xfrm>
          <a:off x="200025" y="1024762"/>
          <a:ext cx="6560288" cy="5511737"/>
        </p:xfrm>
        <a:graphic>
          <a:graphicData uri="http://schemas.openxmlformats.org/drawingml/2006/table">
            <a:tbl>
              <a:tblPr firstRow="1" bandRow="1">
                <a:tableStyleId>{5C22544A-7EE6-4342-B048-85BDC9FD1C3A}</a:tableStyleId>
              </a:tblPr>
              <a:tblGrid>
                <a:gridCol w="1583518">
                  <a:extLst>
                    <a:ext uri="{9D8B030D-6E8A-4147-A177-3AD203B41FA5}">
                      <a16:colId xmlns:a16="http://schemas.microsoft.com/office/drawing/2014/main" val="20000"/>
                    </a:ext>
                  </a:extLst>
                </a:gridCol>
                <a:gridCol w="904867">
                  <a:extLst>
                    <a:ext uri="{9D8B030D-6E8A-4147-A177-3AD203B41FA5}">
                      <a16:colId xmlns:a16="http://schemas.microsoft.com/office/drawing/2014/main" val="20001"/>
                    </a:ext>
                  </a:extLst>
                </a:gridCol>
                <a:gridCol w="791759">
                  <a:extLst>
                    <a:ext uri="{9D8B030D-6E8A-4147-A177-3AD203B41FA5}">
                      <a16:colId xmlns:a16="http://schemas.microsoft.com/office/drawing/2014/main" val="20002"/>
                    </a:ext>
                  </a:extLst>
                </a:gridCol>
                <a:gridCol w="791759">
                  <a:extLst>
                    <a:ext uri="{9D8B030D-6E8A-4147-A177-3AD203B41FA5}">
                      <a16:colId xmlns:a16="http://schemas.microsoft.com/office/drawing/2014/main" val="20003"/>
                    </a:ext>
                  </a:extLst>
                </a:gridCol>
                <a:gridCol w="791759">
                  <a:extLst>
                    <a:ext uri="{9D8B030D-6E8A-4147-A177-3AD203B41FA5}">
                      <a16:colId xmlns:a16="http://schemas.microsoft.com/office/drawing/2014/main" val="20004"/>
                    </a:ext>
                  </a:extLst>
                </a:gridCol>
                <a:gridCol w="791759">
                  <a:extLst>
                    <a:ext uri="{9D8B030D-6E8A-4147-A177-3AD203B41FA5}">
                      <a16:colId xmlns:a16="http://schemas.microsoft.com/office/drawing/2014/main" val="20005"/>
                    </a:ext>
                  </a:extLst>
                </a:gridCol>
                <a:gridCol w="904867">
                  <a:extLst>
                    <a:ext uri="{9D8B030D-6E8A-4147-A177-3AD203B41FA5}">
                      <a16:colId xmlns:a16="http://schemas.microsoft.com/office/drawing/2014/main" val="20006"/>
                    </a:ext>
                  </a:extLst>
                </a:gridCol>
              </a:tblGrid>
              <a:tr h="557700">
                <a:tc>
                  <a:txBody>
                    <a:bodyPr/>
                    <a:lstStyle/>
                    <a:p>
                      <a:pPr algn="ctr">
                        <a:defRPr sz="900" b="1">
                          <a:solidFill>
                            <a:srgbClr val="F8FAFC"/>
                          </a:solidFill>
                          <a:latin typeface="Liberation Sans"/>
                        </a:defRPr>
                      </a:pPr>
                      <a:r>
                        <a:rPr sz="1050" dirty="0" err="1">
                          <a:latin typeface="+mn-ea"/>
                          <a:ea typeface="+mn-ea"/>
                        </a:rPr>
                        <a:t>入力パラメータ</a:t>
                      </a:r>
                      <a:endParaRPr sz="1050" dirty="0">
                        <a:latin typeface="+mn-ea"/>
                        <a:ea typeface="+mn-ea"/>
                      </a:endParaRP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指標</a:t>
                      </a:r>
                    </a:p>
                  </a:txBody>
                  <a:tcPr marL="100817" marR="100817" marT="50408" marB="50408">
                    <a:solidFill>
                      <a:srgbClr val="0F172A"/>
                    </a:solidFill>
                  </a:tcPr>
                </a:tc>
                <a:tc>
                  <a:txBody>
                    <a:bodyPr/>
                    <a:lstStyle/>
                    <a:p>
                      <a:pPr algn="ctr">
                        <a:defRPr sz="900" b="1">
                          <a:solidFill>
                            <a:srgbClr val="F8FAFC"/>
                          </a:solidFill>
                          <a:latin typeface="Liberation Sans"/>
                        </a:defRPr>
                      </a:pPr>
                      <a:r>
                        <a:rPr sz="1050" dirty="0">
                          <a:latin typeface="+mn-ea"/>
                          <a:ea typeface="+mn-ea"/>
                        </a:rPr>
                        <a:t>&lt;12h</a:t>
                      </a:r>
                    </a:p>
                    <a:p>
                      <a:r>
                        <a:rPr sz="1050" dirty="0" err="1">
                          <a:latin typeface="+mn-ea"/>
                          <a:ea typeface="+mn-ea"/>
                        </a:rPr>
                        <a:t>サブ日内</a:t>
                      </a:r>
                      <a:endParaRPr sz="1050" dirty="0">
                        <a:latin typeface="+mn-ea"/>
                        <a:ea typeface="+mn-ea"/>
                      </a:endParaRP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12-36h</a:t>
                      </a:r>
                    </a:p>
                    <a:p>
                      <a:r>
                        <a:rPr sz="1050">
                          <a:latin typeface="+mn-ea"/>
                          <a:ea typeface="+mn-ea"/>
                        </a:rPr>
                        <a:t>日次帯</a:t>
                      </a: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36-192h</a:t>
                      </a:r>
                    </a:p>
                    <a:p>
                      <a:r>
                        <a:rPr sz="1050">
                          <a:latin typeface="+mn-ea"/>
                          <a:ea typeface="+mn-ea"/>
                        </a:rPr>
                        <a:t>総観規模</a:t>
                      </a:r>
                    </a:p>
                  </a:txBody>
                  <a:tcPr marL="100817" marR="100817" marT="50408" marB="50408">
                    <a:solidFill>
                      <a:srgbClr val="0F172A"/>
                    </a:solidFill>
                  </a:tcPr>
                </a:tc>
                <a:tc>
                  <a:txBody>
                    <a:bodyPr/>
                    <a:lstStyle/>
                    <a:p>
                      <a:pPr algn="ctr">
                        <a:defRPr sz="900" b="1">
                          <a:solidFill>
                            <a:srgbClr val="F8FAFC"/>
                          </a:solidFill>
                          <a:latin typeface="Liberation Sans"/>
                        </a:defRPr>
                      </a:pPr>
                      <a:r>
                        <a:rPr sz="1050">
                          <a:latin typeface="+mn-ea"/>
                          <a:ea typeface="+mn-ea"/>
                        </a:rPr>
                        <a:t>192-720h</a:t>
                      </a:r>
                    </a:p>
                    <a:p>
                      <a:r>
                        <a:rPr sz="1050">
                          <a:latin typeface="+mn-ea"/>
                          <a:ea typeface="+mn-ea"/>
                        </a:rPr>
                        <a:t>Dunkel</a:t>
                      </a:r>
                    </a:p>
                  </a:txBody>
                  <a:tcPr marL="100817" marR="100817" marT="50408" marB="50408">
                    <a:solidFill>
                      <a:srgbClr val="0F172A"/>
                    </a:solidFill>
                  </a:tcPr>
                </a:tc>
                <a:tc>
                  <a:txBody>
                    <a:bodyPr/>
                    <a:lstStyle/>
                    <a:p>
                      <a:pPr algn="ctr">
                        <a:defRPr sz="900" b="1">
                          <a:solidFill>
                            <a:srgbClr val="F8FAFC"/>
                          </a:solidFill>
                          <a:latin typeface="Liberation Sans"/>
                        </a:defRPr>
                      </a:pPr>
                      <a:r>
                        <a:rPr sz="1050" dirty="0">
                          <a:latin typeface="+mn-ea"/>
                          <a:ea typeface="+mn-ea"/>
                        </a:rPr>
                        <a:t>&gt;720h</a:t>
                      </a:r>
                    </a:p>
                    <a:p>
                      <a:r>
                        <a:rPr sz="1050" dirty="0" err="1">
                          <a:latin typeface="+mn-ea"/>
                          <a:ea typeface="+mn-ea"/>
                        </a:rPr>
                        <a:t>季節帯</a:t>
                      </a:r>
                      <a:endParaRPr sz="1050" dirty="0">
                        <a:latin typeface="+mn-ea"/>
                        <a:ea typeface="+mn-ea"/>
                      </a:endParaRPr>
                    </a:p>
                  </a:txBody>
                  <a:tcPr marL="100817" marR="100817" marT="50408" marB="50408">
                    <a:solidFill>
                      <a:srgbClr val="0F172A"/>
                    </a:solidFill>
                  </a:tcPr>
                </a:tc>
                <a:extLst>
                  <a:ext uri="{0D108BD9-81ED-4DB2-BD59-A6C34878D82A}">
                    <a16:rowId xmlns:a16="http://schemas.microsoft.com/office/drawing/2014/main" val="10000"/>
                  </a:ext>
                </a:extLst>
              </a:tr>
              <a:tr h="504084">
                <a:tc>
                  <a:txBody>
                    <a:bodyPr/>
                    <a:lstStyle/>
                    <a:p>
                      <a:pPr algn="l">
                        <a:defRPr sz="850" b="1">
                          <a:solidFill>
                            <a:srgbClr val="1E293B"/>
                          </a:solidFill>
                          <a:latin typeface="Liberation Sans"/>
                        </a:defRPr>
                      </a:pPr>
                      <a:r>
                        <a:rPr sz="1050" dirty="0">
                          <a:latin typeface="+mn-ea"/>
                          <a:ea typeface="+mn-ea"/>
                        </a:rPr>
                        <a:t>V1G </a:t>
                      </a:r>
                      <a:r>
                        <a:rPr sz="1050" dirty="0" err="1">
                          <a:latin typeface="+mn-ea"/>
                          <a:ea typeface="+mn-ea"/>
                        </a:rPr>
                        <a:t>普及率</a:t>
                      </a:r>
                      <a:r>
                        <a:rPr sz="1050" dirty="0">
                          <a:latin typeface="+mn-ea"/>
                          <a:ea typeface="+mn-ea"/>
                        </a:rPr>
                        <a:t> / </a:t>
                      </a:r>
                      <a:r>
                        <a:rPr sz="1050" dirty="0" err="1">
                          <a:latin typeface="+mn-ea"/>
                          <a:ea typeface="+mn-ea"/>
                        </a:rPr>
                        <a:t>容量</a:t>
                      </a:r>
                      <a:endParaRPr sz="1050" dirty="0">
                        <a:latin typeface="+mn-ea"/>
                        <a:ea typeface="+mn-ea"/>
                      </a:endParaRP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40%</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50%</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6%</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extLst>
                  <a:ext uri="{0D108BD9-81ED-4DB2-BD59-A6C34878D82A}">
                    <a16:rowId xmlns:a16="http://schemas.microsoft.com/office/drawing/2014/main" val="10001"/>
                  </a:ext>
                </a:extLst>
              </a:tr>
              <a:tr h="485753">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58%</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72%</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12%</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4%</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3%</a:t>
                      </a:r>
                    </a:p>
                  </a:txBody>
                  <a:tcPr marL="100817" marR="100817" marT="50408" marB="50408">
                    <a:solidFill>
                      <a:srgbClr val="F1F5F9"/>
                    </a:solidFill>
                  </a:tcPr>
                </a:tc>
                <a:extLst>
                  <a:ext uri="{0D108BD9-81ED-4DB2-BD59-A6C34878D82A}">
                    <a16:rowId xmlns:a16="http://schemas.microsoft.com/office/drawing/2014/main" val="10002"/>
                  </a:ext>
                </a:extLst>
              </a:tr>
              <a:tr h="504084">
                <a:tc>
                  <a:txBody>
                    <a:bodyPr/>
                    <a:lstStyle/>
                    <a:p>
                      <a:pPr algn="l">
                        <a:defRPr sz="850" b="1">
                          <a:solidFill>
                            <a:srgbClr val="1E293B"/>
                          </a:solidFill>
                          <a:latin typeface="Liberation Sans"/>
                        </a:defRPr>
                      </a:pPr>
                      <a:r>
                        <a:rPr sz="1050" dirty="0" err="1">
                          <a:latin typeface="+mn-ea"/>
                          <a:ea typeface="+mn-ea"/>
                        </a:rPr>
                        <a:t>定置用蓄電池</a:t>
                      </a:r>
                      <a:r>
                        <a:rPr sz="1050" dirty="0">
                          <a:latin typeface="+mn-ea"/>
                          <a:ea typeface="+mn-ea"/>
                        </a:rPr>
                        <a:t> CAPEX</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6%</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FFFFF"/>
                    </a:solidFill>
                  </a:tcPr>
                </a:tc>
                <a:extLst>
                  <a:ext uri="{0D108BD9-81ED-4DB2-BD59-A6C34878D82A}">
                    <a16:rowId xmlns:a16="http://schemas.microsoft.com/office/drawing/2014/main" val="10003"/>
                  </a:ext>
                </a:extLst>
              </a:tr>
              <a:tr h="485753">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dirty="0">
                          <a:latin typeface="+mn-ea"/>
                          <a:ea typeface="+mn-ea"/>
                        </a:rPr>
                        <a:t>STᵢ</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52%</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61%</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11%</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4%</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3%</a:t>
                      </a:r>
                    </a:p>
                  </a:txBody>
                  <a:tcPr marL="100817" marR="100817" marT="50408" marB="50408">
                    <a:solidFill>
                      <a:srgbClr val="F1F5F9"/>
                    </a:solidFill>
                  </a:tcPr>
                </a:tc>
                <a:extLst>
                  <a:ext uri="{0D108BD9-81ED-4DB2-BD59-A6C34878D82A}">
                    <a16:rowId xmlns:a16="http://schemas.microsoft.com/office/drawing/2014/main" val="10004"/>
                  </a:ext>
                </a:extLst>
              </a:tr>
              <a:tr h="485753">
                <a:tc>
                  <a:txBody>
                    <a:bodyPr/>
                    <a:lstStyle/>
                    <a:p>
                      <a:pPr algn="l">
                        <a:defRPr sz="850" b="1">
                          <a:solidFill>
                            <a:srgbClr val="1E293B"/>
                          </a:solidFill>
                          <a:latin typeface="Liberation Sans"/>
                        </a:defRPr>
                      </a:pPr>
                      <a:r>
                        <a:rPr sz="1050" dirty="0" err="1">
                          <a:latin typeface="+mn-ea"/>
                          <a:ea typeface="+mn-ea"/>
                        </a:rPr>
                        <a:t>水電解槽</a:t>
                      </a:r>
                      <a:r>
                        <a:rPr sz="1050" dirty="0">
                          <a:latin typeface="+mn-ea"/>
                          <a:ea typeface="+mn-ea"/>
                        </a:rPr>
                        <a:t> CAPEX</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15%</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55%</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10%</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extLst>
                  <a:ext uri="{0D108BD9-81ED-4DB2-BD59-A6C34878D82A}">
                    <a16:rowId xmlns:a16="http://schemas.microsoft.com/office/drawing/2014/main" val="10005"/>
                  </a:ext>
                </a:extLst>
              </a:tr>
              <a:tr h="485753">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28%</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74%</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18%</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8%</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7%</a:t>
                      </a:r>
                    </a:p>
                  </a:txBody>
                  <a:tcPr marL="100817" marR="100817" marT="50408" marB="50408">
                    <a:solidFill>
                      <a:srgbClr val="F1F5F9"/>
                    </a:solidFill>
                  </a:tcPr>
                </a:tc>
                <a:extLst>
                  <a:ext uri="{0D108BD9-81ED-4DB2-BD59-A6C34878D82A}">
                    <a16:rowId xmlns:a16="http://schemas.microsoft.com/office/drawing/2014/main" val="10006"/>
                  </a:ext>
                </a:extLst>
              </a:tr>
              <a:tr h="504084">
                <a:tc>
                  <a:txBody>
                    <a:bodyPr/>
                    <a:lstStyle/>
                    <a:p>
                      <a:pPr algn="l">
                        <a:defRPr sz="850" b="1">
                          <a:solidFill>
                            <a:srgbClr val="1E293B"/>
                          </a:solidFill>
                          <a:latin typeface="Liberation Sans"/>
                        </a:defRPr>
                      </a:pPr>
                      <a:r>
                        <a:rPr sz="1050" dirty="0" err="1">
                          <a:latin typeface="+mn-ea"/>
                          <a:ea typeface="+mn-ea"/>
                        </a:rPr>
                        <a:t>地域間送電拡張コスト</a:t>
                      </a:r>
                      <a:endParaRPr sz="1050" dirty="0">
                        <a:latin typeface="+mn-ea"/>
                        <a:ea typeface="+mn-ea"/>
                      </a:endParaRP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15%</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45%</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20%</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extLst>
                  <a:ext uri="{0D108BD9-81ED-4DB2-BD59-A6C34878D82A}">
                    <a16:rowId xmlns:a16="http://schemas.microsoft.com/office/drawing/2014/main" val="10007"/>
                  </a:ext>
                </a:extLst>
              </a:tr>
              <a:tr h="485753">
                <a:tc>
                  <a:txBody>
                    <a:bodyPr/>
                    <a:lstStyle/>
                    <a:p>
                      <a:pPr algn="l">
                        <a:defRPr sz="850" b="1">
                          <a:solidFill>
                            <a:srgbClr val="1E293B"/>
                          </a:solidFill>
                          <a:latin typeface="Liberation Sans"/>
                        </a:defRPr>
                      </a:pPr>
                      <a:endParaRPr sz="105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10%</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26%</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62%</a:t>
                      </a:r>
                    </a:p>
                  </a:txBody>
                  <a:tcPr marL="100817" marR="100817" marT="50408" marB="50408">
                    <a:solidFill>
                      <a:srgbClr val="E0F2FE"/>
                    </a:solidFill>
                  </a:tcPr>
                </a:tc>
                <a:tc>
                  <a:txBody>
                    <a:bodyPr/>
                    <a:lstStyle/>
                    <a:p>
                      <a:pPr algn="ctr">
                        <a:defRPr sz="850" b="0">
                          <a:solidFill>
                            <a:srgbClr val="1E293B"/>
                          </a:solidFill>
                          <a:latin typeface="Liberation Sans"/>
                        </a:defRPr>
                      </a:pPr>
                      <a:r>
                        <a:rPr sz="1050">
                          <a:latin typeface="+mn-ea"/>
                          <a:ea typeface="+mn-ea"/>
                        </a:rPr>
                        <a:t>31%</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8%</a:t>
                      </a:r>
                    </a:p>
                  </a:txBody>
                  <a:tcPr marL="100817" marR="100817" marT="50408" marB="50408">
                    <a:solidFill>
                      <a:srgbClr val="F1F5F9"/>
                    </a:solidFill>
                  </a:tcPr>
                </a:tc>
                <a:extLst>
                  <a:ext uri="{0D108BD9-81ED-4DB2-BD59-A6C34878D82A}">
                    <a16:rowId xmlns:a16="http://schemas.microsoft.com/office/drawing/2014/main" val="10008"/>
                  </a:ext>
                </a:extLst>
              </a:tr>
              <a:tr h="504084">
                <a:tc>
                  <a:txBody>
                    <a:bodyPr/>
                    <a:lstStyle/>
                    <a:p>
                      <a:pPr algn="l">
                        <a:defRPr sz="850" b="1">
                          <a:solidFill>
                            <a:srgbClr val="1E293B"/>
                          </a:solidFill>
                          <a:latin typeface="Liberation Sans"/>
                        </a:defRPr>
                      </a:pPr>
                      <a:r>
                        <a:rPr sz="1050" dirty="0" err="1">
                          <a:latin typeface="+mn-ea"/>
                          <a:ea typeface="+mn-ea"/>
                        </a:rPr>
                        <a:t>水素輸入価格</a:t>
                      </a:r>
                      <a:r>
                        <a:rPr sz="1050" dirty="0">
                          <a:latin typeface="+mn-ea"/>
                          <a:ea typeface="+mn-ea"/>
                        </a:rPr>
                        <a:t> / </a:t>
                      </a:r>
                      <a:r>
                        <a:rPr sz="1050" dirty="0" err="1">
                          <a:latin typeface="+mn-ea"/>
                          <a:ea typeface="+mn-ea"/>
                        </a:rPr>
                        <a:t>貯蔵</a:t>
                      </a:r>
                      <a:endParaRPr sz="1050" dirty="0">
                        <a:latin typeface="+mn-ea"/>
                        <a:ea typeface="+mn-ea"/>
                      </a:endParaRP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Sᵢ</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1%</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FFFFF"/>
                    </a:solidFill>
                  </a:tcPr>
                </a:tc>
                <a:tc>
                  <a:txBody>
                    <a:bodyPr/>
                    <a:lstStyle/>
                    <a:p>
                      <a:pPr algn="ctr">
                        <a:defRPr sz="850" b="0">
                          <a:solidFill>
                            <a:srgbClr val="1E293B"/>
                          </a:solidFill>
                          <a:latin typeface="Liberation Sans"/>
                        </a:defRPr>
                      </a:pPr>
                      <a:r>
                        <a:rPr sz="1050">
                          <a:latin typeface="+mn-ea"/>
                          <a:ea typeface="+mn-ea"/>
                        </a:rPr>
                        <a:t>35%</a:t>
                      </a:r>
                    </a:p>
                  </a:txBody>
                  <a:tcPr marL="100817" marR="100817" marT="50408" marB="50408">
                    <a:solidFill>
                      <a:srgbClr val="FFFFFF"/>
                    </a:solidFill>
                  </a:tcPr>
                </a:tc>
                <a:tc>
                  <a:txBody>
                    <a:bodyPr/>
                    <a:lstStyle/>
                    <a:p>
                      <a:pPr algn="ctr">
                        <a:defRPr sz="850" b="1">
                          <a:solidFill>
                            <a:srgbClr val="1E293B"/>
                          </a:solidFill>
                          <a:latin typeface="Liberation Sans"/>
                        </a:defRPr>
                      </a:pPr>
                      <a:r>
                        <a:rPr sz="1050">
                          <a:latin typeface="+mn-ea"/>
                          <a:ea typeface="+mn-ea"/>
                        </a:rPr>
                        <a:t>46%</a:t>
                      </a:r>
                    </a:p>
                  </a:txBody>
                  <a:tcPr marL="100817" marR="100817" marT="50408" marB="50408">
                    <a:solidFill>
                      <a:srgbClr val="E0F2FE"/>
                    </a:solidFill>
                  </a:tcPr>
                </a:tc>
                <a:extLst>
                  <a:ext uri="{0D108BD9-81ED-4DB2-BD59-A6C34878D82A}">
                    <a16:rowId xmlns:a16="http://schemas.microsoft.com/office/drawing/2014/main" val="10009"/>
                  </a:ext>
                </a:extLst>
              </a:tr>
              <a:tr h="485760">
                <a:tc>
                  <a:txBody>
                    <a:bodyPr/>
                    <a:lstStyle/>
                    <a:p>
                      <a:pPr algn="l">
                        <a:defRPr sz="850" b="1">
                          <a:solidFill>
                            <a:srgbClr val="1E293B"/>
                          </a:solidFill>
                          <a:latin typeface="Liberation Sans"/>
                        </a:defRPr>
                      </a:pPr>
                      <a:endParaRPr sz="1050" dirty="0">
                        <a:latin typeface="+mn-ea"/>
                        <a:ea typeface="+mn-ea"/>
                      </a:endParaRP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STᵢ</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2%</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5%</a:t>
                      </a:r>
                    </a:p>
                  </a:txBody>
                  <a:tcPr marL="100817" marR="100817" marT="50408" marB="50408">
                    <a:solidFill>
                      <a:srgbClr val="F1F5F9"/>
                    </a:solidFill>
                  </a:tcPr>
                </a:tc>
                <a:tc>
                  <a:txBody>
                    <a:bodyPr/>
                    <a:lstStyle/>
                    <a:p>
                      <a:pPr algn="ctr">
                        <a:defRPr sz="850" b="0">
                          <a:solidFill>
                            <a:srgbClr val="1E293B"/>
                          </a:solidFill>
                          <a:latin typeface="Liberation Sans"/>
                        </a:defRPr>
                      </a:pPr>
                      <a:r>
                        <a:rPr sz="1050">
                          <a:latin typeface="+mn-ea"/>
                          <a:ea typeface="+mn-ea"/>
                        </a:rPr>
                        <a:t>9%</a:t>
                      </a:r>
                    </a:p>
                  </a:txBody>
                  <a:tcPr marL="100817" marR="100817" marT="50408" marB="50408">
                    <a:solidFill>
                      <a:srgbClr val="F1F5F9"/>
                    </a:solidFill>
                  </a:tcPr>
                </a:tc>
                <a:tc>
                  <a:txBody>
                    <a:bodyPr/>
                    <a:lstStyle/>
                    <a:p>
                      <a:pPr algn="ctr">
                        <a:defRPr sz="850" b="1">
                          <a:solidFill>
                            <a:srgbClr val="1E293B"/>
                          </a:solidFill>
                          <a:latin typeface="Liberation Sans"/>
                        </a:defRPr>
                      </a:pPr>
                      <a:r>
                        <a:rPr sz="1050">
                          <a:latin typeface="+mn-ea"/>
                          <a:ea typeface="+mn-ea"/>
                        </a:rPr>
                        <a:t>42%</a:t>
                      </a:r>
                    </a:p>
                  </a:txBody>
                  <a:tcPr marL="100817" marR="100817" marT="50408" marB="50408">
                    <a:solidFill>
                      <a:srgbClr val="F1F5F9"/>
                    </a:solidFill>
                  </a:tcPr>
                </a:tc>
                <a:tc>
                  <a:txBody>
                    <a:bodyPr/>
                    <a:lstStyle/>
                    <a:p>
                      <a:pPr algn="ctr">
                        <a:defRPr sz="850" b="1">
                          <a:solidFill>
                            <a:srgbClr val="1E293B"/>
                          </a:solidFill>
                          <a:latin typeface="Liberation Sans"/>
                        </a:defRPr>
                      </a:pPr>
                      <a:r>
                        <a:rPr sz="1050" dirty="0">
                          <a:latin typeface="+mn-ea"/>
                          <a:ea typeface="+mn-ea"/>
                        </a:rPr>
                        <a:t>52%</a:t>
                      </a:r>
                    </a:p>
                  </a:txBody>
                  <a:tcPr marL="100817" marR="100817" marT="50408" marB="50408">
                    <a:solidFill>
                      <a:srgbClr val="E0F2FE"/>
                    </a:solidFill>
                  </a:tcPr>
                </a:tc>
                <a:extLst>
                  <a:ext uri="{0D108BD9-81ED-4DB2-BD59-A6C34878D82A}">
                    <a16:rowId xmlns:a16="http://schemas.microsoft.com/office/drawing/2014/main" val="10010"/>
                  </a:ext>
                </a:extLst>
              </a:tr>
            </a:tbl>
          </a:graphicData>
        </a:graphic>
      </p:graphicFrame>
      <p:sp>
        <p:nvSpPr>
          <p:cNvPr id="10" name="四角形: 角を丸くする 9">
            <a:extLst>
              <a:ext uri="{FF2B5EF4-FFF2-40B4-BE49-F238E27FC236}">
                <a16:creationId xmlns:a16="http://schemas.microsoft.com/office/drawing/2014/main" id="{A20732EF-BD8D-029C-E8EB-7B416F2345FC}"/>
              </a:ext>
            </a:extLst>
          </p:cNvPr>
          <p:cNvSpPr/>
          <p:nvPr/>
        </p:nvSpPr>
        <p:spPr>
          <a:xfrm>
            <a:off x="6855207" y="1024762"/>
            <a:ext cx="3638168" cy="1651763"/>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b="1" dirty="0">
                <a:solidFill>
                  <a:schemeClr val="accent1">
                    <a:lumMod val="50000"/>
                  </a:schemeClr>
                </a:solidFill>
                <a:latin typeface="Calibri" pitchFamily="34" charset="0"/>
                <a:cs typeface="Calibri" pitchFamily="34" charset="-120"/>
              </a:rPr>
              <a:t>■ 日次帯（</a:t>
            </a:r>
            <a:r>
              <a:rPr lang="en-US" altLang="ja-JP" sz="1600" b="1" dirty="0">
                <a:solidFill>
                  <a:schemeClr val="accent1">
                    <a:lumMod val="50000"/>
                  </a:schemeClr>
                </a:solidFill>
                <a:latin typeface="Calibri" pitchFamily="34" charset="0"/>
                <a:cs typeface="Calibri" pitchFamily="34" charset="-120"/>
              </a:rPr>
              <a:t>12〜36h</a:t>
            </a:r>
            <a:r>
              <a:rPr lang="ja-JP" altLang="en-US" sz="1600" b="1" dirty="0">
                <a:solidFill>
                  <a:schemeClr val="accent1">
                    <a:lumMod val="50000"/>
                  </a:schemeClr>
                </a:solidFill>
                <a:latin typeface="Calibri" pitchFamily="34" charset="0"/>
                <a:cs typeface="Calibri" pitchFamily="34" charset="-120"/>
              </a:rPr>
              <a:t>）での競合集中</a:t>
            </a:r>
            <a:endParaRPr lang="en-US" altLang="ja-JP" sz="1600" b="1" dirty="0">
              <a:solidFill>
                <a:schemeClr val="accent1">
                  <a:lumMod val="50000"/>
                </a:schemeClr>
              </a:solidFill>
              <a:latin typeface="Calibri" pitchFamily="34" charset="0"/>
              <a:cs typeface="Calibri" pitchFamily="34" charset="-120"/>
            </a:endParaRPr>
          </a:p>
          <a:p>
            <a:pPr algn="ctr"/>
            <a:endParaRPr lang="en-US" altLang="ja-JP" b="1" dirty="0">
              <a:solidFill>
                <a:schemeClr val="accent1">
                  <a:lumMod val="50000"/>
                </a:schemeClr>
              </a:solidFill>
              <a:latin typeface="Calibri" pitchFamily="34" charset="0"/>
              <a:cs typeface="Calibri" pitchFamily="34" charset="-120"/>
            </a:endParaRPr>
          </a:p>
          <a:p>
            <a:r>
              <a:rPr lang="en-US" altLang="ja-JP" sz="1200" dirty="0">
                <a:solidFill>
                  <a:schemeClr val="accent1">
                    <a:lumMod val="50000"/>
                  </a:schemeClr>
                </a:solidFill>
                <a:latin typeface="Calibri" pitchFamily="34" charset="0"/>
                <a:cs typeface="Calibri" pitchFamily="34" charset="-120"/>
              </a:rPr>
              <a:t>V1G</a:t>
            </a:r>
            <a:r>
              <a:rPr lang="ja-JP" altLang="en-US" sz="1200" dirty="0">
                <a:solidFill>
                  <a:schemeClr val="accent1">
                    <a:lumMod val="50000"/>
                  </a:schemeClr>
                </a:solidFill>
                <a:latin typeface="Calibri" pitchFamily="34" charset="0"/>
                <a:cs typeface="Calibri" pitchFamily="34" charset="-120"/>
              </a:rPr>
              <a:t>・蓄電池・電解槽が日次帯に主効果</a:t>
            </a:r>
            <a:r>
              <a:rPr lang="en-US" altLang="ja-JP" sz="1200" dirty="0">
                <a:solidFill>
                  <a:schemeClr val="accent1">
                    <a:lumMod val="50000"/>
                  </a:schemeClr>
                </a:solidFill>
                <a:latin typeface="Calibri" pitchFamily="34" charset="0"/>
                <a:cs typeface="Calibri" pitchFamily="34" charset="-120"/>
              </a:rPr>
              <a:t>(Sᵢ=35〜55%)</a:t>
            </a:r>
            <a:r>
              <a:rPr lang="ja-JP" altLang="en-US" sz="1200" dirty="0">
                <a:solidFill>
                  <a:schemeClr val="accent1">
                    <a:lumMod val="50000"/>
                  </a:schemeClr>
                </a:solidFill>
                <a:latin typeface="Calibri" pitchFamily="34" charset="0"/>
                <a:cs typeface="Calibri" pitchFamily="34" charset="-120"/>
              </a:rPr>
              <a:t>を集中。</a:t>
            </a:r>
            <a:r>
              <a:rPr lang="en-US" altLang="ja-JP" sz="1200" dirty="0">
                <a:solidFill>
                  <a:schemeClr val="accent1">
                    <a:lumMod val="50000"/>
                  </a:schemeClr>
                </a:solidFill>
                <a:latin typeface="Calibri" pitchFamily="34" charset="0"/>
                <a:cs typeface="Calibri" pitchFamily="34" charset="-120"/>
              </a:rPr>
              <a:t>STᵢ − Sᵢ </a:t>
            </a:r>
            <a:r>
              <a:rPr lang="ja-JP" altLang="en-US" sz="1200" dirty="0">
                <a:solidFill>
                  <a:schemeClr val="accent1">
                    <a:lumMod val="50000"/>
                  </a:schemeClr>
                </a:solidFill>
                <a:latin typeface="Calibri" pitchFamily="34" charset="0"/>
                <a:cs typeface="Calibri" pitchFamily="34" charset="-120"/>
              </a:rPr>
              <a:t>が</a:t>
            </a:r>
            <a:r>
              <a:rPr lang="en-US" altLang="ja-JP" sz="1200" dirty="0">
                <a:solidFill>
                  <a:schemeClr val="accent1">
                    <a:lumMod val="50000"/>
                  </a:schemeClr>
                </a:solidFill>
                <a:latin typeface="Calibri" pitchFamily="34" charset="0"/>
                <a:cs typeface="Calibri" pitchFamily="34" charset="-120"/>
              </a:rPr>
              <a:t>15〜20%</a:t>
            </a:r>
            <a:r>
              <a:rPr lang="ja-JP" altLang="en-US" sz="1200" dirty="0">
                <a:solidFill>
                  <a:schemeClr val="accent1">
                    <a:lumMod val="50000"/>
                  </a:schemeClr>
                </a:solidFill>
                <a:latin typeface="Calibri" pitchFamily="34" charset="0"/>
                <a:cs typeface="Calibri" pitchFamily="34" charset="-120"/>
              </a:rPr>
              <a:t>と大きく、他技術の導入量（ポートフォリオ）に価値が依存する強い相互作用が存在。</a:t>
            </a:r>
            <a:endParaRPr lang="en-US" altLang="ja-JP" sz="1200" b="1" dirty="0">
              <a:solidFill>
                <a:schemeClr val="accent1">
                  <a:lumMod val="50000"/>
                </a:schemeClr>
              </a:solidFill>
              <a:latin typeface="Calibri" pitchFamily="34" charset="0"/>
              <a:cs typeface="Calibri" pitchFamily="34" charset="-120"/>
            </a:endParaRPr>
          </a:p>
        </p:txBody>
      </p:sp>
      <p:sp>
        <p:nvSpPr>
          <p:cNvPr id="13" name="四角形: 角を丸くする 12">
            <a:extLst>
              <a:ext uri="{FF2B5EF4-FFF2-40B4-BE49-F238E27FC236}">
                <a16:creationId xmlns:a16="http://schemas.microsoft.com/office/drawing/2014/main" id="{DE9D8583-82C0-6E89-509C-2E1A81A2AB1D}"/>
              </a:ext>
            </a:extLst>
          </p:cNvPr>
          <p:cNvSpPr/>
          <p:nvPr/>
        </p:nvSpPr>
        <p:spPr>
          <a:xfrm>
            <a:off x="6855207" y="2815462"/>
            <a:ext cx="3638168" cy="1651763"/>
          </a:xfrm>
          <a:prstGeom prst="roundRect">
            <a:avLst>
              <a:gd name="adj" fmla="val 9217"/>
            </a:avLst>
          </a:prstGeom>
          <a:solidFill>
            <a:schemeClr val="bg1"/>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b="1" dirty="0">
                <a:solidFill>
                  <a:schemeClr val="accent1">
                    <a:lumMod val="50000"/>
                  </a:schemeClr>
                </a:solidFill>
                <a:latin typeface="Calibri" pitchFamily="34" charset="0"/>
                <a:cs typeface="Calibri" pitchFamily="34" charset="-120"/>
              </a:rPr>
              <a:t>■ 長周期帯での単独支配</a:t>
            </a:r>
            <a:br>
              <a:rPr lang="ja-JP" altLang="en-US" sz="1600" b="1" dirty="0">
                <a:solidFill>
                  <a:schemeClr val="accent1">
                    <a:lumMod val="50000"/>
                  </a:schemeClr>
                </a:solidFill>
                <a:latin typeface="Calibri" pitchFamily="34" charset="0"/>
                <a:cs typeface="Calibri" pitchFamily="34" charset="-120"/>
              </a:rPr>
            </a:br>
            <a:r>
              <a:rPr lang="ja-JP" altLang="en-US" sz="1600" b="1" dirty="0">
                <a:solidFill>
                  <a:schemeClr val="accent1">
                    <a:lumMod val="50000"/>
                  </a:schemeClr>
                </a:solidFill>
                <a:latin typeface="Calibri" pitchFamily="34" charset="0"/>
                <a:cs typeface="Calibri" pitchFamily="34" charset="-120"/>
              </a:rPr>
              <a:t>（帯域分離）</a:t>
            </a:r>
            <a:endParaRPr lang="en-US" altLang="ja-JP" sz="1600" b="1" dirty="0">
              <a:solidFill>
                <a:schemeClr val="accent1">
                  <a:lumMod val="50000"/>
                </a:schemeClr>
              </a:solidFill>
              <a:latin typeface="Calibri" pitchFamily="34" charset="0"/>
              <a:cs typeface="Calibri" pitchFamily="34" charset="-120"/>
            </a:endParaRPr>
          </a:p>
          <a:p>
            <a:pPr algn="ctr"/>
            <a:endParaRPr lang="en-US" altLang="ja-JP" b="1" dirty="0">
              <a:solidFill>
                <a:schemeClr val="accent1">
                  <a:lumMod val="50000"/>
                </a:schemeClr>
              </a:solidFill>
              <a:latin typeface="Calibri" pitchFamily="34" charset="0"/>
              <a:cs typeface="Calibri" pitchFamily="34" charset="-120"/>
            </a:endParaRPr>
          </a:p>
          <a:p>
            <a:pPr>
              <a:defRPr sz="950">
                <a:solidFill>
                  <a:srgbClr val="64748B"/>
                </a:solidFill>
                <a:latin typeface="Liberation Sans"/>
              </a:defRPr>
            </a:pPr>
            <a:r>
              <a:rPr lang="ja-JP" altLang="en-US" sz="1200" dirty="0">
                <a:solidFill>
                  <a:schemeClr val="accent1">
                    <a:lumMod val="50000"/>
                  </a:schemeClr>
                </a:solidFill>
                <a:latin typeface="Calibri" pitchFamily="34" charset="0"/>
                <a:cs typeface="Calibri" pitchFamily="34" charset="-120"/>
              </a:rPr>
              <a:t>地域間送電（総観規模帯</a:t>
            </a:r>
            <a:r>
              <a:rPr lang="en-US" altLang="ja-JP" sz="1200" dirty="0">
                <a:solidFill>
                  <a:schemeClr val="accent1">
                    <a:lumMod val="50000"/>
                  </a:schemeClr>
                </a:solidFill>
                <a:latin typeface="Calibri" pitchFamily="34" charset="0"/>
                <a:cs typeface="Calibri" pitchFamily="34" charset="-120"/>
              </a:rPr>
              <a:t>: Sᵢ=45%</a:t>
            </a:r>
            <a:r>
              <a:rPr lang="ja-JP" altLang="en-US" sz="1200" dirty="0">
                <a:solidFill>
                  <a:schemeClr val="accent1">
                    <a:lumMod val="50000"/>
                  </a:schemeClr>
                </a:solidFill>
                <a:latin typeface="Calibri" pitchFamily="34" charset="0"/>
                <a:cs typeface="Calibri" pitchFamily="34" charset="-120"/>
              </a:rPr>
              <a:t>）や水素貯蔵（季節帯</a:t>
            </a:r>
            <a:r>
              <a:rPr lang="en-US" altLang="ja-JP" sz="1200" dirty="0">
                <a:solidFill>
                  <a:schemeClr val="accent1">
                    <a:lumMod val="50000"/>
                  </a:schemeClr>
                </a:solidFill>
                <a:latin typeface="Calibri" pitchFamily="34" charset="0"/>
                <a:cs typeface="Calibri" pitchFamily="34" charset="-120"/>
              </a:rPr>
              <a:t>: Sᵢ=46%</a:t>
            </a:r>
            <a:r>
              <a:rPr lang="ja-JP" altLang="en-US" sz="1200" dirty="0">
                <a:solidFill>
                  <a:schemeClr val="accent1">
                    <a:lumMod val="50000"/>
                  </a:schemeClr>
                </a:solidFill>
                <a:latin typeface="Calibri" pitchFamily="34" charset="0"/>
                <a:cs typeface="Calibri" pitchFamily="34" charset="-120"/>
              </a:rPr>
              <a:t>）は感度ピークが完全に独立。他技術との干渉が少なく、単独のコスト改善が直接系統不確実性を縮小する。</a:t>
            </a:r>
          </a:p>
        </p:txBody>
      </p:sp>
    </p:spTree>
    <p:extLst>
      <p:ext uri="{BB962C8B-B14F-4D97-AF65-F5344CB8AC3E}">
        <p14:creationId xmlns:p14="http://schemas.microsoft.com/office/powerpoint/2010/main" val="3670289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49806E19-8CB6-CAF1-B7BD-FCD38CEBC38B}"/>
                  </a:ext>
                </a:extLst>
              </p:cNvPr>
              <p:cNvSpPr>
                <a:spLocks noGrp="1"/>
              </p:cNvSpPr>
              <p:nvPr>
                <p:ph type="title"/>
              </p:nvPr>
            </p:nvSpPr>
            <p:spPr>
              <a:xfrm>
                <a:off x="374904" y="61259"/>
                <a:ext cx="10003638" cy="706210"/>
              </a:xfrm>
            </p:spPr>
            <p:txBody>
              <a:bodyPr/>
              <a:lstStyle/>
              <a:p>
                <a:r>
                  <a:rPr lang="en-US" altLang="ja-JP" sz="2000" dirty="0"/>
                  <a:t>2</a:t>
                </a:r>
                <a:r>
                  <a:rPr lang="ja-JP" altLang="en-US" sz="2000" dirty="0"/>
                  <a:t>次交差項 </a:t>
                </a:r>
                <a14:m>
                  <m:oMath xmlns:m="http://schemas.openxmlformats.org/officeDocument/2006/math">
                    <m:sSub>
                      <m:sSubPr>
                        <m:ctrlPr>
                          <a:rPr lang="en-US" altLang="ja-JP" sz="2000" b="0" i="1" smtClean="0">
                            <a:solidFill>
                              <a:schemeClr val="dk1"/>
                            </a:solidFill>
                            <a:latin typeface="Cambria Math" panose="02040503050406030204" pitchFamily="18" charset="0"/>
                          </a:rPr>
                        </m:ctrlPr>
                      </m:sSubPr>
                      <m:e>
                        <m:r>
                          <a:rPr lang="en-US" altLang="ja-JP" sz="2000" b="0" i="1" smtClean="0">
                            <a:solidFill>
                              <a:schemeClr val="dk1"/>
                            </a:solidFill>
                            <a:latin typeface="Cambria Math" panose="02040503050406030204" pitchFamily="18" charset="0"/>
                          </a:rPr>
                          <m:t>𝑆</m:t>
                        </m:r>
                      </m:e>
                      <m:sub>
                        <m:r>
                          <a:rPr lang="en-US" altLang="ja-JP" sz="2000">
                            <a:solidFill>
                              <a:schemeClr val="dk1"/>
                            </a:solidFill>
                            <a:latin typeface="Cambria Math" panose="02040503050406030204" pitchFamily="18" charset="0"/>
                          </a:rPr>
                          <m:t>𝑖𝑗</m:t>
                        </m:r>
                      </m:sub>
                    </m:sSub>
                  </m:oMath>
                </a14:m>
                <a:r>
                  <a:rPr lang="ja-JP" altLang="en-US" sz="2000" dirty="0"/>
                  <a:t>のアウトプットイメージおよび</a:t>
                </a:r>
                <a:br>
                  <a:rPr lang="en-US" altLang="ja-JP" sz="2000" dirty="0"/>
                </a:br>
                <a:r>
                  <a:rPr lang="ja-JP" altLang="en-US" sz="2000" dirty="0"/>
                  <a:t>係数 </a:t>
                </a:r>
                <a14:m>
                  <m:oMath xmlns:m="http://schemas.openxmlformats.org/officeDocument/2006/math">
                    <m:sSub>
                      <m:sSubPr>
                        <m:ctrlPr>
                          <a:rPr lang="en-US" altLang="ja-JP" sz="2000">
                            <a:solidFill>
                              <a:schemeClr val="dk1"/>
                            </a:solidFill>
                            <a:latin typeface="Cambria Math" panose="02040503050406030204" pitchFamily="18" charset="0"/>
                          </a:rPr>
                        </m:ctrlPr>
                      </m:sSubPr>
                      <m:e>
                        <m:r>
                          <a:rPr lang="en-US" altLang="ja-JP" sz="2000">
                            <a:solidFill>
                              <a:schemeClr val="dk1"/>
                            </a:solidFill>
                            <a:latin typeface="Cambria Math" panose="02040503050406030204" pitchFamily="18" charset="0"/>
                          </a:rPr>
                          <m:t>𝐶</m:t>
                        </m:r>
                      </m:e>
                      <m:sub>
                        <m:r>
                          <a:rPr lang="en-US" altLang="ja-JP" sz="2000">
                            <a:solidFill>
                              <a:schemeClr val="dk1"/>
                            </a:solidFill>
                            <a:latin typeface="Cambria Math" panose="02040503050406030204" pitchFamily="18" charset="0"/>
                          </a:rPr>
                          <m:t>𝑖𝑗</m:t>
                        </m:r>
                      </m:sub>
                    </m:sSub>
                  </m:oMath>
                </a14:m>
                <a:r>
                  <a:rPr lang="ja-JP" altLang="en-US" sz="2000" dirty="0"/>
                  <a:t>の符号による競合</a:t>
                </a:r>
                <a:r>
                  <a:rPr lang="en-US" altLang="ja-JP" sz="2000" dirty="0"/>
                  <a:t>(</a:t>
                </a:r>
                <a:r>
                  <a:rPr lang="ja-JP" altLang="en-US" sz="2000" dirty="0"/>
                  <a:t>代替</a:t>
                </a:r>
                <a:r>
                  <a:rPr lang="en-US" altLang="ja-JP" sz="2000" dirty="0"/>
                  <a:t>)</a:t>
                </a:r>
                <a:r>
                  <a:rPr lang="ja-JP" altLang="en-US" sz="2000" dirty="0"/>
                  <a:t>と補完</a:t>
                </a:r>
                <a:r>
                  <a:rPr lang="en-US" altLang="ja-JP" sz="2000" dirty="0"/>
                  <a:t>(</a:t>
                </a:r>
                <a:r>
                  <a:rPr lang="ja-JP" altLang="en-US" sz="2000" dirty="0"/>
                  <a:t>相補</a:t>
                </a:r>
                <a:r>
                  <a:rPr lang="en-US" altLang="ja-JP" sz="2000" dirty="0"/>
                  <a:t>)</a:t>
                </a:r>
                <a:r>
                  <a:rPr lang="ja-JP" altLang="en-US" sz="2000" dirty="0"/>
                  <a:t>を定量識別</a:t>
                </a:r>
              </a:p>
            </p:txBody>
          </p:sp>
        </mc:Choice>
        <mc:Fallback xmlns="">
          <p:sp>
            <p:nvSpPr>
              <p:cNvPr id="2" name="タイトル 1">
                <a:extLst>
                  <a:ext uri="{FF2B5EF4-FFF2-40B4-BE49-F238E27FC236}">
                    <a16:creationId xmlns:a16="http://schemas.microsoft.com/office/drawing/2014/main" id="{49806E19-8CB6-CAF1-B7BD-FCD38CEBC38B}"/>
                  </a:ext>
                </a:extLst>
              </p:cNvPr>
              <p:cNvSpPr>
                <a:spLocks noGrp="1" noRot="1" noChangeAspect="1" noMove="1" noResize="1" noEditPoints="1" noAdjustHandles="1" noChangeArrowheads="1" noChangeShapeType="1" noTextEdit="1"/>
              </p:cNvSpPr>
              <p:nvPr>
                <p:ph type="title"/>
              </p:nvPr>
            </p:nvSpPr>
            <p:spPr>
              <a:xfrm>
                <a:off x="374904" y="61259"/>
                <a:ext cx="10003638" cy="706210"/>
              </a:xfrm>
              <a:blipFill>
                <a:blip r:embed="rId2"/>
                <a:stretch>
                  <a:fillRect l="-670" t="-8621" b="-9483"/>
                </a:stretch>
              </a:blipFill>
            </p:spPr>
            <p:txBody>
              <a:bodyPr/>
              <a:lstStyle/>
              <a:p>
                <a:r>
                  <a:rPr lang="ja-JP" altLang="en-US">
                    <a:noFill/>
                  </a:rPr>
                  <a:t> </a:t>
                </a:r>
              </a:p>
            </p:txBody>
          </p:sp>
        </mc:Fallback>
      </mc:AlternateContent>
      <p:graphicFrame>
        <p:nvGraphicFramePr>
          <p:cNvPr id="4" name="Table 4">
            <a:extLst>
              <a:ext uri="{FF2B5EF4-FFF2-40B4-BE49-F238E27FC236}">
                <a16:creationId xmlns:a16="http://schemas.microsoft.com/office/drawing/2014/main" id="{EDC655DA-DBDC-3864-A139-15FA21B57C55}"/>
              </a:ext>
            </a:extLst>
          </p:cNvPr>
          <p:cNvGraphicFramePr>
            <a:graphicFrameLocks noGrp="1"/>
          </p:cNvGraphicFramePr>
          <p:nvPr>
            <p:extLst>
              <p:ext uri="{D42A27DB-BD31-4B8C-83A1-F6EECF244321}">
                <p14:modId xmlns:p14="http://schemas.microsoft.com/office/powerpoint/2010/main" val="1896724693"/>
              </p:ext>
            </p:extLst>
          </p:nvPr>
        </p:nvGraphicFramePr>
        <p:xfrm>
          <a:off x="152401" y="984419"/>
          <a:ext cx="6886573" cy="4120980"/>
        </p:xfrm>
        <a:graphic>
          <a:graphicData uri="http://schemas.openxmlformats.org/drawingml/2006/table">
            <a:tbl>
              <a:tblPr firstRow="1" bandRow="1">
                <a:tableStyleId>{5C22544A-7EE6-4342-B048-85BDC9FD1C3A}</a:tableStyleId>
              </a:tblPr>
              <a:tblGrid>
                <a:gridCol w="2046578">
                  <a:extLst>
                    <a:ext uri="{9D8B030D-6E8A-4147-A177-3AD203B41FA5}">
                      <a16:colId xmlns:a16="http://schemas.microsoft.com/office/drawing/2014/main" val="20000"/>
                    </a:ext>
                  </a:extLst>
                </a:gridCol>
                <a:gridCol w="1603248">
                  <a:extLst>
                    <a:ext uri="{9D8B030D-6E8A-4147-A177-3AD203B41FA5}">
                      <a16:colId xmlns:a16="http://schemas.microsoft.com/office/drawing/2014/main" val="20001"/>
                    </a:ext>
                  </a:extLst>
                </a:gridCol>
                <a:gridCol w="624599">
                  <a:extLst>
                    <a:ext uri="{9D8B030D-6E8A-4147-A177-3AD203B41FA5}">
                      <a16:colId xmlns:a16="http://schemas.microsoft.com/office/drawing/2014/main" val="20002"/>
                    </a:ext>
                  </a:extLst>
                </a:gridCol>
                <a:gridCol w="831138">
                  <a:extLst>
                    <a:ext uri="{9D8B030D-6E8A-4147-A177-3AD203B41FA5}">
                      <a16:colId xmlns:a16="http://schemas.microsoft.com/office/drawing/2014/main" val="20003"/>
                    </a:ext>
                  </a:extLst>
                </a:gridCol>
                <a:gridCol w="831138">
                  <a:extLst>
                    <a:ext uri="{9D8B030D-6E8A-4147-A177-3AD203B41FA5}">
                      <a16:colId xmlns:a16="http://schemas.microsoft.com/office/drawing/2014/main" val="20004"/>
                    </a:ext>
                  </a:extLst>
                </a:gridCol>
                <a:gridCol w="949872">
                  <a:extLst>
                    <a:ext uri="{9D8B030D-6E8A-4147-A177-3AD203B41FA5}">
                      <a16:colId xmlns:a16="http://schemas.microsoft.com/office/drawing/2014/main" val="20005"/>
                    </a:ext>
                  </a:extLst>
                </a:gridCol>
              </a:tblGrid>
              <a:tr h="588711">
                <a:tc>
                  <a:txBody>
                    <a:bodyPr/>
                    <a:lstStyle/>
                    <a:p>
                      <a:pPr algn="ctr">
                        <a:defRPr sz="900" b="1">
                          <a:solidFill>
                            <a:srgbClr val="F8FAFC"/>
                          </a:solidFill>
                          <a:latin typeface="Liberation Sans"/>
                        </a:defRPr>
                      </a:pPr>
                      <a:r>
                        <a:rPr sz="1300"/>
                        <a:t>技術ペア (Xᵢ × Xⱼ)</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主干渉帯域</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&lt;12h</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12-36h</a:t>
                      </a:r>
                    </a:p>
                    <a:p>
                      <a:r>
                        <a:rPr sz="1300"/>
                        <a:t>日次帯</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36-192h</a:t>
                      </a:r>
                    </a:p>
                    <a:p>
                      <a:r>
                        <a:rPr sz="1300"/>
                        <a:t>総観</a:t>
                      </a:r>
                    </a:p>
                  </a:txBody>
                  <a:tcPr marL="100817" marR="100817" marT="50408" marB="50408">
                    <a:solidFill>
                      <a:srgbClr val="0F172A"/>
                    </a:solidFill>
                  </a:tcPr>
                </a:tc>
                <a:tc>
                  <a:txBody>
                    <a:bodyPr/>
                    <a:lstStyle/>
                    <a:p>
                      <a:pPr algn="ctr">
                        <a:defRPr sz="900" b="1">
                          <a:solidFill>
                            <a:srgbClr val="F8FAFC"/>
                          </a:solidFill>
                          <a:latin typeface="Liberation Sans"/>
                        </a:defRPr>
                      </a:pPr>
                      <a:r>
                        <a:rPr sz="1300"/>
                        <a:t>192h+</a:t>
                      </a:r>
                    </a:p>
                    <a:p>
                      <a:r>
                        <a:rPr sz="1300"/>
                        <a:t>長周期</a:t>
                      </a:r>
                    </a:p>
                  </a:txBody>
                  <a:tcPr marL="100817" marR="100817" marT="50408" marB="50408">
                    <a:solidFill>
                      <a:srgbClr val="0F172A"/>
                    </a:solidFill>
                  </a:tcPr>
                </a:tc>
                <a:extLst>
                  <a:ext uri="{0D108BD9-81ED-4DB2-BD59-A6C34878D82A}">
                    <a16:rowId xmlns:a16="http://schemas.microsoft.com/office/drawing/2014/main" val="10000"/>
                  </a:ext>
                </a:extLst>
              </a:tr>
              <a:tr h="588711">
                <a:tc>
                  <a:txBody>
                    <a:bodyPr/>
                    <a:lstStyle/>
                    <a:p>
                      <a:pPr algn="l">
                        <a:defRPr sz="850" b="1">
                          <a:solidFill>
                            <a:srgbClr val="1E293B"/>
                          </a:solidFill>
                          <a:latin typeface="Liberation Sans"/>
                        </a:defRPr>
                      </a:pPr>
                      <a:r>
                        <a:rPr sz="1300"/>
                        <a:t>V1G × 定置用蓄電池</a:t>
                      </a:r>
                    </a:p>
                  </a:txBody>
                  <a:tcPr marL="100817" marR="100817" marT="50408" marB="50408">
                    <a:solidFill>
                      <a:srgbClr val="FFFFFF"/>
                    </a:solidFill>
                  </a:tcPr>
                </a:tc>
                <a:tc>
                  <a:txBody>
                    <a:bodyPr/>
                    <a:lstStyle/>
                    <a:p>
                      <a:pPr algn="ctr">
                        <a:defRPr sz="850" b="1">
                          <a:solidFill>
                            <a:srgbClr val="DC2626"/>
                          </a:solidFill>
                          <a:latin typeface="Liberation Sans"/>
                        </a:defRPr>
                      </a:pPr>
                      <a:r>
                        <a:rPr sz="1300"/>
                        <a:t>日次帯 (競合)</a:t>
                      </a:r>
                    </a:p>
                  </a:txBody>
                  <a:tcPr marL="100817" marR="100817" marT="50408" marB="50408">
                    <a:solidFill>
                      <a:srgbClr val="FFFFFF"/>
                    </a:solidFill>
                  </a:tcPr>
                </a:tc>
                <a:tc>
                  <a:txBody>
                    <a:bodyPr/>
                    <a:lstStyle/>
                    <a:p>
                      <a:pPr algn="ctr">
                        <a:defRPr sz="850" b="1">
                          <a:solidFill>
                            <a:srgbClr val="1E293B"/>
                          </a:solidFill>
                          <a:latin typeface="Liberation Sans"/>
                        </a:defRPr>
                      </a:pPr>
                      <a:r>
                        <a:rPr sz="1300"/>
                        <a:t>8%</a:t>
                      </a:r>
                    </a:p>
                  </a:txBody>
                  <a:tcPr marL="100817" marR="100817" marT="50408" marB="50408">
                    <a:solidFill>
                      <a:srgbClr val="FFFFFF"/>
                    </a:solidFill>
                  </a:tcPr>
                </a:tc>
                <a:tc>
                  <a:txBody>
                    <a:bodyPr/>
                    <a:lstStyle/>
                    <a:p>
                      <a:pPr algn="ctr">
                        <a:defRPr sz="850" b="1">
                          <a:solidFill>
                            <a:srgbClr val="1E293B"/>
                          </a:solidFill>
                          <a:latin typeface="Liberation Sans"/>
                        </a:defRPr>
                      </a:pPr>
                      <a:r>
                        <a:rPr sz="1300" dirty="0"/>
                        <a:t>15%</a:t>
                      </a:r>
                    </a:p>
                  </a:txBody>
                  <a:tcPr marL="100817" marR="100817" marT="50408" marB="50408">
                    <a:solidFill>
                      <a:srgbClr val="FEF2F2"/>
                    </a:solidFill>
                  </a:tcPr>
                </a:tc>
                <a:tc>
                  <a:txBody>
                    <a:bodyPr/>
                    <a:lstStyle/>
                    <a:p>
                      <a:pPr algn="ctr">
                        <a:defRPr sz="850" b="0">
                          <a:solidFill>
                            <a:srgbClr val="1E293B"/>
                          </a:solidFill>
                          <a:latin typeface="Liberation Sans"/>
                        </a:defRPr>
                      </a:pPr>
                      <a:r>
                        <a:rPr sz="1300" dirty="0"/>
                        <a:t>2%</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0%</a:t>
                      </a:r>
                    </a:p>
                  </a:txBody>
                  <a:tcPr marL="100817" marR="100817" marT="50408" marB="50408">
                    <a:solidFill>
                      <a:srgbClr val="FFFFFF"/>
                    </a:solidFill>
                  </a:tcPr>
                </a:tc>
                <a:extLst>
                  <a:ext uri="{0D108BD9-81ED-4DB2-BD59-A6C34878D82A}">
                    <a16:rowId xmlns:a16="http://schemas.microsoft.com/office/drawing/2014/main" val="10001"/>
                  </a:ext>
                </a:extLst>
              </a:tr>
              <a:tr h="588711">
                <a:tc>
                  <a:txBody>
                    <a:bodyPr/>
                    <a:lstStyle/>
                    <a:p>
                      <a:pPr algn="l">
                        <a:defRPr sz="850" b="1">
                          <a:solidFill>
                            <a:srgbClr val="1E293B"/>
                          </a:solidFill>
                          <a:latin typeface="Liberation Sans"/>
                        </a:defRPr>
                      </a:pPr>
                      <a:r>
                        <a:rPr sz="1300" dirty="0"/>
                        <a:t>V1G × </a:t>
                      </a:r>
                      <a:r>
                        <a:rPr sz="1300" dirty="0" err="1"/>
                        <a:t>水電解槽</a:t>
                      </a:r>
                      <a:endParaRPr sz="1300" dirty="0"/>
                    </a:p>
                  </a:txBody>
                  <a:tcPr marL="100817" marR="100817" marT="50408" marB="50408">
                    <a:solidFill>
                      <a:srgbClr val="F1F5F9"/>
                    </a:solidFill>
                  </a:tcPr>
                </a:tc>
                <a:tc>
                  <a:txBody>
                    <a:bodyPr/>
                    <a:lstStyle/>
                    <a:p>
                      <a:pPr algn="ctr">
                        <a:defRPr sz="850" b="1">
                          <a:solidFill>
                            <a:srgbClr val="DC2626"/>
                          </a:solidFill>
                          <a:latin typeface="Liberation Sans"/>
                        </a:defRPr>
                      </a:pPr>
                      <a:r>
                        <a:rPr sz="1300"/>
                        <a:t>日次帯 (競合)</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3%</a:t>
                      </a:r>
                    </a:p>
                  </a:txBody>
                  <a:tcPr marL="100817" marR="100817" marT="50408" marB="50408">
                    <a:solidFill>
                      <a:srgbClr val="F1F5F9"/>
                    </a:solidFill>
                  </a:tcPr>
                </a:tc>
                <a:tc>
                  <a:txBody>
                    <a:bodyPr/>
                    <a:lstStyle/>
                    <a:p>
                      <a:pPr algn="ctr">
                        <a:defRPr sz="850" b="1">
                          <a:solidFill>
                            <a:srgbClr val="1E293B"/>
                          </a:solidFill>
                          <a:latin typeface="Liberation Sans"/>
                        </a:defRPr>
                      </a:pPr>
                      <a:r>
                        <a:rPr sz="1300"/>
                        <a:t>12%</a:t>
                      </a:r>
                    </a:p>
                  </a:txBody>
                  <a:tcPr marL="100817" marR="100817" marT="50408" marB="50408">
                    <a:solidFill>
                      <a:srgbClr val="FEF2F2"/>
                    </a:solidFill>
                  </a:tcPr>
                </a:tc>
                <a:tc>
                  <a:txBody>
                    <a:bodyPr/>
                    <a:lstStyle/>
                    <a:p>
                      <a:pPr algn="ctr">
                        <a:defRPr sz="850" b="0">
                          <a:solidFill>
                            <a:srgbClr val="1E293B"/>
                          </a:solidFill>
                          <a:latin typeface="Liberation Sans"/>
                        </a:defRPr>
                      </a:pPr>
                      <a:r>
                        <a:rPr sz="1300"/>
                        <a:t>1%</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0%</a:t>
                      </a:r>
                    </a:p>
                  </a:txBody>
                  <a:tcPr marL="100817" marR="100817" marT="50408" marB="50408">
                    <a:solidFill>
                      <a:srgbClr val="F1F5F9"/>
                    </a:solidFill>
                  </a:tcPr>
                </a:tc>
                <a:extLst>
                  <a:ext uri="{0D108BD9-81ED-4DB2-BD59-A6C34878D82A}">
                    <a16:rowId xmlns:a16="http://schemas.microsoft.com/office/drawing/2014/main" val="10002"/>
                  </a:ext>
                </a:extLst>
              </a:tr>
              <a:tr h="588711">
                <a:tc>
                  <a:txBody>
                    <a:bodyPr/>
                    <a:lstStyle/>
                    <a:p>
                      <a:pPr algn="l">
                        <a:defRPr sz="850" b="1">
                          <a:solidFill>
                            <a:srgbClr val="1E293B"/>
                          </a:solidFill>
                          <a:latin typeface="Liberation Sans"/>
                        </a:defRPr>
                      </a:pPr>
                      <a:r>
                        <a:rPr sz="1300"/>
                        <a:t>定置用蓄電池 × 水電解槽</a:t>
                      </a:r>
                    </a:p>
                  </a:txBody>
                  <a:tcPr marL="100817" marR="100817" marT="50408" marB="50408">
                    <a:solidFill>
                      <a:srgbClr val="FFFFFF"/>
                    </a:solidFill>
                  </a:tcPr>
                </a:tc>
                <a:tc>
                  <a:txBody>
                    <a:bodyPr/>
                    <a:lstStyle/>
                    <a:p>
                      <a:pPr algn="ctr">
                        <a:defRPr sz="850" b="1">
                          <a:solidFill>
                            <a:srgbClr val="DC2626"/>
                          </a:solidFill>
                          <a:latin typeface="Liberation Sans"/>
                        </a:defRPr>
                      </a:pPr>
                      <a:r>
                        <a:rPr sz="1300"/>
                        <a:t>日次帯 (競合)</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2%</a:t>
                      </a:r>
                    </a:p>
                  </a:txBody>
                  <a:tcPr marL="100817" marR="100817" marT="50408" marB="50408">
                    <a:solidFill>
                      <a:srgbClr val="FFFFFF"/>
                    </a:solidFill>
                  </a:tcPr>
                </a:tc>
                <a:tc>
                  <a:txBody>
                    <a:bodyPr/>
                    <a:lstStyle/>
                    <a:p>
                      <a:pPr algn="ctr">
                        <a:defRPr sz="850" b="1">
                          <a:solidFill>
                            <a:srgbClr val="1E293B"/>
                          </a:solidFill>
                          <a:latin typeface="Liberation Sans"/>
                        </a:defRPr>
                      </a:pPr>
                      <a:r>
                        <a:rPr sz="1300"/>
                        <a:t>10%</a:t>
                      </a:r>
                    </a:p>
                  </a:txBody>
                  <a:tcPr marL="100817" marR="100817" marT="50408" marB="50408">
                    <a:solidFill>
                      <a:srgbClr val="FEF2F2"/>
                    </a:solidFill>
                  </a:tcPr>
                </a:tc>
                <a:tc>
                  <a:txBody>
                    <a:bodyPr/>
                    <a:lstStyle/>
                    <a:p>
                      <a:pPr algn="ctr">
                        <a:defRPr sz="850" b="0">
                          <a:solidFill>
                            <a:srgbClr val="1E293B"/>
                          </a:solidFill>
                          <a:latin typeface="Liberation Sans"/>
                        </a:defRPr>
                      </a:pPr>
                      <a:r>
                        <a:rPr sz="1300"/>
                        <a:t>1%</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0%</a:t>
                      </a:r>
                    </a:p>
                  </a:txBody>
                  <a:tcPr marL="100817" marR="100817" marT="50408" marB="50408">
                    <a:solidFill>
                      <a:srgbClr val="FFFFFF"/>
                    </a:solidFill>
                  </a:tcPr>
                </a:tc>
                <a:extLst>
                  <a:ext uri="{0D108BD9-81ED-4DB2-BD59-A6C34878D82A}">
                    <a16:rowId xmlns:a16="http://schemas.microsoft.com/office/drawing/2014/main" val="10003"/>
                  </a:ext>
                </a:extLst>
              </a:tr>
              <a:tr h="588711">
                <a:tc>
                  <a:txBody>
                    <a:bodyPr/>
                    <a:lstStyle/>
                    <a:p>
                      <a:pPr algn="l">
                        <a:defRPr sz="850" b="1">
                          <a:solidFill>
                            <a:srgbClr val="1E293B"/>
                          </a:solidFill>
                          <a:latin typeface="Liberation Sans"/>
                        </a:defRPr>
                      </a:pPr>
                      <a:r>
                        <a:rPr sz="1300"/>
                        <a:t>V1G × 地域間送電線</a:t>
                      </a:r>
                    </a:p>
                  </a:txBody>
                  <a:tcPr marL="100817" marR="100817" marT="50408" marB="50408">
                    <a:solidFill>
                      <a:srgbClr val="F1F5F9"/>
                    </a:solidFill>
                  </a:tcPr>
                </a:tc>
                <a:tc>
                  <a:txBody>
                    <a:bodyPr/>
                    <a:lstStyle/>
                    <a:p>
                      <a:pPr algn="ctr">
                        <a:defRPr sz="850" b="1">
                          <a:solidFill>
                            <a:srgbClr val="16A34A"/>
                          </a:solidFill>
                          <a:latin typeface="Liberation Sans"/>
                        </a:defRPr>
                      </a:pPr>
                      <a:r>
                        <a:rPr sz="1300"/>
                        <a:t>総観規模帯 (補完)</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1%</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3%</a:t>
                      </a:r>
                    </a:p>
                  </a:txBody>
                  <a:tcPr marL="100817" marR="100817" marT="50408" marB="50408">
                    <a:solidFill>
                      <a:srgbClr val="F1F5F9"/>
                    </a:solidFill>
                  </a:tcPr>
                </a:tc>
                <a:tc>
                  <a:txBody>
                    <a:bodyPr/>
                    <a:lstStyle/>
                    <a:p>
                      <a:pPr algn="ctr">
                        <a:defRPr sz="850" b="1">
                          <a:solidFill>
                            <a:srgbClr val="1E293B"/>
                          </a:solidFill>
                          <a:latin typeface="Liberation Sans"/>
                        </a:defRPr>
                      </a:pPr>
                      <a:r>
                        <a:rPr sz="1300"/>
                        <a:t>8%</a:t>
                      </a:r>
                    </a:p>
                  </a:txBody>
                  <a:tcPr marL="100817" marR="100817" marT="50408" marB="50408">
                    <a:solidFill>
                      <a:srgbClr val="F0FDF4"/>
                    </a:solidFill>
                  </a:tcPr>
                </a:tc>
                <a:tc>
                  <a:txBody>
                    <a:bodyPr/>
                    <a:lstStyle/>
                    <a:p>
                      <a:pPr algn="ctr">
                        <a:defRPr sz="850" b="0">
                          <a:solidFill>
                            <a:srgbClr val="1E293B"/>
                          </a:solidFill>
                          <a:latin typeface="Liberation Sans"/>
                        </a:defRPr>
                      </a:pPr>
                      <a:r>
                        <a:rPr sz="1300"/>
                        <a:t>2%</a:t>
                      </a:r>
                    </a:p>
                  </a:txBody>
                  <a:tcPr marL="100817" marR="100817" marT="50408" marB="50408">
                    <a:solidFill>
                      <a:srgbClr val="F0FDF4"/>
                    </a:solidFill>
                  </a:tcPr>
                </a:tc>
                <a:extLst>
                  <a:ext uri="{0D108BD9-81ED-4DB2-BD59-A6C34878D82A}">
                    <a16:rowId xmlns:a16="http://schemas.microsoft.com/office/drawing/2014/main" val="10004"/>
                  </a:ext>
                </a:extLst>
              </a:tr>
              <a:tr h="588711">
                <a:tc>
                  <a:txBody>
                    <a:bodyPr/>
                    <a:lstStyle/>
                    <a:p>
                      <a:pPr algn="l">
                        <a:defRPr sz="850" b="1">
                          <a:solidFill>
                            <a:srgbClr val="1E293B"/>
                          </a:solidFill>
                          <a:latin typeface="Liberation Sans"/>
                        </a:defRPr>
                      </a:pPr>
                      <a:r>
                        <a:rPr sz="1300"/>
                        <a:t>地域間送電 × 水素貯蔵</a:t>
                      </a:r>
                    </a:p>
                  </a:txBody>
                  <a:tcPr marL="100817" marR="100817" marT="50408" marB="50408">
                    <a:solidFill>
                      <a:srgbClr val="FFFFFF"/>
                    </a:solidFill>
                  </a:tcPr>
                </a:tc>
                <a:tc>
                  <a:txBody>
                    <a:bodyPr/>
                    <a:lstStyle/>
                    <a:p>
                      <a:pPr algn="ctr">
                        <a:defRPr sz="850" b="1">
                          <a:solidFill>
                            <a:srgbClr val="16A34A"/>
                          </a:solidFill>
                          <a:latin typeface="Liberation Sans"/>
                        </a:defRPr>
                      </a:pPr>
                      <a:r>
                        <a:rPr sz="1300" dirty="0" err="1"/>
                        <a:t>Dunkelflaute</a:t>
                      </a:r>
                      <a:r>
                        <a:rPr sz="1300" dirty="0"/>
                        <a:t> (</a:t>
                      </a:r>
                      <a:r>
                        <a:rPr sz="1300" dirty="0" err="1"/>
                        <a:t>補完</a:t>
                      </a:r>
                      <a:r>
                        <a:rPr sz="1300" dirty="0"/>
                        <a:t>)</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0%</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1%</a:t>
                      </a:r>
                    </a:p>
                  </a:txBody>
                  <a:tcPr marL="100817" marR="100817" marT="50408" marB="50408">
                    <a:solidFill>
                      <a:srgbClr val="FFFFFF"/>
                    </a:solidFill>
                  </a:tcPr>
                </a:tc>
                <a:tc>
                  <a:txBody>
                    <a:bodyPr/>
                    <a:lstStyle/>
                    <a:p>
                      <a:pPr algn="ctr">
                        <a:defRPr sz="850" b="0">
                          <a:solidFill>
                            <a:srgbClr val="1E293B"/>
                          </a:solidFill>
                          <a:latin typeface="Liberation Sans"/>
                        </a:defRPr>
                      </a:pPr>
                      <a:r>
                        <a:rPr sz="1300"/>
                        <a:t>3%</a:t>
                      </a:r>
                    </a:p>
                  </a:txBody>
                  <a:tcPr marL="100817" marR="100817" marT="50408" marB="50408">
                    <a:solidFill>
                      <a:srgbClr val="F0FDF4"/>
                    </a:solidFill>
                  </a:tcPr>
                </a:tc>
                <a:tc>
                  <a:txBody>
                    <a:bodyPr/>
                    <a:lstStyle/>
                    <a:p>
                      <a:pPr algn="ctr">
                        <a:defRPr sz="850" b="0">
                          <a:solidFill>
                            <a:srgbClr val="1E293B"/>
                          </a:solidFill>
                          <a:latin typeface="Liberation Sans"/>
                        </a:defRPr>
                      </a:pPr>
                      <a:r>
                        <a:rPr sz="1300" dirty="0"/>
                        <a:t>6%</a:t>
                      </a:r>
                    </a:p>
                  </a:txBody>
                  <a:tcPr marL="100817" marR="100817" marT="50408" marB="50408">
                    <a:solidFill>
                      <a:srgbClr val="F0FDF4"/>
                    </a:solidFill>
                  </a:tcPr>
                </a:tc>
                <a:extLst>
                  <a:ext uri="{0D108BD9-81ED-4DB2-BD59-A6C34878D82A}">
                    <a16:rowId xmlns:a16="http://schemas.microsoft.com/office/drawing/2014/main" val="10005"/>
                  </a:ext>
                </a:extLst>
              </a:tr>
              <a:tr h="588714">
                <a:tc>
                  <a:txBody>
                    <a:bodyPr/>
                    <a:lstStyle/>
                    <a:p>
                      <a:pPr algn="l">
                        <a:defRPr sz="850" b="1">
                          <a:solidFill>
                            <a:srgbClr val="1E293B"/>
                          </a:solidFill>
                          <a:latin typeface="Liberation Sans"/>
                        </a:defRPr>
                      </a:pPr>
                      <a:r>
                        <a:rPr sz="1300"/>
                        <a:t>水電解槽 × 水素輸入価格</a:t>
                      </a:r>
                    </a:p>
                  </a:txBody>
                  <a:tcPr marL="100817" marR="100817" marT="50408" marB="50408">
                    <a:solidFill>
                      <a:srgbClr val="F1F5F9"/>
                    </a:solidFill>
                  </a:tcPr>
                </a:tc>
                <a:tc>
                  <a:txBody>
                    <a:bodyPr/>
                    <a:lstStyle/>
                    <a:p>
                      <a:pPr algn="ctr">
                        <a:defRPr sz="850" b="1">
                          <a:solidFill>
                            <a:srgbClr val="16A34A"/>
                          </a:solidFill>
                          <a:latin typeface="Liberation Sans"/>
                        </a:defRPr>
                      </a:pPr>
                      <a:r>
                        <a:rPr sz="1300"/>
                        <a:t>季節帯 (補完)</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0%</a:t>
                      </a:r>
                    </a:p>
                  </a:txBody>
                  <a:tcPr marL="100817" marR="100817" marT="50408" marB="50408">
                    <a:solidFill>
                      <a:srgbClr val="F1F5F9"/>
                    </a:solidFill>
                  </a:tcPr>
                </a:tc>
                <a:tc>
                  <a:txBody>
                    <a:bodyPr/>
                    <a:lstStyle/>
                    <a:p>
                      <a:pPr algn="ctr">
                        <a:defRPr sz="850" b="0">
                          <a:solidFill>
                            <a:srgbClr val="1E293B"/>
                          </a:solidFill>
                          <a:latin typeface="Liberation Sans"/>
                        </a:defRPr>
                      </a:pPr>
                      <a:r>
                        <a:rPr sz="1300"/>
                        <a:t>1%</a:t>
                      </a:r>
                    </a:p>
                  </a:txBody>
                  <a:tcPr marL="100817" marR="100817" marT="50408" marB="50408">
                    <a:solidFill>
                      <a:srgbClr val="F1F5F9"/>
                    </a:solidFill>
                  </a:tcPr>
                </a:tc>
                <a:tc>
                  <a:txBody>
                    <a:bodyPr/>
                    <a:lstStyle/>
                    <a:p>
                      <a:pPr algn="ctr">
                        <a:defRPr sz="850" b="0">
                          <a:solidFill>
                            <a:srgbClr val="1E293B"/>
                          </a:solidFill>
                          <a:latin typeface="Liberation Sans"/>
                        </a:defRPr>
                      </a:pPr>
                      <a:r>
                        <a:rPr sz="1300" dirty="0"/>
                        <a:t>1%</a:t>
                      </a:r>
                    </a:p>
                  </a:txBody>
                  <a:tcPr marL="100817" marR="100817" marT="50408" marB="50408">
                    <a:solidFill>
                      <a:srgbClr val="F0FDF4"/>
                    </a:solidFill>
                  </a:tcPr>
                </a:tc>
                <a:tc>
                  <a:txBody>
                    <a:bodyPr/>
                    <a:lstStyle/>
                    <a:p>
                      <a:pPr algn="ctr">
                        <a:defRPr sz="850" b="0">
                          <a:solidFill>
                            <a:srgbClr val="1E293B"/>
                          </a:solidFill>
                          <a:latin typeface="Liberation Sans"/>
                        </a:defRPr>
                      </a:pPr>
                      <a:r>
                        <a:rPr sz="1300" dirty="0"/>
                        <a:t>7%</a:t>
                      </a:r>
                    </a:p>
                  </a:txBody>
                  <a:tcPr marL="100817" marR="100817" marT="50408" marB="50408">
                    <a:solidFill>
                      <a:srgbClr val="F0FDF4"/>
                    </a:solidFill>
                  </a:tcPr>
                </a:tc>
                <a:extLst>
                  <a:ext uri="{0D108BD9-81ED-4DB2-BD59-A6C34878D82A}">
                    <a16:rowId xmlns:a16="http://schemas.microsoft.com/office/drawing/2014/main" val="10006"/>
                  </a:ext>
                </a:extLst>
              </a:tr>
            </a:tbl>
          </a:graphicData>
        </a:graphic>
      </p:graphicFrame>
      <p:sp>
        <p:nvSpPr>
          <p:cNvPr id="6" name="Rounded Rectangle 5">
            <a:extLst>
              <a:ext uri="{FF2B5EF4-FFF2-40B4-BE49-F238E27FC236}">
                <a16:creationId xmlns:a16="http://schemas.microsoft.com/office/drawing/2014/main" id="{722FACC7-4C73-C58B-C98F-EA1A8CD9114B}"/>
              </a:ext>
            </a:extLst>
          </p:cNvPr>
          <p:cNvSpPr/>
          <p:nvPr/>
        </p:nvSpPr>
        <p:spPr>
          <a:xfrm>
            <a:off x="7354037" y="984420"/>
            <a:ext cx="3024505" cy="1327962"/>
          </a:xfrm>
          <a:prstGeom prst="roundRect">
            <a:avLst>
              <a:gd name="adj" fmla="val 8731"/>
            </a:avLst>
          </a:prstGeom>
          <a:solidFill>
            <a:srgbClr val="FEF2F2"/>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100" b="1">
                <a:solidFill>
                  <a:srgbClr val="DC2626"/>
                </a:solidFill>
                <a:latin typeface="Liberation Sans"/>
              </a:defRPr>
            </a:pPr>
            <a:r>
              <a:rPr sz="1213" dirty="0">
                <a:latin typeface="+mn-ea"/>
              </a:rPr>
              <a:t>【</a:t>
            </a:r>
            <a:r>
              <a:rPr sz="1213" dirty="0" err="1">
                <a:latin typeface="+mn-ea"/>
              </a:rPr>
              <a:t>競合（代替）関係</a:t>
            </a:r>
            <a:r>
              <a:rPr sz="1213" dirty="0">
                <a:latin typeface="+mn-ea"/>
              </a:rPr>
              <a:t>】 cᵢⱼ &lt; 0</a:t>
            </a:r>
          </a:p>
          <a:p>
            <a:pPr>
              <a:defRPr sz="900">
                <a:solidFill>
                  <a:srgbClr val="1E293B"/>
                </a:solidFill>
                <a:latin typeface="Liberation Sans"/>
              </a:defRPr>
            </a:pPr>
            <a:r>
              <a:rPr sz="992" dirty="0">
                <a:latin typeface="+mn-ea"/>
              </a:rPr>
              <a:t>・</a:t>
            </a:r>
            <a:r>
              <a:rPr sz="992" dirty="0" err="1">
                <a:latin typeface="+mn-ea"/>
              </a:rPr>
              <a:t>日次帯</a:t>
            </a:r>
            <a:r>
              <a:rPr sz="992" dirty="0">
                <a:latin typeface="+mn-ea"/>
              </a:rPr>
              <a:t>(12〜36h)において、V1G・蓄電池・電解槽の交差項が負(cᵢⱼ &lt; 0)</a:t>
            </a:r>
            <a:r>
              <a:rPr sz="992" dirty="0" err="1">
                <a:latin typeface="+mn-ea"/>
              </a:rPr>
              <a:t>を記録</a:t>
            </a:r>
            <a:r>
              <a:rPr sz="992" dirty="0">
                <a:latin typeface="+mn-ea"/>
              </a:rPr>
              <a:t>。</a:t>
            </a:r>
            <a:br>
              <a:rPr sz="992" dirty="0">
                <a:latin typeface="+mn-ea"/>
              </a:rPr>
            </a:br>
            <a:r>
              <a:rPr sz="992" dirty="0">
                <a:latin typeface="+mn-ea"/>
              </a:rPr>
              <a:t>・</a:t>
            </a:r>
            <a:r>
              <a:rPr sz="992" dirty="0" err="1">
                <a:latin typeface="+mn-ea"/>
              </a:rPr>
              <a:t>同じ『日中の安価な太陽光余剰電力』を奪い合うため、一方の増強が他方の限界価値を引き下げる</a:t>
            </a:r>
            <a:r>
              <a:rPr sz="992" dirty="0">
                <a:latin typeface="+mn-ea"/>
              </a:rPr>
              <a:t>。</a:t>
            </a:r>
          </a:p>
        </p:txBody>
      </p:sp>
      <p:sp>
        <p:nvSpPr>
          <p:cNvPr id="8" name="Rounded Rectangle 6">
            <a:extLst>
              <a:ext uri="{FF2B5EF4-FFF2-40B4-BE49-F238E27FC236}">
                <a16:creationId xmlns:a16="http://schemas.microsoft.com/office/drawing/2014/main" id="{D9C33BDD-3B05-6E61-50B4-7EFF919BF08C}"/>
              </a:ext>
            </a:extLst>
          </p:cNvPr>
          <p:cNvSpPr/>
          <p:nvPr/>
        </p:nvSpPr>
        <p:spPr>
          <a:xfrm>
            <a:off x="7354037" y="2529333"/>
            <a:ext cx="3024505" cy="1610867"/>
          </a:xfrm>
          <a:prstGeom prst="roundRect">
            <a:avLst>
              <a:gd name="adj" fmla="val 7946"/>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100" b="1">
                <a:solidFill>
                  <a:srgbClr val="16A34A"/>
                </a:solidFill>
                <a:latin typeface="Liberation Sans"/>
              </a:defRPr>
            </a:pPr>
            <a:r>
              <a:rPr dirty="0">
                <a:latin typeface="+mn-ea"/>
              </a:rPr>
              <a:t>【</a:t>
            </a:r>
            <a:r>
              <a:rPr dirty="0" err="1">
                <a:latin typeface="+mn-ea"/>
              </a:rPr>
              <a:t>相補（補完）関係</a:t>
            </a:r>
            <a:r>
              <a:rPr dirty="0">
                <a:latin typeface="+mn-ea"/>
              </a:rPr>
              <a:t>】 cᵢⱼ &gt; 0</a:t>
            </a:r>
          </a:p>
          <a:p>
            <a:pPr>
              <a:defRPr sz="900">
                <a:solidFill>
                  <a:srgbClr val="1E293B"/>
                </a:solidFill>
                <a:latin typeface="Liberation Sans"/>
              </a:defRPr>
            </a:pPr>
            <a:r>
              <a:rPr sz="1200" dirty="0">
                <a:latin typeface="+mn-ea"/>
              </a:rPr>
              <a:t>・V1G × </a:t>
            </a:r>
            <a:r>
              <a:rPr sz="1200" dirty="0" err="1">
                <a:latin typeface="+mn-ea"/>
              </a:rPr>
              <a:t>送電線や、送電線</a:t>
            </a:r>
            <a:r>
              <a:rPr sz="1200" dirty="0">
                <a:latin typeface="+mn-ea"/>
              </a:rPr>
              <a:t> × </a:t>
            </a:r>
            <a:r>
              <a:rPr sz="1200" dirty="0" err="1">
                <a:latin typeface="+mn-ea"/>
              </a:rPr>
              <a:t>水素貯蔵は交差項が正</a:t>
            </a:r>
            <a:r>
              <a:rPr sz="1200" dirty="0">
                <a:latin typeface="+mn-ea"/>
              </a:rPr>
              <a:t>(cᵢⱼ &gt; 0)</a:t>
            </a:r>
            <a:r>
              <a:rPr sz="1200" dirty="0" err="1">
                <a:latin typeface="+mn-ea"/>
              </a:rPr>
              <a:t>を記録</a:t>
            </a:r>
            <a:r>
              <a:rPr sz="1200" dirty="0">
                <a:latin typeface="+mn-ea"/>
              </a:rPr>
              <a:t>。</a:t>
            </a:r>
            <a:br>
              <a:rPr sz="1200" dirty="0">
                <a:latin typeface="+mn-ea"/>
              </a:rPr>
            </a:br>
            <a:r>
              <a:rPr sz="1200" dirty="0">
                <a:latin typeface="+mn-ea"/>
              </a:rPr>
              <a:t>・短周期の局所混雑をV1Gが吸収することで、中長周期の広域送電線や水素貯蔵の稼働効率が相乗的に高まる。</a:t>
            </a:r>
          </a:p>
        </p:txBody>
      </p:sp>
      <mc:AlternateContent xmlns:mc="http://schemas.openxmlformats.org/markup-compatibility/2006" xmlns:a14="http://schemas.microsoft.com/office/drawing/2010/main">
        <mc:Choice Requires="a14">
          <p:graphicFrame>
            <p:nvGraphicFramePr>
              <p:cNvPr id="5" name="表 4">
                <a:extLst>
                  <a:ext uri="{FF2B5EF4-FFF2-40B4-BE49-F238E27FC236}">
                    <a16:creationId xmlns:a16="http://schemas.microsoft.com/office/drawing/2014/main" id="{9395DFF6-37DB-F226-9CB9-138413B7A102}"/>
                  </a:ext>
                </a:extLst>
              </p:cNvPr>
              <p:cNvGraphicFramePr>
                <a:graphicFrameLocks noGrp="1"/>
              </p:cNvGraphicFramePr>
              <p:nvPr>
                <p:extLst>
                  <p:ext uri="{D42A27DB-BD31-4B8C-83A1-F6EECF244321}">
                    <p14:modId xmlns:p14="http://schemas.microsoft.com/office/powerpoint/2010/main" val="1745585311"/>
                  </p:ext>
                </p:extLst>
              </p:nvPr>
            </p:nvGraphicFramePr>
            <p:xfrm>
              <a:off x="152400" y="5251385"/>
              <a:ext cx="10226140" cy="2152651"/>
            </p:xfrm>
            <a:graphic>
              <a:graphicData uri="http://schemas.openxmlformats.org/drawingml/2006/table">
                <a:tbl>
                  <a:tblPr firstRow="1" bandRow="1">
                    <a:tableStyleId>{854B67C7-B280-42D8-B184-0A409CBFCAF9}</a:tableStyleId>
                  </a:tblPr>
                  <a:tblGrid>
                    <a:gridCol w="1312738">
                      <a:extLst>
                        <a:ext uri="{9D8B030D-6E8A-4147-A177-3AD203B41FA5}">
                          <a16:colId xmlns:a16="http://schemas.microsoft.com/office/drawing/2014/main" val="1855451579"/>
                        </a:ext>
                      </a:extLst>
                    </a:gridCol>
                    <a:gridCol w="2064258">
                      <a:extLst>
                        <a:ext uri="{9D8B030D-6E8A-4147-A177-3AD203B41FA5}">
                          <a16:colId xmlns:a16="http://schemas.microsoft.com/office/drawing/2014/main" val="3336181928"/>
                        </a:ext>
                      </a:extLst>
                    </a:gridCol>
                    <a:gridCol w="2270684">
                      <a:extLst>
                        <a:ext uri="{9D8B030D-6E8A-4147-A177-3AD203B41FA5}">
                          <a16:colId xmlns:a16="http://schemas.microsoft.com/office/drawing/2014/main" val="1420216552"/>
                        </a:ext>
                      </a:extLst>
                    </a:gridCol>
                    <a:gridCol w="4578460">
                      <a:extLst>
                        <a:ext uri="{9D8B030D-6E8A-4147-A177-3AD203B41FA5}">
                          <a16:colId xmlns:a16="http://schemas.microsoft.com/office/drawing/2014/main" val="14545270"/>
                        </a:ext>
                      </a:extLst>
                    </a:gridCol>
                  </a:tblGrid>
                  <a:tr h="376714">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主効果の配置</a:t>
                          </a:r>
                        </a:p>
                      </a:txBody>
                      <a:tcPr anchor="ctr"/>
                    </a:tc>
                    <a:tc>
                      <a:txBody>
                        <a:bodyPr/>
                        <a:lstStyle/>
                        <a:p>
                          <a:pPr marL="0" algn="l" defTabSz="914400" rtl="0" eaLnBrk="1" latinLnBrk="0" hangingPunct="1">
                            <a:buNone/>
                          </a:pPr>
                          <a:r>
                            <a:rPr kumimoji="1" lang="ja-JP" altLang="en-US" sz="1400" b="1" i="0" kern="1200" dirty="0">
                              <a:solidFill>
                                <a:schemeClr val="bg1"/>
                              </a:solidFill>
                              <a:latin typeface="+mn-ea"/>
                              <a:ea typeface="+mn-ea"/>
                              <a:cs typeface="Times New Roman"/>
                            </a:rPr>
                            <a:t>交差項の符号（</a:t>
                          </a:r>
                          <a14:m>
                            <m:oMath xmlns:m="http://schemas.openxmlformats.org/officeDocument/2006/math">
                              <m:sSub>
                                <m:sSubPr>
                                  <m:ctrlPr>
                                    <a:rPr kumimoji="1" lang="en-US" altLang="ja-JP" sz="1400" b="1" i="0" kern="1200" smtClean="0">
                                      <a:solidFill>
                                        <a:schemeClr val="bg1"/>
                                      </a:solidFill>
                                      <a:latin typeface="Cambria Math" panose="02040503050406030204" pitchFamily="18" charset="0"/>
                                      <a:ea typeface="+mn-ea"/>
                                      <a:cs typeface="Times New Roman"/>
                                    </a:rPr>
                                  </m:ctrlPr>
                                </m:sSubPr>
                                <m:e>
                                  <m:r>
                                    <a:rPr kumimoji="1" lang="en-US" altLang="ja-JP" sz="1400" b="1" i="0" kern="1200" smtClean="0">
                                      <a:solidFill>
                                        <a:schemeClr val="bg1"/>
                                      </a:solidFill>
                                      <a:latin typeface="Cambria Math" panose="02040503050406030204" pitchFamily="18" charset="0"/>
                                      <a:ea typeface="+mn-ea"/>
                                      <a:cs typeface="Times New Roman"/>
                                    </a:rPr>
                                    <m:t>𝐂</m:t>
                                  </m:r>
                                </m:e>
                                <m:sub>
                                  <m:r>
                                    <a:rPr kumimoji="1" lang="en-US" altLang="ja-JP" sz="1400" b="1" i="0" kern="1200" smtClean="0">
                                      <a:solidFill>
                                        <a:schemeClr val="bg1"/>
                                      </a:solidFill>
                                      <a:latin typeface="Cambria Math" panose="02040503050406030204" pitchFamily="18" charset="0"/>
                                      <a:ea typeface="+mn-ea"/>
                                      <a:cs typeface="Times New Roman"/>
                                    </a:rPr>
                                    <m:t>𝐢𝐣</m:t>
                                  </m:r>
                                </m:sub>
                              </m:sSub>
                            </m:oMath>
                          </a14:m>
                          <a:r>
                            <a:rPr kumimoji="1" lang="ja-JP" altLang="en-US" sz="1400" b="1" i="0" kern="1200" dirty="0">
                              <a:solidFill>
                                <a:schemeClr val="bg1"/>
                              </a:solidFill>
                              <a:latin typeface="+mn-ea"/>
                              <a:ea typeface="+mn-ea"/>
                              <a:cs typeface="Times New Roman"/>
                            </a:rPr>
                            <a:t>）</a:t>
                          </a:r>
                        </a:p>
                      </a:txBody>
                      <a:tcPr anchor="ctr"/>
                    </a:tc>
                    <a:tc>
                      <a:txBody>
                        <a:bodyPr/>
                        <a:lstStyle/>
                        <a:p>
                          <a:pPr marL="0" algn="l" defTabSz="914400" rtl="0" eaLnBrk="1" latinLnBrk="0" hangingPunct="1">
                            <a:buNone/>
                          </a:pPr>
                          <a:r>
                            <a:rPr kumimoji="1" lang="ja-JP" altLang="en-US" sz="1400" b="1" kern="1200" dirty="0">
                              <a:solidFill>
                                <a:schemeClr val="bg1"/>
                              </a:solidFill>
                              <a:latin typeface="+mn-ea"/>
                              <a:ea typeface="+mn-ea"/>
                            </a:rPr>
                            <a:t>診断分類</a:t>
                          </a:r>
                          <a:endParaRPr kumimoji="1" lang="ja-JP" altLang="en-US" sz="1400" b="1" i="0" kern="1200" dirty="0">
                            <a:solidFill>
                              <a:schemeClr val="bg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1" kern="1200" dirty="0">
                              <a:solidFill>
                                <a:schemeClr val="bg1"/>
                              </a:solidFill>
                              <a:latin typeface="+mn-ea"/>
                              <a:ea typeface="+mn-ea"/>
                            </a:rPr>
                            <a:t>物理的メカニズム</a:t>
                          </a:r>
                          <a:endParaRPr kumimoji="1" lang="ja-JP" altLang="en-US" sz="1400" b="1" i="0" kern="1200" dirty="0">
                            <a:solidFill>
                              <a:schemeClr val="bg1"/>
                            </a:solidFill>
                            <a:latin typeface="+mn-ea"/>
                            <a:ea typeface="+mn-ea"/>
                            <a:cs typeface="Times New Roman"/>
                          </a:endParaRPr>
                        </a:p>
                      </a:txBody>
                      <a:tcPr anchor="ctr"/>
                    </a:tc>
                    <a:extLst>
                      <a:ext uri="{0D108BD9-81ED-4DB2-BD59-A6C34878D82A}">
                        <a16:rowId xmlns:a16="http://schemas.microsoft.com/office/drawing/2014/main" val="4291864142"/>
                      </a:ext>
                    </a:extLst>
                  </a:tr>
                  <a:tr h="699611">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負（</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Times New Roman"/>
                                      <a:cs typeface="Times New Roman"/>
                                    </a:rPr>
                                  </m:ctrlPr>
                                </m:sSubPr>
                                <m:e>
                                  <m:r>
                                    <m:rPr>
                                      <m:sty m:val="p"/>
                                    </m:rPr>
                                    <a:rPr kumimoji="1" lang="en-US" altLang="ja-JP" sz="1400" b="0" i="0" kern="1200" smtClean="0">
                                      <a:solidFill>
                                        <a:schemeClr val="dk1"/>
                                      </a:solidFill>
                                      <a:latin typeface="Cambria Math" panose="02040503050406030204" pitchFamily="18" charset="0"/>
                                      <a:ea typeface="Times New Roman"/>
                                      <a:cs typeface="Times New Roman"/>
                                    </a:rPr>
                                    <m:t>C</m:t>
                                  </m:r>
                                </m:e>
                                <m:sub>
                                  <m:r>
                                    <m:rPr>
                                      <m:sty m:val="p"/>
                                    </m:rPr>
                                    <a:rPr kumimoji="1" lang="en-US" altLang="ja-JP" sz="1400" b="0" i="0" kern="1200" smtClean="0">
                                      <a:solidFill>
                                        <a:schemeClr val="dk1"/>
                                      </a:solidFill>
                                      <a:latin typeface="Cambria Math" panose="02040503050406030204" pitchFamily="18" charset="0"/>
                                      <a:ea typeface="Times New Roman"/>
                                      <a:cs typeface="Times New Roman"/>
                                    </a:rPr>
                                    <m:t>ij</m:t>
                                  </m:r>
                                </m:sub>
                              </m:sSub>
                              <m:r>
                                <a:rPr kumimoji="1" lang="en-US" altLang="ja-JP" sz="1400" b="0" i="0" kern="1200" smtClean="0">
                                  <a:solidFill>
                                    <a:schemeClr val="dk1"/>
                                  </a:solidFill>
                                  <a:latin typeface="Cambria Math" panose="02040503050406030204" pitchFamily="18" charset="0"/>
                                  <a:ea typeface="Times New Roman"/>
                                  <a:cs typeface="Times New Roman"/>
                                </a:rPr>
                                <m:t>&lt;0</m:t>
                              </m:r>
                            </m:oMath>
                          </a14:m>
                          <a:r>
                            <a:rPr kumimoji="1" lang="ja-JP" altLang="en-US" sz="1400" b="0" i="0" kern="1200" dirty="0">
                              <a:solidFill>
                                <a:schemeClr val="tx1"/>
                              </a:solidFill>
                              <a:latin typeface="+mn-ea"/>
                              <a:ea typeface="+mn-ea"/>
                            </a:rPr>
                            <a:t>）</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dirty="0">
                              <a:solidFill>
                                <a:schemeClr val="tx1"/>
                              </a:solidFill>
                              <a:latin typeface="+mn-ea"/>
                              <a:ea typeface="+mn-ea"/>
                            </a:rPr>
                            <a:t>【</a:t>
                          </a:r>
                          <a:r>
                            <a:rPr kumimoji="1" lang="ja-JP" altLang="en-US" sz="1400" b="0" i="0" kern="1200" dirty="0">
                              <a:solidFill>
                                <a:schemeClr val="tx1"/>
                              </a:solidFill>
                              <a:latin typeface="+mn-ea"/>
                              <a:ea typeface="+mn-ea"/>
                            </a:rPr>
                            <a:t>直接競合（代替）</a:t>
                          </a:r>
                          <a:r>
                            <a:rPr kumimoji="1" lang="en-US" altLang="ja-JP" sz="1400" b="0" i="0" kern="1200" dirty="0">
                              <a:solidFill>
                                <a:schemeClr val="tx1"/>
                              </a:solidFill>
                              <a:latin typeface="+mn-ea"/>
                              <a:ea typeface="+mn-ea"/>
                            </a:rPr>
                            <a:t>】</a:t>
                          </a:r>
                          <a:endParaRPr kumimoji="1" lang="en-US" altLang="ja-JP"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同一時間軸で同じ仕事（余剰吸収など）を奪い合う（例</a:t>
                          </a:r>
                          <a:r>
                            <a:rPr kumimoji="1" lang="en-US" altLang="ja-JP" sz="1400" b="0" i="0" kern="1200" dirty="0">
                              <a:solidFill>
                                <a:schemeClr val="tx1"/>
                              </a:solidFill>
                              <a:latin typeface="+mn-ea"/>
                              <a:ea typeface="+mn-ea"/>
                            </a:rPr>
                            <a:t>: V1G × </a:t>
                          </a:r>
                          <a:r>
                            <a:rPr kumimoji="1" lang="ja-JP" altLang="en-US" sz="1400" b="0" i="0" kern="1200" dirty="0">
                              <a:solidFill>
                                <a:schemeClr val="tx1"/>
                              </a:solidFill>
                              <a:latin typeface="+mn-ea"/>
                              <a:ea typeface="+mn-ea"/>
                            </a:rPr>
                            <a:t>蓄電池）</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3420259445"/>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正（</a:t>
                          </a:r>
                          <a14:m>
                            <m:oMath xmlns:m="http://schemas.openxmlformats.org/officeDocument/2006/math">
                              <m:sSub>
                                <m:sSubPr>
                                  <m:ctrlPr>
                                    <a:rPr kumimoji="1" lang="en-US" altLang="ja-JP" sz="1400" b="0" i="0" kern="1200" smtClean="0">
                                      <a:solidFill>
                                        <a:schemeClr val="dk1"/>
                                      </a:solidFill>
                                      <a:latin typeface="Cambria Math" panose="02040503050406030204" pitchFamily="18" charset="0"/>
                                      <a:ea typeface="Times New Roman"/>
                                      <a:cs typeface="Times New Roman"/>
                                    </a:rPr>
                                  </m:ctrlPr>
                                </m:sSubPr>
                                <m:e>
                                  <m:r>
                                    <m:rPr>
                                      <m:sty m:val="p"/>
                                    </m:rPr>
                                    <a:rPr kumimoji="1" lang="en-US" altLang="ja-JP" sz="1400" b="0" i="0" kern="1200" smtClean="0">
                                      <a:solidFill>
                                        <a:schemeClr val="dk1"/>
                                      </a:solidFill>
                                      <a:latin typeface="Cambria Math" panose="02040503050406030204" pitchFamily="18" charset="0"/>
                                      <a:ea typeface="Times New Roman"/>
                                      <a:cs typeface="Times New Roman"/>
                                    </a:rPr>
                                    <m:t>C</m:t>
                                  </m:r>
                                </m:e>
                                <m:sub>
                                  <m:r>
                                    <m:rPr>
                                      <m:sty m:val="p"/>
                                    </m:rPr>
                                    <a:rPr kumimoji="1" lang="en-US" altLang="ja-JP" sz="1400" b="0" i="0" kern="1200" smtClean="0">
                                      <a:solidFill>
                                        <a:schemeClr val="dk1"/>
                                      </a:solidFill>
                                      <a:latin typeface="Cambria Math" panose="02040503050406030204" pitchFamily="18" charset="0"/>
                                      <a:ea typeface="Times New Roman"/>
                                      <a:cs typeface="Times New Roman"/>
                                    </a:rPr>
                                    <m:t>ij</m:t>
                                  </m:r>
                                </m:sub>
                              </m:sSub>
                              <m:r>
                                <a:rPr kumimoji="1" lang="en-US" altLang="ja-JP" sz="1400" b="0" i="0" kern="1200" smtClean="0">
                                  <a:solidFill>
                                    <a:schemeClr val="dk1"/>
                                  </a:solidFill>
                                  <a:latin typeface="Cambria Math" panose="02040503050406030204" pitchFamily="18" charset="0"/>
                                  <a:ea typeface="Times New Roman"/>
                                  <a:cs typeface="Times New Roman"/>
                                </a:rPr>
                                <m:t>&gt;0</m:t>
                              </m:r>
                            </m:oMath>
                          </a14:m>
                          <a:r>
                            <a:rPr kumimoji="1" lang="ja-JP" altLang="en-US" sz="1400" b="0" i="0" kern="1200" dirty="0">
                              <a:solidFill>
                                <a:schemeClr val="tx1"/>
                              </a:solidFill>
                              <a:latin typeface="+mn-ea"/>
                              <a:ea typeface="+mn-ea"/>
                            </a:rPr>
                            <a:t>）</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相乗的補完（シナジー）</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同一時間軸で制約（送電混雑など）を外し、互いの価値を高め合う</a:t>
                          </a:r>
                          <a:endParaRPr kumimoji="1" lang="ja-JP" altLang="en-US"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1700448553"/>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異なる帯域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ほぼゼロ（分離）</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機能分担（補完）</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担当する時間軸が分業されており、物理仕事が干渉しない</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2991351182"/>
                      </a:ext>
                    </a:extLst>
                  </a:tr>
                </a:tbl>
              </a:graphicData>
            </a:graphic>
          </p:graphicFrame>
        </mc:Choice>
        <mc:Fallback xmlns="">
          <p:graphicFrame>
            <p:nvGraphicFramePr>
              <p:cNvPr id="5" name="表 4">
                <a:extLst>
                  <a:ext uri="{FF2B5EF4-FFF2-40B4-BE49-F238E27FC236}">
                    <a16:creationId xmlns:a16="http://schemas.microsoft.com/office/drawing/2014/main" id="{9395DFF6-37DB-F226-9CB9-138413B7A102}"/>
                  </a:ext>
                </a:extLst>
              </p:cNvPr>
              <p:cNvGraphicFramePr>
                <a:graphicFrameLocks noGrp="1"/>
              </p:cNvGraphicFramePr>
              <p:nvPr>
                <p:extLst>
                  <p:ext uri="{D42A27DB-BD31-4B8C-83A1-F6EECF244321}">
                    <p14:modId xmlns:p14="http://schemas.microsoft.com/office/powerpoint/2010/main" val="1745585311"/>
                  </p:ext>
                </p:extLst>
              </p:nvPr>
            </p:nvGraphicFramePr>
            <p:xfrm>
              <a:off x="152400" y="5251385"/>
              <a:ext cx="10226140" cy="2152651"/>
            </p:xfrm>
            <a:graphic>
              <a:graphicData uri="http://schemas.openxmlformats.org/drawingml/2006/table">
                <a:tbl>
                  <a:tblPr firstRow="1" bandRow="1">
                    <a:tableStyleId>{854B67C7-B280-42D8-B184-0A409CBFCAF9}</a:tableStyleId>
                  </a:tblPr>
                  <a:tblGrid>
                    <a:gridCol w="1312738">
                      <a:extLst>
                        <a:ext uri="{9D8B030D-6E8A-4147-A177-3AD203B41FA5}">
                          <a16:colId xmlns:a16="http://schemas.microsoft.com/office/drawing/2014/main" val="1855451579"/>
                        </a:ext>
                      </a:extLst>
                    </a:gridCol>
                    <a:gridCol w="2064258">
                      <a:extLst>
                        <a:ext uri="{9D8B030D-6E8A-4147-A177-3AD203B41FA5}">
                          <a16:colId xmlns:a16="http://schemas.microsoft.com/office/drawing/2014/main" val="3336181928"/>
                        </a:ext>
                      </a:extLst>
                    </a:gridCol>
                    <a:gridCol w="2270684">
                      <a:extLst>
                        <a:ext uri="{9D8B030D-6E8A-4147-A177-3AD203B41FA5}">
                          <a16:colId xmlns:a16="http://schemas.microsoft.com/office/drawing/2014/main" val="1420216552"/>
                        </a:ext>
                      </a:extLst>
                    </a:gridCol>
                    <a:gridCol w="4578460">
                      <a:extLst>
                        <a:ext uri="{9D8B030D-6E8A-4147-A177-3AD203B41FA5}">
                          <a16:colId xmlns:a16="http://schemas.microsoft.com/office/drawing/2014/main" val="14545270"/>
                        </a:ext>
                      </a:extLst>
                    </a:gridCol>
                  </a:tblGrid>
                  <a:tr h="376714">
                    <a:tc>
                      <a:txBody>
                        <a:bodyPr/>
                        <a:lstStyle/>
                        <a:p>
                          <a:pPr marL="0" algn="l" defTabSz="914400" rtl="0" eaLnBrk="1" latinLnBrk="0" hangingPunct="1">
                            <a:buNone/>
                          </a:pPr>
                          <a:r>
                            <a:rPr kumimoji="1" lang="ja-JP" altLang="en-US" sz="1400" b="1" i="0" kern="1200">
                              <a:solidFill>
                                <a:schemeClr val="bg1"/>
                              </a:solidFill>
                              <a:latin typeface="+mn-ea"/>
                              <a:ea typeface="+mn-ea"/>
                              <a:cs typeface="Times New Roman"/>
                            </a:rPr>
                            <a:t>主効果の配置</a:t>
                          </a:r>
                        </a:p>
                      </a:txBody>
                      <a:tcPr anchor="ctr"/>
                    </a:tc>
                    <a:tc>
                      <a:txBody>
                        <a:bodyPr/>
                        <a:lstStyle/>
                        <a:p>
                          <a:endParaRPr lang="ja-JP"/>
                        </a:p>
                      </a:txBody>
                      <a:tcPr anchor="ctr">
                        <a:blipFill>
                          <a:blip r:embed="rId3"/>
                          <a:stretch>
                            <a:fillRect l="-64012" t="-1613" r="-332743" b="-474194"/>
                          </a:stretch>
                        </a:blipFill>
                      </a:tcPr>
                    </a:tc>
                    <a:tc>
                      <a:txBody>
                        <a:bodyPr/>
                        <a:lstStyle/>
                        <a:p>
                          <a:pPr marL="0" algn="l" defTabSz="914400" rtl="0" eaLnBrk="1" latinLnBrk="0" hangingPunct="1">
                            <a:buNone/>
                          </a:pPr>
                          <a:r>
                            <a:rPr kumimoji="1" lang="ja-JP" altLang="en-US" sz="1400" b="1" kern="1200" dirty="0">
                              <a:solidFill>
                                <a:schemeClr val="bg1"/>
                              </a:solidFill>
                              <a:latin typeface="+mn-ea"/>
                              <a:ea typeface="+mn-ea"/>
                            </a:rPr>
                            <a:t>診断分類</a:t>
                          </a:r>
                          <a:endParaRPr kumimoji="1" lang="ja-JP" altLang="en-US" sz="1400" b="1" i="0" kern="1200" dirty="0">
                            <a:solidFill>
                              <a:schemeClr val="bg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1" kern="1200" dirty="0">
                              <a:solidFill>
                                <a:schemeClr val="bg1"/>
                              </a:solidFill>
                              <a:latin typeface="+mn-ea"/>
                              <a:ea typeface="+mn-ea"/>
                            </a:rPr>
                            <a:t>物理的メカニズム</a:t>
                          </a:r>
                          <a:endParaRPr kumimoji="1" lang="ja-JP" altLang="en-US" sz="1400" b="1" i="0" kern="1200" dirty="0">
                            <a:solidFill>
                              <a:schemeClr val="bg1"/>
                            </a:solidFill>
                            <a:latin typeface="+mn-ea"/>
                            <a:ea typeface="+mn-ea"/>
                            <a:cs typeface="Times New Roman"/>
                          </a:endParaRPr>
                        </a:p>
                      </a:txBody>
                      <a:tcPr anchor="ctr"/>
                    </a:tc>
                    <a:extLst>
                      <a:ext uri="{0D108BD9-81ED-4DB2-BD59-A6C34878D82A}">
                        <a16:rowId xmlns:a16="http://schemas.microsoft.com/office/drawing/2014/main" val="4291864142"/>
                      </a:ext>
                    </a:extLst>
                  </a:tr>
                  <a:tr h="699611">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endParaRPr lang="ja-JP"/>
                        </a:p>
                      </a:txBody>
                      <a:tcPr anchor="ctr">
                        <a:blipFill>
                          <a:blip r:embed="rId3"/>
                          <a:stretch>
                            <a:fillRect l="-64012" t="-54783" r="-332743" b="-155652"/>
                          </a:stretch>
                        </a:blipFill>
                      </a:tcPr>
                    </a:tc>
                    <a:tc>
                      <a:txBody>
                        <a:bodyPr/>
                        <a:lstStyle/>
                        <a:p>
                          <a:pPr marL="0" algn="l" defTabSz="914400" rtl="0" eaLnBrk="1" latinLnBrk="0" hangingPunct="1">
                            <a:buNone/>
                          </a:pPr>
                          <a:r>
                            <a:rPr kumimoji="1" lang="en-US" altLang="ja-JP" sz="1400" b="0" i="0" kern="1200" dirty="0">
                              <a:solidFill>
                                <a:schemeClr val="tx1"/>
                              </a:solidFill>
                              <a:latin typeface="+mn-ea"/>
                              <a:ea typeface="+mn-ea"/>
                            </a:rPr>
                            <a:t>【</a:t>
                          </a:r>
                          <a:r>
                            <a:rPr kumimoji="1" lang="ja-JP" altLang="en-US" sz="1400" b="0" i="0" kern="1200" dirty="0">
                              <a:solidFill>
                                <a:schemeClr val="tx1"/>
                              </a:solidFill>
                              <a:latin typeface="+mn-ea"/>
                              <a:ea typeface="+mn-ea"/>
                            </a:rPr>
                            <a:t>直接競合（代替）</a:t>
                          </a:r>
                          <a:r>
                            <a:rPr kumimoji="1" lang="en-US" altLang="ja-JP" sz="1400" b="0" i="0" kern="1200" dirty="0">
                              <a:solidFill>
                                <a:schemeClr val="tx1"/>
                              </a:solidFill>
                              <a:latin typeface="+mn-ea"/>
                              <a:ea typeface="+mn-ea"/>
                            </a:rPr>
                            <a:t>】</a:t>
                          </a:r>
                          <a:endParaRPr kumimoji="1" lang="en-US" altLang="ja-JP"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同一時間軸で同じ仕事（余剰吸収など）を奪い合う（例</a:t>
                          </a:r>
                          <a:r>
                            <a:rPr kumimoji="1" lang="en-US" altLang="ja-JP" sz="1400" b="0" i="0" kern="1200" dirty="0">
                              <a:solidFill>
                                <a:schemeClr val="tx1"/>
                              </a:solidFill>
                              <a:latin typeface="+mn-ea"/>
                              <a:ea typeface="+mn-ea"/>
                            </a:rPr>
                            <a:t>: V1G × </a:t>
                          </a:r>
                          <a:r>
                            <a:rPr kumimoji="1" lang="ja-JP" altLang="en-US" sz="1400" b="0" i="0" kern="1200" dirty="0">
                              <a:solidFill>
                                <a:schemeClr val="tx1"/>
                              </a:solidFill>
                              <a:latin typeface="+mn-ea"/>
                              <a:ea typeface="+mn-ea"/>
                            </a:rPr>
                            <a:t>蓄電池）</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3420259445"/>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同一帯域</a:t>
                          </a:r>
                          <a:endParaRPr kumimoji="1" lang="ja-JP" altLang="en-US" sz="1400" b="0" i="0" kern="1200">
                            <a:solidFill>
                              <a:schemeClr val="tx1"/>
                            </a:solidFill>
                            <a:latin typeface="+mn-ea"/>
                            <a:ea typeface="+mn-ea"/>
                            <a:cs typeface="Times New Roman"/>
                          </a:endParaRPr>
                        </a:p>
                      </a:txBody>
                      <a:tcPr anchor="ctr"/>
                    </a:tc>
                    <a:tc>
                      <a:txBody>
                        <a:bodyPr/>
                        <a:lstStyle/>
                        <a:p>
                          <a:endParaRPr lang="ja-JP"/>
                        </a:p>
                      </a:txBody>
                      <a:tcPr anchor="ctr">
                        <a:blipFill>
                          <a:blip r:embed="rId3"/>
                          <a:stretch>
                            <a:fillRect l="-64012" t="-202273" r="-332743" b="-103409"/>
                          </a:stretch>
                        </a:blipFill>
                      </a:tcP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相乗的補完（シナジー）</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同一時間軸で制約（送電混雑など）を外し、互いの価値を高め合う</a:t>
                          </a:r>
                          <a:endParaRPr kumimoji="1" lang="ja-JP" altLang="en-US"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1700448553"/>
                      </a:ext>
                    </a:extLst>
                  </a:tr>
                  <a:tr h="538163">
                    <a:tc>
                      <a:txBody>
                        <a:bodyPr/>
                        <a:lstStyle/>
                        <a:p>
                          <a:pPr marL="0" algn="l" defTabSz="914400" rtl="0" eaLnBrk="1" latinLnBrk="0" hangingPunct="1">
                            <a:buNone/>
                          </a:pPr>
                          <a:r>
                            <a:rPr kumimoji="1" lang="ja-JP" altLang="en-US" sz="1400" b="0" i="0" kern="1200">
                              <a:solidFill>
                                <a:schemeClr val="tx1"/>
                              </a:solidFill>
                              <a:latin typeface="+mn-ea"/>
                              <a:ea typeface="+mn-ea"/>
                            </a:rPr>
                            <a:t>異なる帯域</a:t>
                          </a:r>
                          <a:endParaRPr kumimoji="1" lang="ja-JP" altLang="en-US"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ほぼゼロ（分離）</a:t>
                          </a:r>
                          <a:endParaRPr kumimoji="1" lang="ja-JP" altLang="en-US" sz="1400" b="0" i="0" kern="1200" dirty="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en-US" altLang="ja-JP" sz="1400" b="0" i="0" kern="1200">
                              <a:solidFill>
                                <a:schemeClr val="tx1"/>
                              </a:solidFill>
                              <a:latin typeface="+mn-ea"/>
                              <a:ea typeface="+mn-ea"/>
                            </a:rPr>
                            <a:t>【</a:t>
                          </a:r>
                          <a:r>
                            <a:rPr kumimoji="1" lang="ja-JP" altLang="en-US" sz="1400" b="0" i="0" kern="1200">
                              <a:solidFill>
                                <a:schemeClr val="tx1"/>
                              </a:solidFill>
                              <a:latin typeface="+mn-ea"/>
                              <a:ea typeface="+mn-ea"/>
                            </a:rPr>
                            <a:t>機能分担（補完）</a:t>
                          </a:r>
                          <a:r>
                            <a:rPr kumimoji="1" lang="en-US" altLang="ja-JP" sz="1400" b="0" i="0" kern="1200">
                              <a:solidFill>
                                <a:schemeClr val="tx1"/>
                              </a:solidFill>
                              <a:latin typeface="+mn-ea"/>
                              <a:ea typeface="+mn-ea"/>
                            </a:rPr>
                            <a:t>】</a:t>
                          </a:r>
                          <a:endParaRPr kumimoji="1" lang="en-US" altLang="ja-JP" sz="1400" b="0" i="0" kern="1200">
                            <a:solidFill>
                              <a:schemeClr val="tx1"/>
                            </a:solidFill>
                            <a:latin typeface="+mn-ea"/>
                            <a:ea typeface="+mn-ea"/>
                            <a:cs typeface="Times New Roman"/>
                          </a:endParaRPr>
                        </a:p>
                      </a:txBody>
                      <a:tcPr anchor="ctr"/>
                    </a:tc>
                    <a:tc>
                      <a:txBody>
                        <a:bodyPr/>
                        <a:lstStyle/>
                        <a:p>
                          <a:pPr marL="0" algn="l" defTabSz="914400" rtl="0" eaLnBrk="1" latinLnBrk="0" hangingPunct="1">
                            <a:buNone/>
                          </a:pPr>
                          <a:r>
                            <a:rPr kumimoji="1" lang="ja-JP" altLang="en-US" sz="1400" b="0" i="0" kern="1200" dirty="0">
                              <a:solidFill>
                                <a:schemeClr val="tx1"/>
                              </a:solidFill>
                              <a:latin typeface="+mn-ea"/>
                              <a:ea typeface="+mn-ea"/>
                            </a:rPr>
                            <a:t>担当する時間軸が分業されており、物理仕事が干渉しない</a:t>
                          </a:r>
                          <a:endParaRPr kumimoji="1" lang="en-US" altLang="ja-JP" sz="1400" b="0" i="0" kern="1200" dirty="0">
                            <a:solidFill>
                              <a:schemeClr val="tx1"/>
                            </a:solidFill>
                            <a:latin typeface="+mn-ea"/>
                            <a:ea typeface="+mn-ea"/>
                            <a:cs typeface="Times New Roman"/>
                          </a:endParaRPr>
                        </a:p>
                      </a:txBody>
                      <a:tcPr anchor="ctr"/>
                    </a:tc>
                    <a:extLst>
                      <a:ext uri="{0D108BD9-81ED-4DB2-BD59-A6C34878D82A}">
                        <a16:rowId xmlns:a16="http://schemas.microsoft.com/office/drawing/2014/main" val="2991351182"/>
                      </a:ext>
                    </a:extLst>
                  </a:tr>
                </a:tbl>
              </a:graphicData>
            </a:graphic>
          </p:graphicFrame>
        </mc:Fallback>
      </mc:AlternateContent>
    </p:spTree>
    <p:extLst>
      <p:ext uri="{BB962C8B-B14F-4D97-AF65-F5344CB8AC3E}">
        <p14:creationId xmlns:p14="http://schemas.microsoft.com/office/powerpoint/2010/main" val="30940596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9186" y="137131"/>
            <a:ext cx="8959239" cy="319973"/>
          </a:xfrm>
          <a:prstGeom prst="rect">
            <a:avLst/>
          </a:prstGeom>
          <a:noFill/>
          <a:ln/>
        </p:spPr>
        <p:txBody>
          <a:bodyPr wrap="square" lIns="0" tIns="0" rIns="0" bIns="0" rtlCol="0" anchor="ctr"/>
          <a:lstStyle/>
          <a:p>
            <a:r>
              <a:rPr lang="en-US" sz="1300" dirty="0">
                <a:solidFill>
                  <a:srgbClr val="2E6DB4"/>
                </a:solidFill>
                <a:latin typeface="Meiryo UI" pitchFamily="34" charset="0"/>
                <a:ea typeface="Meiryo UI" pitchFamily="34" charset="-122"/>
                <a:cs typeface="Meiryo UI" pitchFamily="34" charset="-120"/>
              </a:rPr>
              <a:t>帯域別価値評価の基礎量</a:t>
            </a:r>
            <a:endParaRPr lang="en-US" sz="1300" dirty="0"/>
          </a:p>
        </p:txBody>
      </p:sp>
      <p:sp>
        <p:nvSpPr>
          <p:cNvPr id="3" name="Text 1"/>
          <p:cNvSpPr txBox="1"/>
          <p:nvPr/>
        </p:nvSpPr>
        <p:spPr>
          <a:xfrm>
            <a:off x="369186" y="411393"/>
            <a:ext cx="9324922" cy="548525"/>
          </a:xfrm>
          <a:prstGeom prst="rect">
            <a:avLst/>
          </a:prstGeom>
          <a:noFill/>
          <a:ln/>
        </p:spPr>
        <p:txBody>
          <a:bodyPr wrap="square" lIns="0" tIns="0" rIns="0" bIns="0" rtlCol="0" anchor="ctr"/>
          <a:lstStyle/>
          <a:p>
            <a:r>
              <a:rPr lang="en-US" sz="2400" dirty="0">
                <a:solidFill>
                  <a:srgbClr val="1F1F1F"/>
                </a:solidFill>
                <a:latin typeface="Meiryo UI" pitchFamily="34" charset="0"/>
                <a:ea typeface="Meiryo UI" pitchFamily="34" charset="-122"/>
                <a:cs typeface="Meiryo UI" pitchFamily="34" charset="-120"/>
              </a:rPr>
              <a:t>システム限界価値 λ(t) の定義</a:t>
            </a:r>
            <a:endParaRPr lang="en-US" sz="2400" dirty="0"/>
          </a:p>
        </p:txBody>
      </p:sp>
      <p:sp>
        <p:nvSpPr>
          <p:cNvPr id="4" name="Shape 2"/>
          <p:cNvSpPr/>
          <p:nvPr/>
        </p:nvSpPr>
        <p:spPr>
          <a:xfrm>
            <a:off x="369186" y="1051339"/>
            <a:ext cx="9964868" cy="0"/>
          </a:xfrm>
          <a:prstGeom prst="line">
            <a:avLst/>
          </a:prstGeom>
          <a:noFill/>
          <a:ln w="25400">
            <a:solidFill>
              <a:srgbClr val="2E6DB4"/>
            </a:solidFill>
            <a:prstDash val="solid"/>
          </a:ln>
        </p:spPr>
        <p:txBody>
          <a:bodyPr/>
          <a:lstStyle/>
          <a:p>
            <a:endParaRPr lang="ja-JP" altLang="en-US"/>
          </a:p>
        </p:txBody>
      </p:sp>
      <p:sp>
        <p:nvSpPr>
          <p:cNvPr id="5" name="Text 3"/>
          <p:cNvSpPr txBox="1"/>
          <p:nvPr/>
        </p:nvSpPr>
        <p:spPr>
          <a:xfrm>
            <a:off x="9922660" y="137131"/>
            <a:ext cx="411394" cy="274262"/>
          </a:xfrm>
          <a:prstGeom prst="rect">
            <a:avLst/>
          </a:prstGeom>
          <a:solidFill>
            <a:srgbClr val="595959"/>
          </a:solidFill>
          <a:ln/>
        </p:spPr>
        <p:txBody>
          <a:bodyPr wrap="square" lIns="0" tIns="0" rIns="0" bIns="0" rtlCol="0" anchor="ctr"/>
          <a:lstStyle/>
          <a:p>
            <a:pPr algn="ctr"/>
            <a:r>
              <a:rPr lang="en-US" sz="1100" b="1" dirty="0">
                <a:solidFill>
                  <a:srgbClr val="FFFFFF"/>
                </a:solidFill>
                <a:latin typeface="Meiryo UI" pitchFamily="34" charset="0"/>
                <a:ea typeface="Meiryo UI" pitchFamily="34" charset="-122"/>
                <a:cs typeface="Meiryo UI" pitchFamily="34" charset="-120"/>
              </a:rPr>
              <a:t>1</a:t>
            </a:r>
            <a:endParaRPr lang="en-US" sz="1100" dirty="0"/>
          </a:p>
        </p:txBody>
      </p:sp>
      <p:sp>
        <p:nvSpPr>
          <p:cNvPr id="6" name="Text 4"/>
          <p:cNvSpPr txBox="1"/>
          <p:nvPr/>
        </p:nvSpPr>
        <p:spPr>
          <a:xfrm>
            <a:off x="369186" y="1234181"/>
            <a:ext cx="9964868" cy="365683"/>
          </a:xfrm>
          <a:prstGeom prst="rect">
            <a:avLst/>
          </a:prstGeom>
          <a:noFill/>
          <a:ln/>
        </p:spPr>
        <p:txBody>
          <a:bodyPr wrap="square" lIns="0" tIns="0" rIns="0" bIns="0" rtlCol="0" anchor="ctr"/>
          <a:lstStyle/>
          <a:p>
            <a:r>
              <a:rPr lang="en-US" sz="1500" dirty="0">
                <a:solidFill>
                  <a:srgbClr val="1F1F1F"/>
                </a:solidFill>
                <a:latin typeface="Meiryo UI" pitchFamily="34" charset="0"/>
                <a:ea typeface="Meiryo UI" pitchFamily="34" charset="-122"/>
                <a:cs typeface="Meiryo UI" pitchFamily="34" charset="-120"/>
              </a:rPr>
              <a:t>コスト最小化LP（9ノード × 8,760h）における需給バランス制約の双対変数（シャドウプライス）</a:t>
            </a:r>
            <a:endParaRPr lang="en-US" sz="1500" dirty="0"/>
          </a:p>
        </p:txBody>
      </p:sp>
      <p:sp>
        <p:nvSpPr>
          <p:cNvPr id="7" name="Shape 5"/>
          <p:cNvSpPr/>
          <p:nvPr/>
        </p:nvSpPr>
        <p:spPr>
          <a:xfrm>
            <a:off x="369186" y="1736995"/>
            <a:ext cx="4845303" cy="2376941"/>
          </a:xfrm>
          <a:prstGeom prst="rect">
            <a:avLst/>
          </a:prstGeom>
          <a:solidFill>
            <a:srgbClr val="EAF1FA"/>
          </a:solidFill>
          <a:ln w="12700">
            <a:solidFill>
              <a:srgbClr val="C9D9EE"/>
            </a:solidFill>
            <a:prstDash val="solid"/>
          </a:ln>
        </p:spPr>
        <p:txBody>
          <a:bodyPr/>
          <a:lstStyle/>
          <a:p>
            <a:endParaRPr lang="ja-JP" altLang="en-US"/>
          </a:p>
        </p:txBody>
      </p:sp>
      <p:sp>
        <p:nvSpPr>
          <p:cNvPr id="8" name="Text 6"/>
          <p:cNvSpPr txBox="1"/>
          <p:nvPr/>
        </p:nvSpPr>
        <p:spPr>
          <a:xfrm>
            <a:off x="552028" y="1846700"/>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主問題（需給バランス制約）</a:t>
            </a:r>
            <a:endParaRPr lang="en-US" sz="1500" dirty="0"/>
          </a:p>
        </p:txBody>
      </p:sp>
      <p:sp>
        <p:nvSpPr>
          <p:cNvPr id="9" name="Text 7"/>
          <p:cNvSpPr txBox="1"/>
          <p:nvPr/>
        </p:nvSpPr>
        <p:spPr>
          <a:xfrm>
            <a:off x="552028" y="2239810"/>
            <a:ext cx="4479619" cy="1736995"/>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min  C = Σ(CAPEX年経費) + Σₜ Σᵢ cᵢ·gᵢ,ₜ</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s.t.  Σᵢ∈n gᵢ,ₜ − Σᵢ∈n sᵢ,ₜ + Σₗ Kₙₗ fₗ,ₜ = dₙ,ₜ   ↔  λₙ(t)</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gᵢ,ₜ：発電・放電、sᵢ,ₜ：充電・電解などの消費</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fₗ,ₜ：送電潮流、Kₙₗ：接続行列</a:t>
            </a:r>
            <a:endParaRPr lang="en-US" sz="1300" dirty="0"/>
          </a:p>
        </p:txBody>
      </p:sp>
      <p:sp>
        <p:nvSpPr>
          <p:cNvPr id="10" name="Shape 8"/>
          <p:cNvSpPr/>
          <p:nvPr/>
        </p:nvSpPr>
        <p:spPr>
          <a:xfrm>
            <a:off x="5488751" y="1736995"/>
            <a:ext cx="4845303" cy="2376941"/>
          </a:xfrm>
          <a:prstGeom prst="rect">
            <a:avLst/>
          </a:prstGeom>
          <a:solidFill>
            <a:srgbClr val="EAF1FA"/>
          </a:solidFill>
          <a:ln w="12700">
            <a:solidFill>
              <a:srgbClr val="C9D9EE"/>
            </a:solidFill>
            <a:prstDash val="solid"/>
          </a:ln>
        </p:spPr>
        <p:txBody>
          <a:bodyPr/>
          <a:lstStyle/>
          <a:p>
            <a:endParaRPr lang="ja-JP" altLang="en-US"/>
          </a:p>
        </p:txBody>
      </p:sp>
      <p:sp>
        <p:nvSpPr>
          <p:cNvPr id="11" name="Text 9"/>
          <p:cNvSpPr txBox="1"/>
          <p:nvPr/>
        </p:nvSpPr>
        <p:spPr>
          <a:xfrm>
            <a:off x="5671593" y="1846700"/>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双対変数としての定義</a:t>
            </a:r>
            <a:endParaRPr lang="en-US" sz="1500" dirty="0"/>
          </a:p>
        </p:txBody>
      </p:sp>
      <p:sp>
        <p:nvSpPr>
          <p:cNvPr id="12" name="Text 10"/>
          <p:cNvSpPr txBox="1"/>
          <p:nvPr/>
        </p:nvSpPr>
        <p:spPr>
          <a:xfrm>
            <a:off x="5671593" y="2239810"/>
            <a:ext cx="4479619" cy="1736995"/>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λₙ(t) = ∂C* / ∂dₙ,ₜ</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ノード n・時刻 t の需要を1MWh増やしたときの最適総コストの増分 [円/MWh]</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燃料費だけでなく、容量制約・貯蔵の機会費用・送電混雑を内包する</a:t>
            </a:r>
            <a:endParaRPr lang="en-US" sz="1300" dirty="0"/>
          </a:p>
        </p:txBody>
      </p:sp>
      <p:sp>
        <p:nvSpPr>
          <p:cNvPr id="13" name="Text 11"/>
          <p:cNvSpPr txBox="1"/>
          <p:nvPr/>
        </p:nvSpPr>
        <p:spPr>
          <a:xfrm>
            <a:off x="369186" y="4342488"/>
            <a:ext cx="5485248"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システム代表値（ノード需要加重平均）</a:t>
            </a:r>
            <a:endParaRPr lang="en-US" sz="1500" dirty="0"/>
          </a:p>
        </p:txBody>
      </p:sp>
      <p:sp>
        <p:nvSpPr>
          <p:cNvPr id="14" name="Shape 12"/>
          <p:cNvSpPr/>
          <p:nvPr/>
        </p:nvSpPr>
        <p:spPr>
          <a:xfrm>
            <a:off x="369186" y="4753882"/>
            <a:ext cx="9964868" cy="914208"/>
          </a:xfrm>
          <a:prstGeom prst="rect">
            <a:avLst/>
          </a:prstGeom>
          <a:solidFill>
            <a:srgbClr val="FFFFFF"/>
          </a:solidFill>
          <a:ln w="19050">
            <a:solidFill>
              <a:srgbClr val="2E6DB4"/>
            </a:solidFill>
            <a:prstDash val="solid"/>
          </a:ln>
        </p:spPr>
        <p:txBody>
          <a:bodyPr/>
          <a:lstStyle/>
          <a:p>
            <a:endParaRPr lang="ja-JP" altLang="en-US"/>
          </a:p>
        </p:txBody>
      </p:sp>
      <p:sp>
        <p:nvSpPr>
          <p:cNvPr id="15" name="Text 13"/>
          <p:cNvSpPr txBox="1"/>
          <p:nvPr/>
        </p:nvSpPr>
        <p:spPr>
          <a:xfrm>
            <a:off x="369186" y="4753882"/>
            <a:ext cx="9964868" cy="914208"/>
          </a:xfrm>
          <a:prstGeom prst="rect">
            <a:avLst/>
          </a:prstGeom>
          <a:noFill/>
          <a:ln/>
        </p:spPr>
        <p:txBody>
          <a:bodyPr wrap="square" lIns="0" tIns="0" rIns="0" bIns="0" rtlCol="0" anchor="ctr"/>
          <a:lstStyle/>
          <a:p>
            <a:pPr algn="ctr"/>
            <a:r>
              <a:rPr lang="en-US" sz="2000" dirty="0">
                <a:solidFill>
                  <a:srgbClr val="1F1F1F"/>
                </a:solidFill>
                <a:latin typeface="Cambria Math" pitchFamily="34" charset="0"/>
                <a:ea typeface="Cambria Math" pitchFamily="34" charset="-122"/>
                <a:cs typeface="Cambria Math" pitchFamily="34" charset="-120"/>
              </a:rPr>
              <a:t>λ(t) = Σₙ dₙ,ₜ λₙ(t)  /  Σₙ dₙ,ₜ</a:t>
            </a:r>
            <a:endParaRPr lang="en-US" sz="2000" dirty="0"/>
          </a:p>
        </p:txBody>
      </p:sp>
      <p:sp>
        <p:nvSpPr>
          <p:cNvPr id="16" name="Text 14"/>
          <p:cNvSpPr txBox="1"/>
          <p:nvPr/>
        </p:nvSpPr>
        <p:spPr>
          <a:xfrm>
            <a:off x="369186" y="5896642"/>
            <a:ext cx="9964868" cy="639946"/>
          </a:xfrm>
          <a:prstGeom prst="rect">
            <a:avLst/>
          </a:prstGeom>
          <a:noFill/>
          <a:ln/>
        </p:spPr>
        <p:txBody>
          <a:bodyPr wrap="square" lIns="0" tIns="0" rIns="0" bIns="0" rtlCol="0" anchor="ctr"/>
          <a:lstStyle/>
          <a:p>
            <a:r>
              <a:rPr lang="en-US" sz="1300" dirty="0">
                <a:solidFill>
                  <a:srgbClr val="595959"/>
                </a:solidFill>
                <a:latin typeface="Meiryo UI" pitchFamily="34" charset="0"/>
                <a:ea typeface="Meiryo UI" pitchFamily="34" charset="-122"/>
                <a:cs typeface="Meiryo UI" pitchFamily="34" charset="-120"/>
              </a:rPr>
              <a:t>ノード間の価格差 λₙ(t) − λₘ(t) は送電混雑の限界価値を表す。帯域分析は原則ノード別に行い、λ(t) は要約指標として用いる。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9186" y="137131"/>
            <a:ext cx="8959239" cy="319973"/>
          </a:xfrm>
          <a:prstGeom prst="rect">
            <a:avLst/>
          </a:prstGeom>
          <a:noFill/>
          <a:ln/>
        </p:spPr>
        <p:txBody>
          <a:bodyPr wrap="square" lIns="0" tIns="0" rIns="0" bIns="0" rtlCol="0" anchor="ctr"/>
          <a:lstStyle/>
          <a:p>
            <a:r>
              <a:rPr lang="en-US" sz="1300" dirty="0">
                <a:solidFill>
                  <a:srgbClr val="2E6DB4"/>
                </a:solidFill>
                <a:latin typeface="Meiryo UI" pitchFamily="34" charset="0"/>
                <a:ea typeface="Meiryo UI" pitchFamily="34" charset="-122"/>
                <a:cs typeface="Meiryo UI" pitchFamily="34" charset="-120"/>
              </a:rPr>
              <a:t>MODWT による加法分解</a:t>
            </a:r>
            <a:endParaRPr lang="en-US" sz="1300" dirty="0"/>
          </a:p>
        </p:txBody>
      </p:sp>
      <p:sp>
        <p:nvSpPr>
          <p:cNvPr id="3" name="Text 1"/>
          <p:cNvSpPr txBox="1"/>
          <p:nvPr/>
        </p:nvSpPr>
        <p:spPr>
          <a:xfrm>
            <a:off x="369186" y="411393"/>
            <a:ext cx="9324922" cy="548525"/>
          </a:xfrm>
          <a:prstGeom prst="rect">
            <a:avLst/>
          </a:prstGeom>
          <a:noFill/>
          <a:ln/>
        </p:spPr>
        <p:txBody>
          <a:bodyPr wrap="square" lIns="0" tIns="0" rIns="0" bIns="0" rtlCol="0" anchor="ctr"/>
          <a:lstStyle/>
          <a:p>
            <a:r>
              <a:rPr lang="en-US" sz="2400" dirty="0">
                <a:solidFill>
                  <a:srgbClr val="1F1F1F"/>
                </a:solidFill>
                <a:latin typeface="Meiryo UI" pitchFamily="34" charset="0"/>
                <a:ea typeface="Meiryo UI" pitchFamily="34" charset="-122"/>
                <a:cs typeface="Meiryo UI" pitchFamily="34" charset="-120"/>
              </a:rPr>
              <a:t>λ(t) の帯域分解と帯域別価値</a:t>
            </a:r>
            <a:endParaRPr lang="en-US" sz="2400" dirty="0"/>
          </a:p>
        </p:txBody>
      </p:sp>
      <p:sp>
        <p:nvSpPr>
          <p:cNvPr id="4" name="Shape 2"/>
          <p:cNvSpPr/>
          <p:nvPr/>
        </p:nvSpPr>
        <p:spPr>
          <a:xfrm>
            <a:off x="369186" y="1051339"/>
            <a:ext cx="9964868" cy="0"/>
          </a:xfrm>
          <a:prstGeom prst="line">
            <a:avLst/>
          </a:prstGeom>
          <a:noFill/>
          <a:ln w="25400">
            <a:solidFill>
              <a:srgbClr val="2E6DB4"/>
            </a:solidFill>
            <a:prstDash val="solid"/>
          </a:ln>
        </p:spPr>
        <p:txBody>
          <a:bodyPr/>
          <a:lstStyle/>
          <a:p>
            <a:endParaRPr lang="ja-JP" altLang="en-US"/>
          </a:p>
        </p:txBody>
      </p:sp>
      <p:sp>
        <p:nvSpPr>
          <p:cNvPr id="5" name="Text 3"/>
          <p:cNvSpPr txBox="1"/>
          <p:nvPr/>
        </p:nvSpPr>
        <p:spPr>
          <a:xfrm>
            <a:off x="9922660" y="137131"/>
            <a:ext cx="411394" cy="274262"/>
          </a:xfrm>
          <a:prstGeom prst="rect">
            <a:avLst/>
          </a:prstGeom>
          <a:solidFill>
            <a:srgbClr val="595959"/>
          </a:solidFill>
          <a:ln/>
        </p:spPr>
        <p:txBody>
          <a:bodyPr wrap="square" lIns="0" tIns="0" rIns="0" bIns="0" rtlCol="0" anchor="ctr"/>
          <a:lstStyle/>
          <a:p>
            <a:pPr algn="ctr"/>
            <a:r>
              <a:rPr lang="en-US" sz="1100" b="1" dirty="0">
                <a:solidFill>
                  <a:srgbClr val="FFFFFF"/>
                </a:solidFill>
                <a:latin typeface="Meiryo UI" pitchFamily="34" charset="0"/>
                <a:ea typeface="Meiryo UI" pitchFamily="34" charset="-122"/>
                <a:cs typeface="Meiryo UI" pitchFamily="34" charset="-120"/>
              </a:rPr>
              <a:t>2</a:t>
            </a:r>
            <a:endParaRPr lang="en-US" sz="1100" dirty="0"/>
          </a:p>
        </p:txBody>
      </p:sp>
      <p:sp>
        <p:nvSpPr>
          <p:cNvPr id="6" name="Text 4"/>
          <p:cNvSpPr txBox="1"/>
          <p:nvPr/>
        </p:nvSpPr>
        <p:spPr>
          <a:xfrm>
            <a:off x="369186" y="1234181"/>
            <a:ext cx="9964868" cy="365683"/>
          </a:xfrm>
          <a:prstGeom prst="rect">
            <a:avLst/>
          </a:prstGeom>
          <a:noFill/>
          <a:ln/>
        </p:spPr>
        <p:txBody>
          <a:bodyPr wrap="square" lIns="0" tIns="0" rIns="0" bIns="0" rtlCol="0" anchor="ctr"/>
          <a:lstStyle/>
          <a:p>
            <a:r>
              <a:rPr lang="en-US" sz="1500" dirty="0">
                <a:solidFill>
                  <a:srgbClr val="1F1F1F"/>
                </a:solidFill>
                <a:latin typeface="Meiryo UI" pitchFamily="34" charset="0"/>
                <a:ea typeface="Meiryo UI" pitchFamily="34" charset="-122"/>
                <a:cs typeface="Meiryo UI" pitchFamily="34" charset="-120"/>
              </a:rPr>
              <a:t>MODWT の詳細成分を5帯域に集約（平滑成分は季節帯に含める）</a:t>
            </a:r>
            <a:endParaRPr lang="en-US" sz="1500" dirty="0"/>
          </a:p>
        </p:txBody>
      </p:sp>
      <p:sp>
        <p:nvSpPr>
          <p:cNvPr id="7" name="Shape 5"/>
          <p:cNvSpPr/>
          <p:nvPr/>
        </p:nvSpPr>
        <p:spPr>
          <a:xfrm>
            <a:off x="369186" y="1691285"/>
            <a:ext cx="9964868" cy="777077"/>
          </a:xfrm>
          <a:prstGeom prst="rect">
            <a:avLst/>
          </a:prstGeom>
          <a:solidFill>
            <a:srgbClr val="FFFFFF"/>
          </a:solidFill>
          <a:ln w="19050">
            <a:solidFill>
              <a:srgbClr val="2E6DB4"/>
            </a:solidFill>
            <a:prstDash val="solid"/>
          </a:ln>
        </p:spPr>
        <p:txBody>
          <a:bodyPr/>
          <a:lstStyle/>
          <a:p>
            <a:endParaRPr lang="ja-JP" altLang="en-US"/>
          </a:p>
        </p:txBody>
      </p:sp>
      <p:sp>
        <p:nvSpPr>
          <p:cNvPr id="8" name="Text 6"/>
          <p:cNvSpPr txBox="1"/>
          <p:nvPr/>
        </p:nvSpPr>
        <p:spPr>
          <a:xfrm>
            <a:off x="369186" y="1691285"/>
            <a:ext cx="9964868" cy="777077"/>
          </a:xfrm>
          <a:prstGeom prst="rect">
            <a:avLst/>
          </a:prstGeom>
          <a:noFill/>
          <a:ln/>
        </p:spPr>
        <p:txBody>
          <a:bodyPr wrap="square" lIns="0" tIns="0" rIns="0" bIns="0" rtlCol="0" anchor="ctr"/>
          <a:lstStyle/>
          <a:p>
            <a:pPr algn="ctr"/>
            <a:r>
              <a:rPr lang="en-US" sz="2000" dirty="0">
                <a:solidFill>
                  <a:srgbClr val="1F1F1F"/>
                </a:solidFill>
                <a:latin typeface="Cambria Math" pitchFamily="34" charset="0"/>
                <a:ea typeface="Cambria Math" pitchFamily="34" charset="-122"/>
                <a:cs typeface="Cambria Math" pitchFamily="34" charset="-120"/>
              </a:rPr>
              <a:t>λ(t) = λ_sub(t) + λ_day(t) + λ_syn(t) + λ_dunkel(t) + λ_season(t) = Σ_b λ_b(t)</a:t>
            </a:r>
            <a:endParaRPr lang="en-US" sz="2000" dirty="0"/>
          </a:p>
        </p:txBody>
      </p:sp>
      <p:sp>
        <p:nvSpPr>
          <p:cNvPr id="9" name="Shape 7"/>
          <p:cNvSpPr/>
          <p:nvPr/>
        </p:nvSpPr>
        <p:spPr>
          <a:xfrm>
            <a:off x="369186" y="2696914"/>
            <a:ext cx="4845303" cy="2514072"/>
          </a:xfrm>
          <a:prstGeom prst="rect">
            <a:avLst/>
          </a:prstGeom>
          <a:solidFill>
            <a:srgbClr val="EAF1FA"/>
          </a:solidFill>
          <a:ln w="12700">
            <a:solidFill>
              <a:srgbClr val="C9D9EE"/>
            </a:solidFill>
            <a:prstDash val="solid"/>
          </a:ln>
        </p:spPr>
        <p:txBody>
          <a:bodyPr/>
          <a:lstStyle/>
          <a:p>
            <a:endParaRPr lang="ja-JP" altLang="en-US"/>
          </a:p>
        </p:txBody>
      </p:sp>
      <p:sp>
        <p:nvSpPr>
          <p:cNvPr id="10" name="Text 8"/>
          <p:cNvSpPr txBox="1"/>
          <p:nvPr/>
        </p:nvSpPr>
        <p:spPr>
          <a:xfrm>
            <a:off x="552028" y="2806619"/>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帯域別価値（リソース i）</a:t>
            </a:r>
            <a:endParaRPr lang="en-US" sz="1500" dirty="0"/>
          </a:p>
        </p:txBody>
      </p:sp>
      <p:sp>
        <p:nvSpPr>
          <p:cNvPr id="11" name="Text 9"/>
          <p:cNvSpPr txBox="1"/>
          <p:nvPr/>
        </p:nvSpPr>
        <p:spPr>
          <a:xfrm>
            <a:off x="552028" y="3199728"/>
            <a:ext cx="4479619" cy="1874127"/>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Vᵢ,b = Σₜ pᵢ(t) · λ_b(t)</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pᵢ(t)：純注入量（発電・放電は正、充電・消費は負）</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λ の線形分解より  Σ_b Vᵢ,b = Vᵢ = Σₜ pᵢ(t)·λ(t)  が厳密に成立</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 「どの時間スケールで稼いでいるか」を分解できる</a:t>
            </a:r>
            <a:endParaRPr lang="en-US" sz="1300" dirty="0"/>
          </a:p>
        </p:txBody>
      </p:sp>
      <p:sp>
        <p:nvSpPr>
          <p:cNvPr id="12" name="Shape 10"/>
          <p:cNvSpPr/>
          <p:nvPr/>
        </p:nvSpPr>
        <p:spPr>
          <a:xfrm>
            <a:off x="5488751" y="2696914"/>
            <a:ext cx="4845303" cy="2514072"/>
          </a:xfrm>
          <a:prstGeom prst="rect">
            <a:avLst/>
          </a:prstGeom>
          <a:solidFill>
            <a:srgbClr val="EAF1FA"/>
          </a:solidFill>
          <a:ln w="12700">
            <a:solidFill>
              <a:srgbClr val="C9D9EE"/>
            </a:solidFill>
            <a:prstDash val="solid"/>
          </a:ln>
        </p:spPr>
        <p:txBody>
          <a:bodyPr/>
          <a:lstStyle/>
          <a:p>
            <a:endParaRPr lang="ja-JP" altLang="en-US"/>
          </a:p>
        </p:txBody>
      </p:sp>
      <p:sp>
        <p:nvSpPr>
          <p:cNvPr id="13" name="Text 11"/>
          <p:cNvSpPr txBox="1"/>
          <p:nvPr/>
        </p:nvSpPr>
        <p:spPr>
          <a:xfrm>
            <a:off x="5671593" y="2806619"/>
            <a:ext cx="4479619"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需要側リソース（V1G等）</a:t>
            </a:r>
            <a:endParaRPr lang="en-US" sz="1500" dirty="0"/>
          </a:p>
        </p:txBody>
      </p:sp>
      <p:sp>
        <p:nvSpPr>
          <p:cNvPr id="14" name="Text 12"/>
          <p:cNvSpPr txBox="1"/>
          <p:nvPr/>
        </p:nvSpPr>
        <p:spPr>
          <a:xfrm>
            <a:off x="5671593" y="3199728"/>
            <a:ext cx="4479619" cy="1874127"/>
          </a:xfrm>
          <a:prstGeom prst="rect">
            <a:avLst/>
          </a:prstGeom>
          <a:noFill/>
          <a:ln/>
        </p:spPr>
        <p:txBody>
          <a:bodyPr wrap="square" lIns="0" tIns="0" rIns="0" bIns="0" rtlCol="0" anchor="t"/>
          <a:lstStyle/>
          <a:p>
            <a:pPr>
              <a:spcAft>
                <a:spcPts val="500"/>
              </a:spcAft>
            </a:pPr>
            <a:r>
              <a:rPr lang="en-US" sz="1300" dirty="0">
                <a:solidFill>
                  <a:srgbClr val="1F1F1F"/>
                </a:solidFill>
                <a:latin typeface="Meiryo UI" pitchFamily="34" charset="0"/>
                <a:ea typeface="Meiryo UI" pitchFamily="34" charset="-122"/>
                <a:cs typeface="Meiryo UI" pitchFamily="34" charset="-120"/>
              </a:rPr>
              <a:t>基準運転との差分で定義：</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Vᵢ,b = Σₜ ( d_ref(t) − dᵢ(t) ) · λ_b(t)</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d_ref：非制御充電、dᵢ：スマート充電</a:t>
            </a:r>
            <a:endParaRPr lang="en-US" sz="1300" dirty="0"/>
          </a:p>
          <a:p>
            <a:pPr>
              <a:spcAft>
                <a:spcPts val="500"/>
              </a:spcAft>
            </a:pPr>
            <a:r>
              <a:rPr lang="en-US" sz="1300" dirty="0">
                <a:solidFill>
                  <a:srgbClr val="1F1F1F"/>
                </a:solidFill>
                <a:latin typeface="Meiryo UI" pitchFamily="34" charset="0"/>
                <a:ea typeface="Meiryo UI" pitchFamily="34" charset="-122"/>
                <a:cs typeface="Meiryo UI" pitchFamily="34" charset="-120"/>
              </a:rPr>
              <a:t>シフトした電力量 × 帯域別価格差がV1Gの帯域別価値</a:t>
            </a:r>
            <a:endParaRPr lang="en-US" sz="1300" dirty="0"/>
          </a:p>
        </p:txBody>
      </p:sp>
      <p:sp>
        <p:nvSpPr>
          <p:cNvPr id="15" name="Text 13"/>
          <p:cNvSpPr txBox="1"/>
          <p:nvPr/>
        </p:nvSpPr>
        <p:spPr>
          <a:xfrm>
            <a:off x="369186" y="5393827"/>
            <a:ext cx="5485248" cy="365683"/>
          </a:xfrm>
          <a:prstGeom prst="rect">
            <a:avLst/>
          </a:prstGeom>
          <a:noFill/>
          <a:ln/>
        </p:spPr>
        <p:txBody>
          <a:bodyPr wrap="square" lIns="0" tIns="0" rIns="0" bIns="0" rtlCol="0" anchor="ctr"/>
          <a:lstStyle/>
          <a:p>
            <a:r>
              <a:rPr lang="en-US" sz="1500" b="1" dirty="0">
                <a:solidFill>
                  <a:srgbClr val="2E6DB4"/>
                </a:solidFill>
                <a:latin typeface="Meiryo UI" pitchFamily="34" charset="0"/>
                <a:ea typeface="Meiryo UI" pitchFamily="34" charset="-122"/>
                <a:cs typeface="Meiryo UI" pitchFamily="34" charset="-120"/>
              </a:rPr>
              <a:t>Sobol 解析への接続</a:t>
            </a:r>
            <a:endParaRPr lang="en-US" sz="1500" dirty="0"/>
          </a:p>
        </p:txBody>
      </p:sp>
      <p:sp>
        <p:nvSpPr>
          <p:cNvPr id="16" name="Text 14"/>
          <p:cNvSpPr txBox="1"/>
          <p:nvPr/>
        </p:nvSpPr>
        <p:spPr>
          <a:xfrm>
            <a:off x="369186" y="5759510"/>
            <a:ext cx="9964868" cy="1097050"/>
          </a:xfrm>
          <a:prstGeom prst="rect">
            <a:avLst/>
          </a:prstGeom>
          <a:noFill/>
          <a:ln/>
        </p:spPr>
        <p:txBody>
          <a:bodyPr wrap="square" lIns="0" tIns="0" rIns="0" bIns="0" rtlCol="0" anchor="t"/>
          <a:lstStyle/>
          <a:p>
            <a:pPr marL="342831" indent="-342831">
              <a:spcAft>
                <a:spcPts val="500"/>
              </a:spcAft>
              <a:buSzPct val="100000"/>
              <a:buChar char="•"/>
            </a:pPr>
            <a:r>
              <a:rPr lang="en-US" sz="1300" dirty="0">
                <a:solidFill>
                  <a:srgbClr val="1F1F1F"/>
                </a:solidFill>
                <a:latin typeface="Meiryo UI" pitchFamily="34" charset="0"/>
                <a:ea typeface="Meiryo UI" pitchFamily="34" charset="-122"/>
                <a:cs typeface="Meiryo UI" pitchFamily="34" charset="-120"/>
              </a:rPr>
              <a:t>出力 Y_b(x) = Vᵢ,b(x) を LHS サンプルごとに算出 → LAR-PCE → 帯域別 Sᵢ, STᵢ</a:t>
            </a:r>
            <a:endParaRPr lang="en-US" sz="1300" dirty="0"/>
          </a:p>
          <a:p>
            <a:pPr marL="342831" indent="-342831">
              <a:spcAft>
                <a:spcPts val="500"/>
              </a:spcAft>
              <a:buSzPct val="100000"/>
              <a:buChar char="•"/>
            </a:pPr>
            <a:r>
              <a:rPr lang="en-US" sz="1300" dirty="0">
                <a:solidFill>
                  <a:srgbClr val="1F1F1F"/>
                </a:solidFill>
                <a:latin typeface="Meiryo UI" pitchFamily="34" charset="0"/>
                <a:ea typeface="Meiryo UI" pitchFamily="34" charset="-122"/>
                <a:cs typeface="Meiryo UI" pitchFamily="34" charset="-120"/>
              </a:rPr>
              <a:t>補助指標として価格変動の帯域分散 σ²_b = Σₜ λ_b(t)² も併記（時間方向の分散であり、Sobol のサンプル間分散とは別物）</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9186" y="137131"/>
            <a:ext cx="8959239" cy="319973"/>
          </a:xfrm>
          <a:prstGeom prst="rect">
            <a:avLst/>
          </a:prstGeom>
          <a:noFill/>
          <a:ln/>
        </p:spPr>
        <p:txBody>
          <a:bodyPr wrap="square" lIns="0" tIns="0" rIns="0" bIns="0" rtlCol="0" anchor="ctr"/>
          <a:lstStyle/>
          <a:p>
            <a:r>
              <a:rPr lang="en-US" sz="1300" dirty="0">
                <a:solidFill>
                  <a:srgbClr val="2E6DB4"/>
                </a:solidFill>
                <a:latin typeface="Meiryo UI" pitchFamily="34" charset="0"/>
                <a:ea typeface="Meiryo UI" pitchFamily="34" charset="-122"/>
                <a:cs typeface="Meiryo UI" pitchFamily="34" charset="-120"/>
              </a:rPr>
              <a:t>解釈を誤らないために</a:t>
            </a:r>
            <a:endParaRPr lang="en-US" sz="1300" dirty="0"/>
          </a:p>
        </p:txBody>
      </p:sp>
      <p:sp>
        <p:nvSpPr>
          <p:cNvPr id="3" name="Text 1"/>
          <p:cNvSpPr txBox="1"/>
          <p:nvPr/>
        </p:nvSpPr>
        <p:spPr>
          <a:xfrm>
            <a:off x="369186" y="411393"/>
            <a:ext cx="9324922" cy="548525"/>
          </a:xfrm>
          <a:prstGeom prst="rect">
            <a:avLst/>
          </a:prstGeom>
          <a:noFill/>
          <a:ln/>
        </p:spPr>
        <p:txBody>
          <a:bodyPr wrap="square" lIns="0" tIns="0" rIns="0" bIns="0" rtlCol="0" anchor="ctr"/>
          <a:lstStyle/>
          <a:p>
            <a:r>
              <a:rPr lang="en-US" sz="2400" dirty="0">
                <a:solidFill>
                  <a:srgbClr val="1F1F1F"/>
                </a:solidFill>
                <a:latin typeface="Meiryo UI" pitchFamily="34" charset="0"/>
                <a:ea typeface="Meiryo UI" pitchFamily="34" charset="-122"/>
                <a:cs typeface="Meiryo UI" pitchFamily="34" charset="-120"/>
              </a:rPr>
              <a:t>定義上の注意点</a:t>
            </a:r>
            <a:endParaRPr lang="en-US" sz="2400" dirty="0"/>
          </a:p>
        </p:txBody>
      </p:sp>
      <p:sp>
        <p:nvSpPr>
          <p:cNvPr id="4" name="Shape 2"/>
          <p:cNvSpPr/>
          <p:nvPr/>
        </p:nvSpPr>
        <p:spPr>
          <a:xfrm>
            <a:off x="369186" y="1051339"/>
            <a:ext cx="9964868" cy="0"/>
          </a:xfrm>
          <a:prstGeom prst="line">
            <a:avLst/>
          </a:prstGeom>
          <a:noFill/>
          <a:ln w="25400">
            <a:solidFill>
              <a:srgbClr val="2E6DB4"/>
            </a:solidFill>
            <a:prstDash val="solid"/>
          </a:ln>
        </p:spPr>
        <p:txBody>
          <a:bodyPr/>
          <a:lstStyle/>
          <a:p>
            <a:endParaRPr lang="ja-JP" altLang="en-US"/>
          </a:p>
        </p:txBody>
      </p:sp>
      <p:sp>
        <p:nvSpPr>
          <p:cNvPr id="5" name="Text 3"/>
          <p:cNvSpPr txBox="1"/>
          <p:nvPr/>
        </p:nvSpPr>
        <p:spPr>
          <a:xfrm>
            <a:off x="9922660" y="137131"/>
            <a:ext cx="411394" cy="274262"/>
          </a:xfrm>
          <a:prstGeom prst="rect">
            <a:avLst/>
          </a:prstGeom>
          <a:solidFill>
            <a:srgbClr val="595959"/>
          </a:solidFill>
          <a:ln/>
        </p:spPr>
        <p:txBody>
          <a:bodyPr wrap="square" lIns="0" tIns="0" rIns="0" bIns="0" rtlCol="0" anchor="ctr"/>
          <a:lstStyle/>
          <a:p>
            <a:pPr algn="ctr"/>
            <a:r>
              <a:rPr lang="en-US" sz="1100" b="1" dirty="0">
                <a:solidFill>
                  <a:srgbClr val="FFFFFF"/>
                </a:solidFill>
                <a:latin typeface="Meiryo UI" pitchFamily="34" charset="0"/>
                <a:ea typeface="Meiryo UI" pitchFamily="34" charset="-122"/>
                <a:cs typeface="Meiryo UI" pitchFamily="34" charset="-120"/>
              </a:rPr>
              <a:t>3</a:t>
            </a:r>
            <a:endParaRPr lang="en-US" sz="1100" dirty="0"/>
          </a:p>
        </p:txBody>
      </p:sp>
      <p:graphicFrame>
        <p:nvGraphicFramePr>
          <p:cNvPr id="6" name="Table 0"/>
          <p:cNvGraphicFramePr>
            <a:graphicFrameLocks noGrp="1"/>
          </p:cNvGraphicFramePr>
          <p:nvPr/>
        </p:nvGraphicFramePr>
        <p:xfrm>
          <a:off x="369186" y="1279891"/>
          <a:ext cx="9964868" cy="4936723"/>
        </p:xfrm>
        <a:graphic>
          <a:graphicData uri="http://schemas.openxmlformats.org/drawingml/2006/table">
            <a:tbl>
              <a:tblPr/>
              <a:tblGrid>
                <a:gridCol w="1828416">
                  <a:extLst>
                    <a:ext uri="{9D8B030D-6E8A-4147-A177-3AD203B41FA5}">
                      <a16:colId xmlns:a16="http://schemas.microsoft.com/office/drawing/2014/main" val="20000"/>
                    </a:ext>
                  </a:extLst>
                </a:gridCol>
                <a:gridCol w="4205357">
                  <a:extLst>
                    <a:ext uri="{9D8B030D-6E8A-4147-A177-3AD203B41FA5}">
                      <a16:colId xmlns:a16="http://schemas.microsoft.com/office/drawing/2014/main" val="20001"/>
                    </a:ext>
                  </a:extLst>
                </a:gridCol>
                <a:gridCol w="3931095">
                  <a:extLst>
                    <a:ext uri="{9D8B030D-6E8A-4147-A177-3AD203B41FA5}">
                      <a16:colId xmlns:a16="http://schemas.microsoft.com/office/drawing/2014/main" val="20002"/>
                    </a:ext>
                  </a:extLst>
                </a:gridCol>
              </a:tblGrid>
              <a:tr h="411394">
                <a:tc>
                  <a:txBody>
                    <a:bodyPr/>
                    <a:lstStyle/>
                    <a:p>
                      <a:pPr marL="0" indent="0">
                        <a:buNone/>
                      </a:pPr>
                      <a:r>
                        <a:rPr lang="en-US" sz="1200" b="1" dirty="0">
                          <a:solidFill>
                            <a:srgbClr val="FFFFFF"/>
                          </a:solidFill>
                          <a:latin typeface="Meiryo UI" pitchFamily="34" charset="0"/>
                          <a:ea typeface="Meiryo UI" pitchFamily="34" charset="-122"/>
                          <a:cs typeface="Meiryo UI" pitchFamily="34" charset="-120"/>
                        </a:rPr>
                        <a:t>論点</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5B9BD5"/>
                    </a:solidFill>
                  </a:tcPr>
                </a:tc>
                <a:tc>
                  <a:txBody>
                    <a:bodyPr/>
                    <a:lstStyle/>
                    <a:p>
                      <a:pPr marL="0" indent="0">
                        <a:buNone/>
                      </a:pPr>
                      <a:r>
                        <a:rPr lang="en-US" sz="1200" b="1" dirty="0">
                          <a:solidFill>
                            <a:srgbClr val="FFFFFF"/>
                          </a:solidFill>
                          <a:latin typeface="Meiryo UI" pitchFamily="34" charset="0"/>
                          <a:ea typeface="Meiryo UI" pitchFamily="34" charset="-122"/>
                          <a:cs typeface="Meiryo UI" pitchFamily="34" charset="-120"/>
                        </a:rPr>
                        <a:t>内容</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5B9BD5"/>
                    </a:solidFill>
                  </a:tcPr>
                </a:tc>
                <a:tc>
                  <a:txBody>
                    <a:bodyPr/>
                    <a:lstStyle/>
                    <a:p>
                      <a:pPr marL="0" indent="0">
                        <a:buNone/>
                      </a:pPr>
                      <a:r>
                        <a:rPr lang="en-US" sz="1200" b="1" dirty="0">
                          <a:solidFill>
                            <a:srgbClr val="FFFFFF"/>
                          </a:solidFill>
                          <a:latin typeface="Meiryo UI" pitchFamily="34" charset="0"/>
                          <a:ea typeface="Meiryo UI" pitchFamily="34" charset="-122"/>
                          <a:cs typeface="Meiryo UI" pitchFamily="34" charset="-120"/>
                        </a:rPr>
                        <a:t>対処</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777077">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ゼロ利潤条件</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容量内生化LPでは、拡張リソースの Vᵢ が年経費に一致する（最適性条件）</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Vᵢ の総額より、帯域配分比 Vᵢ,b / Vᵢ と入力への感度に着目</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077">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スパイクと非平滑性</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容量不足時の λ は VOLL 近傍に張り付き、PCE の近似精度を下げる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VOLL・負荷制限の設定を明記、帯域別 LOO 誤差を報告</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extLst>
                  <a:ext uri="{0D108BD9-81ED-4DB2-BD59-A6C34878D82A}">
                    <a16:rowId xmlns:a16="http://schemas.microsoft.com/office/drawing/2014/main" val="10002"/>
                  </a:ext>
                </a:extLst>
              </a:tr>
              <a:tr h="731366">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双対の非一意性</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LP の退化により同一最適解で λ が一意に決まらない時刻がある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ソルバー設定の固定、微小摂動による感度確認</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077">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完全予見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貯蔵の機会費用が理想的に織り込まれ、長周期帯の価値を過大評価しうる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ローリングホライズン運用との比較を感度ケースとして実施</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extLst>
                  <a:ext uri="{0D108BD9-81ED-4DB2-BD59-A6C34878D82A}">
                    <a16:rowId xmlns:a16="http://schemas.microsoft.com/office/drawing/2014/main" val="10004"/>
                  </a:ext>
                </a:extLst>
              </a:tr>
              <a:tr h="731366">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帯域境界と漏れ</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MODWT は二進スケールで、24h 周期が境界付近に位置する</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レベル集約の対応表を明記、MODWPT での再確認</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31366">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気象年</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1年分では季節・Dunkelflaute 帯の周期数が少ない</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tc>
                  <a:txBody>
                    <a:bodyPr/>
                    <a:lstStyle/>
                    <a:p>
                      <a:pPr marL="0" indent="0">
                        <a:buNone/>
                      </a:pPr>
                      <a:r>
                        <a:rPr lang="en-US" sz="1200" dirty="0">
                          <a:solidFill>
                            <a:srgbClr val="1F1F1F"/>
                          </a:solidFill>
                          <a:latin typeface="Meiryo UI" pitchFamily="34" charset="0"/>
                          <a:ea typeface="Meiryo UI" pitchFamily="34" charset="-122"/>
                          <a:cs typeface="Meiryo UI" pitchFamily="34" charset="-120"/>
                        </a:rPr>
                        <a:t>複数気象年、または気象年を不確実性入力に追加</a:t>
                      </a:r>
                      <a:endParaRPr lang="en-US" sz="1200" dirty="0">
                        <a:latin typeface="Meiryo UI" charset="0"/>
                        <a:ea typeface="Meiryo UI" charset="0"/>
                        <a:cs typeface="Meiryo UI" charset="0"/>
                      </a:endParaRPr>
                    </a:p>
                  </a:txBody>
                  <a:tcPr marL="91421" marR="91421" marT="45710" marB="4571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AF1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4DB55F64-C6B9-95E5-1210-EB25144752B3}"/>
              </a:ext>
            </a:extLst>
          </p:cNvPr>
          <p:cNvPicPr>
            <a:picLocks noChangeAspect="1"/>
          </p:cNvPicPr>
          <p:nvPr/>
        </p:nvPicPr>
        <p:blipFill>
          <a:blip r:embed="rId2"/>
          <a:stretch>
            <a:fillRect/>
          </a:stretch>
        </p:blipFill>
        <p:spPr>
          <a:xfrm>
            <a:off x="564374" y="1580760"/>
            <a:ext cx="9564651" cy="4399740"/>
          </a:xfrm>
          <a:prstGeom prst="rect">
            <a:avLst/>
          </a:prstGeom>
        </p:spPr>
      </p:pic>
      <p:sp>
        <p:nvSpPr>
          <p:cNvPr id="5" name="タイトル 4">
            <a:extLst>
              <a:ext uri="{FF2B5EF4-FFF2-40B4-BE49-F238E27FC236}">
                <a16:creationId xmlns:a16="http://schemas.microsoft.com/office/drawing/2014/main" id="{2982FF66-5A40-5E7F-376A-3E1D965E6E9D}"/>
              </a:ext>
            </a:extLst>
          </p:cNvPr>
          <p:cNvSpPr>
            <a:spLocks noGrp="1"/>
          </p:cNvSpPr>
          <p:nvPr>
            <p:ph type="title"/>
          </p:nvPr>
        </p:nvSpPr>
        <p:spPr/>
        <p:txBody>
          <a:bodyPr/>
          <a:lstStyle/>
          <a:p>
            <a:endParaRPr lang="ja-JP" altLang="en-US"/>
          </a:p>
        </p:txBody>
      </p:sp>
    </p:spTree>
    <p:extLst>
      <p:ext uri="{BB962C8B-B14F-4D97-AF65-F5344CB8AC3E}">
        <p14:creationId xmlns:p14="http://schemas.microsoft.com/office/powerpoint/2010/main" val="16488788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09943" y="352859"/>
            <a:ext cx="9073515" cy="169726"/>
          </a:xfrm>
          <a:prstGeom prst="rect">
            <a:avLst/>
          </a:prstGeom>
          <a:noFill/>
        </p:spPr>
        <p:txBody>
          <a:bodyPr wrap="square" lIns="0" tIns="0" rIns="0" bIns="0">
            <a:spAutoFit/>
          </a:bodyPr>
          <a:lstStyle/>
          <a:p>
            <a:pPr>
              <a:defRPr sz="1000" b="1">
                <a:solidFill>
                  <a:srgbClr val="0284C7"/>
                </a:solidFill>
                <a:latin typeface="Liberation Sans"/>
              </a:defRPr>
            </a:pPr>
            <a:r>
              <a:rPr sz="1103"/>
              <a:t>時間帯域別SOBOL感度分析</a:t>
            </a:r>
          </a:p>
        </p:txBody>
      </p:sp>
      <p:sp>
        <p:nvSpPr>
          <p:cNvPr id="3" name="TextBox 2"/>
          <p:cNvSpPr txBox="1"/>
          <p:nvPr/>
        </p:nvSpPr>
        <p:spPr>
          <a:xfrm>
            <a:off x="809943" y="655309"/>
            <a:ext cx="9073515" cy="288412"/>
          </a:xfrm>
          <a:prstGeom prst="rect">
            <a:avLst/>
          </a:prstGeom>
          <a:noFill/>
        </p:spPr>
        <p:txBody>
          <a:bodyPr wrap="square" lIns="0" tIns="0" rIns="0" bIns="0">
            <a:spAutoFit/>
          </a:bodyPr>
          <a:lstStyle/>
          <a:p>
            <a:pPr>
              <a:defRPr sz="1700" b="1">
                <a:solidFill>
                  <a:srgbClr val="1E293B"/>
                </a:solidFill>
                <a:latin typeface="Liberation Sans"/>
              </a:defRPr>
            </a:pPr>
            <a:r>
              <a:rPr sz="1874"/>
              <a:t>帯域別感度指標の導入により、ダブルカウントを防ぎ最適な投資計画を導出</a:t>
            </a:r>
          </a:p>
        </p:txBody>
      </p:sp>
      <p:sp>
        <p:nvSpPr>
          <p:cNvPr id="4" name="Rectangle 3"/>
          <p:cNvSpPr/>
          <p:nvPr/>
        </p:nvSpPr>
        <p:spPr>
          <a:xfrm>
            <a:off x="809943" y="1461844"/>
            <a:ext cx="9073515" cy="14002"/>
          </a:xfrm>
          <a:prstGeom prst="rect">
            <a:avLst/>
          </a:prstGeom>
          <a:solidFill>
            <a:srgbClr val="EBF1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44"/>
          </a:p>
        </p:txBody>
      </p:sp>
      <p:sp>
        <p:nvSpPr>
          <p:cNvPr id="5" name="Rounded Rectangle 4"/>
          <p:cNvSpPr/>
          <p:nvPr/>
        </p:nvSpPr>
        <p:spPr>
          <a:xfrm>
            <a:off x="809943" y="1613069"/>
            <a:ext cx="9073515" cy="1613069"/>
          </a:xfrm>
          <a:prstGeom prst="roundRect">
            <a:avLst/>
          </a:prstGeom>
          <a:solidFill>
            <a:srgbClr val="FFFFFF"/>
          </a:solidFill>
          <a:ln w="12700">
            <a:solidFill>
              <a:srgbClr val="EBF1F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200" b="1">
                <a:solidFill>
                  <a:srgbClr val="1E293B"/>
                </a:solidFill>
                <a:latin typeface="Liberation Sans"/>
              </a:defRPr>
            </a:pPr>
            <a:r>
              <a:rPr sz="1323"/>
              <a:t>1. 重複投資（ダブルカウント）の回避</a:t>
            </a:r>
          </a:p>
          <a:p>
            <a:pPr>
              <a:defRPr sz="1000">
                <a:solidFill>
                  <a:srgbClr val="64748B"/>
                </a:solidFill>
                <a:latin typeface="Liberation Sans"/>
              </a:defRPr>
            </a:pPr>
            <a:r>
              <a:rPr sz="1103"/>
              <a:t>日次帯（12〜36h）においてV1G・蓄電池・電解槽が強い代替関係(cᵢⱼ &lt; 0)にあるため、各技術の単体評価値を単純合算すると価値を過大評価するリスクがある。帯域分解感度により真の追加価値を算出することが不可欠。</a:t>
            </a:r>
          </a:p>
        </p:txBody>
      </p:sp>
      <p:sp>
        <p:nvSpPr>
          <p:cNvPr id="6" name="Rounded Rectangle 5"/>
          <p:cNvSpPr/>
          <p:nvPr/>
        </p:nvSpPr>
        <p:spPr>
          <a:xfrm>
            <a:off x="809943" y="3427772"/>
            <a:ext cx="9073515" cy="1613069"/>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200" b="1">
                <a:solidFill>
                  <a:srgbClr val="0284C7"/>
                </a:solidFill>
                <a:latin typeface="Liberation Sans"/>
              </a:defRPr>
            </a:pPr>
            <a:r>
              <a:rPr sz="1323"/>
              <a:t>2. 柔軟性の空白帯（36〜192h）への重点配分</a:t>
            </a:r>
          </a:p>
          <a:p>
            <a:pPr>
              <a:defRPr sz="1000">
                <a:solidFill>
                  <a:srgbClr val="64748B"/>
                </a:solidFill>
                <a:latin typeface="Liberation Sans"/>
              </a:defRPr>
            </a:pPr>
            <a:r>
              <a:rPr sz="1103"/>
              <a:t>総観規模帯（数日間の気象不順対応）は分散型リソースのカバーが難しく、系統的に価値が不足する可能性（柔軟性の空白帯）がある。地域間送電強化やミドル帯蓄電への優先的な投資誘導が必要。</a:t>
            </a:r>
          </a:p>
        </p:txBody>
      </p:sp>
      <p:sp>
        <p:nvSpPr>
          <p:cNvPr id="7" name="Rounded Rectangle 6"/>
          <p:cNvSpPr/>
          <p:nvPr/>
        </p:nvSpPr>
        <p:spPr>
          <a:xfrm>
            <a:off x="809943" y="5242475"/>
            <a:ext cx="9073515" cy="1613069"/>
          </a:xfrm>
          <a:prstGeom prst="roundRect">
            <a:avLst/>
          </a:prstGeom>
          <a:solidFill>
            <a:srgbClr val="FFFFFF"/>
          </a:solidFill>
          <a:ln w="12700">
            <a:solidFill>
              <a:srgbClr val="EBF1F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41"/>
              </a:spcAft>
              <a:defRPr sz="1200" b="1">
                <a:solidFill>
                  <a:srgbClr val="1E293B"/>
                </a:solidFill>
                <a:latin typeface="Liberation Sans"/>
              </a:defRPr>
            </a:pPr>
            <a:r>
              <a:rPr sz="1323"/>
              <a:t>3. 時間スケールに応じたリスクマネジメント</a:t>
            </a:r>
          </a:p>
          <a:p>
            <a:pPr>
              <a:defRPr sz="1000">
                <a:solidFill>
                  <a:srgbClr val="64748B"/>
                </a:solidFill>
                <a:latin typeface="Liberation Sans"/>
              </a:defRPr>
            </a:pPr>
            <a:r>
              <a:rPr sz="1103"/>
              <a:t>日次帯の短期変動（V1G・蓄電池）、総観規模帯の中期変動（送電線）、季節帯の長期変動（水素貯蔵）を明確に分離して不確実性を管理することで、2050年系統の堅牢なポートフォリオを構築可能。</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13F25CE9-5D2E-6040-3AA1-ECAA623D4B55}"/>
                  </a:ext>
                </a:extLst>
              </p:cNvPr>
              <p:cNvSpPr>
                <a:spLocks noGrp="1"/>
              </p:cNvSpPr>
              <p:nvPr>
                <p:ph type="title"/>
              </p:nvPr>
            </p:nvSpPr>
            <p:spPr/>
            <p:txBody>
              <a:bodyPr/>
              <a:lstStyle/>
              <a:p>
                <a:r>
                  <a:rPr kumimoji="1" lang="ja-JP" altLang="en-US" sz="2400" dirty="0"/>
                  <a:t>二次</a:t>
                </a:r>
                <a:r>
                  <a:rPr kumimoji="1" lang="en-US" altLang="ja-JP" sz="2400" dirty="0"/>
                  <a:t>Sobol</a:t>
                </a:r>
                <a:r>
                  <a:rPr kumimoji="1" lang="ja-JP" altLang="en-US" sz="2400" dirty="0"/>
                  <a:t>感度指標</a:t>
                </a:r>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𝑆</m:t>
                        </m:r>
                      </m:e>
                      <m:sub>
                        <m:r>
                          <a:rPr lang="en-US" altLang="ja-JP" sz="2400" i="1">
                            <a:latin typeface="Cambria Math" panose="02040503050406030204" pitchFamily="18" charset="0"/>
                          </a:rPr>
                          <m:t>𝑖𝑗</m:t>
                        </m:r>
                      </m:sub>
                    </m:sSub>
                  </m:oMath>
                </a14:m>
                <a:r>
                  <a:rPr kumimoji="1" lang="ja-JP" altLang="en-US" sz="2400" dirty="0"/>
                  <a:t>の数理的定義</a:t>
                </a:r>
              </a:p>
            </p:txBody>
          </p:sp>
        </mc:Choice>
        <mc:Fallback xmlns="">
          <p:sp>
            <p:nvSpPr>
              <p:cNvPr id="2" name="タイトル 1">
                <a:extLst>
                  <a:ext uri="{FF2B5EF4-FFF2-40B4-BE49-F238E27FC236}">
                    <a16:creationId xmlns:a16="http://schemas.microsoft.com/office/drawing/2014/main" id="{13F25CE9-5D2E-6040-3AA1-ECAA623D4B55}"/>
                  </a:ext>
                </a:extLst>
              </p:cNvPr>
              <p:cNvSpPr>
                <a:spLocks noGrp="1" noRot="1" noChangeAspect="1" noMove="1" noResize="1" noEditPoints="1" noAdjustHandles="1" noChangeArrowheads="1" noChangeShapeType="1" noTextEdit="1"/>
              </p:cNvSpPr>
              <p:nvPr>
                <p:ph type="title"/>
              </p:nvPr>
            </p:nvSpPr>
            <p:spPr>
              <a:blipFill>
                <a:blip r:embed="rId2"/>
                <a:stretch>
                  <a:fillRect l="-9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プレースホルダー 17">
                <a:extLst>
                  <a:ext uri="{FF2B5EF4-FFF2-40B4-BE49-F238E27FC236}">
                    <a16:creationId xmlns:a16="http://schemas.microsoft.com/office/drawing/2014/main" id="{97C5DA81-05BD-DC58-52F2-E70EE7FA9533}"/>
                  </a:ext>
                </a:extLst>
              </p:cNvPr>
              <p:cNvSpPr>
                <a:spLocks noGrp="1"/>
              </p:cNvSpPr>
              <p:nvPr>
                <p:ph type="body" sz="quarter" idx="12"/>
              </p:nvPr>
            </p:nvSpPr>
            <p:spPr/>
            <p:txBody>
              <a:bodyPr>
                <a:normAutofit/>
              </a:bodyPr>
              <a:lstStyle/>
              <a:p>
                <a:r>
                  <a:rPr lang="en-US" altLang="ja-JP" sz="1400" dirty="0"/>
                  <a:t>1. </a:t>
                </a:r>
                <a:r>
                  <a:rPr lang="ja-JP" altLang="en-US" sz="1400" dirty="0"/>
                  <a:t>一般的な分散分解（</a:t>
                </a:r>
                <a:r>
                  <a:rPr lang="en-US" altLang="ja-JP" sz="1400" dirty="0"/>
                  <a:t>ANOVA</a:t>
                </a:r>
                <a:r>
                  <a:rPr lang="ja-JP" altLang="en-US" sz="1400" dirty="0"/>
                  <a:t>分解）に基づく数理定義出力</a:t>
                </a:r>
                <a14:m>
                  <m:oMath xmlns:m="http://schemas.openxmlformats.org/officeDocument/2006/math">
                    <m:r>
                      <a:rPr lang="en-US" altLang="ja-JP" sz="1400" b="0" i="1" smtClean="0">
                        <a:latin typeface="Cambria Math" panose="02040503050406030204" pitchFamily="18" charset="0"/>
                      </a:rPr>
                      <m:t>𝑌</m:t>
                    </m:r>
                  </m:oMath>
                </a14:m>
                <a:r>
                  <a:rPr lang="ja-JP" altLang="en-US" sz="1400" dirty="0"/>
                  <a:t>の全分散 </a:t>
                </a:r>
                <a14:m>
                  <m:oMath xmlns:m="http://schemas.openxmlformats.org/officeDocument/2006/math">
                    <m:r>
                      <m:rPr>
                        <m:nor/>
                      </m:rPr>
                      <a:rPr lang="en-US" altLang="ja-JP" sz="1400" b="0" i="0" smtClean="0">
                        <a:latin typeface="Cambria Math" panose="02040503050406030204" pitchFamily="18" charset="0"/>
                      </a:rPr>
                      <m:t>Var</m:t>
                    </m:r>
                    <m:d>
                      <m:dPr>
                        <m:ctrlPr>
                          <a:rPr lang="en-US" altLang="ja-JP" sz="1400" b="0" i="1" smtClean="0">
                            <a:latin typeface="Cambria Math" panose="02040503050406030204" pitchFamily="18" charset="0"/>
                          </a:rPr>
                        </m:ctrlPr>
                      </m:dPr>
                      <m:e>
                        <m:r>
                          <a:rPr lang="en-US" altLang="ja-JP" sz="1400" b="0" i="1" smtClean="0">
                            <a:latin typeface="Cambria Math" panose="02040503050406030204" pitchFamily="18" charset="0"/>
                          </a:rPr>
                          <m:t>𝑌</m:t>
                        </m:r>
                      </m:e>
                    </m:d>
                    <m:r>
                      <a:rPr lang="en-US" altLang="ja-JP" sz="1400" b="0" i="1" smtClean="0">
                        <a:latin typeface="Cambria Math" panose="02040503050406030204" pitchFamily="18" charset="0"/>
                      </a:rPr>
                      <m:t> </m:t>
                    </m:r>
                    <m:r>
                      <a:rPr lang="en-US" altLang="ja-JP" sz="1400" i="1">
                        <a:latin typeface="Cambria Math" panose="02040503050406030204" pitchFamily="18" charset="0"/>
                      </a:rPr>
                      <m:t> </m:t>
                    </m:r>
                  </m:oMath>
                </a14:m>
                <a:r>
                  <a:rPr lang="ja-JP" altLang="en-US" sz="1400" dirty="0"/>
                  <a:t>のうち、入力変数 </a:t>
                </a:r>
                <a14:m>
                  <m:oMath xmlns:m="http://schemas.openxmlformats.org/officeDocument/2006/math">
                    <m:sSub>
                      <m:sSubPr>
                        <m:ctrlPr>
                          <a:rPr lang="en-US" altLang="ja-JP" sz="1400" b="0" i="1" smtClean="0">
                            <a:latin typeface="Cambria Math" panose="02040503050406030204" pitchFamily="18" charset="0"/>
                          </a:rPr>
                        </m:ctrlPr>
                      </m:sSubPr>
                      <m:e>
                        <m:r>
                          <a:rPr lang="en-US" altLang="ja-JP" sz="1400" b="0" i="1" smtClean="0">
                            <a:latin typeface="Cambria Math" panose="02040503050406030204" pitchFamily="18" charset="0"/>
                          </a:rPr>
                          <m:t>𝑋</m:t>
                        </m:r>
                      </m:e>
                      <m:sub>
                        <m:r>
                          <a:rPr lang="en-US" altLang="ja-JP" sz="1400" b="0" i="1" smtClean="0">
                            <a:latin typeface="Cambria Math" panose="02040503050406030204" pitchFamily="18" charset="0"/>
                          </a:rPr>
                          <m:t>𝑖</m:t>
                        </m:r>
                      </m:sub>
                    </m:sSub>
                  </m:oMath>
                </a14:m>
                <a:r>
                  <a:rPr lang="ja-JP" altLang="en-US" sz="1400" dirty="0"/>
                  <a:t>と </a:t>
                </a: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b="0" i="1" smtClean="0">
                            <a:latin typeface="Cambria Math" panose="02040503050406030204" pitchFamily="18" charset="0"/>
                          </a:rPr>
                          <m:t>𝑗</m:t>
                        </m:r>
                      </m:sub>
                    </m:sSub>
                    <m:r>
                      <a:rPr lang="en-US" altLang="ja-JP" sz="1400" i="1">
                        <a:latin typeface="Cambria Math" panose="02040503050406030204" pitchFamily="18" charset="0"/>
                      </a:rPr>
                      <m:t> </m:t>
                    </m:r>
                  </m:oMath>
                </a14:m>
                <a:r>
                  <a:rPr lang="ja-JP" altLang="en-US" sz="1400" dirty="0"/>
                  <a:t>の「純粋な相互作用（</a:t>
                </a:r>
                <a:r>
                  <a:rPr lang="en-US" altLang="ja-JP" sz="1400" dirty="0"/>
                  <a:t>2</a:t>
                </a:r>
                <a:r>
                  <a:rPr lang="ja-JP" altLang="en-US" sz="1400" dirty="0"/>
                  <a:t>次交差効果）」によって説明される割合として定義される。</a:t>
                </a:r>
                <a:endParaRPr lang="en-US" altLang="ja-JP" sz="1400" dirty="0"/>
              </a:p>
              <a:p>
                <a:endParaRPr lang="en-US" altLang="ja-JP" sz="1400" dirty="0"/>
              </a:p>
              <a:p>
                <a:pPr marL="1371600" lvl="3" indent="0">
                  <a:buNone/>
                </a:pPr>
                <a14:m>
                  <m:oMathPara xmlns:m="http://schemas.openxmlformats.org/officeDocument/2006/math">
                    <m:oMathParaPr>
                      <m:jc m:val="center"/>
                    </m:oMathParaPr>
                    <m:o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𝑆</m:t>
                          </m:r>
                        </m:e>
                        <m:sub>
                          <m:r>
                            <a:rPr lang="en-US" altLang="ja-JP" sz="1400" i="1">
                              <a:latin typeface="Cambria Math" panose="02040503050406030204" pitchFamily="18" charset="0"/>
                            </a:rPr>
                            <m:t>𝑖𝑗</m:t>
                          </m:r>
                        </m:sub>
                      </m:sSub>
                      <m:r>
                        <a:rPr lang="en-US" altLang="ja-JP" sz="1400" i="1">
                          <a:latin typeface="Cambria Math" panose="02040503050406030204" pitchFamily="18" charset="0"/>
                        </a:rPr>
                        <m:t>=</m:t>
                      </m:r>
                      <m:f>
                        <m:fPr>
                          <m:ctrlPr>
                            <a:rPr lang="en-US" altLang="ja-JP" sz="1400" i="1">
                              <a:latin typeface="Cambria Math" panose="02040503050406030204" pitchFamily="18" charset="0"/>
                            </a:rPr>
                          </m:ctrlPr>
                        </m:fPr>
                        <m:num>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𝑖𝑗</m:t>
                              </m:r>
                            </m:sub>
                          </m:sSub>
                        </m:num>
                        <m:den>
                          <m:r>
                            <a:rPr lang="en-US" altLang="ja-JP" sz="1400" i="1">
                              <a:latin typeface="Cambria Math" panose="02040503050406030204" pitchFamily="18" charset="0"/>
                            </a:rPr>
                            <m:t>𝑉𝑎𝑟</m:t>
                          </m:r>
                          <m:d>
                            <m:dPr>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d>
                        </m:den>
                      </m:f>
                      <m:r>
                        <a:rPr lang="en-US" altLang="ja-JP" sz="1400" i="1">
                          <a:latin typeface="Cambria Math" panose="02040503050406030204" pitchFamily="18" charset="0"/>
                        </a:rPr>
                        <m:t>=</m:t>
                      </m:r>
                      <m:f>
                        <m:fPr>
                          <m:ctrlPr>
                            <a:rPr lang="en-US" altLang="ja-JP" sz="1400" i="1">
                              <a:latin typeface="Cambria Math" panose="02040503050406030204" pitchFamily="18" charset="0"/>
                            </a:rPr>
                          </m:ctrlPr>
                        </m:fPr>
                        <m:num>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e>
                              </m:d>
                            </m:e>
                          </m:d>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𝑗</m:t>
                              </m:r>
                            </m:sub>
                          </m:sSub>
                        </m:num>
                        <m:den>
                          <m:r>
                            <m:rPr>
                              <m:nor/>
                            </m:rPr>
                            <a:rPr lang="en-US" altLang="ja-JP" sz="1400" i="0">
                              <a:latin typeface="Cambria Math" panose="02040503050406030204" pitchFamily="18" charset="0"/>
                            </a:rPr>
                            <m:t>Var</m:t>
                          </m:r>
                          <m:d>
                            <m:dPr>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d>
                        </m:den>
                      </m:f>
                    </m:oMath>
                  </m:oMathPara>
                </a14:m>
                <a:endParaRPr lang="en-US" altLang="ja-JP" sz="1400" dirty="0"/>
              </a:p>
              <a:p>
                <a:r>
                  <a:rPr lang="ja-JP" altLang="en-US" sz="1400" dirty="0"/>
                  <a:t>ここで：</a:t>
                </a:r>
                <a:endParaRPr lang="en-US" altLang="ja-JP" sz="1400" dirty="0"/>
              </a:p>
              <a:p>
                <a:pPr marL="0" indent="0">
                  <a:buNone/>
                </a:pP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 </m:t>
                        </m:r>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e>
                        </m:d>
                      </m:e>
                    </m:d>
                  </m:oMath>
                </a14:m>
                <a:r>
                  <a:rPr lang="ja-JP" altLang="en-US" sz="1400" dirty="0"/>
                  <a:t>　</a:t>
                </a:r>
                <a:r>
                  <a:rPr lang="en-US" altLang="ja-JP" sz="1400" dirty="0"/>
                  <a:t>: </a:t>
                </a:r>
                <a14:m>
                  <m:oMath xmlns:m="http://schemas.openxmlformats.org/officeDocument/2006/math">
                    <m:sSub>
                      <m:sSubPr>
                        <m:ctrlPr>
                          <a:rPr lang="en-US" altLang="ja-JP" sz="1400" b="0" i="1" smtClean="0">
                            <a:latin typeface="Cambria Math" panose="02040503050406030204" pitchFamily="18" charset="0"/>
                          </a:rPr>
                        </m:ctrlPr>
                      </m:sSubPr>
                      <m:e>
                        <m:r>
                          <a:rPr lang="en-US" altLang="ja-JP" sz="1400" b="0" i="1" smtClean="0">
                            <a:latin typeface="Cambria Math" panose="02040503050406030204" pitchFamily="18" charset="0"/>
                          </a:rPr>
                          <m:t>𝑋</m:t>
                        </m:r>
                      </m:e>
                      <m:sub>
                        <m:r>
                          <a:rPr lang="en-US" altLang="ja-JP" sz="1400" i="1">
                            <a:latin typeface="Cambria Math" panose="02040503050406030204" pitchFamily="18" charset="0"/>
                          </a:rPr>
                          <m:t>𝑖</m:t>
                        </m:r>
                      </m:sub>
                    </m:sSub>
                  </m:oMath>
                </a14:m>
                <a:r>
                  <a:rPr lang="ja-JP" altLang="en-US" sz="1400" dirty="0"/>
                  <a:t> 単独の</a:t>
                </a:r>
                <a:r>
                  <a:rPr lang="en-US" altLang="ja-JP" sz="1400" dirty="0"/>
                  <a:t>1</a:t>
                </a:r>
                <a:r>
                  <a:rPr lang="ja-JP" altLang="en-US" sz="1400" dirty="0"/>
                  <a:t>次分散成分</a:t>
                </a:r>
                <a:endParaRPr lang="en-US" altLang="ja-JP" sz="1400" dirty="0"/>
              </a:p>
              <a:p>
                <a:pPr marL="0" indent="0">
                  <a:buNone/>
                </a:pP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𝑉</m:t>
                        </m:r>
                      </m:e>
                      <m:sub>
                        <m:r>
                          <a:rPr lang="en-US" altLang="ja-JP" sz="1400" i="1">
                            <a:latin typeface="Cambria Math" panose="02040503050406030204" pitchFamily="18" charset="0"/>
                          </a:rPr>
                          <m:t>𝑗</m:t>
                        </m:r>
                      </m:sub>
                    </m:sSub>
                    <m:r>
                      <a:rPr lang="en-US" altLang="ja-JP" sz="1400" i="1">
                        <a:latin typeface="Cambria Math" panose="02040503050406030204" pitchFamily="18" charset="0"/>
                      </a:rPr>
                      <m:t>=</m:t>
                    </m:r>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r>
                          <a:rPr lang="en-US" altLang="ja-JP" sz="1400" i="1">
                            <a:latin typeface="Cambria Math" panose="02040503050406030204" pitchFamily="18" charset="0"/>
                          </a:rPr>
                          <m:t> </m:t>
                        </m:r>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e>
                        </m:d>
                      </m:e>
                    </m:d>
                  </m:oMath>
                </a14:m>
                <a:r>
                  <a:rPr lang="en-US" altLang="ja-JP" sz="1400" dirty="0"/>
                  <a:t> : </a:t>
                </a: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b="0" i="1" smtClean="0">
                            <a:latin typeface="Cambria Math" panose="02040503050406030204" pitchFamily="18" charset="0"/>
                          </a:rPr>
                          <m:t>𝑗</m:t>
                        </m:r>
                      </m:sub>
                    </m:sSub>
                  </m:oMath>
                </a14:m>
                <a:r>
                  <a:rPr lang="ja-JP" altLang="en-US" sz="1400" dirty="0"/>
                  <a:t> 単独の</a:t>
                </a:r>
                <a:r>
                  <a:rPr lang="en-US" altLang="ja-JP" sz="1400" dirty="0"/>
                  <a:t>1</a:t>
                </a:r>
                <a:r>
                  <a:rPr lang="ja-JP" altLang="en-US" sz="1400" dirty="0"/>
                  <a:t>次分散成分</a:t>
                </a:r>
                <a:endParaRPr lang="en-US" altLang="ja-JP" sz="1400" dirty="0"/>
              </a:p>
              <a:p>
                <a:pPr marL="0" indent="0">
                  <a:buNone/>
                </a:pPr>
                <a14:m>
                  <m:oMath xmlns:m="http://schemas.openxmlformats.org/officeDocument/2006/math">
                    <m:sSub>
                      <m:sSubPr>
                        <m:ctrlPr>
                          <a:rPr lang="en-US" altLang="ja-JP" sz="1400" i="0">
                            <a:latin typeface="Cambria Math" panose="02040503050406030204" pitchFamily="18" charset="0"/>
                          </a:rPr>
                        </m:ctrlPr>
                      </m:sSubPr>
                      <m:e>
                        <m:r>
                          <m:rPr>
                            <m:nor/>
                          </m:rPr>
                          <a:rPr lang="en-US" altLang="ja-JP" sz="1400" i="0">
                            <a:latin typeface="Cambria Math" panose="02040503050406030204" pitchFamily="18" charset="0"/>
                          </a:rPr>
                          <m:t>Var</m:t>
                        </m:r>
                      </m:e>
                      <m:sub>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sub>
                    </m:sSub>
                    <m:d>
                      <m:dPr>
                        <m:ctrlPr>
                          <a:rPr lang="en-US" altLang="ja-JP" sz="1400" i="1">
                            <a:latin typeface="Cambria Math" panose="02040503050406030204" pitchFamily="18" charset="0"/>
                          </a:rPr>
                        </m:ctrlPr>
                      </m:dPr>
                      <m:e>
                        <m:r>
                          <a:rPr lang="en-US" altLang="ja-JP" sz="1400" i="1">
                            <a:latin typeface="Cambria Math" panose="02040503050406030204" pitchFamily="18" charset="0"/>
                          </a:rPr>
                          <m:t>𝔼</m:t>
                        </m:r>
                        <m:d>
                          <m:dPr>
                            <m:begChr m:val="["/>
                            <m:endChr m:val="]"/>
                            <m:ctrlPr>
                              <a:rPr lang="en-US" altLang="ja-JP" sz="1400" i="1">
                                <a:latin typeface="Cambria Math" panose="02040503050406030204" pitchFamily="18" charset="0"/>
                              </a:rPr>
                            </m:ctrlPr>
                          </m:dPr>
                          <m:e>
                            <m:r>
                              <a:rPr lang="en-US" altLang="ja-JP" sz="1400" i="1">
                                <a:latin typeface="Cambria Math" panose="02040503050406030204" pitchFamily="18" charset="0"/>
                              </a:rPr>
                              <m:t>𝑌</m:t>
                            </m:r>
                          </m:e>
                          <m:e>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r>
                              <a:rPr lang="en-US" altLang="ja-JP" sz="1400" i="1">
                                <a:latin typeface="Cambria Math" panose="02040503050406030204" pitchFamily="18" charset="0"/>
                              </a:rPr>
                              <m:t>,</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𝑗</m:t>
                                </m:r>
                              </m:sub>
                            </m:sSub>
                          </m:e>
                        </m:d>
                      </m:e>
                    </m:d>
                  </m:oMath>
                </a14:m>
                <a:r>
                  <a:rPr lang="en-US" altLang="ja-JP" sz="1400" dirty="0"/>
                  <a:t> : </a:t>
                </a:r>
                <a14:m>
                  <m:oMath xmlns:m="http://schemas.openxmlformats.org/officeDocument/2006/math">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i="1">
                            <a:latin typeface="Cambria Math" panose="02040503050406030204" pitchFamily="18" charset="0"/>
                          </a:rPr>
                          <m:t>𝑖</m:t>
                        </m:r>
                      </m:sub>
                    </m:sSub>
                  </m:oMath>
                </a14:m>
                <a:r>
                  <a:rPr lang="ja-JP" altLang="en-US" sz="1400" dirty="0"/>
                  <a:t> と</a:t>
                </a:r>
                <a14:m>
                  <m:oMath xmlns:m="http://schemas.openxmlformats.org/officeDocument/2006/math">
                    <m:r>
                      <a:rPr lang="en-US" altLang="ja-JP" sz="1400" b="0" i="0" smtClean="0">
                        <a:latin typeface="Cambria Math" panose="02040503050406030204" pitchFamily="18" charset="0"/>
                      </a:rPr>
                      <m:t> </m:t>
                    </m:r>
                    <m:sSub>
                      <m:sSubPr>
                        <m:ctrlPr>
                          <a:rPr lang="en-US" altLang="ja-JP" sz="1400" i="1">
                            <a:latin typeface="Cambria Math" panose="02040503050406030204" pitchFamily="18" charset="0"/>
                          </a:rPr>
                        </m:ctrlPr>
                      </m:sSubPr>
                      <m:e>
                        <m:r>
                          <a:rPr lang="en-US" altLang="ja-JP" sz="1400" i="1">
                            <a:latin typeface="Cambria Math" panose="02040503050406030204" pitchFamily="18" charset="0"/>
                          </a:rPr>
                          <m:t>𝑋</m:t>
                        </m:r>
                      </m:e>
                      <m:sub>
                        <m:r>
                          <a:rPr lang="en-US" altLang="ja-JP" sz="1400" b="0" i="1" smtClean="0">
                            <a:latin typeface="Cambria Math" panose="02040503050406030204" pitchFamily="18" charset="0"/>
                          </a:rPr>
                          <m:t>𝑗</m:t>
                        </m:r>
                      </m:sub>
                    </m:sSub>
                  </m:oMath>
                </a14:m>
                <a:r>
                  <a:rPr lang="ja-JP" altLang="en-US" sz="1400" dirty="0"/>
                  <a:t> を同時に固定した際の結合分散成分</a:t>
                </a:r>
                <a:endParaRPr lang="en-US" altLang="ja-JP" sz="1400" dirty="0"/>
              </a:p>
            </p:txBody>
          </p:sp>
        </mc:Choice>
        <mc:Fallback xmlns="">
          <p:sp>
            <p:nvSpPr>
              <p:cNvPr id="18" name="テキスト プレースホルダー 17">
                <a:extLst>
                  <a:ext uri="{FF2B5EF4-FFF2-40B4-BE49-F238E27FC236}">
                    <a16:creationId xmlns:a16="http://schemas.microsoft.com/office/drawing/2014/main" id="{97C5DA81-05BD-DC58-52F2-E70EE7FA9533}"/>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61" t="-585"/>
                </a:stretch>
              </a:blipFill>
            </p:spPr>
            <p:txBody>
              <a:bodyPr/>
              <a:lstStyle/>
              <a:p>
                <a:r>
                  <a:rPr lang="ja-JP" altLang="en-US">
                    <a:noFill/>
                  </a:rPr>
                  <a:t> </a:t>
                </a:r>
              </a:p>
            </p:txBody>
          </p:sp>
        </mc:Fallback>
      </mc:AlternateContent>
      <p:sp>
        <p:nvSpPr>
          <p:cNvPr id="7" name="テキスト ボックス 6">
            <a:extLst>
              <a:ext uri="{FF2B5EF4-FFF2-40B4-BE49-F238E27FC236}">
                <a16:creationId xmlns:a16="http://schemas.microsoft.com/office/drawing/2014/main" id="{CB63FC79-E18A-0E6B-3047-6B0D1A1927D6}"/>
              </a:ext>
            </a:extLst>
          </p:cNvPr>
          <p:cNvSpPr txBox="1"/>
          <p:nvPr/>
        </p:nvSpPr>
        <p:spPr>
          <a:xfrm>
            <a:off x="4707524" y="6428355"/>
            <a:ext cx="5362574" cy="523220"/>
          </a:xfrm>
          <a:prstGeom prst="rect">
            <a:avLst/>
          </a:prstGeom>
          <a:noFill/>
        </p:spPr>
        <p:txBody>
          <a:bodyPr wrap="square">
            <a:spAutoFit/>
          </a:bodyPr>
          <a:lstStyle/>
          <a:p>
            <a:br>
              <a:rPr lang="ja-JP" altLang="ja-JP" dirty="0"/>
            </a:br>
            <a:r>
              <a:rPr lang="en-US" altLang="ja-JP" dirty="0"/>
              <a:t> </a:t>
            </a:r>
            <a:endParaRPr lang="ja-JP" altLang="en-US" dirty="0"/>
          </a:p>
        </p:txBody>
      </p:sp>
    </p:spTree>
    <p:extLst>
      <p:ext uri="{BB962C8B-B14F-4D97-AF65-F5344CB8AC3E}">
        <p14:creationId xmlns:p14="http://schemas.microsoft.com/office/powerpoint/2010/main" val="9959226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ABC6F-41A5-A16E-3D2D-221596AF2AC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6D81E3F-F3F9-4D1E-AD20-9E1F6F983010}"/>
              </a:ext>
            </a:extLst>
          </p:cNvPr>
          <p:cNvSpPr>
            <a:spLocks noGrp="1"/>
          </p:cNvSpPr>
          <p:nvPr>
            <p:ph type="title"/>
          </p:nvPr>
        </p:nvSpPr>
        <p:spPr>
          <a:xfrm>
            <a:off x="374904" y="61259"/>
            <a:ext cx="10003638" cy="706210"/>
          </a:xfrm>
        </p:spPr>
        <p:txBody>
          <a:bodyPr/>
          <a:lstStyle/>
          <a:p>
            <a:r>
              <a:rPr lang="en-US" altLang="ja-JP" dirty="0"/>
              <a:t>LAR-PCE</a:t>
            </a:r>
            <a:r>
              <a:rPr lang="ja-JP" altLang="en-US" dirty="0"/>
              <a:t>における代数的計算式</a:t>
            </a:r>
          </a:p>
        </p:txBody>
      </p:sp>
      <mc:AlternateContent xmlns:mc="http://schemas.openxmlformats.org/markup-compatibility/2006" xmlns:a14="http://schemas.microsoft.com/office/drawing/2010/main">
        <mc:Choice Requires="a14">
          <p:sp>
            <p:nvSpPr>
              <p:cNvPr id="18" name="テキスト プレースホルダー 17">
                <a:extLst>
                  <a:ext uri="{FF2B5EF4-FFF2-40B4-BE49-F238E27FC236}">
                    <a16:creationId xmlns:a16="http://schemas.microsoft.com/office/drawing/2014/main" id="{84A46450-7D7A-C82F-7211-941733F8F0CA}"/>
                  </a:ext>
                </a:extLst>
              </p:cNvPr>
              <p:cNvSpPr>
                <a:spLocks noGrp="1"/>
              </p:cNvSpPr>
              <p:nvPr>
                <p:ph type="body" sz="quarter" idx="12"/>
              </p:nvPr>
            </p:nvSpPr>
            <p:spPr>
              <a:xfrm>
                <a:off x="374650" y="949973"/>
                <a:ext cx="10004425" cy="6250928"/>
              </a:xfrm>
            </p:spPr>
            <p:txBody>
              <a:bodyPr>
                <a:normAutofit lnSpcReduction="10000"/>
              </a:bodyPr>
              <a:lstStyle/>
              <a:p>
                <a:r>
                  <a:rPr lang="en-US" altLang="ja-JP" dirty="0"/>
                  <a:t>2. </a:t>
                </a:r>
                <a:r>
                  <a:rPr lang="ja-JP" altLang="en-US" dirty="0"/>
                  <a:t>帯域分解</a:t>
                </a:r>
                <a:r>
                  <a:rPr lang="en-US" altLang="ja-JP" dirty="0"/>
                  <a:t>PCE</a:t>
                </a:r>
                <a:r>
                  <a:rPr lang="ja-JP" altLang="en-US" dirty="0"/>
                  <a:t>（多項式カオス展開）における代数的計算式</a:t>
                </a:r>
                <a:endParaRPr lang="en-US" altLang="ja-JP" dirty="0"/>
              </a:p>
              <a:p>
                <a:r>
                  <a:rPr lang="ja-JP" altLang="ja-JP" dirty="0"/>
                  <a:t>帯域 </a:t>
                </a:r>
                <a14:m>
                  <m:oMath xmlns:m="http://schemas.openxmlformats.org/officeDocument/2006/math">
                    <m:r>
                      <a:rPr lang="en-US" altLang="ja-JP" smtClean="0">
                        <a:latin typeface="Cambria Math" panose="02040503050406030204" pitchFamily="18" charset="0"/>
                      </a:rPr>
                      <m:t>𝑏</m:t>
                    </m:r>
                  </m:oMath>
                </a14:m>
                <a:r>
                  <a:rPr lang="en-US" altLang="ja-JP" dirty="0"/>
                  <a:t> </a:t>
                </a:r>
                <a:r>
                  <a:rPr lang="ja-JP" altLang="ja-JP" dirty="0"/>
                  <a:t>における出力 </a:t>
                </a:r>
                <a14:m>
                  <m:oMath xmlns:m="http://schemas.openxmlformats.org/officeDocument/2006/math">
                    <m:r>
                      <a:rPr lang="en-US" altLang="ja-JP" smtClean="0">
                        <a:latin typeface="Cambria Math" panose="02040503050406030204" pitchFamily="18" charset="0"/>
                      </a:rPr>
                      <m:t>𝑌</m:t>
                    </m:r>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oMath>
                </a14:m>
                <a:r>
                  <a:rPr lang="en-US" altLang="ja-JP" dirty="0"/>
                  <a:t> </a:t>
                </a:r>
                <a:r>
                  <a:rPr lang="ja-JP" altLang="ja-JP" dirty="0"/>
                  <a:t>を多項式展開（PCE）で表現</a:t>
                </a:r>
                <a:r>
                  <a:rPr lang="ja-JP" altLang="en-US" dirty="0"/>
                  <a:t>すると</a:t>
                </a:r>
                <a:r>
                  <a:rPr lang="ja-JP" altLang="ja-JP" dirty="0"/>
                  <a:t>：</a:t>
                </a:r>
                <a:endParaRPr lang="en-US" altLang="ja-JP" dirty="0"/>
              </a:p>
              <a:p>
                <a:endParaRPr lang="en-US" altLang="ja-JP" dirty="0"/>
              </a:p>
              <a:p>
                <a:pPr marL="1371600" lvl="3" indent="0">
                  <a:buNone/>
                </a:pPr>
                <a14:m>
                  <m:oMathPara xmlns:m="http://schemas.openxmlformats.org/officeDocument/2006/math">
                    <m:oMath>
                      <m:r>
                        <a:rPr lang="en-US" altLang="ja-JP" smtClean="0">
                          <a:latin typeface="Cambria Math" panose="02040503050406030204" pitchFamily="18" charset="0"/>
                        </a:rPr>
                        <m:t>𝑌</m:t>
                      </m:r>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r>
                        <a:rPr lang="en-US" altLang="ja-JP" smtClean="0">
                          <a:latin typeface="Cambria Math" panose="02040503050406030204" pitchFamily="18" charset="0"/>
                        </a:rPr>
                        <m:t>=</m:t>
                      </m:r>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𝑐</m:t>
                          </m:r>
                        </m:e>
                        <m:sub>
                          <m:r>
                            <a:rPr lang="en-US" altLang="ja-JP" smtClean="0">
                              <a:latin typeface="Cambria Math" panose="02040503050406030204" pitchFamily="18" charset="0"/>
                            </a:rPr>
                            <m:t>0</m:t>
                          </m:r>
                        </m:sub>
                      </m:sSub>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r>
                        <a:rPr lang="en-US" altLang="ja-JP" smtClean="0">
                          <a:latin typeface="Cambria Math" panose="02040503050406030204" pitchFamily="18" charset="0"/>
                        </a:rPr>
                        <m:t>+</m:t>
                      </m:r>
                      <m:nary>
                        <m:naryPr>
                          <m:chr m:val="∑"/>
                          <m:limLoc m:val="undOvr"/>
                          <m:supHide m:val="on"/>
                          <m:ctrlPr>
                            <a:rPr lang="en-US" altLang="ja-JP">
                              <a:latin typeface="Cambria Math" panose="02040503050406030204" pitchFamily="18" charset="0"/>
                            </a:rPr>
                          </m:ctrlPr>
                        </m:naryPr>
                        <m:sub>
                          <m:r>
                            <a:rPr lang="en-US" altLang="ja-JP">
                              <a:latin typeface="Cambria Math" panose="02040503050406030204" pitchFamily="18" charset="0"/>
                            </a:rPr>
                            <m:t>𝜶</m:t>
                          </m:r>
                          <m:r>
                            <a:rPr lang="en-US" altLang="ja-JP">
                              <a:latin typeface="Cambria Math" panose="02040503050406030204" pitchFamily="18" charset="0"/>
                            </a:rPr>
                            <m:t>∈</m:t>
                          </m:r>
                          <m:r>
                            <a:rPr lang="en-US" altLang="ja-JP">
                              <a:latin typeface="Cambria Math" panose="02040503050406030204" pitchFamily="18" charset="0"/>
                            </a:rPr>
                            <m:t>𝒜</m:t>
                          </m:r>
                          <m:r>
                            <a:rPr lang="en-US" altLang="ja-JP">
                              <a:latin typeface="Cambria Math" panose="02040503050406030204" pitchFamily="18" charset="0"/>
                            </a:rPr>
                            <m:t>∖</m:t>
                          </m:r>
                          <m:d>
                            <m:dPr>
                              <m:begChr m:val="{"/>
                              <m:endChr m:val="}"/>
                              <m:ctrlPr>
                                <a:rPr lang="en-US" altLang="ja-JP">
                                  <a:latin typeface="Cambria Math" panose="02040503050406030204" pitchFamily="18" charset="0"/>
                                </a:rPr>
                              </m:ctrlPr>
                            </m:dPr>
                            <m:e>
                              <m:r>
                                <a:rPr lang="en-US" altLang="ja-JP">
                                  <a:latin typeface="Cambria Math" panose="02040503050406030204" pitchFamily="18" charset="0"/>
                                </a:rPr>
                                <m:t>𝟎</m:t>
                              </m:r>
                            </m:e>
                          </m:d>
                        </m:sub>
                        <m:sup/>
                        <m:e>
                          <m:sSub>
                            <m:sSubPr>
                              <m:ctrlPr>
                                <a:rPr lang="en-US" altLang="ja-JP">
                                  <a:latin typeface="Cambria Math" panose="02040503050406030204" pitchFamily="18" charset="0"/>
                                </a:rPr>
                              </m:ctrlPr>
                            </m:sSubPr>
                            <m:e>
                              <m:r>
                                <a:rPr lang="en-US" altLang="ja-JP">
                                  <a:latin typeface="Cambria Math" panose="02040503050406030204" pitchFamily="18" charset="0"/>
                                </a:rPr>
                                <m:t>𝑐</m:t>
                              </m:r>
                            </m:e>
                            <m:sub>
                              <m:r>
                                <a:rPr lang="en-US" altLang="ja-JP">
                                  <a:latin typeface="Cambria Math" panose="02040503050406030204" pitchFamily="18" charset="0"/>
                                </a:rPr>
                                <m:t>𝜶</m:t>
                              </m:r>
                            </m:sub>
                          </m:sSub>
                        </m:e>
                      </m:nary>
                      <m:d>
                        <m:dPr>
                          <m:ctrlPr>
                            <a:rPr lang="en-US" altLang="ja-JP">
                              <a:latin typeface="Cambria Math" panose="02040503050406030204" pitchFamily="18" charset="0"/>
                            </a:rPr>
                          </m:ctrlPr>
                        </m:dPr>
                        <m:e>
                          <m:r>
                            <a:rPr lang="en-US" altLang="ja-JP">
                              <a:latin typeface="Cambria Math" panose="02040503050406030204" pitchFamily="18" charset="0"/>
                            </a:rPr>
                            <m:t>𝑏</m:t>
                          </m:r>
                        </m:e>
                      </m:d>
                      <m:sSub>
                        <m:sSubPr>
                          <m:ctrlPr>
                            <a:rPr lang="en-US" altLang="ja-JP">
                              <a:latin typeface="Cambria Math" panose="02040503050406030204" pitchFamily="18" charset="0"/>
                            </a:rPr>
                          </m:ctrlPr>
                        </m:sSubPr>
                        <m:e>
                          <m:r>
                            <a:rPr lang="en-US" altLang="ja-JP">
                              <a:latin typeface="Cambria Math" panose="02040503050406030204" pitchFamily="18" charset="0"/>
                            </a:rPr>
                            <m:t>𝜓</m:t>
                          </m:r>
                        </m:e>
                        <m:sub>
                          <m:r>
                            <a:rPr lang="en-US" altLang="ja-JP">
                              <a:latin typeface="Cambria Math" panose="02040503050406030204" pitchFamily="18" charset="0"/>
                            </a:rPr>
                            <m:t>𝜶</m:t>
                          </m:r>
                        </m:sub>
                      </m:sSub>
                      <m:d>
                        <m:dPr>
                          <m:ctrlPr>
                            <a:rPr lang="en-US" altLang="ja-JP">
                              <a:latin typeface="Cambria Math" panose="02040503050406030204" pitchFamily="18" charset="0"/>
                            </a:rPr>
                          </m:ctrlPr>
                        </m:dPr>
                        <m:e>
                          <m:r>
                            <a:rPr lang="en-US" altLang="ja-JP">
                              <a:latin typeface="Cambria Math" panose="02040503050406030204" pitchFamily="18" charset="0"/>
                            </a:rPr>
                            <m:t>𝑿</m:t>
                          </m:r>
                        </m:e>
                      </m:d>
                    </m:oMath>
                  </m:oMathPara>
                </a14:m>
                <a:endParaRPr lang="en-US" altLang="ja-JP" dirty="0"/>
              </a:p>
              <a:p>
                <a:pPr marL="1371600" lvl="3" indent="0">
                  <a:buNone/>
                </a:pPr>
                <a:endParaRPr lang="en-US" altLang="ja-JP" dirty="0"/>
              </a:p>
              <a:p>
                <a:r>
                  <a:rPr lang="ja-JP" altLang="ja-JP" dirty="0"/>
                  <a:t>Parsevalの定理により、全分散 </a:t>
                </a:r>
                <a14:m>
                  <m:oMath xmlns:m="http://schemas.openxmlformats.org/officeDocument/2006/math">
                    <m:r>
                      <a:rPr lang="ja-JP" altLang="ja-JP" dirty="0" smtClean="0">
                        <a:latin typeface="Cambria Math" panose="02040503050406030204" pitchFamily="18" charset="0"/>
                      </a:rPr>
                      <m:t>𝐷</m:t>
                    </m:r>
                    <m:d>
                      <m:dPr>
                        <m:ctrlPr>
                          <a:rPr lang="ja-JP" altLang="ja-JP" dirty="0">
                            <a:latin typeface="Cambria Math" panose="02040503050406030204" pitchFamily="18" charset="0"/>
                          </a:rPr>
                        </m:ctrlPr>
                      </m:dPr>
                      <m:e>
                        <m:r>
                          <a:rPr lang="ja-JP" altLang="ja-JP" dirty="0">
                            <a:latin typeface="Cambria Math" panose="02040503050406030204" pitchFamily="18" charset="0"/>
                          </a:rPr>
                          <m:t>𝑏</m:t>
                        </m:r>
                      </m:e>
                    </m:d>
                    <m:r>
                      <a:rPr lang="ja-JP" altLang="ja-JP" dirty="0">
                        <a:latin typeface="Cambria Math" panose="02040503050406030204" pitchFamily="18" charset="0"/>
                      </a:rPr>
                      <m:t>=</m:t>
                    </m:r>
                    <m:r>
                      <m:rPr>
                        <m:nor/>
                      </m:rPr>
                      <a:rPr lang="ja-JP" altLang="ja-JP" i="0" dirty="0"/>
                      <m:t>Var</m:t>
                    </m:r>
                    <m:d>
                      <m:dPr>
                        <m:ctrlPr>
                          <a:rPr lang="ja-JP" altLang="ja-JP" dirty="0">
                            <a:latin typeface="Cambria Math" panose="02040503050406030204" pitchFamily="18" charset="0"/>
                          </a:rPr>
                        </m:ctrlPr>
                      </m:dPr>
                      <m:e>
                        <m:r>
                          <a:rPr lang="ja-JP" altLang="ja-JP" dirty="0">
                            <a:latin typeface="Cambria Math" panose="02040503050406030204" pitchFamily="18" charset="0"/>
                          </a:rPr>
                          <m:t>𝑌</m:t>
                        </m:r>
                        <m:d>
                          <m:dPr>
                            <m:ctrlPr>
                              <a:rPr lang="ja-JP" altLang="ja-JP" dirty="0">
                                <a:latin typeface="Cambria Math" panose="02040503050406030204" pitchFamily="18" charset="0"/>
                              </a:rPr>
                            </m:ctrlPr>
                          </m:dPr>
                          <m:e>
                            <m:r>
                              <a:rPr lang="ja-JP" altLang="ja-JP" dirty="0">
                                <a:latin typeface="Cambria Math" panose="02040503050406030204" pitchFamily="18" charset="0"/>
                              </a:rPr>
                              <m:t>𝑏</m:t>
                            </m:r>
                          </m:e>
                        </m:d>
                      </m:e>
                    </m:d>
                  </m:oMath>
                </a14:m>
                <a:r>
                  <a:rPr lang="ja-JP" altLang="ja-JP" dirty="0"/>
                  <a:t>は展開係数の二乗和となります：</a:t>
                </a:r>
                <a:endParaRPr lang="en-US" altLang="ja-JP" dirty="0"/>
              </a:p>
              <a:p>
                <a:endParaRPr lang="en-US" altLang="ja-JP" dirty="0"/>
              </a:p>
              <a:p>
                <a:pPr marL="0" indent="0">
                  <a:buNone/>
                </a:pPr>
                <a14:m>
                  <m:oMathPara xmlns:m="http://schemas.openxmlformats.org/officeDocument/2006/math">
                    <m:oMath>
                      <m:r>
                        <a:rPr lang="en-US" altLang="ja-JP" smtClean="0">
                          <a:latin typeface="Cambria Math" panose="02040503050406030204" pitchFamily="18" charset="0"/>
                        </a:rPr>
                        <m:t>𝐷</m:t>
                      </m:r>
                      <m:d>
                        <m:dPr>
                          <m:ctrlPr>
                            <a:rPr lang="en-US" altLang="ja-JP">
                              <a:latin typeface="Cambria Math" panose="02040503050406030204" pitchFamily="18" charset="0"/>
                            </a:rPr>
                          </m:ctrlPr>
                        </m:dPr>
                        <m:e>
                          <m:r>
                            <a:rPr lang="en-US" altLang="ja-JP">
                              <a:latin typeface="Cambria Math" panose="02040503050406030204" pitchFamily="18" charset="0"/>
                            </a:rPr>
                            <m:t>𝑏</m:t>
                          </m:r>
                        </m:e>
                      </m:d>
                      <m:r>
                        <a:rPr lang="en-US" altLang="ja-JP">
                          <a:latin typeface="Cambria Math" panose="02040503050406030204" pitchFamily="18" charset="0"/>
                        </a:rPr>
                        <m:t>=</m:t>
                      </m:r>
                      <m:nary>
                        <m:naryPr>
                          <m:chr m:val="∑"/>
                          <m:limLoc m:val="undOvr"/>
                          <m:supHide m:val="on"/>
                          <m:ctrlPr>
                            <a:rPr lang="en-US" altLang="ja-JP">
                              <a:latin typeface="Cambria Math" panose="02040503050406030204" pitchFamily="18" charset="0"/>
                            </a:rPr>
                          </m:ctrlPr>
                        </m:naryPr>
                        <m:sub>
                          <m:r>
                            <a:rPr lang="en-US" altLang="ja-JP">
                              <a:latin typeface="Cambria Math" panose="02040503050406030204" pitchFamily="18" charset="0"/>
                            </a:rPr>
                            <m:t>𝜶</m:t>
                          </m:r>
                          <m:r>
                            <a:rPr lang="en-US" altLang="ja-JP">
                              <a:latin typeface="Cambria Math" panose="02040503050406030204" pitchFamily="18" charset="0"/>
                            </a:rPr>
                            <m:t>∈</m:t>
                          </m:r>
                          <m:r>
                            <a:rPr lang="en-US" altLang="ja-JP">
                              <a:latin typeface="Cambria Math" panose="02040503050406030204" pitchFamily="18" charset="0"/>
                            </a:rPr>
                            <m:t>𝒜</m:t>
                          </m:r>
                          <m:r>
                            <a:rPr lang="en-US" altLang="ja-JP">
                              <a:latin typeface="Cambria Math" panose="02040503050406030204" pitchFamily="18" charset="0"/>
                            </a:rPr>
                            <m:t>∖</m:t>
                          </m:r>
                          <m:d>
                            <m:dPr>
                              <m:begChr m:val="{"/>
                              <m:endChr m:val="}"/>
                              <m:ctrlPr>
                                <a:rPr lang="en-US" altLang="ja-JP">
                                  <a:latin typeface="Cambria Math" panose="02040503050406030204" pitchFamily="18" charset="0"/>
                                </a:rPr>
                              </m:ctrlPr>
                            </m:dPr>
                            <m:e>
                              <m:r>
                                <a:rPr lang="en-US" altLang="ja-JP">
                                  <a:latin typeface="Cambria Math" panose="02040503050406030204" pitchFamily="18" charset="0"/>
                                </a:rPr>
                                <m:t>𝟎</m:t>
                              </m:r>
                            </m:e>
                          </m:d>
                        </m:sub>
                        <m:sup/>
                        <m:e>
                          <m:sSubSup>
                            <m:sSubSupPr>
                              <m:ctrlPr>
                                <a:rPr lang="en-US" altLang="ja-JP">
                                  <a:latin typeface="Cambria Math" panose="02040503050406030204" pitchFamily="18" charset="0"/>
                                </a:rPr>
                              </m:ctrlPr>
                            </m:sSubSupPr>
                            <m:e>
                              <m:r>
                                <a:rPr lang="en-US" altLang="ja-JP">
                                  <a:latin typeface="Cambria Math" panose="02040503050406030204" pitchFamily="18" charset="0"/>
                                </a:rPr>
                                <m:t>𝑐</m:t>
                              </m:r>
                            </m:e>
                            <m:sub>
                              <m:r>
                                <a:rPr lang="en-US" altLang="ja-JP">
                                  <a:latin typeface="Cambria Math" panose="02040503050406030204" pitchFamily="18" charset="0"/>
                                </a:rPr>
                                <m:t>𝜶</m:t>
                              </m:r>
                            </m:sub>
                            <m:sup>
                              <m:r>
                                <a:rPr lang="en-US" altLang="ja-JP">
                                  <a:latin typeface="Cambria Math" panose="02040503050406030204" pitchFamily="18" charset="0"/>
                                </a:rPr>
                                <m:t>2</m:t>
                              </m:r>
                            </m:sup>
                          </m:sSubSup>
                        </m:e>
                      </m:nary>
                      <m:d>
                        <m:dPr>
                          <m:ctrlPr>
                            <a:rPr lang="en-US" altLang="ja-JP">
                              <a:latin typeface="Cambria Math" panose="02040503050406030204" pitchFamily="18" charset="0"/>
                            </a:rPr>
                          </m:ctrlPr>
                        </m:dPr>
                        <m:e>
                          <m:r>
                            <a:rPr lang="en-US" altLang="ja-JP">
                              <a:latin typeface="Cambria Math" panose="02040503050406030204" pitchFamily="18" charset="0"/>
                            </a:rPr>
                            <m:t>𝑏</m:t>
                          </m:r>
                        </m:e>
                      </m:d>
                    </m:oMath>
                  </m:oMathPara>
                </a14:m>
                <a:endParaRPr lang="en-US" altLang="ja-JP" dirty="0"/>
              </a:p>
              <a:p>
                <a:pPr marL="0" indent="0">
                  <a:buNone/>
                </a:pPr>
                <a:endParaRPr lang="en-US" altLang="ja-JP" dirty="0"/>
              </a:p>
              <a:p>
                <a:r>
                  <a:rPr lang="ja-JP" altLang="ja-JP" dirty="0"/>
                  <a:t>変数 </a:t>
                </a:r>
                <a14:m>
                  <m:oMath xmlns:m="http://schemas.openxmlformats.org/officeDocument/2006/math">
                    <m:sSub>
                      <m:sSubPr>
                        <m:ctrlPr>
                          <a:rPr lang="ja-JP" altLang="ja-JP" smtClean="0">
                            <a:latin typeface="Cambria Math" panose="02040503050406030204" pitchFamily="18" charset="0"/>
                          </a:rPr>
                        </m:ctrlPr>
                      </m:sSubPr>
                      <m:e>
                        <m:r>
                          <a:rPr lang="ja-JP" altLang="ja-JP" smtClean="0">
                            <a:latin typeface="Cambria Math" panose="02040503050406030204" pitchFamily="18" charset="0"/>
                          </a:rPr>
                          <m:t>𝑋</m:t>
                        </m:r>
                      </m:e>
                      <m:sub>
                        <m:r>
                          <a:rPr lang="ja-JP" altLang="ja-JP" smtClean="0">
                            <a:latin typeface="Cambria Math" panose="02040503050406030204" pitchFamily="18" charset="0"/>
                          </a:rPr>
                          <m:t>𝑖</m:t>
                        </m:r>
                      </m:sub>
                    </m:sSub>
                  </m:oMath>
                </a14:m>
                <a:r>
                  <a:rPr lang="en-US" altLang="ja-JP" dirty="0"/>
                  <a:t> </a:t>
                </a:r>
                <a:r>
                  <a:rPr lang="ja-JP" altLang="ja-JP" dirty="0"/>
                  <a:t>と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𝑋</m:t>
                        </m:r>
                      </m:e>
                      <m:sub>
                        <m:r>
                          <a:rPr lang="ja-JP" altLang="ja-JP" dirty="0">
                            <a:latin typeface="Cambria Math" panose="02040503050406030204" pitchFamily="18" charset="0"/>
                          </a:rPr>
                          <m:t>𝑗</m:t>
                        </m:r>
                      </m:sub>
                    </m:sSub>
                  </m:oMath>
                </a14:m>
                <a:r>
                  <a:rPr lang="en-US" altLang="ja-JP" dirty="0"/>
                  <a:t> </a:t>
                </a:r>
                <a:r>
                  <a:rPr lang="ja-JP" altLang="ja-JP" dirty="0"/>
                  <a:t>のみに依存する多重指標（マルチインデックス）の集合を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𝒥</m:t>
                        </m:r>
                      </m:e>
                      <m:sub>
                        <m:r>
                          <a:rPr lang="ja-JP" altLang="ja-JP" dirty="0">
                            <a:latin typeface="Cambria Math" panose="02040503050406030204" pitchFamily="18" charset="0"/>
                          </a:rPr>
                          <m:t>𝑖𝑗</m:t>
                        </m:r>
                      </m:sub>
                    </m:sSub>
                  </m:oMath>
                </a14:m>
                <a:r>
                  <a:rPr lang="ja-JP" altLang="ja-JP" dirty="0"/>
                  <a:t>と定義します：</a:t>
                </a:r>
                <a:endParaRPr lang="en-US" altLang="ja-JP" dirty="0"/>
              </a:p>
              <a:p>
                <a:endParaRPr lang="en-US" altLang="ja-JP" dirty="0"/>
              </a:p>
              <a:p>
                <a:pPr marL="0" indent="0">
                  <a:buNone/>
                </a:pPr>
                <a14:m>
                  <m:oMathPara xmlns:m="http://schemas.openxmlformats.org/officeDocument/2006/math">
                    <m:oMath>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𝒥</m:t>
                          </m:r>
                        </m:e>
                        <m:sub>
                          <m:r>
                            <a:rPr lang="ja-JP" altLang="en-US" smtClean="0">
                              <a:latin typeface="Cambria Math" panose="02040503050406030204" pitchFamily="18" charset="0"/>
                            </a:rPr>
                            <m:t>𝑖𝑗</m:t>
                          </m:r>
                        </m:sub>
                      </m:sSub>
                      <m:r>
                        <a:rPr lang="ja-JP" altLang="en-US" smtClean="0">
                          <a:latin typeface="Cambria Math" panose="02040503050406030204" pitchFamily="18" charset="0"/>
                        </a:rPr>
                        <m:t>=</m:t>
                      </m:r>
                      <m:d>
                        <m:dPr>
                          <m:begChr m:val="{"/>
                          <m:endChr m:val="}"/>
                          <m:ctrlPr>
                            <a:rPr lang="ja-JP" altLang="en-US" smtClean="0">
                              <a:latin typeface="Cambria Math" panose="02040503050406030204" pitchFamily="18" charset="0"/>
                            </a:rPr>
                          </m:ctrlPr>
                        </m:dPr>
                        <m:e>
                          <m:r>
                            <a:rPr lang="ja-JP" altLang="en-US" smtClean="0">
                              <a:latin typeface="Cambria Math" panose="02040503050406030204" pitchFamily="18" charset="0"/>
                            </a:rPr>
                            <m:t>𝜶</m:t>
                          </m:r>
                          <m:r>
                            <a:rPr lang="ja-JP" altLang="en-US" smtClean="0">
                              <a:latin typeface="Cambria Math" panose="02040503050406030204" pitchFamily="18" charset="0"/>
                            </a:rPr>
                            <m:t>∈</m:t>
                          </m:r>
                          <m:r>
                            <a:rPr lang="ja-JP" altLang="en-US" smtClean="0">
                              <a:latin typeface="Cambria Math" panose="02040503050406030204" pitchFamily="18" charset="0"/>
                            </a:rPr>
                            <m:t>𝒜</m:t>
                          </m:r>
                          <m:r>
                            <a:rPr lang="ja-JP" altLang="en-US" smtClean="0">
                              <a:latin typeface="Cambria Math" panose="02040503050406030204" pitchFamily="18" charset="0"/>
                            </a:rPr>
                            <m:t> </m:t>
                          </m:r>
                        </m:e>
                        <m:e>
                          <m:r>
                            <a:rPr lang="ja-JP" altLang="en-US" smtClean="0">
                              <a:latin typeface="Cambria Math" panose="02040503050406030204" pitchFamily="18" charset="0"/>
                            </a:rPr>
                            <m:t> </m:t>
                          </m:r>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𝛼</m:t>
                              </m:r>
                            </m:e>
                            <m:sub>
                              <m:r>
                                <a:rPr lang="ja-JP" altLang="en-US" smtClean="0">
                                  <a:latin typeface="Cambria Math" panose="02040503050406030204" pitchFamily="18" charset="0"/>
                                </a:rPr>
                                <m:t>𝑖</m:t>
                              </m:r>
                            </m:sub>
                          </m:sSub>
                          <m:r>
                            <a:rPr lang="ja-JP" altLang="en-US" smtClean="0">
                              <a:latin typeface="Cambria Math" panose="02040503050406030204" pitchFamily="18" charset="0"/>
                            </a:rPr>
                            <m:t>&gt;0, </m:t>
                          </m:r>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𝛼</m:t>
                              </m:r>
                            </m:e>
                            <m:sub>
                              <m:r>
                                <a:rPr lang="ja-JP" altLang="en-US" smtClean="0">
                                  <a:latin typeface="Cambria Math" panose="02040503050406030204" pitchFamily="18" charset="0"/>
                                </a:rPr>
                                <m:t>𝑗</m:t>
                              </m:r>
                            </m:sub>
                          </m:sSub>
                          <m:r>
                            <a:rPr lang="ja-JP" altLang="en-US" smtClean="0">
                              <a:latin typeface="Cambria Math" panose="02040503050406030204" pitchFamily="18" charset="0"/>
                            </a:rPr>
                            <m:t>&gt;0, </m:t>
                          </m:r>
                          <m:sSub>
                            <m:sSubPr>
                              <m:ctrlPr>
                                <a:rPr lang="ja-JP" altLang="en-US" smtClean="0">
                                  <a:latin typeface="Cambria Math" panose="02040503050406030204" pitchFamily="18" charset="0"/>
                                </a:rPr>
                              </m:ctrlPr>
                            </m:sSubPr>
                            <m:e>
                              <m:r>
                                <a:rPr lang="ja-JP" altLang="en-US" smtClean="0">
                                  <a:latin typeface="Cambria Math" panose="02040503050406030204" pitchFamily="18" charset="0"/>
                                </a:rPr>
                                <m:t>𝛼</m:t>
                              </m:r>
                            </m:e>
                            <m:sub>
                              <m:r>
                                <a:rPr lang="ja-JP" altLang="en-US" smtClean="0">
                                  <a:latin typeface="Cambria Math" panose="02040503050406030204" pitchFamily="18" charset="0"/>
                                </a:rPr>
                                <m:t>𝑘</m:t>
                              </m:r>
                            </m:sub>
                          </m:sSub>
                          <m:r>
                            <a:rPr lang="ja-JP" altLang="en-US" smtClean="0">
                              <a:latin typeface="Cambria Math" panose="02040503050406030204" pitchFamily="18" charset="0"/>
                            </a:rPr>
                            <m:t>=0 </m:t>
                          </m:r>
                          <m:d>
                            <m:dPr>
                              <m:ctrlPr>
                                <a:rPr lang="ja-JP" altLang="en-US" smtClean="0">
                                  <a:latin typeface="Cambria Math" panose="02040503050406030204" pitchFamily="18" charset="0"/>
                                </a:rPr>
                              </m:ctrlPr>
                            </m:dPr>
                            <m:e>
                              <m:r>
                                <a:rPr lang="ja-JP" altLang="en-US" smtClean="0">
                                  <a:latin typeface="Cambria Math" panose="02040503050406030204" pitchFamily="18" charset="0"/>
                                </a:rPr>
                                <m:t>∀</m:t>
                              </m:r>
                              <m:r>
                                <a:rPr lang="ja-JP" altLang="en-US" smtClean="0">
                                  <a:latin typeface="Cambria Math" panose="02040503050406030204" pitchFamily="18" charset="0"/>
                                </a:rPr>
                                <m:t>𝑘</m:t>
                              </m:r>
                              <m:r>
                                <a:rPr lang="ja-JP" altLang="en-US" smtClean="0">
                                  <a:latin typeface="Cambria Math" panose="02040503050406030204" pitchFamily="18" charset="0"/>
                                </a:rPr>
                                <m:t>≠</m:t>
                              </m:r>
                              <m:r>
                                <a:rPr lang="ja-JP" altLang="en-US" smtClean="0">
                                  <a:latin typeface="Cambria Math" panose="02040503050406030204" pitchFamily="18" charset="0"/>
                                </a:rPr>
                                <m:t>𝑖</m:t>
                              </m:r>
                              <m:r>
                                <a:rPr lang="ja-JP" altLang="en-US" smtClean="0">
                                  <a:latin typeface="Cambria Math" panose="02040503050406030204" pitchFamily="18" charset="0"/>
                                </a:rPr>
                                <m:t>,</m:t>
                              </m:r>
                              <m:r>
                                <a:rPr lang="ja-JP" altLang="en-US" smtClean="0">
                                  <a:latin typeface="Cambria Math" panose="02040503050406030204" pitchFamily="18" charset="0"/>
                                </a:rPr>
                                <m:t>𝑗</m:t>
                              </m:r>
                            </m:e>
                          </m:d>
                        </m:e>
                      </m:d>
                    </m:oMath>
                  </m:oMathPara>
                </a14:m>
                <a:endParaRPr lang="en-US" altLang="ja-JP" dirty="0"/>
              </a:p>
              <a:p>
                <a:pPr marL="0" indent="0">
                  <a:buNone/>
                </a:pPr>
                <a:endParaRPr lang="en-US" altLang="ja-JP" dirty="0"/>
              </a:p>
              <a:p>
                <a:r>
                  <a:rPr lang="ja-JP" altLang="ja-JP" dirty="0"/>
                  <a:t>このとき、帯域 </a:t>
                </a:r>
                <a14:m>
                  <m:oMath xmlns:m="http://schemas.openxmlformats.org/officeDocument/2006/math">
                    <m:r>
                      <m:rPr>
                        <m:sty m:val="p"/>
                      </m:rPr>
                      <a:rPr lang="en-US" altLang="ja-JP" smtClean="0">
                        <a:latin typeface="Cambria Math" panose="02040503050406030204" pitchFamily="18" charset="0"/>
                      </a:rPr>
                      <m:t>b</m:t>
                    </m:r>
                  </m:oMath>
                </a14:m>
                <a:r>
                  <a:rPr lang="en-US" altLang="ja-JP" dirty="0"/>
                  <a:t> </a:t>
                </a:r>
                <a:r>
                  <a:rPr lang="ja-JP" altLang="ja-JP" dirty="0"/>
                  <a:t>における二次Sobol指標 </a:t>
                </a:r>
                <a14:m>
                  <m:oMath xmlns:m="http://schemas.openxmlformats.org/officeDocument/2006/math">
                    <m:sSub>
                      <m:sSubPr>
                        <m:ctrlPr>
                          <a:rPr lang="ja-JP" altLang="ja-JP" dirty="0">
                            <a:latin typeface="Cambria Math" panose="02040503050406030204" pitchFamily="18" charset="0"/>
                          </a:rPr>
                        </m:ctrlPr>
                      </m:sSubPr>
                      <m:e>
                        <m:r>
                          <a:rPr lang="ja-JP" altLang="ja-JP" dirty="0">
                            <a:latin typeface="Cambria Math" panose="02040503050406030204" pitchFamily="18" charset="0"/>
                          </a:rPr>
                          <m:t>𝑆</m:t>
                        </m:r>
                      </m:e>
                      <m:sub>
                        <m:r>
                          <a:rPr lang="ja-JP" altLang="ja-JP" dirty="0">
                            <a:latin typeface="Cambria Math" panose="02040503050406030204" pitchFamily="18" charset="0"/>
                          </a:rPr>
                          <m:t>𝑖𝑗</m:t>
                        </m:r>
                      </m:sub>
                    </m:sSub>
                    <m:d>
                      <m:dPr>
                        <m:ctrlPr>
                          <a:rPr lang="ja-JP" altLang="ja-JP" dirty="0">
                            <a:latin typeface="Cambria Math" panose="02040503050406030204" pitchFamily="18" charset="0"/>
                          </a:rPr>
                        </m:ctrlPr>
                      </m:dPr>
                      <m:e>
                        <m:r>
                          <a:rPr lang="ja-JP" altLang="ja-JP" dirty="0">
                            <a:latin typeface="Cambria Math" panose="02040503050406030204" pitchFamily="18" charset="0"/>
                          </a:rPr>
                          <m:t>𝑏</m:t>
                        </m:r>
                      </m:e>
                    </m:d>
                  </m:oMath>
                </a14:m>
                <a:r>
                  <a:rPr lang="ja-JP" altLang="ja-JP" dirty="0"/>
                  <a:t>は、サンプリング（モンテカルロ積分）を行わずに展開係数の二乗和から代数的に算出できます：</a:t>
                </a:r>
                <a:endParaRPr lang="ja-JP" altLang="en-US" dirty="0"/>
              </a:p>
              <a:p>
                <a:pPr marL="0" indent="0">
                  <a:buNone/>
                </a:pPr>
                <a14:m>
                  <m:oMathPara xmlns:m="http://schemas.openxmlformats.org/officeDocument/2006/math">
                    <m:oMath>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𝑆</m:t>
                          </m:r>
                        </m:e>
                        <m:sub>
                          <m:r>
                            <a:rPr lang="en-US" altLang="ja-JP" smtClean="0">
                              <a:latin typeface="Cambria Math" panose="02040503050406030204" pitchFamily="18" charset="0"/>
                            </a:rPr>
                            <m:t>𝑖𝑗</m:t>
                          </m:r>
                        </m:sub>
                      </m:sSub>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r>
                        <a:rPr lang="en-US" altLang="ja-JP" smtClean="0">
                          <a:latin typeface="Cambria Math" panose="02040503050406030204" pitchFamily="18" charset="0"/>
                        </a:rPr>
                        <m:t>=</m:t>
                      </m:r>
                      <m:f>
                        <m:fPr>
                          <m:ctrlPr>
                            <a:rPr lang="en-US" altLang="ja-JP" i="1" smtClean="0">
                              <a:latin typeface="Cambria Math" panose="02040503050406030204" pitchFamily="18" charset="0"/>
                            </a:rPr>
                          </m:ctrlPr>
                        </m:fPr>
                        <m:num>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𝐷</m:t>
                              </m:r>
                            </m:e>
                            <m:sub>
                              <m:r>
                                <a:rPr lang="en-US" altLang="ja-JP" smtClean="0">
                                  <a:latin typeface="Cambria Math" panose="02040503050406030204" pitchFamily="18" charset="0"/>
                                </a:rPr>
                                <m:t>𝑖𝑗</m:t>
                              </m:r>
                            </m:sub>
                          </m:sSub>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num>
                        <m:den>
                          <m:r>
                            <a:rPr lang="en-US" altLang="ja-JP" smtClean="0">
                              <a:latin typeface="Cambria Math" panose="02040503050406030204" pitchFamily="18" charset="0"/>
                            </a:rPr>
                            <m:t>𝐷</m:t>
                          </m:r>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den>
                      </m:f>
                      <m:r>
                        <a:rPr lang="en-US" altLang="ja-JP" smtClean="0">
                          <a:latin typeface="Cambria Math" panose="02040503050406030204" pitchFamily="18" charset="0"/>
                        </a:rPr>
                        <m:t>=</m:t>
                      </m:r>
                      <m:f>
                        <m:fPr>
                          <m:ctrlPr>
                            <a:rPr lang="en-US" altLang="ja-JP" i="1" smtClean="0">
                              <a:latin typeface="Cambria Math" panose="02040503050406030204" pitchFamily="18" charset="0"/>
                            </a:rPr>
                          </m:ctrlPr>
                        </m:fPr>
                        <m:num>
                          <m:nary>
                            <m:naryPr>
                              <m:chr m:val="∑"/>
                              <m:limLoc m:val="undOvr"/>
                              <m:supHide m:val="on"/>
                              <m:ctrlPr>
                                <a:rPr lang="en-US" altLang="ja-JP" smtClean="0">
                                  <a:latin typeface="Cambria Math" panose="02040503050406030204" pitchFamily="18" charset="0"/>
                                </a:rPr>
                              </m:ctrlPr>
                            </m:naryPr>
                            <m:sub>
                              <m:r>
                                <a:rPr lang="en-US" altLang="ja-JP" smtClean="0">
                                  <a:latin typeface="Cambria Math" panose="02040503050406030204" pitchFamily="18" charset="0"/>
                                </a:rPr>
                                <m:t>𝜶</m:t>
                              </m:r>
                              <m:r>
                                <a:rPr lang="en-US" altLang="ja-JP" smtClean="0">
                                  <a:latin typeface="Cambria Math" panose="02040503050406030204" pitchFamily="18" charset="0"/>
                                </a:rPr>
                                <m:t>∈</m:t>
                              </m:r>
                              <m:sSub>
                                <m:sSubPr>
                                  <m:ctrlPr>
                                    <a:rPr lang="en-US" altLang="ja-JP" smtClean="0">
                                      <a:latin typeface="Cambria Math" panose="02040503050406030204" pitchFamily="18" charset="0"/>
                                    </a:rPr>
                                  </m:ctrlPr>
                                </m:sSubPr>
                                <m:e>
                                  <m:r>
                                    <a:rPr lang="en-US" altLang="ja-JP" smtClean="0">
                                      <a:latin typeface="Cambria Math" panose="02040503050406030204" pitchFamily="18" charset="0"/>
                                    </a:rPr>
                                    <m:t>𝒥</m:t>
                                  </m:r>
                                </m:e>
                                <m:sub>
                                  <m:r>
                                    <a:rPr lang="en-US" altLang="ja-JP" smtClean="0">
                                      <a:latin typeface="Cambria Math" panose="02040503050406030204" pitchFamily="18" charset="0"/>
                                    </a:rPr>
                                    <m:t>𝑖𝑗</m:t>
                                  </m:r>
                                </m:sub>
                              </m:sSub>
                            </m:sub>
                            <m:sup/>
                            <m:e>
                              <m:sSubSup>
                                <m:sSubSupPr>
                                  <m:ctrlPr>
                                    <a:rPr lang="en-US" altLang="ja-JP" smtClean="0">
                                      <a:latin typeface="Cambria Math" panose="02040503050406030204" pitchFamily="18" charset="0"/>
                                    </a:rPr>
                                  </m:ctrlPr>
                                </m:sSubSupPr>
                                <m:e>
                                  <m:r>
                                    <a:rPr lang="en-US" altLang="ja-JP" smtClean="0">
                                      <a:latin typeface="Cambria Math" panose="02040503050406030204" pitchFamily="18" charset="0"/>
                                    </a:rPr>
                                    <m:t>𝑐</m:t>
                                  </m:r>
                                </m:e>
                                <m:sub>
                                  <m:r>
                                    <a:rPr lang="en-US" altLang="ja-JP" smtClean="0">
                                      <a:latin typeface="Cambria Math" panose="02040503050406030204" pitchFamily="18" charset="0"/>
                                    </a:rPr>
                                    <m:t>𝜶</m:t>
                                  </m:r>
                                </m:sub>
                                <m:sup>
                                  <m:r>
                                    <a:rPr lang="en-US" altLang="ja-JP" smtClean="0">
                                      <a:latin typeface="Cambria Math" panose="02040503050406030204" pitchFamily="18" charset="0"/>
                                    </a:rPr>
                                    <m:t>2</m:t>
                                  </m:r>
                                </m:sup>
                              </m:sSubSup>
                            </m:e>
                          </m:nary>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num>
                        <m:den>
                          <m:nary>
                            <m:naryPr>
                              <m:chr m:val="∑"/>
                              <m:limLoc m:val="undOvr"/>
                              <m:supHide m:val="on"/>
                              <m:ctrlPr>
                                <a:rPr lang="en-US" altLang="ja-JP" smtClean="0">
                                  <a:latin typeface="Cambria Math" panose="02040503050406030204" pitchFamily="18" charset="0"/>
                                </a:rPr>
                              </m:ctrlPr>
                            </m:naryPr>
                            <m:sub>
                              <m:r>
                                <a:rPr lang="en-US" altLang="ja-JP" smtClean="0">
                                  <a:latin typeface="Cambria Math" panose="02040503050406030204" pitchFamily="18" charset="0"/>
                                </a:rPr>
                                <m:t>𝜶</m:t>
                              </m:r>
                              <m:r>
                                <a:rPr lang="en-US" altLang="ja-JP" smtClean="0">
                                  <a:latin typeface="Cambria Math" panose="02040503050406030204" pitchFamily="18" charset="0"/>
                                </a:rPr>
                                <m:t>∈</m:t>
                              </m:r>
                              <m:r>
                                <a:rPr lang="en-US" altLang="ja-JP" smtClean="0">
                                  <a:latin typeface="Cambria Math" panose="02040503050406030204" pitchFamily="18" charset="0"/>
                                </a:rPr>
                                <m:t>𝒜</m:t>
                              </m:r>
                              <m:r>
                                <a:rPr lang="en-US" altLang="ja-JP" smtClean="0">
                                  <a:latin typeface="Cambria Math" panose="02040503050406030204" pitchFamily="18" charset="0"/>
                                </a:rPr>
                                <m:t>∖</m:t>
                              </m:r>
                              <m:d>
                                <m:dPr>
                                  <m:begChr m:val="{"/>
                                  <m:endChr m:val="}"/>
                                  <m:ctrlPr>
                                    <a:rPr lang="en-US" altLang="ja-JP" smtClean="0">
                                      <a:latin typeface="Cambria Math" panose="02040503050406030204" pitchFamily="18" charset="0"/>
                                    </a:rPr>
                                  </m:ctrlPr>
                                </m:dPr>
                                <m:e>
                                  <m:r>
                                    <a:rPr lang="en-US" altLang="ja-JP" smtClean="0">
                                      <a:latin typeface="Cambria Math" panose="02040503050406030204" pitchFamily="18" charset="0"/>
                                    </a:rPr>
                                    <m:t>𝟎</m:t>
                                  </m:r>
                                </m:e>
                              </m:d>
                            </m:sub>
                            <m:sup/>
                            <m:e>
                              <m:sSubSup>
                                <m:sSubSupPr>
                                  <m:ctrlPr>
                                    <a:rPr lang="en-US" altLang="ja-JP" smtClean="0">
                                      <a:latin typeface="Cambria Math" panose="02040503050406030204" pitchFamily="18" charset="0"/>
                                    </a:rPr>
                                  </m:ctrlPr>
                                </m:sSubSupPr>
                                <m:e>
                                  <m:r>
                                    <a:rPr lang="en-US" altLang="ja-JP" smtClean="0">
                                      <a:latin typeface="Cambria Math" panose="02040503050406030204" pitchFamily="18" charset="0"/>
                                    </a:rPr>
                                    <m:t>𝑐</m:t>
                                  </m:r>
                                </m:e>
                                <m:sub>
                                  <m:r>
                                    <a:rPr lang="en-US" altLang="ja-JP" smtClean="0">
                                      <a:latin typeface="Cambria Math" panose="02040503050406030204" pitchFamily="18" charset="0"/>
                                    </a:rPr>
                                    <m:t>𝜶</m:t>
                                  </m:r>
                                </m:sub>
                                <m:sup>
                                  <m:r>
                                    <a:rPr lang="en-US" altLang="ja-JP" smtClean="0">
                                      <a:latin typeface="Cambria Math" panose="02040503050406030204" pitchFamily="18" charset="0"/>
                                    </a:rPr>
                                    <m:t>2</m:t>
                                  </m:r>
                                </m:sup>
                              </m:sSubSup>
                            </m:e>
                          </m:nary>
                          <m:d>
                            <m:dPr>
                              <m:ctrlPr>
                                <a:rPr lang="en-US" altLang="ja-JP" smtClean="0">
                                  <a:latin typeface="Cambria Math" panose="02040503050406030204" pitchFamily="18" charset="0"/>
                                </a:rPr>
                              </m:ctrlPr>
                            </m:dPr>
                            <m:e>
                              <m:r>
                                <a:rPr lang="en-US" altLang="ja-JP" smtClean="0">
                                  <a:latin typeface="Cambria Math" panose="02040503050406030204" pitchFamily="18" charset="0"/>
                                </a:rPr>
                                <m:t>𝑏</m:t>
                              </m:r>
                            </m:e>
                          </m:d>
                        </m:den>
                      </m:f>
                    </m:oMath>
                  </m:oMathPara>
                </a14:m>
                <a:endParaRPr lang="en-US" altLang="ja-JP" dirty="0"/>
              </a:p>
            </p:txBody>
          </p:sp>
        </mc:Choice>
        <mc:Fallback xmlns="">
          <p:sp>
            <p:nvSpPr>
              <p:cNvPr id="18" name="テキスト プレースホルダー 17">
                <a:extLst>
                  <a:ext uri="{FF2B5EF4-FFF2-40B4-BE49-F238E27FC236}">
                    <a16:creationId xmlns:a16="http://schemas.microsoft.com/office/drawing/2014/main" id="{84A46450-7D7A-C82F-7211-941733F8F0CA}"/>
                  </a:ext>
                </a:extLst>
              </p:cNvPr>
              <p:cNvSpPr>
                <a:spLocks noGrp="1" noRot="1" noChangeAspect="1" noMove="1" noResize="1" noEditPoints="1" noAdjustHandles="1" noChangeArrowheads="1" noChangeShapeType="1" noTextEdit="1"/>
              </p:cNvSpPr>
              <p:nvPr>
                <p:ph type="body" sz="quarter" idx="12"/>
              </p:nvPr>
            </p:nvSpPr>
            <p:spPr>
              <a:xfrm>
                <a:off x="374650" y="949973"/>
                <a:ext cx="10004425" cy="6250928"/>
              </a:xfrm>
              <a:blipFill>
                <a:blip r:embed="rId2"/>
                <a:stretch>
                  <a:fillRect l="-365" t="-175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3700161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0D6172-1678-0BB9-AFF0-E28DFFCD4681}"/>
              </a:ext>
            </a:extLst>
          </p:cNvPr>
          <p:cNvSpPr>
            <a:spLocks noGrp="1"/>
          </p:cNvSpPr>
          <p:nvPr>
            <p:ph type="title"/>
          </p:nvPr>
        </p:nvSpPr>
        <p:spPr/>
        <p:txBody>
          <a:bodyPr/>
          <a:lstStyle/>
          <a:p>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a:extLst>
                  <a:ext uri="{FF2B5EF4-FFF2-40B4-BE49-F238E27FC236}">
                    <a16:creationId xmlns:a16="http://schemas.microsoft.com/office/drawing/2014/main" id="{35F478DF-9577-9DFE-812B-619DF6952AA3}"/>
                  </a:ext>
                </a:extLst>
              </p:cNvPr>
              <p:cNvSpPr>
                <a:spLocks noGrp="1"/>
              </p:cNvSpPr>
              <p:nvPr>
                <p:ph type="body" sz="quarter" idx="12"/>
              </p:nvPr>
            </p:nvSpPr>
            <p:spPr/>
            <p:txBody>
              <a:bodyPr/>
              <a:lstStyle/>
              <a:p>
                <a:r>
                  <a:rPr lang="ja-JP" altLang="ja-JP" dirty="0"/>
                  <a:t>3. 競合・相補の符号判断との関係</a:t>
                </a:r>
              </a:p>
              <a:p>
                <a:r>
                  <a:rPr lang="ja-JP" altLang="ja-JP" dirty="0"/>
                  <a:t>上記の数理式から分かるとおり、</a:t>
                </a:r>
                <a14:m>
                  <m:oMath xmlns:m="http://schemas.openxmlformats.org/officeDocument/2006/math">
                    <m:sSub>
                      <m:sSubPr>
                        <m:ctrlPr>
                          <a:rPr lang="ja-JP" altLang="ja-JP" i="1" dirty="0">
                            <a:latin typeface="Cambria Math" panose="02040503050406030204" pitchFamily="18" charset="0"/>
                          </a:rPr>
                        </m:ctrlPr>
                      </m:sSubPr>
                      <m:e>
                        <m:r>
                          <a:rPr lang="ja-JP" altLang="ja-JP" i="1" dirty="0">
                            <a:latin typeface="Cambria Math" panose="02040503050406030204" pitchFamily="18" charset="0"/>
                          </a:rPr>
                          <m:t>𝑆</m:t>
                        </m:r>
                      </m:e>
                      <m:sub>
                        <m:r>
                          <a:rPr lang="ja-JP" altLang="ja-JP" i="1" dirty="0">
                            <a:latin typeface="Cambria Math" panose="02040503050406030204" pitchFamily="18" charset="0"/>
                          </a:rPr>
                          <m:t>𝑖𝑗</m:t>
                        </m:r>
                      </m:sub>
                    </m:sSub>
                    <m:d>
                      <m:dPr>
                        <m:ctrlPr>
                          <a:rPr lang="ja-JP" altLang="ja-JP" i="1" dirty="0">
                            <a:latin typeface="Cambria Math" panose="02040503050406030204" pitchFamily="18" charset="0"/>
                          </a:rPr>
                        </m:ctrlPr>
                      </m:dPr>
                      <m:e>
                        <m:r>
                          <a:rPr lang="ja-JP" altLang="ja-JP" i="1" dirty="0">
                            <a:latin typeface="Cambria Math" panose="02040503050406030204" pitchFamily="18" charset="0"/>
                          </a:rPr>
                          <m:t>𝑏</m:t>
                        </m:r>
                      </m:e>
                    </m:d>
                  </m:oMath>
                </a14:m>
                <a:r>
                  <a:rPr lang="ja-JP" altLang="ja-JP" dirty="0"/>
                  <a:t>は二乗和の比率であるため常に非負（</a:t>
                </a:r>
                <a14:m>
                  <m:oMath xmlns:m="http://schemas.openxmlformats.org/officeDocument/2006/math">
                    <m:sSub>
                      <m:sSubPr>
                        <m:ctrlPr>
                          <a:rPr lang="ja-JP" altLang="ja-JP" i="1" smtClean="0">
                            <a:latin typeface="Cambria Math" panose="02040503050406030204" pitchFamily="18" charset="0"/>
                          </a:rPr>
                        </m:ctrlPr>
                      </m:sSubPr>
                      <m:e>
                        <m:r>
                          <a:rPr lang="ja-JP" altLang="ja-JP" i="1" smtClean="0">
                            <a:latin typeface="Cambria Math" panose="02040503050406030204" pitchFamily="18" charset="0"/>
                          </a:rPr>
                          <m:t>𝑆</m:t>
                        </m:r>
                      </m:e>
                      <m:sub>
                        <m:r>
                          <a:rPr lang="ja-JP" altLang="ja-JP" i="1" smtClean="0">
                            <a:latin typeface="Cambria Math" panose="02040503050406030204" pitchFamily="18" charset="0"/>
                          </a:rPr>
                          <m:t>𝑖𝑗</m:t>
                        </m:r>
                      </m:sub>
                    </m:sSub>
                    <m:d>
                      <m:dPr>
                        <m:ctrlPr>
                          <a:rPr lang="ja-JP" altLang="ja-JP" i="1" smtClean="0">
                            <a:latin typeface="Cambria Math" panose="02040503050406030204" pitchFamily="18" charset="0"/>
                          </a:rPr>
                        </m:ctrlPr>
                      </m:dPr>
                      <m:e>
                        <m:r>
                          <a:rPr lang="ja-JP" altLang="ja-JP" i="1" smtClean="0">
                            <a:latin typeface="Cambria Math" panose="02040503050406030204" pitchFamily="18" charset="0"/>
                          </a:rPr>
                          <m:t>𝑏</m:t>
                        </m:r>
                      </m:e>
                    </m:d>
                    <m:r>
                      <a:rPr lang="ja-JP" altLang="ja-JP" i="1" smtClean="0">
                        <a:latin typeface="Cambria Math" panose="02040503050406030204" pitchFamily="18" charset="0"/>
                      </a:rPr>
                      <m:t>≥0</m:t>
                    </m:r>
                  </m:oMath>
                </a14:m>
                <a:r>
                  <a:rPr lang="ja-JP" altLang="ja-JP" dirty="0"/>
                  <a:t>）</a:t>
                </a:r>
                <a:r>
                  <a:rPr lang="ja-JP" altLang="ja-JP" b="1" dirty="0"/>
                  <a:t>となり、相互作用の</a:t>
                </a:r>
                <a:r>
                  <a:rPr lang="ja-JP" altLang="ja-JP" dirty="0"/>
                  <a:t>「大きさ（絶対量）」しか分か</a:t>
                </a:r>
                <a:r>
                  <a:rPr lang="ja-JP" altLang="en-US" dirty="0"/>
                  <a:t>らない。</a:t>
                </a:r>
                <a:endParaRPr lang="ja-JP" altLang="ja-JP" dirty="0"/>
              </a:p>
              <a:p>
                <a:r>
                  <a:rPr lang="ja-JP" altLang="ja-JP" dirty="0"/>
                  <a:t>そのため、</a:t>
                </a:r>
                <a:r>
                  <a:rPr lang="ja-JP" altLang="en-US" dirty="0"/>
                  <a:t>本計算手法では、</a:t>
                </a:r>
                <a:r>
                  <a:rPr lang="ja-JP" altLang="ja-JP" b="1" dirty="0"/>
                  <a:t>1次×1次の最小交差項（</a:t>
                </a:r>
                <a14:m>
                  <m:oMath xmlns:m="http://schemas.openxmlformats.org/officeDocument/2006/math">
                    <m:sSub>
                      <m:sSubPr>
                        <m:ctrlPr>
                          <a:rPr lang="ja-JP" altLang="ja-JP" i="1" smtClean="0">
                            <a:latin typeface="Cambria Math" panose="02040503050406030204" pitchFamily="18" charset="0"/>
                          </a:rPr>
                        </m:ctrlPr>
                      </m:sSubPr>
                      <m:e>
                        <m:r>
                          <a:rPr lang="ja-JP" altLang="ja-JP" i="1" smtClean="0">
                            <a:latin typeface="Cambria Math" panose="02040503050406030204" pitchFamily="18" charset="0"/>
                          </a:rPr>
                          <m:t>𝛼</m:t>
                        </m:r>
                      </m:e>
                      <m:sub>
                        <m:r>
                          <a:rPr lang="ja-JP" altLang="ja-JP" i="1" smtClean="0">
                            <a:latin typeface="Cambria Math" panose="02040503050406030204" pitchFamily="18" charset="0"/>
                          </a:rPr>
                          <m:t>𝑖</m:t>
                        </m:r>
                      </m:sub>
                    </m:sSub>
                    <m:r>
                      <a:rPr lang="ja-JP" altLang="ja-JP" i="1" smtClean="0">
                        <a:latin typeface="Cambria Math" panose="02040503050406030204" pitchFamily="18" charset="0"/>
                      </a:rPr>
                      <m:t>=1,</m:t>
                    </m:r>
                    <m:sSub>
                      <m:sSubPr>
                        <m:ctrlPr>
                          <a:rPr lang="ja-JP" altLang="ja-JP" i="1" smtClean="0">
                            <a:latin typeface="Cambria Math" panose="02040503050406030204" pitchFamily="18" charset="0"/>
                          </a:rPr>
                        </m:ctrlPr>
                      </m:sSubPr>
                      <m:e>
                        <m:r>
                          <a:rPr lang="ja-JP" altLang="ja-JP" i="1" smtClean="0">
                            <a:latin typeface="Cambria Math" panose="02040503050406030204" pitchFamily="18" charset="0"/>
                          </a:rPr>
                          <m:t>𝛼</m:t>
                        </m:r>
                      </m:e>
                      <m:sub>
                        <m:r>
                          <a:rPr lang="ja-JP" altLang="ja-JP" i="1" smtClean="0">
                            <a:latin typeface="Cambria Math" panose="02040503050406030204" pitchFamily="18" charset="0"/>
                          </a:rPr>
                          <m:t>𝑗</m:t>
                        </m:r>
                      </m:sub>
                    </m:sSub>
                    <m:r>
                      <a:rPr lang="ja-JP" altLang="ja-JP" i="1" smtClean="0">
                        <a:latin typeface="Cambria Math" panose="02040503050406030204" pitchFamily="18" charset="0"/>
                      </a:rPr>
                      <m:t>=1</m:t>
                    </m:r>
                  </m:oMath>
                </a14:m>
                <a:r>
                  <a:rPr lang="ja-JP" altLang="ja-JP" b="1" dirty="0"/>
                  <a:t>）に対応するPCE係数 </a:t>
                </a:r>
                <a14:m>
                  <m:oMath xmlns:m="http://schemas.openxmlformats.org/officeDocument/2006/math">
                    <m:sSub>
                      <m:sSubPr>
                        <m:ctrlPr>
                          <a:rPr lang="ja-JP" altLang="ja-JP" b="1" i="1" dirty="0">
                            <a:latin typeface="Cambria Math" panose="02040503050406030204" pitchFamily="18" charset="0"/>
                          </a:rPr>
                        </m:ctrlPr>
                      </m:sSubPr>
                      <m:e>
                        <m:r>
                          <a:rPr lang="ja-JP" altLang="ja-JP" b="1" i="1" dirty="0">
                            <a:latin typeface="Cambria Math" panose="02040503050406030204" pitchFamily="18" charset="0"/>
                          </a:rPr>
                          <m:t>𝑐</m:t>
                        </m:r>
                      </m:e>
                      <m:sub>
                        <m:r>
                          <a:rPr lang="ja-JP" altLang="ja-JP" b="1" i="1" dirty="0">
                            <a:latin typeface="Cambria Math" panose="02040503050406030204" pitchFamily="18" charset="0"/>
                          </a:rPr>
                          <m:t>𝑖𝑗</m:t>
                        </m:r>
                      </m:sub>
                    </m:sSub>
                    <m:d>
                      <m:dPr>
                        <m:ctrlPr>
                          <a:rPr lang="ja-JP" altLang="ja-JP" b="1" i="1" dirty="0">
                            <a:latin typeface="Cambria Math" panose="02040503050406030204" pitchFamily="18" charset="0"/>
                          </a:rPr>
                        </m:ctrlPr>
                      </m:dPr>
                      <m:e>
                        <m:r>
                          <a:rPr lang="ja-JP" altLang="ja-JP" b="1" i="1" dirty="0">
                            <a:latin typeface="Cambria Math" panose="02040503050406030204" pitchFamily="18" charset="0"/>
                          </a:rPr>
                          <m:t>𝑏</m:t>
                        </m:r>
                      </m:e>
                    </m:d>
                  </m:oMath>
                </a14:m>
                <a:r>
                  <a:rPr lang="ja-JP" altLang="ja-JP" b="1" dirty="0"/>
                  <a:t>の実数符号</a:t>
                </a:r>
                <a:r>
                  <a:rPr lang="ja-JP" altLang="ja-JP" dirty="0"/>
                  <a:t>を併用</a:t>
                </a:r>
                <a:r>
                  <a:rPr lang="ja-JP" altLang="en-US" dirty="0"/>
                  <a:t>する。</a:t>
                </a:r>
                <a:endParaRPr lang="ja-JP" altLang="ja-JP" dirty="0"/>
              </a:p>
              <a:p>
                <a:pPr marL="0" indent="0">
                  <a:buNone/>
                </a:pPr>
                <a14:m>
                  <m:oMathPara xmlns:m="http://schemas.openxmlformats.org/officeDocument/2006/math">
                    <m:oMath>
                      <m:r>
                        <m:rPr>
                          <m:nor/>
                        </m:rPr>
                        <a:rPr kumimoji="1" lang="ja-JP" altLang="en-US" i="0" smtClean="0">
                          <a:latin typeface="Cambria Math" panose="02040503050406030204" pitchFamily="18" charset="0"/>
                        </a:rPr>
                        <m:t>Interaction Type</m:t>
                      </m:r>
                      <m:r>
                        <a:rPr kumimoji="1" lang="ja-JP" altLang="en-US" i="1" smtClean="0">
                          <a:latin typeface="Cambria Math" panose="02040503050406030204" pitchFamily="18" charset="0"/>
                        </a:rPr>
                        <m:t>=</m:t>
                      </m:r>
                      <m:d>
                        <m:dPr>
                          <m:begChr m:val="{"/>
                          <m:endChr m:val=""/>
                          <m:ctrlPr>
                            <a:rPr kumimoji="1" lang="ja-JP" altLang="en-US" i="1" smtClean="0">
                              <a:latin typeface="Cambria Math" panose="02040503050406030204" pitchFamily="18" charset="0"/>
                            </a:rPr>
                          </m:ctrlPr>
                        </m:dPr>
                        <m:e>
                          <m:m>
                            <m:mPr>
                              <m:mcs>
                                <m:mc>
                                  <m:mcPr>
                                    <m:count m:val="2"/>
                                    <m:mcJc m:val="center"/>
                                  </m:mcPr>
                                </m:mc>
                              </m:mcs>
                              <m:ctrlPr>
                                <a:rPr kumimoji="1" lang="ja-JP" altLang="en-US" i="1" smtClean="0">
                                  <a:latin typeface="Cambria Math" panose="02040503050406030204" pitchFamily="18" charset="0"/>
                                </a:rPr>
                              </m:ctrlPr>
                            </m:mPr>
                            <m:mr>
                              <m:e>
                                <m:r>
                                  <m:rPr>
                                    <m:nor/>
                                  </m:rPr>
                                  <a:rPr kumimoji="1" lang="ja-JP" altLang="en-US" i="0" smtClean="0">
                                    <a:latin typeface="Cambria Math" panose="02040503050406030204" pitchFamily="18" charset="0"/>
                                  </a:rPr>
                                  <m:t>代替（競合）</m:t>
                                </m:r>
                              </m:e>
                              <m:e>
                                <m:d>
                                  <m:dPr>
                                    <m:ctrlPr>
                                      <a:rPr kumimoji="1" lang="ja-JP" altLang="en-US" i="1" smtClean="0">
                                        <a:latin typeface="Cambria Math" panose="02040503050406030204" pitchFamily="18" charset="0"/>
                                      </a:rPr>
                                    </m:ctrlPr>
                                  </m:dPr>
                                  <m:e>
                                    <m:sSub>
                                      <m:sSubPr>
                                        <m:ctrlPr>
                                          <a:rPr kumimoji="1" lang="ja-JP" altLang="en-US" i="1" smtClean="0">
                                            <a:latin typeface="Cambria Math" panose="02040503050406030204" pitchFamily="18" charset="0"/>
                                          </a:rPr>
                                        </m:ctrlPr>
                                      </m:sSubPr>
                                      <m:e>
                                        <m:r>
                                          <a:rPr kumimoji="1" lang="ja-JP" altLang="en-US" i="1" smtClean="0">
                                            <a:latin typeface="Cambria Math" panose="02040503050406030204" pitchFamily="18" charset="0"/>
                                          </a:rPr>
                                          <m:t>𝑐</m:t>
                                        </m:r>
                                      </m:e>
                                      <m:sub>
                                        <m:r>
                                          <a:rPr kumimoji="1" lang="ja-JP" altLang="en-US" i="1" smtClean="0">
                                            <a:latin typeface="Cambria Math" panose="02040503050406030204" pitchFamily="18" charset="0"/>
                                          </a:rPr>
                                          <m:t>𝑖𝑗</m:t>
                                        </m:r>
                                      </m:sub>
                                    </m:sSub>
                                    <m:d>
                                      <m:dPr>
                                        <m:ctrlPr>
                                          <a:rPr kumimoji="1" lang="ja-JP" altLang="en-US" i="1" smtClean="0">
                                            <a:latin typeface="Cambria Math" panose="02040503050406030204" pitchFamily="18" charset="0"/>
                                          </a:rPr>
                                        </m:ctrlPr>
                                      </m:dPr>
                                      <m:e>
                                        <m:r>
                                          <a:rPr kumimoji="1" lang="ja-JP" altLang="en-US" i="1" smtClean="0">
                                            <a:latin typeface="Cambria Math" panose="02040503050406030204" pitchFamily="18" charset="0"/>
                                          </a:rPr>
                                          <m:t>𝑏</m:t>
                                        </m:r>
                                      </m:e>
                                    </m:d>
                                    <m:r>
                                      <a:rPr kumimoji="1" lang="ja-JP" altLang="en-US" i="1" smtClean="0">
                                        <a:latin typeface="Cambria Math" panose="02040503050406030204" pitchFamily="18" charset="0"/>
                                      </a:rPr>
                                      <m:t>&lt;0</m:t>
                                    </m:r>
                                  </m:e>
                                </m:d>
                              </m:e>
                            </m:mr>
                            <m:mr>
                              <m:e>
                                <m:r>
                                  <m:rPr>
                                    <m:nor/>
                                  </m:rPr>
                                  <a:rPr kumimoji="1" lang="ja-JP" altLang="en-US" i="0" smtClean="0">
                                    <a:latin typeface="Cambria Math" panose="02040503050406030204" pitchFamily="18" charset="0"/>
                                  </a:rPr>
                                  <m:t>相補（補完）</m:t>
                                </m:r>
                              </m:e>
                              <m:e>
                                <m:d>
                                  <m:dPr>
                                    <m:ctrlPr>
                                      <a:rPr kumimoji="1" lang="ja-JP" altLang="en-US" i="1" smtClean="0">
                                        <a:latin typeface="Cambria Math" panose="02040503050406030204" pitchFamily="18" charset="0"/>
                                      </a:rPr>
                                    </m:ctrlPr>
                                  </m:dPr>
                                  <m:e>
                                    <m:sSub>
                                      <m:sSubPr>
                                        <m:ctrlPr>
                                          <a:rPr kumimoji="1" lang="ja-JP" altLang="en-US" i="1" smtClean="0">
                                            <a:latin typeface="Cambria Math" panose="02040503050406030204" pitchFamily="18" charset="0"/>
                                          </a:rPr>
                                        </m:ctrlPr>
                                      </m:sSubPr>
                                      <m:e>
                                        <m:r>
                                          <a:rPr kumimoji="1" lang="ja-JP" altLang="en-US" i="1" smtClean="0">
                                            <a:latin typeface="Cambria Math" panose="02040503050406030204" pitchFamily="18" charset="0"/>
                                          </a:rPr>
                                          <m:t>𝑐</m:t>
                                        </m:r>
                                      </m:e>
                                      <m:sub>
                                        <m:r>
                                          <a:rPr kumimoji="1" lang="ja-JP" altLang="en-US" i="1" smtClean="0">
                                            <a:latin typeface="Cambria Math" panose="02040503050406030204" pitchFamily="18" charset="0"/>
                                          </a:rPr>
                                          <m:t>𝑖𝑗</m:t>
                                        </m:r>
                                      </m:sub>
                                    </m:sSub>
                                    <m:d>
                                      <m:dPr>
                                        <m:ctrlPr>
                                          <a:rPr kumimoji="1" lang="ja-JP" altLang="en-US" i="1" smtClean="0">
                                            <a:latin typeface="Cambria Math" panose="02040503050406030204" pitchFamily="18" charset="0"/>
                                          </a:rPr>
                                        </m:ctrlPr>
                                      </m:dPr>
                                      <m:e>
                                        <m:r>
                                          <a:rPr kumimoji="1" lang="ja-JP" altLang="en-US" i="1" smtClean="0">
                                            <a:latin typeface="Cambria Math" panose="02040503050406030204" pitchFamily="18" charset="0"/>
                                          </a:rPr>
                                          <m:t>𝑏</m:t>
                                        </m:r>
                                      </m:e>
                                    </m:d>
                                    <m:r>
                                      <a:rPr kumimoji="1" lang="ja-JP" altLang="en-US" i="1" smtClean="0">
                                        <a:latin typeface="Cambria Math" panose="02040503050406030204" pitchFamily="18" charset="0"/>
                                      </a:rPr>
                                      <m:t>&gt;0</m:t>
                                    </m:r>
                                  </m:e>
                                </m:d>
                              </m:e>
                            </m:mr>
                          </m:m>
                        </m:e>
                      </m:d>
                    </m:oMath>
                  </m:oMathPara>
                </a14:m>
                <a:endParaRPr kumimoji="1" lang="ja-JP" altLang="en-US" dirty="0"/>
              </a:p>
            </p:txBody>
          </p:sp>
        </mc:Choice>
        <mc:Fallback xmlns="">
          <p:sp>
            <p:nvSpPr>
              <p:cNvPr id="3" name="テキスト プレースホルダー 2">
                <a:extLst>
                  <a:ext uri="{FF2B5EF4-FFF2-40B4-BE49-F238E27FC236}">
                    <a16:creationId xmlns:a16="http://schemas.microsoft.com/office/drawing/2014/main" id="{35F478DF-9577-9DFE-812B-619DF6952AA3}"/>
                  </a:ext>
                </a:extLst>
              </p:cNvPr>
              <p:cNvSpPr>
                <a:spLocks noGrp="1" noRot="1" noChangeAspect="1" noMove="1" noResize="1" noEditPoints="1" noAdjustHandles="1" noChangeArrowheads="1" noChangeShapeType="1" noTextEdit="1"/>
              </p:cNvSpPr>
              <p:nvPr>
                <p:ph type="body" sz="quarter" idx="12"/>
              </p:nvPr>
            </p:nvSpPr>
            <p:spPr>
              <a:blipFill>
                <a:blip r:embed="rId2"/>
                <a:stretch>
                  <a:fillRect l="-365" t="-97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3500224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631" b="1" dirty="0" err="1">
                <a:solidFill>
                  <a:srgbClr val="1E2761"/>
                </a:solidFill>
                <a:latin typeface="Cambria" pitchFamily="34" charset="0"/>
                <a:ea typeface="Cambria" pitchFamily="34" charset="-122"/>
                <a:cs typeface="Cambria" pitchFamily="34" charset="-120"/>
              </a:rPr>
              <a:t>LP求解：費用最小化</a:t>
            </a:r>
            <a:endParaRPr lang="en-US" sz="2631" dirty="0"/>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228" i="1" dirty="0">
                <a:solidFill>
                  <a:srgbClr val="5B5F76"/>
                </a:solidFill>
                <a:latin typeface="Calibri" pitchFamily="34" charset="0"/>
                <a:ea typeface="Calibri" pitchFamily="34" charset="-122"/>
                <a:cs typeface="Calibri" pitchFamily="34" charset="-120"/>
              </a:rPr>
              <a:t>LHSの各サンプル点で解く最適化問題 — 主問題（容量・運用）と双対問題（限界価値）を同時に出力</a:t>
            </a:r>
            <a:endParaRPr lang="en-US" sz="1228" dirty="0"/>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LPの構造</a:t>
            </a:r>
            <a:endParaRPr lang="en-US" sz="1491" dirty="0"/>
          </a:p>
        </p:txBody>
      </p:sp>
      <p:sp>
        <p:nvSpPr>
          <p:cNvPr id="5" name="Shape 3"/>
          <p:cNvSpPr/>
          <p:nvPr/>
        </p:nvSpPr>
        <p:spPr>
          <a:xfrm>
            <a:off x="401003" y="2312962"/>
            <a:ext cx="4812030" cy="497243"/>
          </a:xfrm>
          <a:prstGeom prst="roundRect">
            <a:avLst>
              <a:gd name="adj" fmla="val 12903"/>
            </a:avLst>
          </a:prstGeom>
          <a:solidFill>
            <a:srgbClr val="1E2761"/>
          </a:solidFill>
          <a:ln/>
        </p:spPr>
        <p:txBody>
          <a:bodyPr/>
          <a:lstStyle/>
          <a:p>
            <a:endParaRPr lang="ja-JP" altLang="en-US" sz="1228"/>
          </a:p>
        </p:txBody>
      </p:sp>
      <p:sp>
        <p:nvSpPr>
          <p:cNvPr id="6" name="Text 4"/>
          <p:cNvSpPr txBox="1"/>
          <p:nvPr/>
        </p:nvSpPr>
        <p:spPr>
          <a:xfrm>
            <a:off x="601504" y="2312962"/>
            <a:ext cx="4411028" cy="497243"/>
          </a:xfrm>
          <a:prstGeom prst="rect">
            <a:avLst/>
          </a:prstGeom>
          <a:noFill/>
          <a:ln/>
        </p:spPr>
        <p:txBody>
          <a:bodyPr wrap="square" lIns="0" tIns="0" rIns="0" bIns="0" rtlCol="0" anchor="ctr"/>
          <a:lstStyle/>
          <a:p>
            <a:r>
              <a:rPr lang="en-US" sz="1228" b="1" dirty="0">
                <a:solidFill>
                  <a:srgbClr val="FFFFFF"/>
                </a:solidFill>
                <a:latin typeface="Cambria" pitchFamily="34" charset="0"/>
                <a:ea typeface="Cambria" pitchFamily="34" charset="-122"/>
                <a:cs typeface="Cambria" pitchFamily="34" charset="-120"/>
              </a:rPr>
              <a:t>min　総システム費用（Capex + Opex）</a:t>
            </a:r>
            <a:endParaRPr lang="en-US" sz="1228" dirty="0"/>
          </a:p>
        </p:txBody>
      </p:sp>
      <p:sp>
        <p:nvSpPr>
          <p:cNvPr id="7" name="Text 5"/>
          <p:cNvSpPr txBox="1"/>
          <p:nvPr/>
        </p:nvSpPr>
        <p:spPr>
          <a:xfrm>
            <a:off x="401002" y="2954566"/>
            <a:ext cx="1042607" cy="721805"/>
          </a:xfrm>
          <a:prstGeom prst="rect">
            <a:avLst/>
          </a:prstGeom>
          <a:noFill/>
          <a:ln/>
        </p:spPr>
        <p:txBody>
          <a:bodyPr wrap="square" lIns="0" tIns="0" rIns="0" bIns="0" rtlCol="0" anchor="ctr"/>
          <a:lstStyle/>
          <a:p>
            <a:r>
              <a:rPr lang="en-US" sz="1053" b="1" dirty="0">
                <a:solidFill>
                  <a:srgbClr val="1E2761"/>
                </a:solidFill>
                <a:latin typeface="Calibri" pitchFamily="34" charset="0"/>
                <a:ea typeface="Calibri" pitchFamily="34" charset="-122"/>
                <a:cs typeface="Calibri" pitchFamily="34" charset="-120"/>
              </a:rPr>
              <a:t>決定変数</a:t>
            </a:r>
            <a:endParaRPr lang="en-US" sz="1053" dirty="0"/>
          </a:p>
        </p:txBody>
      </p:sp>
      <p:sp>
        <p:nvSpPr>
          <p:cNvPr id="8" name="Text 6"/>
          <p:cNvSpPr txBox="1"/>
          <p:nvPr/>
        </p:nvSpPr>
        <p:spPr>
          <a:xfrm>
            <a:off x="1483709" y="2954566"/>
            <a:ext cx="3729323" cy="721805"/>
          </a:xfrm>
          <a:prstGeom prst="rect">
            <a:avLst/>
          </a:prstGeom>
          <a:noFill/>
          <a:ln/>
        </p:spPr>
        <p:txBody>
          <a:bodyPr wrap="square" lIns="0" tIns="0" rIns="0" bIns="0" rtlCol="0" anchor="ctr"/>
          <a:lstStyle/>
          <a:p>
            <a:pPr>
              <a:lnSpc>
                <a:spcPct val="120000"/>
              </a:lnSpc>
            </a:pPr>
            <a:r>
              <a:rPr lang="en-US" sz="965" dirty="0">
                <a:solidFill>
                  <a:srgbClr val="1B1B2A"/>
                </a:solidFill>
                <a:latin typeface="Calibri" pitchFamily="34" charset="0"/>
                <a:ea typeface="Calibri" pitchFamily="34" charset="-122"/>
                <a:cs typeface="Calibri" pitchFamily="34" charset="-120"/>
              </a:rPr>
              <a:t>発電・蓄電容量（グリーンフィールド最適化）／各時刻の発電量・充放電・地域間潮流</a:t>
            </a:r>
            <a:endParaRPr lang="en-US" sz="965" dirty="0"/>
          </a:p>
        </p:txBody>
      </p:sp>
      <p:sp>
        <p:nvSpPr>
          <p:cNvPr id="9" name="Text 7"/>
          <p:cNvSpPr txBox="1"/>
          <p:nvPr/>
        </p:nvSpPr>
        <p:spPr>
          <a:xfrm>
            <a:off x="401002" y="3756571"/>
            <a:ext cx="1042607" cy="721805"/>
          </a:xfrm>
          <a:prstGeom prst="rect">
            <a:avLst/>
          </a:prstGeom>
          <a:noFill/>
          <a:ln/>
        </p:spPr>
        <p:txBody>
          <a:bodyPr wrap="square" lIns="0" tIns="0" rIns="0" bIns="0" rtlCol="0" anchor="ctr"/>
          <a:lstStyle/>
          <a:p>
            <a:r>
              <a:rPr lang="en-US" sz="1053" b="1" dirty="0">
                <a:solidFill>
                  <a:srgbClr val="1E2761"/>
                </a:solidFill>
                <a:latin typeface="Calibri" pitchFamily="34" charset="0"/>
                <a:ea typeface="Calibri" pitchFamily="34" charset="-122"/>
                <a:cs typeface="Calibri" pitchFamily="34" charset="-120"/>
              </a:rPr>
              <a:t>主な制約</a:t>
            </a:r>
            <a:endParaRPr lang="en-US" sz="1053" dirty="0"/>
          </a:p>
        </p:txBody>
      </p:sp>
      <p:sp>
        <p:nvSpPr>
          <p:cNvPr id="10" name="Text 8"/>
          <p:cNvSpPr txBox="1"/>
          <p:nvPr/>
        </p:nvSpPr>
        <p:spPr>
          <a:xfrm>
            <a:off x="1483709" y="3756571"/>
            <a:ext cx="3729323" cy="721805"/>
          </a:xfrm>
          <a:prstGeom prst="rect">
            <a:avLst/>
          </a:prstGeom>
          <a:noFill/>
          <a:ln/>
        </p:spPr>
        <p:txBody>
          <a:bodyPr wrap="square" lIns="0" tIns="0" rIns="0" bIns="0" rtlCol="0" anchor="ctr"/>
          <a:lstStyle/>
          <a:p>
            <a:pPr>
              <a:lnSpc>
                <a:spcPct val="120000"/>
              </a:lnSpc>
            </a:pPr>
            <a:r>
              <a:rPr lang="en-US" sz="965" dirty="0">
                <a:solidFill>
                  <a:srgbClr val="1B1B2A"/>
                </a:solidFill>
                <a:latin typeface="Calibri" pitchFamily="34" charset="0"/>
                <a:ea typeface="Calibri" pitchFamily="34" charset="-122"/>
                <a:cs typeface="Calibri" pitchFamily="34" charset="-120"/>
              </a:rPr>
              <a:t>ノード需給バランス／送電容量／蓄電SOC遷移／原子力定検（連続緩和）／バイオマス年間燃料量／水素バリューチェーン／V1G・V0G充電スケジュール</a:t>
            </a:r>
            <a:endParaRPr lang="en-US" sz="965" dirty="0"/>
          </a:p>
        </p:txBody>
      </p:sp>
      <p:sp>
        <p:nvSpPr>
          <p:cNvPr id="11" name="Text 9"/>
          <p:cNvSpPr txBox="1"/>
          <p:nvPr/>
        </p:nvSpPr>
        <p:spPr>
          <a:xfrm>
            <a:off x="401003" y="4606696"/>
            <a:ext cx="4812030" cy="240602"/>
          </a:xfrm>
          <a:prstGeom prst="rect">
            <a:avLst/>
          </a:prstGeom>
          <a:noFill/>
          <a:ln/>
        </p:spPr>
        <p:txBody>
          <a:bodyPr wrap="square" lIns="0" tIns="0" rIns="0" bIns="0" rtlCol="0" anchor="ctr"/>
          <a:lstStyle/>
          <a:p>
            <a:r>
              <a:rPr lang="en-US" sz="1140" b="1" dirty="0">
                <a:solidFill>
                  <a:srgbClr val="5B5F76"/>
                </a:solidFill>
                <a:latin typeface="Calibri" pitchFamily="34" charset="0"/>
                <a:ea typeface="Calibri" pitchFamily="34" charset="-122"/>
                <a:cs typeface="Calibri" pitchFamily="34" charset="-120"/>
              </a:rPr>
              <a:t>モデル規模</a:t>
            </a:r>
            <a:endParaRPr lang="en-US" sz="1140" dirty="0"/>
          </a:p>
        </p:txBody>
      </p:sp>
      <p:sp>
        <p:nvSpPr>
          <p:cNvPr id="12" name="Text 10"/>
          <p:cNvSpPr txBox="1"/>
          <p:nvPr/>
        </p:nvSpPr>
        <p:spPr>
          <a:xfrm>
            <a:off x="401003" y="4895418"/>
            <a:ext cx="1483709" cy="561404"/>
          </a:xfrm>
          <a:prstGeom prst="rect">
            <a:avLst/>
          </a:prstGeom>
          <a:noFill/>
          <a:ln/>
        </p:spPr>
        <p:txBody>
          <a:bodyPr wrap="square" lIns="0" tIns="0" rIns="0" bIns="0" rtlCol="0" anchor="ctr"/>
          <a:lstStyle/>
          <a:p>
            <a:pPr>
              <a:lnSpc>
                <a:spcPct val="110000"/>
              </a:lnSpc>
            </a:pPr>
            <a:r>
              <a:rPr lang="en-US" sz="1754" b="1" dirty="0">
                <a:solidFill>
                  <a:srgbClr val="1E2761"/>
                </a:solidFill>
                <a:latin typeface="Calibri" pitchFamily="34" charset="0"/>
                <a:ea typeface="Calibri" pitchFamily="34" charset="-122"/>
                <a:cs typeface="Calibri" pitchFamily="34" charset="-120"/>
              </a:rPr>
              <a:t>9</a:t>
            </a:r>
            <a:endParaRPr lang="en-US" sz="1754" dirty="0"/>
          </a:p>
          <a:p>
            <a:pPr>
              <a:lnSpc>
                <a:spcPct val="110000"/>
              </a:lnSpc>
            </a:pPr>
            <a:r>
              <a:rPr lang="en-US" sz="877" dirty="0">
                <a:solidFill>
                  <a:srgbClr val="5B5F76"/>
                </a:solidFill>
                <a:latin typeface="Calibri" pitchFamily="34" charset="0"/>
                <a:ea typeface="Calibri" pitchFamily="34" charset="-122"/>
                <a:cs typeface="Calibri" pitchFamily="34" charset="-120"/>
              </a:rPr>
              <a:t>ノード</a:t>
            </a:r>
            <a:endParaRPr lang="en-US" sz="1754" dirty="0"/>
          </a:p>
        </p:txBody>
      </p:sp>
      <p:sp>
        <p:nvSpPr>
          <p:cNvPr id="13" name="Text 11"/>
          <p:cNvSpPr txBox="1"/>
          <p:nvPr/>
        </p:nvSpPr>
        <p:spPr>
          <a:xfrm>
            <a:off x="2065163" y="4895418"/>
            <a:ext cx="1483709" cy="561404"/>
          </a:xfrm>
          <a:prstGeom prst="rect">
            <a:avLst/>
          </a:prstGeom>
          <a:noFill/>
          <a:ln/>
        </p:spPr>
        <p:txBody>
          <a:bodyPr wrap="square" lIns="0" tIns="0" rIns="0" bIns="0" rtlCol="0" anchor="ctr"/>
          <a:lstStyle/>
          <a:p>
            <a:pPr>
              <a:lnSpc>
                <a:spcPct val="110000"/>
              </a:lnSpc>
            </a:pPr>
            <a:r>
              <a:rPr lang="en-US" sz="1754" b="1" dirty="0">
                <a:solidFill>
                  <a:srgbClr val="1E2761"/>
                </a:solidFill>
                <a:latin typeface="Calibri" pitchFamily="34" charset="0"/>
                <a:ea typeface="Calibri" pitchFamily="34" charset="-122"/>
                <a:cs typeface="Calibri" pitchFamily="34" charset="-120"/>
              </a:rPr>
              <a:t>8,760h</a:t>
            </a:r>
            <a:endParaRPr lang="en-US" sz="1754" dirty="0"/>
          </a:p>
          <a:p>
            <a:pPr>
              <a:lnSpc>
                <a:spcPct val="110000"/>
              </a:lnSpc>
            </a:pPr>
            <a:r>
              <a:rPr lang="en-US" sz="877" dirty="0">
                <a:solidFill>
                  <a:srgbClr val="5B5F76"/>
                </a:solidFill>
                <a:latin typeface="Calibri" pitchFamily="34" charset="0"/>
                <a:ea typeface="Calibri" pitchFamily="34" charset="-122"/>
                <a:cs typeface="Calibri" pitchFamily="34" charset="-120"/>
              </a:rPr>
              <a:t>年間解像度</a:t>
            </a:r>
            <a:endParaRPr lang="en-US" sz="1754" dirty="0"/>
          </a:p>
        </p:txBody>
      </p:sp>
      <p:sp>
        <p:nvSpPr>
          <p:cNvPr id="14" name="Text 12"/>
          <p:cNvSpPr txBox="1"/>
          <p:nvPr/>
        </p:nvSpPr>
        <p:spPr>
          <a:xfrm>
            <a:off x="3729323" y="4895418"/>
            <a:ext cx="1483709" cy="561404"/>
          </a:xfrm>
          <a:prstGeom prst="rect">
            <a:avLst/>
          </a:prstGeom>
          <a:noFill/>
          <a:ln/>
        </p:spPr>
        <p:txBody>
          <a:bodyPr wrap="square" lIns="0" tIns="0" rIns="0" bIns="0" rtlCol="0" anchor="ctr"/>
          <a:lstStyle/>
          <a:p>
            <a:pPr>
              <a:lnSpc>
                <a:spcPct val="110000"/>
              </a:lnSpc>
            </a:pPr>
            <a:r>
              <a:rPr lang="en-US" sz="1754" b="1" dirty="0">
                <a:solidFill>
                  <a:srgbClr val="1E2761"/>
                </a:solidFill>
                <a:latin typeface="Calibri" pitchFamily="34" charset="0"/>
                <a:ea typeface="Calibri" pitchFamily="34" charset="-122"/>
                <a:cs typeface="Calibri" pitchFamily="34" charset="-120"/>
              </a:rPr>
              <a:t>V1G/V0G</a:t>
            </a:r>
            <a:endParaRPr lang="en-US" sz="1754" dirty="0"/>
          </a:p>
          <a:p>
            <a:pPr>
              <a:lnSpc>
                <a:spcPct val="110000"/>
              </a:lnSpc>
            </a:pPr>
            <a:r>
              <a:rPr lang="en-US" sz="877" dirty="0">
                <a:solidFill>
                  <a:srgbClr val="5B5F76"/>
                </a:solidFill>
                <a:latin typeface="Calibri" pitchFamily="34" charset="0"/>
                <a:ea typeface="Calibri" pitchFamily="34" charset="-122"/>
                <a:cs typeface="Calibri" pitchFamily="34" charset="-120"/>
              </a:rPr>
              <a:t>共通乱数でペア求解</a:t>
            </a:r>
            <a:endParaRPr lang="en-US" sz="1754" dirty="0"/>
          </a:p>
        </p:txBody>
      </p:sp>
      <p:sp>
        <p:nvSpPr>
          <p:cNvPr id="15" name="Text 13"/>
          <p:cNvSpPr txBox="1"/>
          <p:nvPr/>
        </p:nvSpPr>
        <p:spPr>
          <a:xfrm>
            <a:off x="401003" y="5585142"/>
            <a:ext cx="4812030" cy="481203"/>
          </a:xfrm>
          <a:prstGeom prst="rect">
            <a:avLst/>
          </a:prstGeom>
          <a:noFill/>
          <a:ln/>
        </p:spPr>
        <p:txBody>
          <a:bodyPr wrap="square" lIns="0" tIns="0" rIns="0" bIns="0" rtlCol="0" anchor="ctr"/>
          <a:lstStyle/>
          <a:p>
            <a:r>
              <a:rPr lang="en-US" sz="1009" i="1" dirty="0">
                <a:solidFill>
                  <a:srgbClr val="5B5F76"/>
                </a:solidFill>
                <a:latin typeface="Calibri" pitchFamily="34" charset="0"/>
                <a:ea typeface="Calibri" pitchFamily="34" charset="-122"/>
                <a:cs typeface="Calibri" pitchFamily="34" charset="-120"/>
              </a:rPr>
              <a:t>1回のLP求解が、LHSサンプル点1つ分の入力パラメータ（技術コスト等）に対応する。</a:t>
            </a:r>
            <a:endParaRPr lang="en-US" sz="1009" dirty="0"/>
          </a:p>
        </p:txBody>
      </p:sp>
      <p:sp>
        <p:nvSpPr>
          <p:cNvPr id="16" name="Text 14"/>
          <p:cNvSpPr txBox="1"/>
          <p:nvPr/>
        </p:nvSpPr>
        <p:spPr>
          <a:xfrm>
            <a:off x="5573935" y="1976120"/>
            <a:ext cx="4731830"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主問題と双対問題 — 2種類の出力</a:t>
            </a:r>
            <a:endParaRPr lang="en-US" sz="1491" dirty="0"/>
          </a:p>
        </p:txBody>
      </p:sp>
      <p:sp>
        <p:nvSpPr>
          <p:cNvPr id="17" name="Shape 15"/>
          <p:cNvSpPr/>
          <p:nvPr/>
        </p:nvSpPr>
        <p:spPr>
          <a:xfrm>
            <a:off x="5573935" y="2337022"/>
            <a:ext cx="2245614" cy="1403509"/>
          </a:xfrm>
          <a:prstGeom prst="roundRect">
            <a:avLst>
              <a:gd name="adj" fmla="val 4571"/>
            </a:avLst>
          </a:prstGeom>
          <a:solidFill>
            <a:srgbClr val="F4F6FB"/>
          </a:solidFill>
          <a:ln w="12700">
            <a:solidFill>
              <a:srgbClr val="E2E6F2"/>
            </a:solidFill>
            <a:prstDash val="solid"/>
          </a:ln>
        </p:spPr>
        <p:txBody>
          <a:bodyPr/>
          <a:lstStyle/>
          <a:p>
            <a:endParaRPr lang="ja-JP" altLang="en-US" sz="1228"/>
          </a:p>
        </p:txBody>
      </p:sp>
      <p:sp>
        <p:nvSpPr>
          <p:cNvPr id="18" name="Text 16"/>
          <p:cNvSpPr txBox="1"/>
          <p:nvPr/>
        </p:nvSpPr>
        <p:spPr>
          <a:xfrm>
            <a:off x="5734336" y="2457323"/>
            <a:ext cx="1924812" cy="1162907"/>
          </a:xfrm>
          <a:prstGeom prst="rect">
            <a:avLst/>
          </a:prstGeom>
          <a:noFill/>
          <a:ln/>
        </p:spPr>
        <p:txBody>
          <a:bodyPr wrap="square" lIns="0" tIns="0" rIns="0" bIns="0" rtlCol="0" anchor="ctr"/>
          <a:lstStyle/>
          <a:p>
            <a:pPr>
              <a:lnSpc>
                <a:spcPct val="130000"/>
              </a:lnSpc>
            </a:pPr>
            <a:r>
              <a:rPr lang="en-US" sz="1140" b="1" dirty="0">
                <a:solidFill>
                  <a:srgbClr val="1E2761"/>
                </a:solidFill>
                <a:latin typeface="Calibri" pitchFamily="34" charset="0"/>
                <a:ea typeface="Calibri" pitchFamily="34" charset="-122"/>
                <a:cs typeface="Calibri" pitchFamily="34" charset="-120"/>
              </a:rPr>
              <a:t>主問題（Primal）</a:t>
            </a:r>
            <a:endParaRPr lang="en-US" sz="1140" dirty="0"/>
          </a:p>
          <a:p>
            <a:pPr>
              <a:lnSpc>
                <a:spcPct val="130000"/>
              </a:lnSpc>
            </a:pPr>
            <a:r>
              <a:rPr lang="en-US" sz="965" dirty="0">
                <a:solidFill>
                  <a:srgbClr val="1B1B2A"/>
                </a:solidFill>
                <a:latin typeface="Calibri" pitchFamily="34" charset="0"/>
                <a:ea typeface="Calibri" pitchFamily="34" charset="-122"/>
                <a:cs typeface="Calibri" pitchFamily="34" charset="-120"/>
              </a:rPr>
              <a:t>最適容量・運用計画</a:t>
            </a:r>
            <a:endParaRPr lang="en-US" sz="1140" dirty="0"/>
          </a:p>
          <a:p>
            <a:pPr>
              <a:lnSpc>
                <a:spcPct val="130000"/>
              </a:lnSpc>
            </a:pPr>
            <a:r>
              <a:rPr lang="en-US" sz="965" b="1" dirty="0">
                <a:solidFill>
                  <a:srgbClr val="1E8E5A"/>
                </a:solidFill>
                <a:latin typeface="Calibri" pitchFamily="34" charset="0"/>
                <a:ea typeface="Calibri" pitchFamily="34" charset="-122"/>
                <a:cs typeface="Calibri" pitchFamily="34" charset="-120"/>
              </a:rPr>
              <a:t>→ 帯域別の仕事量 Wᵦ の候補</a:t>
            </a:r>
            <a:endParaRPr lang="en-US" sz="1140" dirty="0"/>
          </a:p>
          <a:p>
            <a:pPr>
              <a:lnSpc>
                <a:spcPct val="130000"/>
              </a:lnSpc>
            </a:pPr>
            <a:r>
              <a:rPr lang="en-US" sz="877" dirty="0">
                <a:solidFill>
                  <a:srgbClr val="5B5F76"/>
                </a:solidFill>
                <a:latin typeface="Calibri" pitchFamily="34" charset="0"/>
                <a:ea typeface="Calibri" pitchFamily="34" charset="-122"/>
                <a:cs typeface="Calibri" pitchFamily="34" charset="-120"/>
              </a:rPr>
              <a:t>滑らかで数値的に安定しやすい</a:t>
            </a:r>
            <a:endParaRPr lang="en-US" sz="1140" dirty="0"/>
          </a:p>
        </p:txBody>
      </p:sp>
      <p:sp>
        <p:nvSpPr>
          <p:cNvPr id="19" name="Shape 17"/>
          <p:cNvSpPr/>
          <p:nvPr/>
        </p:nvSpPr>
        <p:spPr>
          <a:xfrm>
            <a:off x="8060150" y="2337022"/>
            <a:ext cx="2245614" cy="1403509"/>
          </a:xfrm>
          <a:prstGeom prst="roundRect">
            <a:avLst>
              <a:gd name="adj" fmla="val 4571"/>
            </a:avLst>
          </a:prstGeom>
          <a:solidFill>
            <a:srgbClr val="F4F6FB"/>
          </a:solidFill>
          <a:ln w="12700">
            <a:solidFill>
              <a:srgbClr val="E2E6F2"/>
            </a:solidFill>
            <a:prstDash val="solid"/>
          </a:ln>
        </p:spPr>
        <p:txBody>
          <a:bodyPr/>
          <a:lstStyle/>
          <a:p>
            <a:endParaRPr lang="ja-JP" altLang="en-US" sz="1228"/>
          </a:p>
        </p:txBody>
      </p:sp>
      <p:sp>
        <p:nvSpPr>
          <p:cNvPr id="20" name="Text 18"/>
          <p:cNvSpPr txBox="1"/>
          <p:nvPr/>
        </p:nvSpPr>
        <p:spPr>
          <a:xfrm>
            <a:off x="8220551" y="2457323"/>
            <a:ext cx="1924812" cy="1162907"/>
          </a:xfrm>
          <a:prstGeom prst="rect">
            <a:avLst/>
          </a:prstGeom>
          <a:noFill/>
          <a:ln/>
        </p:spPr>
        <p:txBody>
          <a:bodyPr wrap="square" lIns="0" tIns="0" rIns="0" bIns="0" rtlCol="0" anchor="ctr"/>
          <a:lstStyle/>
          <a:p>
            <a:pPr>
              <a:lnSpc>
                <a:spcPct val="130000"/>
              </a:lnSpc>
            </a:pPr>
            <a:r>
              <a:rPr lang="en-US" sz="1140" b="1" dirty="0">
                <a:solidFill>
                  <a:srgbClr val="1E2761"/>
                </a:solidFill>
                <a:latin typeface="Calibri" pitchFamily="34" charset="0"/>
                <a:ea typeface="Calibri" pitchFamily="34" charset="-122"/>
                <a:cs typeface="Calibri" pitchFamily="34" charset="-120"/>
              </a:rPr>
              <a:t>双対問題（Dual）</a:t>
            </a:r>
            <a:endParaRPr lang="en-US" sz="1140" dirty="0"/>
          </a:p>
          <a:p>
            <a:pPr>
              <a:lnSpc>
                <a:spcPct val="130000"/>
              </a:lnSpc>
            </a:pPr>
            <a:r>
              <a:rPr lang="en-US" sz="965" dirty="0">
                <a:solidFill>
                  <a:srgbClr val="1B1B2A"/>
                </a:solidFill>
                <a:latin typeface="Calibri" pitchFamily="34" charset="0"/>
                <a:ea typeface="Calibri" pitchFamily="34" charset="-122"/>
                <a:cs typeface="Calibri" pitchFamily="34" charset="-120"/>
              </a:rPr>
              <a:t>制約の限界価値（shadow price λ）</a:t>
            </a:r>
            <a:endParaRPr lang="en-US" sz="1140" dirty="0"/>
          </a:p>
          <a:p>
            <a:pPr>
              <a:lnSpc>
                <a:spcPct val="130000"/>
              </a:lnSpc>
            </a:pPr>
            <a:r>
              <a:rPr lang="en-US" sz="965" b="1" dirty="0">
                <a:solidFill>
                  <a:srgbClr val="1E8E5A"/>
                </a:solidFill>
                <a:latin typeface="Calibri" pitchFamily="34" charset="0"/>
                <a:ea typeface="Calibri" pitchFamily="34" charset="-122"/>
                <a:cs typeface="Calibri" pitchFamily="34" charset="-120"/>
              </a:rPr>
              <a:t>→ 帯域別双対価格内積 Πᵦ の候補</a:t>
            </a:r>
            <a:endParaRPr lang="en-US" sz="1140" dirty="0"/>
          </a:p>
          <a:p>
            <a:pPr>
              <a:lnSpc>
                <a:spcPct val="130000"/>
              </a:lnSpc>
            </a:pPr>
            <a:r>
              <a:rPr lang="en-US" sz="877" dirty="0">
                <a:solidFill>
                  <a:srgbClr val="C0392B"/>
                </a:solidFill>
                <a:latin typeface="Calibri" pitchFamily="34" charset="0"/>
                <a:ea typeface="Calibri" pitchFamily="34" charset="-122"/>
                <a:cs typeface="Calibri" pitchFamily="34" charset="-120"/>
              </a:rPr>
              <a:t>縮退時に非一意・不安定になりうる</a:t>
            </a:r>
            <a:endParaRPr lang="en-US" sz="1140" dirty="0"/>
          </a:p>
        </p:txBody>
      </p:sp>
      <p:sp>
        <p:nvSpPr>
          <p:cNvPr id="21" name="Shape 19"/>
          <p:cNvSpPr/>
          <p:nvPr/>
        </p:nvSpPr>
        <p:spPr>
          <a:xfrm>
            <a:off x="5573935" y="3860831"/>
            <a:ext cx="4731830" cy="922306"/>
          </a:xfrm>
          <a:prstGeom prst="roundRect">
            <a:avLst>
              <a:gd name="adj" fmla="val 6957"/>
            </a:avLst>
          </a:prstGeom>
          <a:solidFill>
            <a:srgbClr val="1E2761"/>
          </a:solidFill>
          <a:ln/>
        </p:spPr>
        <p:txBody>
          <a:bodyPr/>
          <a:lstStyle/>
          <a:p>
            <a:endParaRPr lang="ja-JP" altLang="en-US" sz="1228"/>
          </a:p>
        </p:txBody>
      </p:sp>
      <p:sp>
        <p:nvSpPr>
          <p:cNvPr id="22" name="Text 20"/>
          <p:cNvSpPr txBox="1"/>
          <p:nvPr/>
        </p:nvSpPr>
        <p:spPr>
          <a:xfrm>
            <a:off x="5774436" y="3860831"/>
            <a:ext cx="4330827" cy="922306"/>
          </a:xfrm>
          <a:prstGeom prst="rect">
            <a:avLst/>
          </a:prstGeom>
          <a:noFill/>
          <a:ln/>
        </p:spPr>
        <p:txBody>
          <a:bodyPr wrap="square" lIns="0" tIns="0" rIns="0" bIns="0" rtlCol="0" anchor="ctr"/>
          <a:lstStyle/>
          <a:p>
            <a:pPr>
              <a:lnSpc>
                <a:spcPct val="130000"/>
              </a:lnSpc>
            </a:pPr>
            <a:r>
              <a:rPr lang="en-US" sz="1140" b="1" dirty="0">
                <a:solidFill>
                  <a:srgbClr val="CADCFC"/>
                </a:solidFill>
                <a:latin typeface="Calibri" pitchFamily="34" charset="0"/>
                <a:ea typeface="Calibri" pitchFamily="34" charset="-122"/>
                <a:cs typeface="Calibri" pitchFamily="34" charset="-120"/>
              </a:rPr>
              <a:t>指標の選択：Πᵦ か Wᵦ か　</a:t>
            </a:r>
            <a:endParaRPr lang="en-US" sz="1140" dirty="0"/>
          </a:p>
          <a:p>
            <a:pPr>
              <a:lnSpc>
                <a:spcPct val="130000"/>
              </a:lnSpc>
            </a:pPr>
            <a:r>
              <a:rPr lang="en-US" sz="965" dirty="0">
                <a:solidFill>
                  <a:srgbClr val="FFFFFF"/>
                </a:solidFill>
                <a:latin typeface="Calibri" pitchFamily="34" charset="0"/>
                <a:ea typeface="Calibri" pitchFamily="34" charset="-122"/>
                <a:cs typeface="Calibri" pitchFamily="34" charset="-120"/>
              </a:rPr>
              <a:t>LP双対価格の縮退（複数の最適基底が存在しうる）が疑われる場合、Πᵦの安定性を検証したうえで、必要ならWᵦを主指標に切り替える。</a:t>
            </a:r>
            <a:endParaRPr lang="en-US" sz="1140" dirty="0"/>
          </a:p>
        </p:txBody>
      </p:sp>
      <p:sp>
        <p:nvSpPr>
          <p:cNvPr id="23" name="Text 21"/>
          <p:cNvSpPr txBox="1"/>
          <p:nvPr/>
        </p:nvSpPr>
        <p:spPr>
          <a:xfrm>
            <a:off x="5573935" y="4943538"/>
            <a:ext cx="4731830" cy="256642"/>
          </a:xfrm>
          <a:prstGeom prst="rect">
            <a:avLst/>
          </a:prstGeom>
          <a:noFill/>
          <a:ln/>
        </p:spPr>
        <p:txBody>
          <a:bodyPr wrap="square" lIns="0" tIns="0" rIns="0" bIns="0" rtlCol="0" anchor="ctr"/>
          <a:lstStyle/>
          <a:p>
            <a:r>
              <a:rPr lang="en-US" sz="1140" b="1" dirty="0">
                <a:solidFill>
                  <a:srgbClr val="5B5F76"/>
                </a:solidFill>
                <a:latin typeface="Calibri" pitchFamily="34" charset="0"/>
                <a:ea typeface="Calibri" pitchFamily="34" charset="-122"/>
                <a:cs typeface="Calibri" pitchFamily="34" charset="-120"/>
              </a:rPr>
              <a:t>解析ワークフローの中の位置</a:t>
            </a:r>
            <a:endParaRPr lang="en-US" sz="1140" dirty="0"/>
          </a:p>
        </p:txBody>
      </p:sp>
      <p:sp>
        <p:nvSpPr>
          <p:cNvPr id="24" name="Shape 22"/>
          <p:cNvSpPr/>
          <p:nvPr/>
        </p:nvSpPr>
        <p:spPr>
          <a:xfrm>
            <a:off x="5573935" y="5240280"/>
            <a:ext cx="850125" cy="761905"/>
          </a:xfrm>
          <a:prstGeom prst="roundRect">
            <a:avLst>
              <a:gd name="adj" fmla="val 6316"/>
            </a:avLst>
          </a:prstGeom>
          <a:solidFill>
            <a:srgbClr val="CADCFC"/>
          </a:solidFill>
          <a:ln/>
        </p:spPr>
        <p:txBody>
          <a:bodyPr/>
          <a:lstStyle/>
          <a:p>
            <a:endParaRPr lang="ja-JP" altLang="en-US" sz="1228"/>
          </a:p>
        </p:txBody>
      </p:sp>
      <p:sp>
        <p:nvSpPr>
          <p:cNvPr id="25" name="Text 23"/>
          <p:cNvSpPr txBox="1"/>
          <p:nvPr/>
        </p:nvSpPr>
        <p:spPr>
          <a:xfrm>
            <a:off x="5573935"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LHSで</a:t>
            </a:r>
            <a:endParaRPr lang="en-US" sz="789" dirty="0"/>
          </a:p>
          <a:p>
            <a:pPr algn="ctr"/>
            <a:r>
              <a:rPr lang="en-US" sz="789" b="1" dirty="0">
                <a:solidFill>
                  <a:srgbClr val="1E2761"/>
                </a:solidFill>
                <a:latin typeface="Calibri" pitchFamily="34" charset="0"/>
                <a:ea typeface="Calibri" pitchFamily="34" charset="-122"/>
                <a:cs typeface="Calibri" pitchFamily="34" charset="-120"/>
              </a:rPr>
              <a:t>入力点生成</a:t>
            </a:r>
            <a:endParaRPr lang="en-US" sz="789" dirty="0"/>
          </a:p>
        </p:txBody>
      </p:sp>
      <p:sp>
        <p:nvSpPr>
          <p:cNvPr id="26" name="Text 24"/>
          <p:cNvSpPr txBox="1"/>
          <p:nvPr/>
        </p:nvSpPr>
        <p:spPr>
          <a:xfrm>
            <a:off x="6424060"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27" name="Shape 25"/>
          <p:cNvSpPr/>
          <p:nvPr/>
        </p:nvSpPr>
        <p:spPr>
          <a:xfrm>
            <a:off x="6544361" y="5240280"/>
            <a:ext cx="850125" cy="761905"/>
          </a:xfrm>
          <a:prstGeom prst="roundRect">
            <a:avLst>
              <a:gd name="adj" fmla="val 6316"/>
            </a:avLst>
          </a:prstGeom>
          <a:solidFill>
            <a:srgbClr val="F9A61A"/>
          </a:solidFill>
          <a:ln/>
        </p:spPr>
        <p:txBody>
          <a:bodyPr/>
          <a:lstStyle/>
          <a:p>
            <a:endParaRPr lang="ja-JP" altLang="en-US" sz="1228"/>
          </a:p>
        </p:txBody>
      </p:sp>
      <p:sp>
        <p:nvSpPr>
          <p:cNvPr id="28" name="Text 26"/>
          <p:cNvSpPr txBox="1"/>
          <p:nvPr/>
        </p:nvSpPr>
        <p:spPr>
          <a:xfrm>
            <a:off x="6544361" y="5240280"/>
            <a:ext cx="850125" cy="761905"/>
          </a:xfrm>
          <a:prstGeom prst="rect">
            <a:avLst/>
          </a:prstGeom>
          <a:noFill/>
          <a:ln/>
        </p:spPr>
        <p:txBody>
          <a:bodyPr wrap="square" lIns="334" tIns="334" rIns="334" bIns="334" rtlCol="0" anchor="ctr"/>
          <a:lstStyle/>
          <a:p>
            <a:pPr algn="ctr"/>
            <a:r>
              <a:rPr lang="en-US" sz="789" b="1" dirty="0">
                <a:solidFill>
                  <a:srgbClr val="FFFFFF"/>
                </a:solidFill>
                <a:latin typeface="Calibri" pitchFamily="34" charset="0"/>
                <a:ea typeface="Calibri" pitchFamily="34" charset="-122"/>
                <a:cs typeface="Calibri" pitchFamily="34" charset="-120"/>
              </a:rPr>
              <a:t>LP求解</a:t>
            </a:r>
            <a:endParaRPr lang="en-US" sz="789" dirty="0"/>
          </a:p>
          <a:p>
            <a:pPr algn="ctr"/>
            <a:r>
              <a:rPr lang="en-US" sz="789" b="1" dirty="0">
                <a:solidFill>
                  <a:srgbClr val="FFFFFF"/>
                </a:solidFill>
                <a:latin typeface="Calibri" pitchFamily="34" charset="0"/>
                <a:ea typeface="Calibri" pitchFamily="34" charset="-122"/>
                <a:cs typeface="Calibri" pitchFamily="34" charset="-120"/>
              </a:rPr>
              <a:t>（ここ）</a:t>
            </a:r>
            <a:endParaRPr lang="en-US" sz="789" dirty="0"/>
          </a:p>
        </p:txBody>
      </p:sp>
      <p:sp>
        <p:nvSpPr>
          <p:cNvPr id="29" name="Text 27"/>
          <p:cNvSpPr txBox="1"/>
          <p:nvPr/>
        </p:nvSpPr>
        <p:spPr>
          <a:xfrm>
            <a:off x="7394486"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30" name="Shape 28"/>
          <p:cNvSpPr/>
          <p:nvPr/>
        </p:nvSpPr>
        <p:spPr>
          <a:xfrm>
            <a:off x="7514787" y="5240280"/>
            <a:ext cx="850125" cy="761905"/>
          </a:xfrm>
          <a:prstGeom prst="roundRect">
            <a:avLst>
              <a:gd name="adj" fmla="val 6316"/>
            </a:avLst>
          </a:prstGeom>
          <a:solidFill>
            <a:srgbClr val="CADCFC"/>
          </a:solidFill>
          <a:ln/>
        </p:spPr>
        <p:txBody>
          <a:bodyPr/>
          <a:lstStyle/>
          <a:p>
            <a:endParaRPr lang="ja-JP" altLang="en-US" sz="1228"/>
          </a:p>
        </p:txBody>
      </p:sp>
      <p:sp>
        <p:nvSpPr>
          <p:cNvPr id="31" name="Text 29"/>
          <p:cNvSpPr txBox="1"/>
          <p:nvPr/>
        </p:nvSpPr>
        <p:spPr>
          <a:xfrm>
            <a:off x="7514787"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MODWT</a:t>
            </a:r>
            <a:endParaRPr lang="en-US" sz="789" dirty="0"/>
          </a:p>
          <a:p>
            <a:pPr algn="ctr"/>
            <a:r>
              <a:rPr lang="en-US" sz="789" b="1" dirty="0">
                <a:solidFill>
                  <a:srgbClr val="1E2761"/>
                </a:solidFill>
                <a:latin typeface="Calibri" pitchFamily="34" charset="0"/>
                <a:ea typeface="Calibri" pitchFamily="34" charset="-122"/>
                <a:cs typeface="Calibri" pitchFamily="34" charset="-120"/>
              </a:rPr>
              <a:t>帯域分解</a:t>
            </a:r>
            <a:endParaRPr lang="en-US" sz="789" dirty="0"/>
          </a:p>
        </p:txBody>
      </p:sp>
      <p:sp>
        <p:nvSpPr>
          <p:cNvPr id="32" name="Text 30"/>
          <p:cNvSpPr txBox="1"/>
          <p:nvPr/>
        </p:nvSpPr>
        <p:spPr>
          <a:xfrm>
            <a:off x="8364912"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33" name="Shape 31"/>
          <p:cNvSpPr/>
          <p:nvPr/>
        </p:nvSpPr>
        <p:spPr>
          <a:xfrm>
            <a:off x="8485213" y="5240280"/>
            <a:ext cx="850125" cy="761905"/>
          </a:xfrm>
          <a:prstGeom prst="roundRect">
            <a:avLst>
              <a:gd name="adj" fmla="val 6316"/>
            </a:avLst>
          </a:prstGeom>
          <a:solidFill>
            <a:srgbClr val="CADCFC"/>
          </a:solidFill>
          <a:ln/>
        </p:spPr>
        <p:txBody>
          <a:bodyPr/>
          <a:lstStyle/>
          <a:p>
            <a:endParaRPr lang="ja-JP" altLang="en-US" sz="1228"/>
          </a:p>
        </p:txBody>
      </p:sp>
      <p:sp>
        <p:nvSpPr>
          <p:cNvPr id="34" name="Text 32"/>
          <p:cNvSpPr txBox="1"/>
          <p:nvPr/>
        </p:nvSpPr>
        <p:spPr>
          <a:xfrm>
            <a:off x="8485213"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LAR-PCEで</a:t>
            </a:r>
            <a:endParaRPr lang="en-US" sz="789" dirty="0"/>
          </a:p>
          <a:p>
            <a:pPr algn="ctr"/>
            <a:r>
              <a:rPr lang="en-US" sz="789" b="1" dirty="0">
                <a:solidFill>
                  <a:srgbClr val="1E2761"/>
                </a:solidFill>
                <a:latin typeface="Calibri" pitchFamily="34" charset="0"/>
                <a:ea typeface="Calibri" pitchFamily="34" charset="-122"/>
                <a:cs typeface="Calibri" pitchFamily="34" charset="-120"/>
              </a:rPr>
              <a:t>学習</a:t>
            </a:r>
            <a:endParaRPr lang="en-US" sz="789" dirty="0"/>
          </a:p>
        </p:txBody>
      </p:sp>
      <p:sp>
        <p:nvSpPr>
          <p:cNvPr id="35" name="Text 33"/>
          <p:cNvSpPr txBox="1"/>
          <p:nvPr/>
        </p:nvSpPr>
        <p:spPr>
          <a:xfrm>
            <a:off x="9335338" y="5240280"/>
            <a:ext cx="120301" cy="761905"/>
          </a:xfrm>
          <a:prstGeom prst="rect">
            <a:avLst/>
          </a:prstGeom>
          <a:noFill/>
          <a:ln/>
        </p:spPr>
        <p:txBody>
          <a:bodyPr wrap="square" lIns="0" tIns="0" rIns="0" bIns="0" rtlCol="0" anchor="ctr"/>
          <a:lstStyle/>
          <a:p>
            <a:pPr algn="ctr"/>
            <a:r>
              <a:rPr lang="en-US" sz="1228" b="1" dirty="0">
                <a:solidFill>
                  <a:srgbClr val="5B5F76"/>
                </a:solidFill>
                <a:latin typeface="Calibri" pitchFamily="34" charset="0"/>
                <a:ea typeface="Calibri" pitchFamily="34" charset="-122"/>
                <a:cs typeface="Calibri" pitchFamily="34" charset="-120"/>
              </a:rPr>
              <a:t>→</a:t>
            </a:r>
            <a:endParaRPr lang="en-US" sz="1228" dirty="0"/>
          </a:p>
        </p:txBody>
      </p:sp>
      <p:sp>
        <p:nvSpPr>
          <p:cNvPr id="36" name="Shape 34"/>
          <p:cNvSpPr/>
          <p:nvPr/>
        </p:nvSpPr>
        <p:spPr>
          <a:xfrm>
            <a:off x="9455639" y="5240280"/>
            <a:ext cx="850125" cy="761905"/>
          </a:xfrm>
          <a:prstGeom prst="roundRect">
            <a:avLst>
              <a:gd name="adj" fmla="val 6316"/>
            </a:avLst>
          </a:prstGeom>
          <a:solidFill>
            <a:srgbClr val="CADCFC"/>
          </a:solidFill>
          <a:ln/>
        </p:spPr>
        <p:txBody>
          <a:bodyPr/>
          <a:lstStyle/>
          <a:p>
            <a:endParaRPr lang="ja-JP" altLang="en-US" sz="1228"/>
          </a:p>
        </p:txBody>
      </p:sp>
      <p:sp>
        <p:nvSpPr>
          <p:cNvPr id="37" name="Text 35"/>
          <p:cNvSpPr txBox="1"/>
          <p:nvPr/>
        </p:nvSpPr>
        <p:spPr>
          <a:xfrm>
            <a:off x="9455639" y="5240280"/>
            <a:ext cx="850125" cy="761905"/>
          </a:xfrm>
          <a:prstGeom prst="rect">
            <a:avLst/>
          </a:prstGeom>
          <a:noFill/>
          <a:ln/>
        </p:spPr>
        <p:txBody>
          <a:bodyPr wrap="square" lIns="334" tIns="334" rIns="334" bIns="334" rtlCol="0" anchor="ctr"/>
          <a:lstStyle/>
          <a:p>
            <a:pPr algn="ctr"/>
            <a:r>
              <a:rPr lang="en-US" sz="789" b="1" dirty="0">
                <a:solidFill>
                  <a:srgbClr val="1E2761"/>
                </a:solidFill>
                <a:latin typeface="Calibri" pitchFamily="34" charset="0"/>
                <a:ea typeface="Calibri" pitchFamily="34" charset="-122"/>
                <a:cs typeface="Calibri" pitchFamily="34" charset="-120"/>
              </a:rPr>
              <a:t>Sobol指数を</a:t>
            </a:r>
            <a:endParaRPr lang="en-US" sz="789" dirty="0"/>
          </a:p>
          <a:p>
            <a:pPr algn="ctr"/>
            <a:r>
              <a:rPr lang="en-US" sz="789" b="1" dirty="0">
                <a:solidFill>
                  <a:srgbClr val="1E2761"/>
                </a:solidFill>
                <a:latin typeface="Calibri" pitchFamily="34" charset="0"/>
                <a:ea typeface="Calibri" pitchFamily="34" charset="-122"/>
                <a:cs typeface="Calibri" pitchFamily="34" charset="-120"/>
              </a:rPr>
              <a:t>解析的に算出</a:t>
            </a:r>
            <a:endParaRPr lang="en-US" sz="789" dirty="0"/>
          </a:p>
        </p:txBody>
      </p:sp>
      <p:sp>
        <p:nvSpPr>
          <p:cNvPr id="38" name="Text 36"/>
          <p:cNvSpPr txBox="1"/>
          <p:nvPr/>
        </p:nvSpPr>
        <p:spPr>
          <a:xfrm>
            <a:off x="5573935" y="6186646"/>
            <a:ext cx="4731830" cy="320802"/>
          </a:xfrm>
          <a:prstGeom prst="rect">
            <a:avLst/>
          </a:prstGeom>
          <a:noFill/>
          <a:ln/>
        </p:spPr>
        <p:txBody>
          <a:bodyPr wrap="square" lIns="0" tIns="0" rIns="0" bIns="0" rtlCol="0" anchor="ctr"/>
          <a:lstStyle/>
          <a:p>
            <a:r>
              <a:rPr lang="en-US" sz="1009" b="1" dirty="0">
                <a:solidFill>
                  <a:srgbClr val="1E2761"/>
                </a:solidFill>
                <a:latin typeface="Calibri" pitchFamily="34" charset="0"/>
                <a:ea typeface="Calibri" pitchFamily="34" charset="-122"/>
                <a:cs typeface="Calibri" pitchFamily="34" charset="-120"/>
              </a:rPr>
              <a:t>求解環境　</a:t>
            </a:r>
            <a:r>
              <a:rPr lang="en-US" sz="1009" dirty="0">
                <a:solidFill>
                  <a:srgbClr val="5B5F76"/>
                </a:solidFill>
                <a:latin typeface="Calibri" pitchFamily="34" charset="0"/>
                <a:ea typeface="Calibri" pitchFamily="34" charset="-122"/>
                <a:cs typeface="Calibri" pitchFamily="34" charset="-120"/>
              </a:rPr>
              <a:t>PyPSA v1.1.2（linopy）＋ HiGHS ／ PyPSA-GUI2経由でバッチ実行、結果はnetCDFで保存</a:t>
            </a:r>
            <a:endParaRPr lang="en-US" sz="1009"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631" b="1" dirty="0">
                <a:solidFill>
                  <a:srgbClr val="1E2761"/>
                </a:solidFill>
                <a:latin typeface="Cambria" pitchFamily="34" charset="0"/>
                <a:ea typeface="Cambria" pitchFamily="34" charset="-122"/>
                <a:cs typeface="Cambria" pitchFamily="34" charset="-120"/>
              </a:rPr>
              <a:t>MODWT帯域分解：周波数帯への分解</a:t>
            </a:r>
            <a:endParaRPr lang="en-US" sz="2631" dirty="0"/>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228" i="1" dirty="0">
                <a:solidFill>
                  <a:srgbClr val="5B5F76"/>
                </a:solidFill>
                <a:latin typeface="Calibri" pitchFamily="34" charset="0"/>
                <a:ea typeface="Calibri" pitchFamily="34" charset="-122"/>
                <a:cs typeface="Calibri" pitchFamily="34" charset="-120"/>
              </a:rPr>
              <a:t>最大重複離散ウェーブレット変換でLP出力を物理的な時間スケールごとに分解し、帯域整合仮説を検証する</a:t>
            </a:r>
            <a:endParaRPr lang="en-US" sz="1228" dirty="0"/>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MODWTとは</a:t>
            </a:r>
            <a:endParaRPr lang="en-US" sz="1491" dirty="0"/>
          </a:p>
        </p:txBody>
      </p:sp>
      <p:sp>
        <p:nvSpPr>
          <p:cNvPr id="5" name="Shape 3"/>
          <p:cNvSpPr/>
          <p:nvPr/>
        </p:nvSpPr>
        <p:spPr>
          <a:xfrm>
            <a:off x="401003" y="2312962"/>
            <a:ext cx="4812030" cy="761905"/>
          </a:xfrm>
          <a:prstGeom prst="roundRect">
            <a:avLst>
              <a:gd name="adj" fmla="val 8421"/>
            </a:avLst>
          </a:prstGeom>
          <a:solidFill>
            <a:srgbClr val="1E2761"/>
          </a:solidFill>
          <a:ln/>
        </p:spPr>
        <p:txBody>
          <a:bodyPr/>
          <a:lstStyle/>
          <a:p>
            <a:endParaRPr lang="ja-JP" altLang="en-US" sz="1228"/>
          </a:p>
        </p:txBody>
      </p:sp>
      <p:sp>
        <p:nvSpPr>
          <p:cNvPr id="6" name="Text 4"/>
          <p:cNvSpPr txBox="1"/>
          <p:nvPr/>
        </p:nvSpPr>
        <p:spPr>
          <a:xfrm>
            <a:off x="601504" y="2312962"/>
            <a:ext cx="4411028" cy="761905"/>
          </a:xfrm>
          <a:prstGeom prst="rect">
            <a:avLst/>
          </a:prstGeom>
          <a:noFill/>
          <a:ln/>
        </p:spPr>
        <p:txBody>
          <a:bodyPr wrap="square" lIns="0" tIns="0" rIns="0" bIns="0" rtlCol="0" anchor="ctr"/>
          <a:lstStyle/>
          <a:p>
            <a:pPr>
              <a:lnSpc>
                <a:spcPct val="130000"/>
              </a:lnSpc>
            </a:pPr>
            <a:r>
              <a:rPr lang="en-US" sz="1579" b="1" dirty="0">
                <a:solidFill>
                  <a:srgbClr val="FFFFFF"/>
                </a:solidFill>
                <a:latin typeface="Cambria" pitchFamily="34" charset="0"/>
                <a:ea typeface="Cambria" pitchFamily="34" charset="-122"/>
                <a:cs typeface="Cambria" pitchFamily="34" charset="-120"/>
              </a:rPr>
              <a:t>x(t) = Σᵦ dᵦ(t)</a:t>
            </a:r>
            <a:endParaRPr lang="en-US" sz="1579" dirty="0"/>
          </a:p>
          <a:p>
            <a:pPr>
              <a:lnSpc>
                <a:spcPct val="130000"/>
              </a:lnSpc>
            </a:pPr>
            <a:r>
              <a:rPr lang="en-US" sz="965" dirty="0">
                <a:solidFill>
                  <a:srgbClr val="CADCFC"/>
                </a:solidFill>
                <a:latin typeface="Cambria" pitchFamily="34" charset="0"/>
                <a:ea typeface="Cambria" pitchFamily="34" charset="-122"/>
                <a:cs typeface="Cambria" pitchFamily="34" charset="-120"/>
              </a:rPr>
              <a:t>ウェーブレットフィルタバンクによる多重解像度分解 — 元の時系列を帯域成分の和に完全分解</a:t>
            </a:r>
            <a:endParaRPr lang="en-US" sz="1579" dirty="0"/>
          </a:p>
        </p:txBody>
      </p:sp>
      <p:sp>
        <p:nvSpPr>
          <p:cNvPr id="7" name="Shape 5"/>
          <p:cNvSpPr/>
          <p:nvPr/>
        </p:nvSpPr>
        <p:spPr>
          <a:xfrm>
            <a:off x="401003" y="3219227"/>
            <a:ext cx="4812030" cy="737845"/>
          </a:xfrm>
          <a:prstGeom prst="roundRect">
            <a:avLst>
              <a:gd name="adj" fmla="val 8696"/>
            </a:avLst>
          </a:prstGeom>
          <a:solidFill>
            <a:srgbClr val="F4F6FB"/>
          </a:solidFill>
          <a:ln w="12700">
            <a:solidFill>
              <a:srgbClr val="E2E6F2"/>
            </a:solidFill>
            <a:prstDash val="solid"/>
          </a:ln>
        </p:spPr>
        <p:txBody>
          <a:bodyPr/>
          <a:lstStyle/>
          <a:p>
            <a:endParaRPr lang="ja-JP" altLang="en-US" sz="1228"/>
          </a:p>
        </p:txBody>
      </p:sp>
      <p:sp>
        <p:nvSpPr>
          <p:cNvPr id="8" name="Shape 6"/>
          <p:cNvSpPr/>
          <p:nvPr/>
        </p:nvSpPr>
        <p:spPr>
          <a:xfrm>
            <a:off x="521303" y="3347548"/>
            <a:ext cx="681704" cy="256642"/>
          </a:xfrm>
          <a:prstGeom prst="roundRect">
            <a:avLst>
              <a:gd name="adj" fmla="val 50000"/>
            </a:avLst>
          </a:prstGeom>
          <a:solidFill>
            <a:srgbClr val="1E8E5A"/>
          </a:solidFill>
          <a:ln/>
        </p:spPr>
        <p:txBody>
          <a:bodyPr/>
          <a:lstStyle/>
          <a:p>
            <a:endParaRPr lang="ja-JP" altLang="en-US" sz="1228"/>
          </a:p>
        </p:txBody>
      </p:sp>
      <p:sp>
        <p:nvSpPr>
          <p:cNvPr id="9" name="Text 7"/>
          <p:cNvSpPr txBox="1"/>
          <p:nvPr/>
        </p:nvSpPr>
        <p:spPr>
          <a:xfrm>
            <a:off x="521303" y="3347548"/>
            <a:ext cx="681704" cy="256642"/>
          </a:xfrm>
          <a:prstGeom prst="rect">
            <a:avLst/>
          </a:prstGeom>
          <a:noFill/>
          <a:ln/>
        </p:spPr>
        <p:txBody>
          <a:bodyPr wrap="square" lIns="0" tIns="0" rIns="0" bIns="0" rtlCol="0" anchor="ctr"/>
          <a:lstStyle/>
          <a:p>
            <a:pPr algn="ctr"/>
            <a:r>
              <a:rPr lang="en-US" sz="877" b="1" dirty="0">
                <a:solidFill>
                  <a:srgbClr val="FFFFFF"/>
                </a:solidFill>
                <a:latin typeface="Calibri" pitchFamily="34" charset="0"/>
                <a:ea typeface="Calibri" pitchFamily="34" charset="-122"/>
                <a:cs typeface="Calibri" pitchFamily="34" charset="-120"/>
              </a:rPr>
              <a:t>採用</a:t>
            </a:r>
            <a:endParaRPr lang="en-US" sz="877" dirty="0"/>
          </a:p>
        </p:txBody>
      </p:sp>
      <p:sp>
        <p:nvSpPr>
          <p:cNvPr id="10" name="Text 8"/>
          <p:cNvSpPr txBox="1"/>
          <p:nvPr/>
        </p:nvSpPr>
        <p:spPr>
          <a:xfrm>
            <a:off x="1323308" y="3299428"/>
            <a:ext cx="1243108" cy="577444"/>
          </a:xfrm>
          <a:prstGeom prst="rect">
            <a:avLst/>
          </a:prstGeom>
          <a:noFill/>
          <a:ln/>
        </p:spPr>
        <p:txBody>
          <a:bodyPr wrap="square" lIns="0" tIns="0" rIns="0" bIns="0" rtlCol="0" anchor="ctr"/>
          <a:lstStyle/>
          <a:p>
            <a:r>
              <a:rPr lang="en-US" sz="1053" b="1" dirty="0">
                <a:solidFill>
                  <a:srgbClr val="1B1B2A"/>
                </a:solidFill>
                <a:latin typeface="Calibri" pitchFamily="34" charset="0"/>
                <a:ea typeface="Calibri" pitchFamily="34" charset="-122"/>
                <a:cs typeface="Calibri" pitchFamily="34" charset="-120"/>
              </a:rPr>
              <a:t>MODWT</a:t>
            </a:r>
            <a:endParaRPr lang="en-US" sz="1053" dirty="0"/>
          </a:p>
        </p:txBody>
      </p:sp>
      <p:sp>
        <p:nvSpPr>
          <p:cNvPr id="11" name="Text 9"/>
          <p:cNvSpPr txBox="1"/>
          <p:nvPr/>
        </p:nvSpPr>
        <p:spPr>
          <a:xfrm>
            <a:off x="2606516" y="3283388"/>
            <a:ext cx="2486216" cy="625564"/>
          </a:xfrm>
          <a:prstGeom prst="rect">
            <a:avLst/>
          </a:prstGeom>
          <a:noFill/>
          <a:ln/>
        </p:spPr>
        <p:txBody>
          <a:bodyPr wrap="square" lIns="0" tIns="0" rIns="0" bIns="0" rtlCol="0" anchor="ctr"/>
          <a:lstStyle/>
          <a:p>
            <a:pPr>
              <a:lnSpc>
                <a:spcPct val="115000"/>
              </a:lnSpc>
            </a:pPr>
            <a:r>
              <a:rPr lang="en-US" sz="877" dirty="0">
                <a:solidFill>
                  <a:srgbClr val="1B1B2A"/>
                </a:solidFill>
                <a:latin typeface="Calibri" pitchFamily="34" charset="0"/>
                <a:ea typeface="Calibri" pitchFamily="34" charset="-122"/>
                <a:cs typeface="Calibri" pitchFamily="34" charset="-120"/>
              </a:rPr>
              <a:t>Parsevalの定理が厳密に成立：各帯域の分散の合計＝全分散。Sobol分散分解と組み合わせても情報の漏れがない</a:t>
            </a:r>
            <a:endParaRPr lang="en-US" sz="877" dirty="0"/>
          </a:p>
        </p:txBody>
      </p:sp>
      <p:sp>
        <p:nvSpPr>
          <p:cNvPr id="12" name="Shape 10"/>
          <p:cNvSpPr/>
          <p:nvPr/>
        </p:nvSpPr>
        <p:spPr>
          <a:xfrm>
            <a:off x="401003" y="4085393"/>
            <a:ext cx="4812030" cy="737845"/>
          </a:xfrm>
          <a:prstGeom prst="roundRect">
            <a:avLst>
              <a:gd name="adj" fmla="val 8696"/>
            </a:avLst>
          </a:prstGeom>
          <a:solidFill>
            <a:srgbClr val="F4F6FB"/>
          </a:solidFill>
          <a:ln w="12700">
            <a:solidFill>
              <a:srgbClr val="E2E6F2"/>
            </a:solidFill>
            <a:prstDash val="solid"/>
          </a:ln>
        </p:spPr>
        <p:txBody>
          <a:bodyPr/>
          <a:lstStyle/>
          <a:p>
            <a:endParaRPr lang="ja-JP" altLang="en-US" sz="1228"/>
          </a:p>
        </p:txBody>
      </p:sp>
      <p:sp>
        <p:nvSpPr>
          <p:cNvPr id="13" name="Shape 11"/>
          <p:cNvSpPr/>
          <p:nvPr/>
        </p:nvSpPr>
        <p:spPr>
          <a:xfrm>
            <a:off x="521303" y="4213714"/>
            <a:ext cx="681704" cy="256642"/>
          </a:xfrm>
          <a:prstGeom prst="roundRect">
            <a:avLst>
              <a:gd name="adj" fmla="val 50000"/>
            </a:avLst>
          </a:prstGeom>
          <a:solidFill>
            <a:srgbClr val="C0392B"/>
          </a:solidFill>
          <a:ln/>
        </p:spPr>
        <p:txBody>
          <a:bodyPr/>
          <a:lstStyle/>
          <a:p>
            <a:endParaRPr lang="ja-JP" altLang="en-US" sz="1228"/>
          </a:p>
        </p:txBody>
      </p:sp>
      <p:sp>
        <p:nvSpPr>
          <p:cNvPr id="14" name="Text 12"/>
          <p:cNvSpPr txBox="1"/>
          <p:nvPr/>
        </p:nvSpPr>
        <p:spPr>
          <a:xfrm>
            <a:off x="521303" y="4213714"/>
            <a:ext cx="681704" cy="256642"/>
          </a:xfrm>
          <a:prstGeom prst="rect">
            <a:avLst/>
          </a:prstGeom>
          <a:noFill/>
          <a:ln/>
        </p:spPr>
        <p:txBody>
          <a:bodyPr wrap="square" lIns="0" tIns="0" rIns="0" bIns="0" rtlCol="0" anchor="ctr"/>
          <a:lstStyle/>
          <a:p>
            <a:pPr algn="ctr"/>
            <a:r>
              <a:rPr lang="en-US" sz="877" b="1" dirty="0">
                <a:solidFill>
                  <a:srgbClr val="FFFFFF"/>
                </a:solidFill>
                <a:latin typeface="Calibri" pitchFamily="34" charset="0"/>
                <a:ea typeface="Calibri" pitchFamily="34" charset="-122"/>
                <a:cs typeface="Calibri" pitchFamily="34" charset="-120"/>
              </a:rPr>
              <a:t>不採用</a:t>
            </a:r>
            <a:endParaRPr lang="en-US" sz="877" dirty="0"/>
          </a:p>
        </p:txBody>
      </p:sp>
      <p:sp>
        <p:nvSpPr>
          <p:cNvPr id="15" name="Text 13"/>
          <p:cNvSpPr txBox="1"/>
          <p:nvPr/>
        </p:nvSpPr>
        <p:spPr>
          <a:xfrm>
            <a:off x="1323308" y="4165593"/>
            <a:ext cx="1243108" cy="577444"/>
          </a:xfrm>
          <a:prstGeom prst="rect">
            <a:avLst/>
          </a:prstGeom>
          <a:noFill/>
          <a:ln/>
        </p:spPr>
        <p:txBody>
          <a:bodyPr wrap="square" lIns="0" tIns="0" rIns="0" bIns="0" rtlCol="0" anchor="ctr"/>
          <a:lstStyle/>
          <a:p>
            <a:r>
              <a:rPr lang="en-US" sz="1053" b="1" dirty="0">
                <a:solidFill>
                  <a:srgbClr val="1B1B2A"/>
                </a:solidFill>
                <a:latin typeface="Calibri" pitchFamily="34" charset="0"/>
                <a:ea typeface="Calibri" pitchFamily="34" charset="-122"/>
                <a:cs typeface="Calibri" pitchFamily="34" charset="-120"/>
              </a:rPr>
              <a:t>ゼロ位相バターワース</a:t>
            </a:r>
            <a:endParaRPr lang="en-US" sz="1053" dirty="0"/>
          </a:p>
        </p:txBody>
      </p:sp>
      <p:sp>
        <p:nvSpPr>
          <p:cNvPr id="16" name="Text 14"/>
          <p:cNvSpPr txBox="1"/>
          <p:nvPr/>
        </p:nvSpPr>
        <p:spPr>
          <a:xfrm>
            <a:off x="2606516" y="4149553"/>
            <a:ext cx="2486216" cy="625564"/>
          </a:xfrm>
          <a:prstGeom prst="rect">
            <a:avLst/>
          </a:prstGeom>
          <a:noFill/>
          <a:ln/>
        </p:spPr>
        <p:txBody>
          <a:bodyPr wrap="square" lIns="0" tIns="0" rIns="0" bIns="0" rtlCol="0" anchor="ctr"/>
          <a:lstStyle/>
          <a:p>
            <a:pPr>
              <a:lnSpc>
                <a:spcPct val="115000"/>
              </a:lnSpc>
            </a:pPr>
            <a:r>
              <a:rPr lang="en-US" sz="877" dirty="0">
                <a:solidFill>
                  <a:srgbClr val="1B1B2A"/>
                </a:solidFill>
                <a:latin typeface="Calibri" pitchFamily="34" charset="0"/>
                <a:ea typeface="Calibri" pitchFamily="34" charset="-122"/>
                <a:cs typeface="Calibri" pitchFamily="34" charset="-120"/>
              </a:rPr>
              <a:t>位相ずれは生じないが、帯域境界でエネルギーが漏れ、Parsevalが厳密には成立しない</a:t>
            </a:r>
            <a:endParaRPr lang="en-US" sz="877" dirty="0"/>
          </a:p>
        </p:txBody>
      </p:sp>
      <p:sp>
        <p:nvSpPr>
          <p:cNvPr id="17" name="Text 15"/>
          <p:cNvSpPr txBox="1"/>
          <p:nvPr/>
        </p:nvSpPr>
        <p:spPr>
          <a:xfrm>
            <a:off x="401003" y="4991658"/>
            <a:ext cx="4812030" cy="240602"/>
          </a:xfrm>
          <a:prstGeom prst="rect">
            <a:avLst/>
          </a:prstGeom>
          <a:noFill/>
          <a:ln/>
        </p:spPr>
        <p:txBody>
          <a:bodyPr wrap="square" lIns="0" tIns="0" rIns="0" bIns="0" rtlCol="0" anchor="ctr"/>
          <a:lstStyle/>
          <a:p>
            <a:r>
              <a:rPr lang="en-US" sz="921" b="1" dirty="0">
                <a:solidFill>
                  <a:srgbClr val="5B5F76"/>
                </a:solidFill>
                <a:latin typeface="Calibri" pitchFamily="34" charset="0"/>
                <a:ea typeface="Calibri" pitchFamily="34" charset="-122"/>
                <a:cs typeface="Calibri" pitchFamily="34" charset="-120"/>
              </a:rPr>
              <a:t>出典　</a:t>
            </a:r>
            <a:r>
              <a:rPr lang="en-US" sz="921" i="1" dirty="0">
                <a:solidFill>
                  <a:srgbClr val="5B5F76"/>
                </a:solidFill>
                <a:latin typeface="Calibri" pitchFamily="34" charset="0"/>
                <a:ea typeface="Calibri" pitchFamily="34" charset="-122"/>
                <a:cs typeface="Calibri" pitchFamily="34" charset="-120"/>
              </a:rPr>
              <a:t>Percival &amp; Walden (2000)</a:t>
            </a:r>
            <a:endParaRPr lang="en-US" sz="921" dirty="0"/>
          </a:p>
        </p:txBody>
      </p:sp>
      <p:sp>
        <p:nvSpPr>
          <p:cNvPr id="18" name="Text 16"/>
          <p:cNvSpPr txBox="1"/>
          <p:nvPr/>
        </p:nvSpPr>
        <p:spPr>
          <a:xfrm>
            <a:off x="5573935" y="1976120"/>
            <a:ext cx="4731830" cy="288722"/>
          </a:xfrm>
          <a:prstGeom prst="rect">
            <a:avLst/>
          </a:prstGeom>
          <a:noFill/>
          <a:ln/>
        </p:spPr>
        <p:txBody>
          <a:bodyPr wrap="square" lIns="0" tIns="0" rIns="0" bIns="0" rtlCol="0" anchor="ctr"/>
          <a:lstStyle/>
          <a:p>
            <a:r>
              <a:rPr lang="en-US" sz="1491" b="1" dirty="0">
                <a:solidFill>
                  <a:srgbClr val="1E2761"/>
                </a:solidFill>
                <a:latin typeface="Calibri" pitchFamily="34" charset="0"/>
                <a:ea typeface="Calibri" pitchFamily="34" charset="-122"/>
                <a:cs typeface="Calibri" pitchFamily="34" charset="-120"/>
              </a:rPr>
              <a:t>5つの物理的周波数帯</a:t>
            </a:r>
            <a:endParaRPr lang="en-US" sz="1491" dirty="0"/>
          </a:p>
        </p:txBody>
      </p:sp>
      <p:sp>
        <p:nvSpPr>
          <p:cNvPr id="19" name="Shape 17"/>
          <p:cNvSpPr/>
          <p:nvPr/>
        </p:nvSpPr>
        <p:spPr>
          <a:xfrm>
            <a:off x="5573935" y="2377122"/>
            <a:ext cx="561404" cy="681704"/>
          </a:xfrm>
          <a:prstGeom prst="rect">
            <a:avLst/>
          </a:prstGeom>
          <a:solidFill>
            <a:srgbClr val="CADCFC"/>
          </a:solidFill>
          <a:ln w="19050">
            <a:solidFill>
              <a:srgbClr val="FFFFFF"/>
            </a:solidFill>
            <a:prstDash val="solid"/>
          </a:ln>
        </p:spPr>
        <p:txBody>
          <a:bodyPr/>
          <a:lstStyle/>
          <a:p>
            <a:endParaRPr lang="ja-JP" altLang="en-US" sz="1228"/>
          </a:p>
        </p:txBody>
      </p:sp>
      <p:sp>
        <p:nvSpPr>
          <p:cNvPr id="20" name="Text 18"/>
          <p:cNvSpPr txBox="1"/>
          <p:nvPr/>
        </p:nvSpPr>
        <p:spPr>
          <a:xfrm>
            <a:off x="5573935" y="2473363"/>
            <a:ext cx="561404" cy="240602"/>
          </a:xfrm>
          <a:prstGeom prst="rect">
            <a:avLst/>
          </a:prstGeom>
          <a:noFill/>
          <a:ln/>
        </p:spPr>
        <p:txBody>
          <a:bodyPr wrap="square" lIns="0" tIns="0" rIns="0" bIns="0" rtlCol="0" anchor="ctr"/>
          <a:lstStyle/>
          <a:p>
            <a:pPr algn="ctr"/>
            <a:r>
              <a:rPr lang="en-US" sz="921" b="1" dirty="0">
                <a:solidFill>
                  <a:srgbClr val="1E2761"/>
                </a:solidFill>
                <a:latin typeface="Calibri" pitchFamily="34" charset="0"/>
                <a:ea typeface="Calibri" pitchFamily="34" charset="-122"/>
                <a:cs typeface="Calibri" pitchFamily="34" charset="-120"/>
              </a:rPr>
              <a:t>&lt;12h</a:t>
            </a:r>
            <a:endParaRPr lang="en-US" sz="921" dirty="0"/>
          </a:p>
        </p:txBody>
      </p:sp>
      <p:sp>
        <p:nvSpPr>
          <p:cNvPr id="21" name="Shape 19"/>
          <p:cNvSpPr/>
          <p:nvPr/>
        </p:nvSpPr>
        <p:spPr>
          <a:xfrm>
            <a:off x="6135338" y="2377122"/>
            <a:ext cx="761905" cy="681704"/>
          </a:xfrm>
          <a:prstGeom prst="rect">
            <a:avLst/>
          </a:prstGeom>
          <a:solidFill>
            <a:srgbClr val="9BB6EE"/>
          </a:solidFill>
          <a:ln w="19050">
            <a:solidFill>
              <a:srgbClr val="FFFFFF"/>
            </a:solidFill>
            <a:prstDash val="solid"/>
          </a:ln>
        </p:spPr>
        <p:txBody>
          <a:bodyPr/>
          <a:lstStyle/>
          <a:p>
            <a:endParaRPr lang="ja-JP" altLang="en-US" sz="1228"/>
          </a:p>
        </p:txBody>
      </p:sp>
      <p:sp>
        <p:nvSpPr>
          <p:cNvPr id="22" name="Text 20"/>
          <p:cNvSpPr txBox="1"/>
          <p:nvPr/>
        </p:nvSpPr>
        <p:spPr>
          <a:xfrm>
            <a:off x="6135338" y="2473363"/>
            <a:ext cx="761905" cy="240602"/>
          </a:xfrm>
          <a:prstGeom prst="rect">
            <a:avLst/>
          </a:prstGeom>
          <a:noFill/>
          <a:ln/>
        </p:spPr>
        <p:txBody>
          <a:bodyPr wrap="square" lIns="0" tIns="0" rIns="0" bIns="0" rtlCol="0" anchor="ctr"/>
          <a:lstStyle/>
          <a:p>
            <a:pPr algn="ctr"/>
            <a:r>
              <a:rPr lang="en-US" sz="921" b="1" dirty="0">
                <a:solidFill>
                  <a:srgbClr val="1E2761"/>
                </a:solidFill>
                <a:latin typeface="Calibri" pitchFamily="34" charset="0"/>
                <a:ea typeface="Calibri" pitchFamily="34" charset="-122"/>
                <a:cs typeface="Calibri" pitchFamily="34" charset="-120"/>
              </a:rPr>
              <a:t>12〜36h</a:t>
            </a:r>
            <a:endParaRPr lang="en-US" sz="921" dirty="0"/>
          </a:p>
        </p:txBody>
      </p:sp>
      <p:sp>
        <p:nvSpPr>
          <p:cNvPr id="23" name="Shape 21"/>
          <p:cNvSpPr/>
          <p:nvPr/>
        </p:nvSpPr>
        <p:spPr>
          <a:xfrm>
            <a:off x="6897243" y="2377122"/>
            <a:ext cx="1082707" cy="681704"/>
          </a:xfrm>
          <a:prstGeom prst="rect">
            <a:avLst/>
          </a:prstGeom>
          <a:solidFill>
            <a:srgbClr val="5C7AEA"/>
          </a:solidFill>
          <a:ln w="19050">
            <a:solidFill>
              <a:srgbClr val="FFFFFF"/>
            </a:solidFill>
            <a:prstDash val="solid"/>
          </a:ln>
        </p:spPr>
        <p:txBody>
          <a:bodyPr/>
          <a:lstStyle/>
          <a:p>
            <a:endParaRPr lang="ja-JP" altLang="en-US" sz="1228"/>
          </a:p>
        </p:txBody>
      </p:sp>
      <p:sp>
        <p:nvSpPr>
          <p:cNvPr id="24" name="Text 22"/>
          <p:cNvSpPr txBox="1"/>
          <p:nvPr/>
        </p:nvSpPr>
        <p:spPr>
          <a:xfrm>
            <a:off x="6897243" y="2473363"/>
            <a:ext cx="1082707" cy="240602"/>
          </a:xfrm>
          <a:prstGeom prst="rect">
            <a:avLst/>
          </a:prstGeom>
          <a:noFill/>
          <a:ln/>
        </p:spPr>
        <p:txBody>
          <a:bodyPr wrap="square" lIns="0" tIns="0" rIns="0" bIns="0" rtlCol="0" anchor="ctr"/>
          <a:lstStyle/>
          <a:p>
            <a:pPr algn="ctr"/>
            <a:r>
              <a:rPr lang="en-US" sz="921" b="1" dirty="0">
                <a:solidFill>
                  <a:srgbClr val="1E2761"/>
                </a:solidFill>
                <a:latin typeface="Calibri" pitchFamily="34" charset="0"/>
                <a:ea typeface="Calibri" pitchFamily="34" charset="-122"/>
                <a:cs typeface="Calibri" pitchFamily="34" charset="-120"/>
              </a:rPr>
              <a:t>36〜192h</a:t>
            </a:r>
            <a:endParaRPr lang="en-US" sz="921" dirty="0"/>
          </a:p>
        </p:txBody>
      </p:sp>
      <p:sp>
        <p:nvSpPr>
          <p:cNvPr id="25" name="Shape 23"/>
          <p:cNvSpPr/>
          <p:nvPr/>
        </p:nvSpPr>
        <p:spPr>
          <a:xfrm>
            <a:off x="7979950" y="2377122"/>
            <a:ext cx="1082707" cy="681704"/>
          </a:xfrm>
          <a:prstGeom prst="rect">
            <a:avLst/>
          </a:prstGeom>
          <a:solidFill>
            <a:srgbClr val="F9A61A"/>
          </a:solidFill>
          <a:ln w="19050">
            <a:solidFill>
              <a:srgbClr val="FFFFFF"/>
            </a:solidFill>
            <a:prstDash val="solid"/>
          </a:ln>
        </p:spPr>
        <p:txBody>
          <a:bodyPr/>
          <a:lstStyle/>
          <a:p>
            <a:endParaRPr lang="ja-JP" altLang="en-US" sz="1228"/>
          </a:p>
        </p:txBody>
      </p:sp>
      <p:sp>
        <p:nvSpPr>
          <p:cNvPr id="26" name="Text 24"/>
          <p:cNvSpPr txBox="1"/>
          <p:nvPr/>
        </p:nvSpPr>
        <p:spPr>
          <a:xfrm>
            <a:off x="7979950" y="2473363"/>
            <a:ext cx="1082707" cy="240602"/>
          </a:xfrm>
          <a:prstGeom prst="rect">
            <a:avLst/>
          </a:prstGeom>
          <a:noFill/>
          <a:ln/>
        </p:spPr>
        <p:txBody>
          <a:bodyPr wrap="square" lIns="0" tIns="0" rIns="0" bIns="0" rtlCol="0" anchor="ctr"/>
          <a:lstStyle/>
          <a:p>
            <a:pPr algn="ctr"/>
            <a:r>
              <a:rPr lang="en-US" sz="921" b="1" dirty="0">
                <a:solidFill>
                  <a:srgbClr val="FFFFFF"/>
                </a:solidFill>
                <a:latin typeface="Calibri" pitchFamily="34" charset="0"/>
                <a:ea typeface="Calibri" pitchFamily="34" charset="-122"/>
                <a:cs typeface="Calibri" pitchFamily="34" charset="-120"/>
              </a:rPr>
              <a:t>192〜720h</a:t>
            </a:r>
            <a:endParaRPr lang="en-US" sz="921" dirty="0"/>
          </a:p>
        </p:txBody>
      </p:sp>
      <p:sp>
        <p:nvSpPr>
          <p:cNvPr id="27" name="Shape 25"/>
          <p:cNvSpPr/>
          <p:nvPr/>
        </p:nvSpPr>
        <p:spPr>
          <a:xfrm>
            <a:off x="9062656" y="2377122"/>
            <a:ext cx="1243108" cy="681704"/>
          </a:xfrm>
          <a:prstGeom prst="rect">
            <a:avLst/>
          </a:prstGeom>
          <a:solidFill>
            <a:srgbClr val="1E2761"/>
          </a:solidFill>
          <a:ln w="19050">
            <a:solidFill>
              <a:srgbClr val="FFFFFF"/>
            </a:solidFill>
            <a:prstDash val="solid"/>
          </a:ln>
        </p:spPr>
        <p:txBody>
          <a:bodyPr/>
          <a:lstStyle/>
          <a:p>
            <a:endParaRPr lang="ja-JP" altLang="en-US" sz="1228"/>
          </a:p>
        </p:txBody>
      </p:sp>
      <p:sp>
        <p:nvSpPr>
          <p:cNvPr id="28" name="Text 26"/>
          <p:cNvSpPr txBox="1"/>
          <p:nvPr/>
        </p:nvSpPr>
        <p:spPr>
          <a:xfrm>
            <a:off x="9062656" y="2473363"/>
            <a:ext cx="1243108" cy="240602"/>
          </a:xfrm>
          <a:prstGeom prst="rect">
            <a:avLst/>
          </a:prstGeom>
          <a:noFill/>
          <a:ln/>
        </p:spPr>
        <p:txBody>
          <a:bodyPr wrap="square" lIns="0" tIns="0" rIns="0" bIns="0" rtlCol="0" anchor="ctr"/>
          <a:lstStyle/>
          <a:p>
            <a:pPr algn="ctr"/>
            <a:r>
              <a:rPr lang="en-US" sz="921" b="1" dirty="0">
                <a:solidFill>
                  <a:srgbClr val="FFFFFF"/>
                </a:solidFill>
                <a:latin typeface="Calibri" pitchFamily="34" charset="0"/>
                <a:ea typeface="Calibri" pitchFamily="34" charset="-122"/>
                <a:cs typeface="Calibri" pitchFamily="34" charset="-120"/>
              </a:rPr>
              <a:t>&gt;720h</a:t>
            </a:r>
            <a:endParaRPr lang="en-US" sz="921" dirty="0"/>
          </a:p>
        </p:txBody>
      </p:sp>
      <p:sp>
        <p:nvSpPr>
          <p:cNvPr id="29" name="Shape 27"/>
          <p:cNvSpPr/>
          <p:nvPr/>
        </p:nvSpPr>
        <p:spPr>
          <a:xfrm>
            <a:off x="5573935" y="3227248"/>
            <a:ext cx="176441" cy="176441"/>
          </a:xfrm>
          <a:prstGeom prst="rect">
            <a:avLst/>
          </a:prstGeom>
          <a:solidFill>
            <a:srgbClr val="CADCFC"/>
          </a:solidFill>
          <a:ln/>
        </p:spPr>
        <p:txBody>
          <a:bodyPr/>
          <a:lstStyle/>
          <a:p>
            <a:endParaRPr lang="ja-JP" altLang="en-US" sz="1228"/>
          </a:p>
        </p:txBody>
      </p:sp>
      <p:sp>
        <p:nvSpPr>
          <p:cNvPr id="30" name="Text 28"/>
          <p:cNvSpPr txBox="1"/>
          <p:nvPr/>
        </p:nvSpPr>
        <p:spPr>
          <a:xfrm>
            <a:off x="5830576" y="3203187"/>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&lt;12h</a:t>
            </a:r>
            <a:endParaRPr lang="en-US" sz="921" dirty="0"/>
          </a:p>
        </p:txBody>
      </p:sp>
      <p:sp>
        <p:nvSpPr>
          <p:cNvPr id="31" name="Text 29"/>
          <p:cNvSpPr txBox="1"/>
          <p:nvPr/>
        </p:nvSpPr>
        <p:spPr>
          <a:xfrm>
            <a:off x="6656641" y="3203187"/>
            <a:ext cx="3649123" cy="240602"/>
          </a:xfrm>
          <a:prstGeom prst="rect">
            <a:avLst/>
          </a:prstGeom>
          <a:noFill/>
          <a:ln/>
        </p:spPr>
        <p:txBody>
          <a:bodyPr wrap="square" lIns="0" tIns="0" rIns="0" bIns="0" rtlCol="0" anchor="ctr"/>
          <a:lstStyle/>
          <a:p>
            <a:r>
              <a:rPr lang="en-US" sz="921" dirty="0" err="1">
                <a:solidFill>
                  <a:srgbClr val="1B1B2A"/>
                </a:solidFill>
                <a:latin typeface="Calibri" pitchFamily="34" charset="0"/>
                <a:ea typeface="Calibri" pitchFamily="34" charset="-122"/>
                <a:cs typeface="Calibri" pitchFamily="34" charset="-120"/>
              </a:rPr>
              <a:t>日内変動</a:t>
            </a:r>
            <a:endParaRPr lang="en-US" sz="921" dirty="0"/>
          </a:p>
        </p:txBody>
      </p:sp>
      <p:sp>
        <p:nvSpPr>
          <p:cNvPr id="32" name="Shape 30"/>
          <p:cNvSpPr/>
          <p:nvPr/>
        </p:nvSpPr>
        <p:spPr>
          <a:xfrm>
            <a:off x="5573935" y="3467849"/>
            <a:ext cx="176441" cy="176441"/>
          </a:xfrm>
          <a:prstGeom prst="rect">
            <a:avLst/>
          </a:prstGeom>
          <a:solidFill>
            <a:srgbClr val="9BB6EE"/>
          </a:solidFill>
          <a:ln/>
        </p:spPr>
        <p:txBody>
          <a:bodyPr/>
          <a:lstStyle/>
          <a:p>
            <a:endParaRPr lang="ja-JP" altLang="en-US" sz="1228"/>
          </a:p>
        </p:txBody>
      </p:sp>
      <p:sp>
        <p:nvSpPr>
          <p:cNvPr id="33" name="Text 31"/>
          <p:cNvSpPr txBox="1"/>
          <p:nvPr/>
        </p:nvSpPr>
        <p:spPr>
          <a:xfrm>
            <a:off x="5830576" y="3443789"/>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12〜36h</a:t>
            </a:r>
            <a:endParaRPr lang="en-US" sz="921" dirty="0"/>
          </a:p>
        </p:txBody>
      </p:sp>
      <p:sp>
        <p:nvSpPr>
          <p:cNvPr id="34" name="Text 32"/>
          <p:cNvSpPr txBox="1"/>
          <p:nvPr/>
        </p:nvSpPr>
        <p:spPr>
          <a:xfrm>
            <a:off x="6656641" y="3443789"/>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日次帯（daily）</a:t>
            </a:r>
            <a:endParaRPr lang="en-US" sz="921" dirty="0"/>
          </a:p>
        </p:txBody>
      </p:sp>
      <p:sp>
        <p:nvSpPr>
          <p:cNvPr id="35" name="Shape 33"/>
          <p:cNvSpPr/>
          <p:nvPr/>
        </p:nvSpPr>
        <p:spPr>
          <a:xfrm>
            <a:off x="5573935" y="3708451"/>
            <a:ext cx="176441" cy="176441"/>
          </a:xfrm>
          <a:prstGeom prst="rect">
            <a:avLst/>
          </a:prstGeom>
          <a:solidFill>
            <a:srgbClr val="5C7AEA"/>
          </a:solidFill>
          <a:ln/>
        </p:spPr>
        <p:txBody>
          <a:bodyPr/>
          <a:lstStyle/>
          <a:p>
            <a:endParaRPr lang="ja-JP" altLang="en-US" sz="1228"/>
          </a:p>
        </p:txBody>
      </p:sp>
      <p:sp>
        <p:nvSpPr>
          <p:cNvPr id="36" name="Text 34"/>
          <p:cNvSpPr txBox="1"/>
          <p:nvPr/>
        </p:nvSpPr>
        <p:spPr>
          <a:xfrm>
            <a:off x="5830576" y="3684390"/>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36〜192h</a:t>
            </a:r>
            <a:endParaRPr lang="en-US" sz="921" dirty="0"/>
          </a:p>
        </p:txBody>
      </p:sp>
      <p:sp>
        <p:nvSpPr>
          <p:cNvPr id="37" name="Text 35"/>
          <p:cNvSpPr txBox="1"/>
          <p:nvPr/>
        </p:nvSpPr>
        <p:spPr>
          <a:xfrm>
            <a:off x="6656641" y="3684390"/>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総観規模帯（synoptic／週次）</a:t>
            </a:r>
            <a:endParaRPr lang="en-US" sz="921" dirty="0"/>
          </a:p>
        </p:txBody>
      </p:sp>
      <p:sp>
        <p:nvSpPr>
          <p:cNvPr id="38" name="Shape 36"/>
          <p:cNvSpPr/>
          <p:nvPr/>
        </p:nvSpPr>
        <p:spPr>
          <a:xfrm>
            <a:off x="5573935" y="3949052"/>
            <a:ext cx="176441" cy="176441"/>
          </a:xfrm>
          <a:prstGeom prst="rect">
            <a:avLst/>
          </a:prstGeom>
          <a:solidFill>
            <a:srgbClr val="F9A61A"/>
          </a:solidFill>
          <a:ln/>
        </p:spPr>
        <p:txBody>
          <a:bodyPr/>
          <a:lstStyle/>
          <a:p>
            <a:endParaRPr lang="ja-JP" altLang="en-US" sz="1228"/>
          </a:p>
        </p:txBody>
      </p:sp>
      <p:sp>
        <p:nvSpPr>
          <p:cNvPr id="39" name="Text 37"/>
          <p:cNvSpPr txBox="1"/>
          <p:nvPr/>
        </p:nvSpPr>
        <p:spPr>
          <a:xfrm>
            <a:off x="5830576" y="3924992"/>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192〜720h</a:t>
            </a:r>
            <a:endParaRPr lang="en-US" sz="921" dirty="0"/>
          </a:p>
        </p:txBody>
      </p:sp>
      <p:sp>
        <p:nvSpPr>
          <p:cNvPr id="40" name="Text 38"/>
          <p:cNvSpPr txBox="1"/>
          <p:nvPr/>
        </p:nvSpPr>
        <p:spPr>
          <a:xfrm>
            <a:off x="6656641" y="3924992"/>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Dunkelflaute帯</a:t>
            </a:r>
            <a:endParaRPr lang="en-US" sz="921" dirty="0"/>
          </a:p>
        </p:txBody>
      </p:sp>
      <p:sp>
        <p:nvSpPr>
          <p:cNvPr id="41" name="Shape 39"/>
          <p:cNvSpPr/>
          <p:nvPr/>
        </p:nvSpPr>
        <p:spPr>
          <a:xfrm>
            <a:off x="5573935" y="4189654"/>
            <a:ext cx="176441" cy="176441"/>
          </a:xfrm>
          <a:prstGeom prst="rect">
            <a:avLst/>
          </a:prstGeom>
          <a:solidFill>
            <a:srgbClr val="1E2761"/>
          </a:solidFill>
          <a:ln/>
        </p:spPr>
        <p:txBody>
          <a:bodyPr/>
          <a:lstStyle/>
          <a:p>
            <a:endParaRPr lang="ja-JP" altLang="en-US" sz="1228"/>
          </a:p>
        </p:txBody>
      </p:sp>
      <p:sp>
        <p:nvSpPr>
          <p:cNvPr id="42" name="Text 40"/>
          <p:cNvSpPr txBox="1"/>
          <p:nvPr/>
        </p:nvSpPr>
        <p:spPr>
          <a:xfrm>
            <a:off x="5830576" y="4165593"/>
            <a:ext cx="802005" cy="240602"/>
          </a:xfrm>
          <a:prstGeom prst="rect">
            <a:avLst/>
          </a:prstGeom>
          <a:noFill/>
          <a:ln/>
        </p:spPr>
        <p:txBody>
          <a:bodyPr wrap="square" lIns="0" tIns="0" rIns="0" bIns="0" rtlCol="0" anchor="ctr"/>
          <a:lstStyle/>
          <a:p>
            <a:r>
              <a:rPr lang="en-US" sz="921" b="1" dirty="0">
                <a:solidFill>
                  <a:srgbClr val="1E2761"/>
                </a:solidFill>
                <a:latin typeface="Calibri" pitchFamily="34" charset="0"/>
                <a:ea typeface="Calibri" pitchFamily="34" charset="-122"/>
                <a:cs typeface="Calibri" pitchFamily="34" charset="-120"/>
              </a:rPr>
              <a:t>&gt;720h</a:t>
            </a:r>
            <a:endParaRPr lang="en-US" sz="921" dirty="0"/>
          </a:p>
        </p:txBody>
      </p:sp>
      <p:sp>
        <p:nvSpPr>
          <p:cNvPr id="43" name="Text 41"/>
          <p:cNvSpPr txBox="1"/>
          <p:nvPr/>
        </p:nvSpPr>
        <p:spPr>
          <a:xfrm>
            <a:off x="6656641" y="4165593"/>
            <a:ext cx="3649123" cy="240602"/>
          </a:xfrm>
          <a:prstGeom prst="rect">
            <a:avLst/>
          </a:prstGeom>
          <a:noFill/>
          <a:ln/>
        </p:spPr>
        <p:txBody>
          <a:bodyPr wrap="square" lIns="0" tIns="0" rIns="0" bIns="0" rtlCol="0" anchor="ctr"/>
          <a:lstStyle/>
          <a:p>
            <a:r>
              <a:rPr lang="en-US" sz="921" dirty="0">
                <a:solidFill>
                  <a:srgbClr val="1B1B2A"/>
                </a:solidFill>
                <a:latin typeface="Calibri" pitchFamily="34" charset="0"/>
                <a:ea typeface="Calibri" pitchFamily="34" charset="-122"/>
                <a:cs typeface="Calibri" pitchFamily="34" charset="-120"/>
              </a:rPr>
              <a:t>季節帯（seasonal）</a:t>
            </a:r>
            <a:endParaRPr lang="en-US" sz="921" dirty="0"/>
          </a:p>
        </p:txBody>
      </p:sp>
      <p:sp>
        <p:nvSpPr>
          <p:cNvPr id="44" name="Shape 42"/>
          <p:cNvSpPr/>
          <p:nvPr/>
        </p:nvSpPr>
        <p:spPr>
          <a:xfrm>
            <a:off x="5573935" y="4462335"/>
            <a:ext cx="4731830" cy="681704"/>
          </a:xfrm>
          <a:prstGeom prst="roundRect">
            <a:avLst>
              <a:gd name="adj" fmla="val 9412"/>
            </a:avLst>
          </a:prstGeom>
          <a:solidFill>
            <a:srgbClr val="F4F6FB"/>
          </a:solidFill>
          <a:ln w="12700">
            <a:solidFill>
              <a:srgbClr val="E2E6F2"/>
            </a:solidFill>
            <a:prstDash val="solid"/>
          </a:ln>
        </p:spPr>
        <p:txBody>
          <a:bodyPr/>
          <a:lstStyle/>
          <a:p>
            <a:endParaRPr lang="ja-JP" altLang="en-US" sz="1228"/>
          </a:p>
        </p:txBody>
      </p:sp>
      <p:sp>
        <p:nvSpPr>
          <p:cNvPr id="45" name="Text 43"/>
          <p:cNvSpPr txBox="1"/>
          <p:nvPr/>
        </p:nvSpPr>
        <p:spPr>
          <a:xfrm>
            <a:off x="5734336" y="4462335"/>
            <a:ext cx="4411028" cy="681704"/>
          </a:xfrm>
          <a:prstGeom prst="rect">
            <a:avLst/>
          </a:prstGeom>
          <a:noFill/>
          <a:ln/>
        </p:spPr>
        <p:txBody>
          <a:bodyPr wrap="square" lIns="0" tIns="0" rIns="0" bIns="0" rtlCol="0" anchor="ctr"/>
          <a:lstStyle/>
          <a:p>
            <a:pPr>
              <a:lnSpc>
                <a:spcPct val="130000"/>
              </a:lnSpc>
            </a:pPr>
            <a:r>
              <a:rPr lang="en-US" sz="1009" b="1" dirty="0">
                <a:solidFill>
                  <a:srgbClr val="1E2761"/>
                </a:solidFill>
                <a:latin typeface="Calibri" pitchFamily="34" charset="0"/>
                <a:ea typeface="Calibri" pitchFamily="34" charset="-122"/>
                <a:cs typeface="Calibri" pitchFamily="34" charset="-120"/>
              </a:rPr>
              <a:t>帯域整合仮説の3帯との対応　</a:t>
            </a:r>
            <a:endParaRPr lang="en-US" sz="1009" dirty="0"/>
          </a:p>
          <a:p>
            <a:pPr>
              <a:lnSpc>
                <a:spcPct val="130000"/>
              </a:lnSpc>
            </a:pPr>
            <a:r>
              <a:rPr lang="en-US" sz="921" dirty="0">
                <a:solidFill>
                  <a:srgbClr val="1B1B2A"/>
                </a:solidFill>
                <a:latin typeface="Calibri" pitchFamily="34" charset="0"/>
                <a:ea typeface="Calibri" pitchFamily="34" charset="-122"/>
                <a:cs typeface="Calibri" pitchFamily="34" charset="-120"/>
              </a:rPr>
              <a:t>&lt;12h・12〜36h → 日次帯　／　36〜192h → 総観規模帯　／　192〜720h・&gt;720h → 季節帯</a:t>
            </a:r>
            <a:endParaRPr lang="en-US" sz="1009" dirty="0"/>
          </a:p>
        </p:txBody>
      </p:sp>
      <p:sp>
        <p:nvSpPr>
          <p:cNvPr id="46" name="Shape 44"/>
          <p:cNvSpPr/>
          <p:nvPr/>
        </p:nvSpPr>
        <p:spPr>
          <a:xfrm>
            <a:off x="5573935" y="5224240"/>
            <a:ext cx="4731830" cy="802005"/>
          </a:xfrm>
          <a:prstGeom prst="roundRect">
            <a:avLst>
              <a:gd name="adj" fmla="val 8000"/>
            </a:avLst>
          </a:prstGeom>
          <a:solidFill>
            <a:srgbClr val="1E2761"/>
          </a:solidFill>
          <a:ln/>
        </p:spPr>
        <p:txBody>
          <a:bodyPr/>
          <a:lstStyle/>
          <a:p>
            <a:endParaRPr lang="ja-JP" altLang="en-US" sz="1228"/>
          </a:p>
        </p:txBody>
      </p:sp>
      <p:sp>
        <p:nvSpPr>
          <p:cNvPr id="47" name="Text 45"/>
          <p:cNvSpPr txBox="1"/>
          <p:nvPr/>
        </p:nvSpPr>
        <p:spPr>
          <a:xfrm>
            <a:off x="5774436" y="5224240"/>
            <a:ext cx="4330827" cy="802005"/>
          </a:xfrm>
          <a:prstGeom prst="rect">
            <a:avLst/>
          </a:prstGeom>
          <a:noFill/>
          <a:ln/>
        </p:spPr>
        <p:txBody>
          <a:bodyPr wrap="square" lIns="0" tIns="0" rIns="0" bIns="0" rtlCol="0" anchor="ctr"/>
          <a:lstStyle/>
          <a:p>
            <a:pPr>
              <a:lnSpc>
                <a:spcPct val="125000"/>
              </a:lnSpc>
            </a:pPr>
            <a:r>
              <a:rPr lang="en-US" sz="1053" b="1" dirty="0">
                <a:solidFill>
                  <a:srgbClr val="CADCFC"/>
                </a:solidFill>
                <a:latin typeface="Calibri" pitchFamily="34" charset="0"/>
                <a:ea typeface="Calibri" pitchFamily="34" charset="-122"/>
                <a:cs typeface="Calibri" pitchFamily="34" charset="-120"/>
              </a:rPr>
              <a:t>何に適用するか　</a:t>
            </a:r>
            <a:endParaRPr lang="en-US" sz="1053" dirty="0"/>
          </a:p>
          <a:p>
            <a:pPr>
              <a:lnSpc>
                <a:spcPct val="125000"/>
              </a:lnSpc>
            </a:pPr>
            <a:r>
              <a:rPr lang="en-US" sz="921" dirty="0">
                <a:solidFill>
                  <a:srgbClr val="FFFFFF"/>
                </a:solidFill>
                <a:latin typeface="Calibri" pitchFamily="34" charset="0"/>
                <a:ea typeface="Calibri" pitchFamily="34" charset="-122"/>
                <a:cs typeface="Calibri" pitchFamily="34" charset="-120"/>
              </a:rPr>
              <a:t>LP出力（双対価格 λ(t) または主問題側の運用量）に帯域ごとに適用し、帯域別指標 Πᵦ／Wᵦ を算出。Sobol分散分解と組み合わせ、感度指標行列 Sᵢ(b) を構成する。</a:t>
            </a:r>
            <a:endParaRPr lang="en-US" sz="1053" dirty="0"/>
          </a:p>
        </p:txBody>
      </p:sp>
      <p:sp>
        <p:nvSpPr>
          <p:cNvPr id="48" name="Text 46"/>
          <p:cNvSpPr txBox="1"/>
          <p:nvPr/>
        </p:nvSpPr>
        <p:spPr>
          <a:xfrm>
            <a:off x="5573935" y="6082386"/>
            <a:ext cx="4731830" cy="224561"/>
          </a:xfrm>
          <a:prstGeom prst="rect">
            <a:avLst/>
          </a:prstGeom>
          <a:noFill/>
          <a:ln/>
        </p:spPr>
        <p:txBody>
          <a:bodyPr wrap="square" lIns="0" tIns="0" rIns="0" bIns="0" rtlCol="0" anchor="ctr"/>
          <a:lstStyle/>
          <a:p>
            <a:r>
              <a:rPr lang="en-US" sz="1053" b="1" dirty="0">
                <a:solidFill>
                  <a:srgbClr val="5B5F76"/>
                </a:solidFill>
                <a:latin typeface="Calibri" pitchFamily="34" charset="0"/>
                <a:ea typeface="Calibri" pitchFamily="34" charset="-122"/>
                <a:cs typeface="Calibri" pitchFamily="34" charset="-120"/>
              </a:rPr>
              <a:t>解析ワークフローの中の位置</a:t>
            </a:r>
            <a:endParaRPr lang="en-US" sz="1053" dirty="0"/>
          </a:p>
        </p:txBody>
      </p:sp>
      <p:sp>
        <p:nvSpPr>
          <p:cNvPr id="49" name="Shape 47"/>
          <p:cNvSpPr/>
          <p:nvPr/>
        </p:nvSpPr>
        <p:spPr>
          <a:xfrm>
            <a:off x="5573935" y="6322987"/>
            <a:ext cx="850125" cy="401003"/>
          </a:xfrm>
          <a:prstGeom prst="roundRect">
            <a:avLst>
              <a:gd name="adj" fmla="val 12000"/>
            </a:avLst>
          </a:prstGeom>
          <a:solidFill>
            <a:srgbClr val="CADCFC"/>
          </a:solidFill>
          <a:ln/>
        </p:spPr>
        <p:txBody>
          <a:bodyPr/>
          <a:lstStyle/>
          <a:p>
            <a:endParaRPr lang="ja-JP" altLang="en-US" sz="1228"/>
          </a:p>
        </p:txBody>
      </p:sp>
      <p:sp>
        <p:nvSpPr>
          <p:cNvPr id="50" name="Text 48"/>
          <p:cNvSpPr txBox="1"/>
          <p:nvPr/>
        </p:nvSpPr>
        <p:spPr>
          <a:xfrm>
            <a:off x="5573935"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LHSで</a:t>
            </a:r>
            <a:endParaRPr lang="en-US" sz="658" dirty="0"/>
          </a:p>
          <a:p>
            <a:pPr algn="ctr"/>
            <a:r>
              <a:rPr lang="en-US" sz="658" b="1" dirty="0">
                <a:solidFill>
                  <a:srgbClr val="1E2761"/>
                </a:solidFill>
                <a:latin typeface="Calibri" pitchFamily="34" charset="0"/>
                <a:ea typeface="Calibri" pitchFamily="34" charset="-122"/>
                <a:cs typeface="Calibri" pitchFamily="34" charset="-120"/>
              </a:rPr>
              <a:t>入力点生成</a:t>
            </a:r>
            <a:endParaRPr lang="en-US" sz="658" dirty="0"/>
          </a:p>
        </p:txBody>
      </p:sp>
      <p:sp>
        <p:nvSpPr>
          <p:cNvPr id="51" name="Text 49"/>
          <p:cNvSpPr txBox="1"/>
          <p:nvPr/>
        </p:nvSpPr>
        <p:spPr>
          <a:xfrm>
            <a:off x="6424060"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52" name="Shape 50"/>
          <p:cNvSpPr/>
          <p:nvPr/>
        </p:nvSpPr>
        <p:spPr>
          <a:xfrm>
            <a:off x="6544361" y="6322987"/>
            <a:ext cx="850125" cy="401003"/>
          </a:xfrm>
          <a:prstGeom prst="roundRect">
            <a:avLst>
              <a:gd name="adj" fmla="val 12000"/>
            </a:avLst>
          </a:prstGeom>
          <a:solidFill>
            <a:srgbClr val="CADCFC"/>
          </a:solidFill>
          <a:ln/>
        </p:spPr>
        <p:txBody>
          <a:bodyPr/>
          <a:lstStyle/>
          <a:p>
            <a:endParaRPr lang="ja-JP" altLang="en-US" sz="1228"/>
          </a:p>
        </p:txBody>
      </p:sp>
      <p:sp>
        <p:nvSpPr>
          <p:cNvPr id="53" name="Text 51"/>
          <p:cNvSpPr txBox="1"/>
          <p:nvPr/>
        </p:nvSpPr>
        <p:spPr>
          <a:xfrm>
            <a:off x="6544361"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LP求解</a:t>
            </a:r>
            <a:endParaRPr lang="en-US" sz="658" dirty="0"/>
          </a:p>
        </p:txBody>
      </p:sp>
      <p:sp>
        <p:nvSpPr>
          <p:cNvPr id="54" name="Text 52"/>
          <p:cNvSpPr txBox="1"/>
          <p:nvPr/>
        </p:nvSpPr>
        <p:spPr>
          <a:xfrm>
            <a:off x="7394486"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55" name="Shape 53"/>
          <p:cNvSpPr/>
          <p:nvPr/>
        </p:nvSpPr>
        <p:spPr>
          <a:xfrm>
            <a:off x="7514787" y="6322987"/>
            <a:ext cx="850125" cy="401003"/>
          </a:xfrm>
          <a:prstGeom prst="roundRect">
            <a:avLst>
              <a:gd name="adj" fmla="val 12000"/>
            </a:avLst>
          </a:prstGeom>
          <a:solidFill>
            <a:srgbClr val="F9A61A"/>
          </a:solidFill>
          <a:ln/>
        </p:spPr>
        <p:txBody>
          <a:bodyPr/>
          <a:lstStyle/>
          <a:p>
            <a:endParaRPr lang="ja-JP" altLang="en-US" sz="1228"/>
          </a:p>
        </p:txBody>
      </p:sp>
      <p:sp>
        <p:nvSpPr>
          <p:cNvPr id="56" name="Text 54"/>
          <p:cNvSpPr txBox="1"/>
          <p:nvPr/>
        </p:nvSpPr>
        <p:spPr>
          <a:xfrm>
            <a:off x="7514787" y="6322987"/>
            <a:ext cx="850125" cy="401003"/>
          </a:xfrm>
          <a:prstGeom prst="rect">
            <a:avLst/>
          </a:prstGeom>
          <a:noFill/>
          <a:ln/>
        </p:spPr>
        <p:txBody>
          <a:bodyPr wrap="square" lIns="223" tIns="223" rIns="223" bIns="223" rtlCol="0" anchor="ctr"/>
          <a:lstStyle/>
          <a:p>
            <a:pPr algn="ctr"/>
            <a:r>
              <a:rPr lang="en-US" sz="658" b="1" dirty="0">
                <a:solidFill>
                  <a:srgbClr val="FFFFFF"/>
                </a:solidFill>
                <a:latin typeface="Calibri" pitchFamily="34" charset="0"/>
                <a:ea typeface="Calibri" pitchFamily="34" charset="-122"/>
                <a:cs typeface="Calibri" pitchFamily="34" charset="-120"/>
              </a:rPr>
              <a:t>MODWT</a:t>
            </a:r>
            <a:endParaRPr lang="en-US" sz="658" dirty="0"/>
          </a:p>
          <a:p>
            <a:pPr algn="ctr"/>
            <a:r>
              <a:rPr lang="en-US" sz="658" b="1" dirty="0">
                <a:solidFill>
                  <a:srgbClr val="FFFFFF"/>
                </a:solidFill>
                <a:latin typeface="Calibri" pitchFamily="34" charset="0"/>
                <a:ea typeface="Calibri" pitchFamily="34" charset="-122"/>
                <a:cs typeface="Calibri" pitchFamily="34" charset="-120"/>
              </a:rPr>
              <a:t>帯域分解</a:t>
            </a:r>
            <a:endParaRPr lang="en-US" sz="658" dirty="0"/>
          </a:p>
          <a:p>
            <a:pPr algn="ctr"/>
            <a:r>
              <a:rPr lang="en-US" sz="658" b="1" dirty="0">
                <a:solidFill>
                  <a:srgbClr val="FFFFFF"/>
                </a:solidFill>
                <a:latin typeface="Calibri" pitchFamily="34" charset="0"/>
                <a:ea typeface="Calibri" pitchFamily="34" charset="-122"/>
                <a:cs typeface="Calibri" pitchFamily="34" charset="-120"/>
              </a:rPr>
              <a:t>（ここ）</a:t>
            </a:r>
            <a:endParaRPr lang="en-US" sz="658" dirty="0"/>
          </a:p>
        </p:txBody>
      </p:sp>
      <p:sp>
        <p:nvSpPr>
          <p:cNvPr id="57" name="Text 55"/>
          <p:cNvSpPr txBox="1"/>
          <p:nvPr/>
        </p:nvSpPr>
        <p:spPr>
          <a:xfrm>
            <a:off x="8364912"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58" name="Shape 56"/>
          <p:cNvSpPr/>
          <p:nvPr/>
        </p:nvSpPr>
        <p:spPr>
          <a:xfrm>
            <a:off x="8485213" y="6322987"/>
            <a:ext cx="850125" cy="401003"/>
          </a:xfrm>
          <a:prstGeom prst="roundRect">
            <a:avLst>
              <a:gd name="adj" fmla="val 12000"/>
            </a:avLst>
          </a:prstGeom>
          <a:solidFill>
            <a:srgbClr val="CADCFC"/>
          </a:solidFill>
          <a:ln/>
        </p:spPr>
        <p:txBody>
          <a:bodyPr/>
          <a:lstStyle/>
          <a:p>
            <a:endParaRPr lang="ja-JP" altLang="en-US" sz="1228"/>
          </a:p>
        </p:txBody>
      </p:sp>
      <p:sp>
        <p:nvSpPr>
          <p:cNvPr id="59" name="Text 57"/>
          <p:cNvSpPr txBox="1"/>
          <p:nvPr/>
        </p:nvSpPr>
        <p:spPr>
          <a:xfrm>
            <a:off x="8485213"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LAR-PCEで</a:t>
            </a:r>
            <a:endParaRPr lang="en-US" sz="658" dirty="0"/>
          </a:p>
          <a:p>
            <a:pPr algn="ctr"/>
            <a:r>
              <a:rPr lang="en-US" sz="658" b="1" dirty="0">
                <a:solidFill>
                  <a:srgbClr val="1E2761"/>
                </a:solidFill>
                <a:latin typeface="Calibri" pitchFamily="34" charset="0"/>
                <a:ea typeface="Calibri" pitchFamily="34" charset="-122"/>
                <a:cs typeface="Calibri" pitchFamily="34" charset="-120"/>
              </a:rPr>
              <a:t>学習</a:t>
            </a:r>
            <a:endParaRPr lang="en-US" sz="658" dirty="0"/>
          </a:p>
        </p:txBody>
      </p:sp>
      <p:sp>
        <p:nvSpPr>
          <p:cNvPr id="60" name="Text 58"/>
          <p:cNvSpPr txBox="1"/>
          <p:nvPr/>
        </p:nvSpPr>
        <p:spPr>
          <a:xfrm>
            <a:off x="9335338" y="6322987"/>
            <a:ext cx="120301" cy="401003"/>
          </a:xfrm>
          <a:prstGeom prst="rect">
            <a:avLst/>
          </a:prstGeom>
          <a:noFill/>
          <a:ln/>
        </p:spPr>
        <p:txBody>
          <a:bodyPr wrap="square" lIns="0" tIns="0" rIns="0" bIns="0" rtlCol="0" anchor="ctr"/>
          <a:lstStyle/>
          <a:p>
            <a:pPr algn="ctr"/>
            <a:r>
              <a:rPr lang="en-US" sz="1053" b="1" dirty="0">
                <a:solidFill>
                  <a:srgbClr val="5B5F76"/>
                </a:solidFill>
                <a:latin typeface="Calibri" pitchFamily="34" charset="0"/>
                <a:ea typeface="Calibri" pitchFamily="34" charset="-122"/>
                <a:cs typeface="Calibri" pitchFamily="34" charset="-120"/>
              </a:rPr>
              <a:t>→</a:t>
            </a:r>
            <a:endParaRPr lang="en-US" sz="1053" dirty="0"/>
          </a:p>
        </p:txBody>
      </p:sp>
      <p:sp>
        <p:nvSpPr>
          <p:cNvPr id="61" name="Shape 59"/>
          <p:cNvSpPr/>
          <p:nvPr/>
        </p:nvSpPr>
        <p:spPr>
          <a:xfrm>
            <a:off x="9455639" y="6322987"/>
            <a:ext cx="850125" cy="401003"/>
          </a:xfrm>
          <a:prstGeom prst="roundRect">
            <a:avLst>
              <a:gd name="adj" fmla="val 12000"/>
            </a:avLst>
          </a:prstGeom>
          <a:solidFill>
            <a:srgbClr val="CADCFC"/>
          </a:solidFill>
          <a:ln/>
        </p:spPr>
        <p:txBody>
          <a:bodyPr/>
          <a:lstStyle/>
          <a:p>
            <a:endParaRPr lang="ja-JP" altLang="en-US" sz="1228"/>
          </a:p>
        </p:txBody>
      </p:sp>
      <p:sp>
        <p:nvSpPr>
          <p:cNvPr id="62" name="Text 60"/>
          <p:cNvSpPr txBox="1"/>
          <p:nvPr/>
        </p:nvSpPr>
        <p:spPr>
          <a:xfrm>
            <a:off x="9455639" y="6322987"/>
            <a:ext cx="850125" cy="401003"/>
          </a:xfrm>
          <a:prstGeom prst="rect">
            <a:avLst/>
          </a:prstGeom>
          <a:noFill/>
          <a:ln/>
        </p:spPr>
        <p:txBody>
          <a:bodyPr wrap="square" lIns="223" tIns="223" rIns="223" bIns="223" rtlCol="0" anchor="ctr"/>
          <a:lstStyle/>
          <a:p>
            <a:pPr algn="ctr"/>
            <a:r>
              <a:rPr lang="en-US" sz="658" b="1" dirty="0">
                <a:solidFill>
                  <a:srgbClr val="1E2761"/>
                </a:solidFill>
                <a:latin typeface="Calibri" pitchFamily="34" charset="0"/>
                <a:ea typeface="Calibri" pitchFamily="34" charset="-122"/>
                <a:cs typeface="Calibri" pitchFamily="34" charset="-120"/>
              </a:rPr>
              <a:t>Sobol指数を</a:t>
            </a:r>
            <a:endParaRPr lang="en-US" sz="658" dirty="0"/>
          </a:p>
          <a:p>
            <a:pPr algn="ctr"/>
            <a:r>
              <a:rPr lang="en-US" sz="658" b="1" dirty="0">
                <a:solidFill>
                  <a:srgbClr val="1E2761"/>
                </a:solidFill>
                <a:latin typeface="Calibri" pitchFamily="34" charset="0"/>
                <a:ea typeface="Calibri" pitchFamily="34" charset="-122"/>
                <a:cs typeface="Calibri" pitchFamily="34" charset="-120"/>
              </a:rPr>
              <a:t>解析的に算出</a:t>
            </a:r>
            <a:endParaRPr lang="en-US" sz="658" dirty="0"/>
          </a:p>
        </p:txBody>
      </p:sp>
      <p:pic>
        <p:nvPicPr>
          <p:cNvPr id="64" name="Picture 2">
            <a:extLst>
              <a:ext uri="{FF2B5EF4-FFF2-40B4-BE49-F238E27FC236}">
                <a16:creationId xmlns:a16="http://schemas.microsoft.com/office/drawing/2014/main" id="{98A571F4-DDB3-4F1B-243A-04F2953CDB1E}"/>
              </a:ext>
            </a:extLst>
          </p:cNvPr>
          <p:cNvPicPr>
            <a:picLocks noChangeAspect="1"/>
          </p:cNvPicPr>
          <p:nvPr/>
        </p:nvPicPr>
        <p:blipFill>
          <a:blip r:embed="rId3"/>
          <a:srcRect l="1847" t="10661" r="1959" b="15099"/>
          <a:stretch>
            <a:fillRect/>
          </a:stretch>
        </p:blipFill>
        <p:spPr>
          <a:xfrm>
            <a:off x="265219" y="5232260"/>
            <a:ext cx="4947814" cy="213005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631" b="1" dirty="0">
                <a:solidFill>
                  <a:srgbClr val="1E2761"/>
                </a:solidFill>
                <a:latin typeface="+mn-ea"/>
                <a:ea typeface="+mn-ea"/>
                <a:cs typeface="Cambria" pitchFamily="34" charset="-120"/>
              </a:rPr>
              <a:t>LAR-PCE：スパース多項式カオス展開</a:t>
            </a:r>
            <a:endParaRPr lang="en-US" sz="2631"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228" i="1" dirty="0">
                <a:solidFill>
                  <a:srgbClr val="5B5F76"/>
                </a:solidFill>
                <a:latin typeface="+mn-ea"/>
                <a:ea typeface="+mn-ea"/>
                <a:cs typeface="Calibri" pitchFamily="34" charset="-120"/>
              </a:rPr>
              <a:t>少数のLP求解から、解析的にSobol指数と交差項の符号を得る代理モデル手法（Blatman &amp; Sudret, 2011）</a:t>
            </a:r>
            <a:endParaRPr lang="en-US" sz="1228"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491" b="1" dirty="0">
                <a:solidFill>
                  <a:srgbClr val="1E2761"/>
                </a:solidFill>
                <a:latin typeface="+mn-ea"/>
                <a:ea typeface="+mn-ea"/>
                <a:cs typeface="Calibri" pitchFamily="34" charset="-120"/>
              </a:rPr>
              <a:t>PCE：出力を直交多項式で近似</a:t>
            </a:r>
            <a:endParaRPr lang="en-US" sz="1491" dirty="0">
              <a:latin typeface="+mn-ea"/>
              <a:ea typeface="+mn-ea"/>
            </a:endParaRPr>
          </a:p>
        </p:txBody>
      </p:sp>
      <p:sp>
        <p:nvSpPr>
          <p:cNvPr id="5" name="Shape 3"/>
          <p:cNvSpPr/>
          <p:nvPr/>
        </p:nvSpPr>
        <p:spPr>
          <a:xfrm>
            <a:off x="401003" y="2312962"/>
            <a:ext cx="4812030" cy="922306"/>
          </a:xfrm>
          <a:prstGeom prst="roundRect">
            <a:avLst>
              <a:gd name="adj" fmla="val 6957"/>
            </a:avLst>
          </a:prstGeom>
          <a:solidFill>
            <a:srgbClr val="1E2761"/>
          </a:solidFill>
          <a:ln/>
        </p:spPr>
        <p:txBody>
          <a:bodyPr/>
          <a:lstStyle/>
          <a:p>
            <a:endParaRPr lang="ja-JP" altLang="en-US" sz="1228">
              <a:latin typeface="+mn-ea"/>
              <a:ea typeface="+mn-ea"/>
            </a:endParaRPr>
          </a:p>
        </p:txBody>
      </p:sp>
      <p:sp>
        <p:nvSpPr>
          <p:cNvPr id="6" name="Text 4"/>
          <p:cNvSpPr txBox="1"/>
          <p:nvPr/>
        </p:nvSpPr>
        <p:spPr>
          <a:xfrm>
            <a:off x="601504" y="2312962"/>
            <a:ext cx="4411028" cy="922306"/>
          </a:xfrm>
          <a:prstGeom prst="rect">
            <a:avLst/>
          </a:prstGeom>
          <a:noFill/>
          <a:ln/>
        </p:spPr>
        <p:txBody>
          <a:bodyPr wrap="square" lIns="0" tIns="0" rIns="0" bIns="0" rtlCol="0" anchor="ctr"/>
          <a:lstStyle/>
          <a:p>
            <a:pPr>
              <a:lnSpc>
                <a:spcPct val="140000"/>
              </a:lnSpc>
            </a:pPr>
            <a:r>
              <a:rPr lang="en-US" sz="1754" b="1" dirty="0">
                <a:solidFill>
                  <a:srgbClr val="FFFFFF"/>
                </a:solidFill>
                <a:latin typeface="+mn-ea"/>
                <a:ea typeface="+mn-ea"/>
                <a:cs typeface="Cambria" pitchFamily="34" charset="-120"/>
              </a:rPr>
              <a:t>Y(x) ≈ Σ</a:t>
            </a:r>
            <a:r>
              <a:rPr lang="en-US" sz="1053" b="1" baseline="-40000" dirty="0">
                <a:solidFill>
                  <a:srgbClr val="FFFFFF"/>
                </a:solidFill>
                <a:latin typeface="+mn-ea"/>
                <a:ea typeface="+mn-ea"/>
                <a:cs typeface="Cambria" pitchFamily="34" charset="-120"/>
              </a:rPr>
              <a:t>α</a:t>
            </a:r>
            <a:r>
              <a:rPr lang="en-US" sz="1754" b="1" dirty="0">
                <a:solidFill>
                  <a:srgbClr val="FFFFFF"/>
                </a:solidFill>
                <a:latin typeface="+mn-ea"/>
                <a:ea typeface="+mn-ea"/>
                <a:cs typeface="Cambria" pitchFamily="34" charset="-120"/>
              </a:rPr>
              <a:t> cα Ψα(x)</a:t>
            </a:r>
            <a:endParaRPr lang="en-US" sz="1754" dirty="0">
              <a:latin typeface="+mn-ea"/>
              <a:ea typeface="+mn-ea"/>
            </a:endParaRPr>
          </a:p>
          <a:p>
            <a:pPr>
              <a:lnSpc>
                <a:spcPct val="140000"/>
              </a:lnSpc>
            </a:pPr>
            <a:r>
              <a:rPr lang="en-US" sz="965" dirty="0">
                <a:solidFill>
                  <a:srgbClr val="CADCFC"/>
                </a:solidFill>
                <a:latin typeface="+mn-ea"/>
                <a:ea typeface="+mn-ea"/>
                <a:cs typeface="Cambria" pitchFamily="34" charset="-120"/>
              </a:rPr>
              <a:t>cα：展開係数（LP求解結果から回帰で推定）　　Ψα：直交多項式基底（一様分布→ルジャンドル多項式）</a:t>
            </a:r>
            <a:endParaRPr lang="en-US" sz="1754" dirty="0">
              <a:latin typeface="+mn-ea"/>
              <a:ea typeface="+mn-ea"/>
            </a:endParaRPr>
          </a:p>
        </p:txBody>
      </p:sp>
      <p:sp>
        <p:nvSpPr>
          <p:cNvPr id="7" name="Text 5"/>
          <p:cNvSpPr txBox="1"/>
          <p:nvPr/>
        </p:nvSpPr>
        <p:spPr>
          <a:xfrm>
            <a:off x="401003" y="3339528"/>
            <a:ext cx="4812030" cy="401003"/>
          </a:xfrm>
          <a:prstGeom prst="rect">
            <a:avLst/>
          </a:prstGeom>
          <a:noFill/>
          <a:ln/>
        </p:spPr>
        <p:txBody>
          <a:bodyPr wrap="square" lIns="0" tIns="0" rIns="0" bIns="0" rtlCol="0" anchor="ctr"/>
          <a:lstStyle/>
          <a:p>
            <a:r>
              <a:rPr lang="en-US" sz="1053" dirty="0">
                <a:solidFill>
                  <a:srgbClr val="1B1B2A"/>
                </a:solidFill>
                <a:latin typeface="+mn-ea"/>
                <a:ea typeface="+mn-ea"/>
                <a:cs typeface="Calibri" pitchFamily="34" charset="-120"/>
              </a:rPr>
              <a:t>係数 cα </a:t>
            </a:r>
            <a:r>
              <a:rPr lang="en-US" sz="1053" dirty="0" err="1">
                <a:solidFill>
                  <a:srgbClr val="1B1B2A"/>
                </a:solidFill>
                <a:latin typeface="+mn-ea"/>
                <a:ea typeface="+mn-ea"/>
                <a:cs typeface="Calibri" pitchFamily="34" charset="-120"/>
              </a:rPr>
              <a:t>さえ求まれば、Sobol指数は追加のサンプリングなしに係数から解析的に計算できる</a:t>
            </a:r>
            <a:r>
              <a:rPr lang="en-US" sz="1053" dirty="0">
                <a:solidFill>
                  <a:srgbClr val="1B1B2A"/>
                </a:solidFill>
                <a:latin typeface="+mn-ea"/>
                <a:ea typeface="+mn-ea"/>
                <a:cs typeface="Calibri" pitchFamily="34" charset="-120"/>
              </a:rPr>
              <a:t>。</a:t>
            </a:r>
            <a:endParaRPr lang="en-US" sz="1053" dirty="0">
              <a:latin typeface="+mn-ea"/>
              <a:ea typeface="+mn-ea"/>
            </a:endParaRPr>
          </a:p>
        </p:txBody>
      </p:sp>
      <p:sp>
        <p:nvSpPr>
          <p:cNvPr id="8" name="Text 6"/>
          <p:cNvSpPr txBox="1"/>
          <p:nvPr/>
        </p:nvSpPr>
        <p:spPr>
          <a:xfrm>
            <a:off x="401002" y="3860831"/>
            <a:ext cx="4892231" cy="288722"/>
          </a:xfrm>
          <a:prstGeom prst="rect">
            <a:avLst/>
          </a:prstGeom>
          <a:noFill/>
          <a:ln/>
        </p:spPr>
        <p:txBody>
          <a:bodyPr wrap="square" lIns="0" tIns="0" rIns="0" bIns="0" rtlCol="0" anchor="ctr"/>
          <a:lstStyle/>
          <a:p>
            <a:r>
              <a:rPr lang="en-US" sz="1316" b="1" dirty="0">
                <a:solidFill>
                  <a:srgbClr val="1E2761"/>
                </a:solidFill>
                <a:latin typeface="+mn-ea"/>
                <a:ea typeface="+mn-ea"/>
                <a:cs typeface="Calibri" pitchFamily="34" charset="-120"/>
              </a:rPr>
              <a:t>なぜスパース化（LAR）が必要か</a:t>
            </a:r>
            <a:endParaRPr lang="en-US" sz="1316" dirty="0">
              <a:latin typeface="+mn-ea"/>
              <a:ea typeface="+mn-ea"/>
            </a:endParaRPr>
          </a:p>
        </p:txBody>
      </p:sp>
      <p:sp>
        <p:nvSpPr>
          <p:cNvPr id="9" name="Text 7"/>
          <p:cNvSpPr txBox="1"/>
          <p:nvPr/>
        </p:nvSpPr>
        <p:spPr>
          <a:xfrm>
            <a:off x="401003" y="4157573"/>
            <a:ext cx="4812030" cy="256642"/>
          </a:xfrm>
          <a:prstGeom prst="rect">
            <a:avLst/>
          </a:prstGeom>
          <a:noFill/>
          <a:ln/>
        </p:spPr>
        <p:txBody>
          <a:bodyPr wrap="square" lIns="0" tIns="0" rIns="0" bIns="0" rtlCol="0" anchor="ctr"/>
          <a:lstStyle/>
          <a:p>
            <a:r>
              <a:rPr lang="en-US" sz="1009" dirty="0">
                <a:solidFill>
                  <a:srgbClr val="5B5F76"/>
                </a:solidFill>
                <a:latin typeface="+mn-ea"/>
                <a:ea typeface="+mn-ea"/>
                <a:cs typeface="Calibri" pitchFamily="34" charset="-120"/>
              </a:rPr>
              <a:t>基底数（3次PCE）＝ (k+3)!/(k!・3!) — パラメータ数kとともに組合せ的に爆発</a:t>
            </a:r>
            <a:endParaRPr lang="en-US" sz="1009" dirty="0">
              <a:latin typeface="+mn-ea"/>
              <a:ea typeface="+mn-ea"/>
            </a:endParaRPr>
          </a:p>
        </p:txBody>
      </p:sp>
      <p:sp>
        <p:nvSpPr>
          <p:cNvPr id="10" name="Shape 8"/>
          <p:cNvSpPr/>
          <p:nvPr/>
        </p:nvSpPr>
        <p:spPr>
          <a:xfrm>
            <a:off x="1002506" y="5447150"/>
            <a:ext cx="802005" cy="57792"/>
          </a:xfrm>
          <a:prstGeom prst="roundRect">
            <a:avLst>
              <a:gd name="adj" fmla="val 41632"/>
            </a:avLst>
          </a:prstGeom>
          <a:solidFill>
            <a:srgbClr val="CADCFC"/>
          </a:solidFill>
          <a:ln/>
        </p:spPr>
        <p:txBody>
          <a:bodyPr/>
          <a:lstStyle/>
          <a:p>
            <a:endParaRPr lang="ja-JP" altLang="en-US" sz="1228">
              <a:latin typeface="+mn-ea"/>
              <a:ea typeface="+mn-ea"/>
            </a:endParaRPr>
          </a:p>
        </p:txBody>
      </p:sp>
      <p:sp>
        <p:nvSpPr>
          <p:cNvPr id="11" name="Text 9"/>
          <p:cNvSpPr txBox="1"/>
          <p:nvPr/>
        </p:nvSpPr>
        <p:spPr>
          <a:xfrm>
            <a:off x="1002506" y="5190508"/>
            <a:ext cx="802005" cy="240602"/>
          </a:xfrm>
          <a:prstGeom prst="rect">
            <a:avLst/>
          </a:prstGeom>
          <a:noFill/>
          <a:ln/>
        </p:spPr>
        <p:txBody>
          <a:bodyPr wrap="square" lIns="0" tIns="0" rIns="0" bIns="0" rtlCol="0" anchor="ctr"/>
          <a:lstStyle/>
          <a:p>
            <a:pPr algn="ctr"/>
            <a:r>
              <a:rPr lang="en-US" sz="1053" b="1" dirty="0">
                <a:solidFill>
                  <a:srgbClr val="1B1B2A"/>
                </a:solidFill>
                <a:latin typeface="+mn-ea"/>
                <a:ea typeface="+mn-ea"/>
                <a:cs typeface="Calibri" pitchFamily="34" charset="-120"/>
              </a:rPr>
              <a:t>56</a:t>
            </a:r>
            <a:endParaRPr lang="en-US" sz="1053" dirty="0">
              <a:latin typeface="+mn-ea"/>
              <a:ea typeface="+mn-ea"/>
            </a:endParaRPr>
          </a:p>
        </p:txBody>
      </p:sp>
      <p:sp>
        <p:nvSpPr>
          <p:cNvPr id="12" name="Text 10"/>
          <p:cNvSpPr txBox="1"/>
          <p:nvPr/>
        </p:nvSpPr>
        <p:spPr>
          <a:xfrm>
            <a:off x="1002506" y="5520982"/>
            <a:ext cx="802005" cy="240602"/>
          </a:xfrm>
          <a:prstGeom prst="rect">
            <a:avLst/>
          </a:prstGeom>
          <a:noFill/>
          <a:ln/>
        </p:spPr>
        <p:txBody>
          <a:bodyPr wrap="square" lIns="0" tIns="0" rIns="0" bIns="0" rtlCol="0" anchor="ctr"/>
          <a:lstStyle/>
          <a:p>
            <a:pPr algn="ctr"/>
            <a:r>
              <a:rPr lang="en-US" sz="965" dirty="0">
                <a:solidFill>
                  <a:srgbClr val="5B5F76"/>
                </a:solidFill>
                <a:latin typeface="+mn-ea"/>
                <a:ea typeface="+mn-ea"/>
                <a:cs typeface="Calibri" pitchFamily="34" charset="-120"/>
              </a:rPr>
              <a:t>k=5</a:t>
            </a:r>
            <a:endParaRPr lang="en-US" sz="965" dirty="0">
              <a:latin typeface="+mn-ea"/>
              <a:ea typeface="+mn-ea"/>
            </a:endParaRPr>
          </a:p>
        </p:txBody>
      </p:sp>
      <p:sp>
        <p:nvSpPr>
          <p:cNvPr id="13" name="Shape 11"/>
          <p:cNvSpPr/>
          <p:nvPr/>
        </p:nvSpPr>
        <p:spPr>
          <a:xfrm>
            <a:off x="2406015" y="5209792"/>
            <a:ext cx="802005" cy="295150"/>
          </a:xfrm>
          <a:prstGeom prst="roundRect">
            <a:avLst>
              <a:gd name="adj" fmla="val 8152"/>
            </a:avLst>
          </a:prstGeom>
          <a:solidFill>
            <a:srgbClr val="7C93D9"/>
          </a:solidFill>
          <a:ln/>
        </p:spPr>
        <p:txBody>
          <a:bodyPr/>
          <a:lstStyle/>
          <a:p>
            <a:endParaRPr lang="ja-JP" altLang="en-US" sz="1228">
              <a:latin typeface="+mn-ea"/>
              <a:ea typeface="+mn-ea"/>
            </a:endParaRPr>
          </a:p>
        </p:txBody>
      </p:sp>
      <p:sp>
        <p:nvSpPr>
          <p:cNvPr id="14" name="Text 12"/>
          <p:cNvSpPr txBox="1"/>
          <p:nvPr/>
        </p:nvSpPr>
        <p:spPr>
          <a:xfrm>
            <a:off x="2406015" y="4953150"/>
            <a:ext cx="802005" cy="240602"/>
          </a:xfrm>
          <a:prstGeom prst="rect">
            <a:avLst/>
          </a:prstGeom>
          <a:noFill/>
          <a:ln/>
        </p:spPr>
        <p:txBody>
          <a:bodyPr wrap="square" lIns="0" tIns="0" rIns="0" bIns="0" rtlCol="0" anchor="ctr"/>
          <a:lstStyle/>
          <a:p>
            <a:pPr algn="ctr"/>
            <a:r>
              <a:rPr lang="en-US" sz="1053" b="1" dirty="0">
                <a:solidFill>
                  <a:srgbClr val="1B1B2A"/>
                </a:solidFill>
                <a:latin typeface="+mn-ea"/>
                <a:ea typeface="+mn-ea"/>
                <a:cs typeface="Calibri" pitchFamily="34" charset="-120"/>
              </a:rPr>
              <a:t>286</a:t>
            </a:r>
            <a:endParaRPr lang="en-US" sz="1053" dirty="0">
              <a:latin typeface="+mn-ea"/>
              <a:ea typeface="+mn-ea"/>
            </a:endParaRPr>
          </a:p>
        </p:txBody>
      </p:sp>
      <p:sp>
        <p:nvSpPr>
          <p:cNvPr id="15" name="Text 13"/>
          <p:cNvSpPr txBox="1"/>
          <p:nvPr/>
        </p:nvSpPr>
        <p:spPr>
          <a:xfrm>
            <a:off x="2406015" y="5520982"/>
            <a:ext cx="802005" cy="240602"/>
          </a:xfrm>
          <a:prstGeom prst="rect">
            <a:avLst/>
          </a:prstGeom>
          <a:noFill/>
          <a:ln/>
        </p:spPr>
        <p:txBody>
          <a:bodyPr wrap="square" lIns="0" tIns="0" rIns="0" bIns="0" rtlCol="0" anchor="ctr"/>
          <a:lstStyle/>
          <a:p>
            <a:pPr algn="ctr"/>
            <a:r>
              <a:rPr lang="en-US" sz="965" dirty="0">
                <a:solidFill>
                  <a:srgbClr val="5B5F76"/>
                </a:solidFill>
                <a:latin typeface="+mn-ea"/>
                <a:ea typeface="+mn-ea"/>
                <a:cs typeface="Calibri" pitchFamily="34" charset="-120"/>
              </a:rPr>
              <a:t>k=10</a:t>
            </a:r>
            <a:endParaRPr lang="en-US" sz="965" dirty="0">
              <a:latin typeface="+mn-ea"/>
              <a:ea typeface="+mn-ea"/>
            </a:endParaRPr>
          </a:p>
        </p:txBody>
      </p:sp>
      <p:sp>
        <p:nvSpPr>
          <p:cNvPr id="16" name="Shape 14"/>
          <p:cNvSpPr/>
          <p:nvPr/>
        </p:nvSpPr>
        <p:spPr>
          <a:xfrm>
            <a:off x="3809524" y="4662837"/>
            <a:ext cx="802005" cy="842105"/>
          </a:xfrm>
          <a:prstGeom prst="roundRect">
            <a:avLst>
              <a:gd name="adj" fmla="val 3000"/>
            </a:avLst>
          </a:prstGeom>
          <a:solidFill>
            <a:srgbClr val="1E2761"/>
          </a:solidFill>
          <a:ln/>
        </p:spPr>
        <p:txBody>
          <a:bodyPr/>
          <a:lstStyle/>
          <a:p>
            <a:endParaRPr lang="ja-JP" altLang="en-US" sz="1228">
              <a:latin typeface="+mn-ea"/>
              <a:ea typeface="+mn-ea"/>
            </a:endParaRPr>
          </a:p>
        </p:txBody>
      </p:sp>
      <p:sp>
        <p:nvSpPr>
          <p:cNvPr id="17" name="Text 15"/>
          <p:cNvSpPr txBox="1"/>
          <p:nvPr/>
        </p:nvSpPr>
        <p:spPr>
          <a:xfrm>
            <a:off x="3809524" y="4406195"/>
            <a:ext cx="802005" cy="240602"/>
          </a:xfrm>
          <a:prstGeom prst="rect">
            <a:avLst/>
          </a:prstGeom>
          <a:noFill/>
          <a:ln/>
        </p:spPr>
        <p:txBody>
          <a:bodyPr wrap="square" lIns="0" tIns="0" rIns="0" bIns="0" rtlCol="0" anchor="ctr"/>
          <a:lstStyle/>
          <a:p>
            <a:pPr algn="ctr"/>
            <a:r>
              <a:rPr lang="en-US" sz="1053" b="1" dirty="0">
                <a:solidFill>
                  <a:srgbClr val="1B1B2A"/>
                </a:solidFill>
                <a:latin typeface="+mn-ea"/>
                <a:ea typeface="+mn-ea"/>
                <a:cs typeface="Calibri" pitchFamily="34" charset="-120"/>
              </a:rPr>
              <a:t>816</a:t>
            </a:r>
            <a:endParaRPr lang="en-US" sz="1053" dirty="0">
              <a:latin typeface="+mn-ea"/>
              <a:ea typeface="+mn-ea"/>
            </a:endParaRPr>
          </a:p>
        </p:txBody>
      </p:sp>
      <p:sp>
        <p:nvSpPr>
          <p:cNvPr id="18" name="Text 16"/>
          <p:cNvSpPr txBox="1"/>
          <p:nvPr/>
        </p:nvSpPr>
        <p:spPr>
          <a:xfrm>
            <a:off x="3809524" y="5520982"/>
            <a:ext cx="802005" cy="240602"/>
          </a:xfrm>
          <a:prstGeom prst="rect">
            <a:avLst/>
          </a:prstGeom>
          <a:noFill/>
          <a:ln/>
        </p:spPr>
        <p:txBody>
          <a:bodyPr wrap="square" lIns="0" tIns="0" rIns="0" bIns="0" rtlCol="0" anchor="ctr"/>
          <a:lstStyle/>
          <a:p>
            <a:pPr algn="ctr"/>
            <a:r>
              <a:rPr lang="en-US" sz="965" dirty="0">
                <a:solidFill>
                  <a:srgbClr val="5B5F76"/>
                </a:solidFill>
                <a:latin typeface="+mn-ea"/>
                <a:ea typeface="+mn-ea"/>
                <a:cs typeface="Calibri" pitchFamily="34" charset="-120"/>
              </a:rPr>
              <a:t>k=15</a:t>
            </a:r>
            <a:endParaRPr lang="en-US" sz="965" dirty="0">
              <a:latin typeface="+mn-ea"/>
              <a:ea typeface="+mn-ea"/>
            </a:endParaRPr>
          </a:p>
        </p:txBody>
      </p:sp>
      <p:sp>
        <p:nvSpPr>
          <p:cNvPr id="19" name="Text 17"/>
          <p:cNvSpPr txBox="1"/>
          <p:nvPr/>
        </p:nvSpPr>
        <p:spPr>
          <a:xfrm>
            <a:off x="401003" y="5793663"/>
            <a:ext cx="4812030" cy="240602"/>
          </a:xfrm>
          <a:prstGeom prst="rect">
            <a:avLst/>
          </a:prstGeom>
          <a:noFill/>
          <a:ln/>
        </p:spPr>
        <p:txBody>
          <a:bodyPr wrap="square" lIns="0" tIns="0" rIns="0" bIns="0" rtlCol="0" anchor="ctr"/>
          <a:lstStyle/>
          <a:p>
            <a:pPr algn="ctr"/>
            <a:r>
              <a:rPr lang="en-US" sz="877" i="1" dirty="0">
                <a:solidFill>
                  <a:srgbClr val="5B5F76"/>
                </a:solidFill>
                <a:latin typeface="+mn-ea"/>
                <a:ea typeface="+mn-ea"/>
                <a:cs typeface="Calibri" pitchFamily="34" charset="-120"/>
              </a:rPr>
              <a:t>基底関数の数（本研究の想定 k≈10 → 286項）</a:t>
            </a:r>
            <a:endParaRPr lang="en-US" sz="877" dirty="0">
              <a:latin typeface="+mn-ea"/>
              <a:ea typeface="+mn-ea"/>
            </a:endParaRPr>
          </a:p>
        </p:txBody>
      </p:sp>
      <p:sp>
        <p:nvSpPr>
          <p:cNvPr id="20" name="Text 18"/>
          <p:cNvSpPr txBox="1"/>
          <p:nvPr/>
        </p:nvSpPr>
        <p:spPr>
          <a:xfrm>
            <a:off x="5573935" y="1976120"/>
            <a:ext cx="4731830" cy="288722"/>
          </a:xfrm>
          <a:prstGeom prst="rect">
            <a:avLst/>
          </a:prstGeom>
          <a:noFill/>
          <a:ln/>
        </p:spPr>
        <p:txBody>
          <a:bodyPr wrap="square" lIns="0" tIns="0" rIns="0" bIns="0" rtlCol="0" anchor="ctr"/>
          <a:lstStyle/>
          <a:p>
            <a:r>
              <a:rPr lang="en-US" sz="1491" b="1" dirty="0">
                <a:solidFill>
                  <a:srgbClr val="1E2761"/>
                </a:solidFill>
                <a:latin typeface="+mn-ea"/>
                <a:ea typeface="+mn-ea"/>
                <a:cs typeface="Calibri" pitchFamily="34" charset="-120"/>
              </a:rPr>
              <a:t>解析ワークフロー</a:t>
            </a:r>
            <a:endParaRPr lang="en-US" sz="1491" dirty="0">
              <a:latin typeface="+mn-ea"/>
              <a:ea typeface="+mn-ea"/>
            </a:endParaRPr>
          </a:p>
        </p:txBody>
      </p:sp>
      <p:sp>
        <p:nvSpPr>
          <p:cNvPr id="21" name="Shape 19"/>
          <p:cNvSpPr/>
          <p:nvPr/>
        </p:nvSpPr>
        <p:spPr>
          <a:xfrm>
            <a:off x="5573935" y="2337022"/>
            <a:ext cx="240602" cy="240602"/>
          </a:xfrm>
          <a:prstGeom prst="ellipse">
            <a:avLst/>
          </a:prstGeom>
          <a:solidFill>
            <a:srgbClr val="1E2761"/>
          </a:solidFill>
          <a:ln/>
        </p:spPr>
        <p:txBody>
          <a:bodyPr/>
          <a:lstStyle/>
          <a:p>
            <a:endParaRPr lang="ja-JP" altLang="en-US" sz="1228">
              <a:latin typeface="+mn-ea"/>
              <a:ea typeface="+mn-ea"/>
            </a:endParaRPr>
          </a:p>
        </p:txBody>
      </p:sp>
      <p:sp>
        <p:nvSpPr>
          <p:cNvPr id="22" name="Text 20"/>
          <p:cNvSpPr txBox="1"/>
          <p:nvPr/>
        </p:nvSpPr>
        <p:spPr>
          <a:xfrm>
            <a:off x="5573935" y="2337022"/>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1</a:t>
            </a:r>
            <a:endParaRPr lang="en-US" sz="1053" dirty="0">
              <a:latin typeface="+mn-ea"/>
              <a:ea typeface="+mn-ea"/>
            </a:endParaRPr>
          </a:p>
        </p:txBody>
      </p:sp>
      <p:sp>
        <p:nvSpPr>
          <p:cNvPr id="23" name="Text 21"/>
          <p:cNvSpPr txBox="1"/>
          <p:nvPr/>
        </p:nvSpPr>
        <p:spPr>
          <a:xfrm>
            <a:off x="5934837" y="2296922"/>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LHSサンプリングで入力点を生成（300〜600点）</a:t>
            </a:r>
            <a:endParaRPr lang="en-US" sz="1009" dirty="0">
              <a:latin typeface="+mn-ea"/>
              <a:ea typeface="+mn-ea"/>
            </a:endParaRPr>
          </a:p>
        </p:txBody>
      </p:sp>
      <p:sp>
        <p:nvSpPr>
          <p:cNvPr id="24" name="Shape 22"/>
          <p:cNvSpPr/>
          <p:nvPr/>
        </p:nvSpPr>
        <p:spPr>
          <a:xfrm>
            <a:off x="5573935" y="2786145"/>
            <a:ext cx="240602" cy="240602"/>
          </a:xfrm>
          <a:prstGeom prst="ellipse">
            <a:avLst/>
          </a:prstGeom>
          <a:solidFill>
            <a:srgbClr val="1E2761"/>
          </a:solidFill>
          <a:ln/>
        </p:spPr>
        <p:txBody>
          <a:bodyPr/>
          <a:lstStyle/>
          <a:p>
            <a:endParaRPr lang="ja-JP" altLang="en-US" sz="1228">
              <a:latin typeface="+mn-ea"/>
              <a:ea typeface="+mn-ea"/>
            </a:endParaRPr>
          </a:p>
        </p:txBody>
      </p:sp>
      <p:sp>
        <p:nvSpPr>
          <p:cNvPr id="25" name="Text 23"/>
          <p:cNvSpPr txBox="1"/>
          <p:nvPr/>
        </p:nvSpPr>
        <p:spPr>
          <a:xfrm>
            <a:off x="5573935" y="2786145"/>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2</a:t>
            </a:r>
            <a:endParaRPr lang="en-US" sz="1053" dirty="0">
              <a:latin typeface="+mn-ea"/>
              <a:ea typeface="+mn-ea"/>
            </a:endParaRPr>
          </a:p>
        </p:txBody>
      </p:sp>
      <p:sp>
        <p:nvSpPr>
          <p:cNvPr id="26" name="Text 24"/>
          <p:cNvSpPr txBox="1"/>
          <p:nvPr/>
        </p:nvSpPr>
        <p:spPr>
          <a:xfrm>
            <a:off x="5934837" y="2746044"/>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各点でLP求解（V1G／V0Gを共通乱数でペア実行）</a:t>
            </a:r>
            <a:endParaRPr lang="en-US" sz="1009" dirty="0">
              <a:latin typeface="+mn-ea"/>
              <a:ea typeface="+mn-ea"/>
            </a:endParaRPr>
          </a:p>
        </p:txBody>
      </p:sp>
      <p:sp>
        <p:nvSpPr>
          <p:cNvPr id="27" name="Shape 25"/>
          <p:cNvSpPr/>
          <p:nvPr/>
        </p:nvSpPr>
        <p:spPr>
          <a:xfrm>
            <a:off x="5573935" y="3235267"/>
            <a:ext cx="240602" cy="240602"/>
          </a:xfrm>
          <a:prstGeom prst="ellipse">
            <a:avLst/>
          </a:prstGeom>
          <a:solidFill>
            <a:srgbClr val="1E2761"/>
          </a:solidFill>
          <a:ln/>
        </p:spPr>
        <p:txBody>
          <a:bodyPr/>
          <a:lstStyle/>
          <a:p>
            <a:endParaRPr lang="ja-JP" altLang="en-US" sz="1228">
              <a:latin typeface="+mn-ea"/>
              <a:ea typeface="+mn-ea"/>
            </a:endParaRPr>
          </a:p>
        </p:txBody>
      </p:sp>
      <p:sp>
        <p:nvSpPr>
          <p:cNvPr id="28" name="Text 26"/>
          <p:cNvSpPr txBox="1"/>
          <p:nvPr/>
        </p:nvSpPr>
        <p:spPr>
          <a:xfrm>
            <a:off x="5573935" y="3235267"/>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3</a:t>
            </a:r>
            <a:endParaRPr lang="en-US" sz="1053" dirty="0">
              <a:latin typeface="+mn-ea"/>
              <a:ea typeface="+mn-ea"/>
            </a:endParaRPr>
          </a:p>
        </p:txBody>
      </p:sp>
      <p:sp>
        <p:nvSpPr>
          <p:cNvPr id="29" name="Text 27"/>
          <p:cNvSpPr txBox="1"/>
          <p:nvPr/>
        </p:nvSpPr>
        <p:spPr>
          <a:xfrm>
            <a:off x="5934837" y="3195167"/>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LARで出力の分散に効く基底項だけを逐次選択（スパース回帰）</a:t>
            </a:r>
            <a:endParaRPr lang="en-US" sz="1009" dirty="0">
              <a:latin typeface="+mn-ea"/>
              <a:ea typeface="+mn-ea"/>
            </a:endParaRPr>
          </a:p>
        </p:txBody>
      </p:sp>
      <p:sp>
        <p:nvSpPr>
          <p:cNvPr id="30" name="Shape 28"/>
          <p:cNvSpPr/>
          <p:nvPr/>
        </p:nvSpPr>
        <p:spPr>
          <a:xfrm>
            <a:off x="5573935" y="3684390"/>
            <a:ext cx="240602" cy="240602"/>
          </a:xfrm>
          <a:prstGeom prst="ellipse">
            <a:avLst/>
          </a:prstGeom>
          <a:solidFill>
            <a:srgbClr val="1E2761"/>
          </a:solidFill>
          <a:ln/>
        </p:spPr>
        <p:txBody>
          <a:bodyPr/>
          <a:lstStyle/>
          <a:p>
            <a:endParaRPr lang="ja-JP" altLang="en-US" sz="1228">
              <a:latin typeface="+mn-ea"/>
              <a:ea typeface="+mn-ea"/>
            </a:endParaRPr>
          </a:p>
        </p:txBody>
      </p:sp>
      <p:sp>
        <p:nvSpPr>
          <p:cNvPr id="31" name="Text 29"/>
          <p:cNvSpPr txBox="1"/>
          <p:nvPr/>
        </p:nvSpPr>
        <p:spPr>
          <a:xfrm>
            <a:off x="5573935" y="3684390"/>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4</a:t>
            </a:r>
            <a:endParaRPr lang="en-US" sz="1053" dirty="0">
              <a:latin typeface="+mn-ea"/>
              <a:ea typeface="+mn-ea"/>
            </a:endParaRPr>
          </a:p>
        </p:txBody>
      </p:sp>
      <p:sp>
        <p:nvSpPr>
          <p:cNvPr id="32" name="Text 30"/>
          <p:cNvSpPr txBox="1"/>
          <p:nvPr/>
        </p:nvSpPr>
        <p:spPr>
          <a:xfrm>
            <a:off x="5934837" y="3644290"/>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選ばれた係数 cα からSobol指数 Sᵢ・STᵢ を解析的に算出</a:t>
            </a:r>
            <a:endParaRPr lang="en-US" sz="1009" dirty="0">
              <a:latin typeface="+mn-ea"/>
              <a:ea typeface="+mn-ea"/>
            </a:endParaRPr>
          </a:p>
        </p:txBody>
      </p:sp>
      <p:sp>
        <p:nvSpPr>
          <p:cNvPr id="33" name="Shape 31"/>
          <p:cNvSpPr/>
          <p:nvPr/>
        </p:nvSpPr>
        <p:spPr>
          <a:xfrm>
            <a:off x="5573935" y="4133513"/>
            <a:ext cx="240602" cy="240602"/>
          </a:xfrm>
          <a:prstGeom prst="ellipse">
            <a:avLst/>
          </a:prstGeom>
          <a:solidFill>
            <a:srgbClr val="F9A61A"/>
          </a:solidFill>
          <a:ln/>
        </p:spPr>
        <p:txBody>
          <a:bodyPr/>
          <a:lstStyle/>
          <a:p>
            <a:endParaRPr lang="ja-JP" altLang="en-US" sz="1228">
              <a:latin typeface="+mn-ea"/>
              <a:ea typeface="+mn-ea"/>
            </a:endParaRPr>
          </a:p>
        </p:txBody>
      </p:sp>
      <p:sp>
        <p:nvSpPr>
          <p:cNvPr id="34" name="Text 32"/>
          <p:cNvSpPr txBox="1"/>
          <p:nvPr/>
        </p:nvSpPr>
        <p:spPr>
          <a:xfrm>
            <a:off x="5573935" y="4133513"/>
            <a:ext cx="240602" cy="240602"/>
          </a:xfrm>
          <a:prstGeom prst="rect">
            <a:avLst/>
          </a:prstGeom>
          <a:noFill/>
          <a:ln/>
        </p:spPr>
        <p:txBody>
          <a:bodyPr wrap="square" lIns="0" tIns="0" rIns="0" bIns="0" rtlCol="0" anchor="ctr"/>
          <a:lstStyle/>
          <a:p>
            <a:pPr algn="ctr"/>
            <a:r>
              <a:rPr lang="en-US" sz="1053" b="1" dirty="0">
                <a:solidFill>
                  <a:srgbClr val="FFFFFF"/>
                </a:solidFill>
                <a:latin typeface="+mn-ea"/>
                <a:ea typeface="+mn-ea"/>
                <a:cs typeface="Calibri" pitchFamily="34" charset="-120"/>
              </a:rPr>
              <a:t>5</a:t>
            </a:r>
            <a:endParaRPr lang="en-US" sz="1053" dirty="0">
              <a:latin typeface="+mn-ea"/>
              <a:ea typeface="+mn-ea"/>
            </a:endParaRPr>
          </a:p>
        </p:txBody>
      </p:sp>
      <p:sp>
        <p:nvSpPr>
          <p:cNvPr id="35" name="Text 33"/>
          <p:cNvSpPr txBox="1"/>
          <p:nvPr/>
        </p:nvSpPr>
        <p:spPr>
          <a:xfrm>
            <a:off x="5934837" y="4093413"/>
            <a:ext cx="4370927" cy="401003"/>
          </a:xfrm>
          <a:prstGeom prst="rect">
            <a:avLst/>
          </a:prstGeom>
          <a:noFill/>
          <a:ln/>
        </p:spPr>
        <p:txBody>
          <a:bodyPr wrap="square" lIns="0" tIns="0" rIns="0" bIns="0" rtlCol="0" anchor="ctr"/>
          <a:lstStyle/>
          <a:p>
            <a:r>
              <a:rPr lang="en-US" sz="1009" dirty="0">
                <a:solidFill>
                  <a:srgbClr val="1B1B2A"/>
                </a:solidFill>
                <a:latin typeface="+mn-ea"/>
                <a:ea typeface="+mn-ea"/>
                <a:cs typeface="Calibri" pitchFamily="34" charset="-120"/>
              </a:rPr>
              <a:t>2次交差項の係数の符号から代替／補完関係を判定</a:t>
            </a:r>
            <a:endParaRPr lang="en-US" sz="1009" dirty="0">
              <a:latin typeface="+mn-ea"/>
              <a:ea typeface="+mn-ea"/>
            </a:endParaRPr>
          </a:p>
        </p:txBody>
      </p:sp>
      <p:sp>
        <p:nvSpPr>
          <p:cNvPr id="36" name="Shape 34"/>
          <p:cNvSpPr/>
          <p:nvPr/>
        </p:nvSpPr>
        <p:spPr>
          <a:xfrm>
            <a:off x="5573935" y="4606696"/>
            <a:ext cx="4731830" cy="842105"/>
          </a:xfrm>
          <a:prstGeom prst="roundRect">
            <a:avLst>
              <a:gd name="adj" fmla="val 7619"/>
            </a:avLst>
          </a:prstGeom>
          <a:solidFill>
            <a:srgbClr val="F4F6FB"/>
          </a:solidFill>
          <a:ln w="12700">
            <a:solidFill>
              <a:srgbClr val="E2E6F2"/>
            </a:solidFill>
            <a:prstDash val="solid"/>
          </a:ln>
        </p:spPr>
        <p:txBody>
          <a:bodyPr/>
          <a:lstStyle/>
          <a:p>
            <a:endParaRPr lang="ja-JP" altLang="en-US" sz="1228">
              <a:latin typeface="+mn-ea"/>
              <a:ea typeface="+mn-ea"/>
            </a:endParaRPr>
          </a:p>
        </p:txBody>
      </p:sp>
      <p:sp>
        <p:nvSpPr>
          <p:cNvPr id="37" name="Text 35"/>
          <p:cNvSpPr txBox="1"/>
          <p:nvPr/>
        </p:nvSpPr>
        <p:spPr>
          <a:xfrm>
            <a:off x="5774436" y="4702937"/>
            <a:ext cx="4330827" cy="336842"/>
          </a:xfrm>
          <a:prstGeom prst="rect">
            <a:avLst/>
          </a:prstGeom>
          <a:noFill/>
          <a:ln/>
        </p:spPr>
        <p:txBody>
          <a:bodyPr wrap="square" lIns="0" tIns="0" rIns="0" bIns="0" rtlCol="0" anchor="ctr"/>
          <a:lstStyle/>
          <a:p>
            <a:pPr>
              <a:lnSpc>
                <a:spcPct val="130000"/>
              </a:lnSpc>
            </a:pPr>
            <a:r>
              <a:rPr lang="en-US" sz="1053" b="1" dirty="0">
                <a:solidFill>
                  <a:srgbClr val="5B5F76"/>
                </a:solidFill>
                <a:latin typeface="+mn-ea"/>
                <a:ea typeface="+mn-ea"/>
                <a:cs typeface="Calibri" pitchFamily="34" charset="-120"/>
              </a:rPr>
              <a:t>直接Sobolサンプリング　</a:t>
            </a:r>
            <a:endParaRPr lang="en-US" sz="1053" dirty="0">
              <a:latin typeface="+mn-ea"/>
              <a:ea typeface="+mn-ea"/>
            </a:endParaRPr>
          </a:p>
          <a:p>
            <a:pPr>
              <a:lnSpc>
                <a:spcPct val="130000"/>
              </a:lnSpc>
            </a:pPr>
            <a:r>
              <a:rPr lang="en-US" sz="965" dirty="0">
                <a:solidFill>
                  <a:srgbClr val="1B1B2A"/>
                </a:solidFill>
                <a:latin typeface="+mn-ea"/>
                <a:ea typeface="+mn-ea"/>
                <a:cs typeface="Calibri" pitchFamily="34" charset="-120"/>
              </a:rPr>
              <a:t>N×(2k+2)回のLP求解が必要 → k=10で数千回規模、非現実的</a:t>
            </a:r>
            <a:endParaRPr lang="en-US" sz="1053" dirty="0">
              <a:latin typeface="+mn-ea"/>
              <a:ea typeface="+mn-ea"/>
            </a:endParaRPr>
          </a:p>
        </p:txBody>
      </p:sp>
      <p:sp>
        <p:nvSpPr>
          <p:cNvPr id="38" name="Text 36"/>
          <p:cNvSpPr txBox="1"/>
          <p:nvPr/>
        </p:nvSpPr>
        <p:spPr>
          <a:xfrm>
            <a:off x="5774436" y="5087899"/>
            <a:ext cx="4330827" cy="336842"/>
          </a:xfrm>
          <a:prstGeom prst="rect">
            <a:avLst/>
          </a:prstGeom>
          <a:noFill/>
          <a:ln/>
        </p:spPr>
        <p:txBody>
          <a:bodyPr wrap="square" lIns="0" tIns="0" rIns="0" bIns="0" rtlCol="0" anchor="ctr"/>
          <a:lstStyle/>
          <a:p>
            <a:pPr>
              <a:lnSpc>
                <a:spcPct val="130000"/>
              </a:lnSpc>
            </a:pPr>
            <a:r>
              <a:rPr lang="en-US" sz="1053" b="1" dirty="0">
                <a:solidFill>
                  <a:srgbClr val="1E8E5A"/>
                </a:solidFill>
                <a:latin typeface="+mn-ea"/>
                <a:ea typeface="+mn-ea"/>
                <a:cs typeface="Calibri" pitchFamily="34" charset="-120"/>
              </a:rPr>
              <a:t>LAR-PCE　</a:t>
            </a:r>
            <a:endParaRPr lang="en-US" sz="1053" dirty="0">
              <a:latin typeface="+mn-ea"/>
              <a:ea typeface="+mn-ea"/>
            </a:endParaRPr>
          </a:p>
          <a:p>
            <a:pPr>
              <a:lnSpc>
                <a:spcPct val="130000"/>
              </a:lnSpc>
            </a:pPr>
            <a:r>
              <a:rPr lang="en-US" sz="965" dirty="0">
                <a:solidFill>
                  <a:srgbClr val="1B1B2A"/>
                </a:solidFill>
                <a:latin typeface="+mn-ea"/>
                <a:ea typeface="+mn-ea"/>
                <a:cs typeface="Calibri" pitchFamily="34" charset="-120"/>
              </a:rPr>
              <a:t>300〜600回程度で、閉じた形でSobol指数と交差項の符号まで得られる</a:t>
            </a:r>
            <a:endParaRPr lang="en-US" sz="1053" dirty="0">
              <a:latin typeface="+mn-ea"/>
              <a:ea typeface="+mn-ea"/>
            </a:endParaRPr>
          </a:p>
        </p:txBody>
      </p:sp>
      <p:sp>
        <p:nvSpPr>
          <p:cNvPr id="39" name="Shape 37"/>
          <p:cNvSpPr/>
          <p:nvPr/>
        </p:nvSpPr>
        <p:spPr>
          <a:xfrm>
            <a:off x="5573935" y="5569102"/>
            <a:ext cx="4731830" cy="818045"/>
          </a:xfrm>
          <a:prstGeom prst="roundRect">
            <a:avLst>
              <a:gd name="adj" fmla="val 7843"/>
            </a:avLst>
          </a:prstGeom>
          <a:solidFill>
            <a:srgbClr val="1E2761"/>
          </a:solidFill>
          <a:ln/>
        </p:spPr>
        <p:txBody>
          <a:bodyPr/>
          <a:lstStyle/>
          <a:p>
            <a:endParaRPr lang="ja-JP" altLang="en-US" sz="1228">
              <a:latin typeface="+mn-ea"/>
              <a:ea typeface="+mn-ea"/>
            </a:endParaRPr>
          </a:p>
        </p:txBody>
      </p:sp>
      <p:sp>
        <p:nvSpPr>
          <p:cNvPr id="40" name="Text 38"/>
          <p:cNvSpPr txBox="1"/>
          <p:nvPr/>
        </p:nvSpPr>
        <p:spPr>
          <a:xfrm>
            <a:off x="5774436" y="5569102"/>
            <a:ext cx="4330827" cy="818045"/>
          </a:xfrm>
          <a:prstGeom prst="rect">
            <a:avLst/>
          </a:prstGeom>
          <a:noFill/>
          <a:ln/>
        </p:spPr>
        <p:txBody>
          <a:bodyPr wrap="square" lIns="0" tIns="0" rIns="0" bIns="0" rtlCol="0" anchor="ctr"/>
          <a:lstStyle/>
          <a:p>
            <a:pPr>
              <a:lnSpc>
                <a:spcPct val="130000"/>
              </a:lnSpc>
            </a:pPr>
            <a:r>
              <a:rPr lang="en-US" sz="1096" b="1" dirty="0">
                <a:solidFill>
                  <a:srgbClr val="CADCFC"/>
                </a:solidFill>
                <a:latin typeface="+mn-ea"/>
                <a:ea typeface="+mn-ea"/>
                <a:cs typeface="Calibri" pitchFamily="34" charset="-120"/>
              </a:rPr>
              <a:t>精度検証が必須　</a:t>
            </a:r>
            <a:endParaRPr lang="en-US" sz="1096" dirty="0">
              <a:latin typeface="+mn-ea"/>
              <a:ea typeface="+mn-ea"/>
            </a:endParaRPr>
          </a:p>
          <a:p>
            <a:pPr>
              <a:lnSpc>
                <a:spcPct val="130000"/>
              </a:lnSpc>
            </a:pPr>
            <a:r>
              <a:rPr lang="en-US" sz="965" dirty="0">
                <a:solidFill>
                  <a:srgbClr val="FFFFFF"/>
                </a:solidFill>
                <a:latin typeface="+mn-ea"/>
                <a:ea typeface="+mn-ea"/>
                <a:cs typeface="Calibri" pitchFamily="34" charset="-120"/>
              </a:rPr>
              <a:t>LOO（Leave-One-Out）交差検証誤差でPCEの当てはまりを確認。LP出力（特に双対価格ベースのΠᵦ）は縮退で非平滑になりうるため、多項式近似との相性に注意。</a:t>
            </a:r>
            <a:endParaRPr lang="en-US" sz="1096" dirty="0">
              <a:latin typeface="+mn-ea"/>
              <a:ea typeface="+mn-e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3200" b="1" dirty="0">
                <a:solidFill>
                  <a:srgbClr val="1E2761"/>
                </a:solidFill>
                <a:latin typeface="+mn-ea"/>
                <a:ea typeface="+mn-ea"/>
                <a:cs typeface="Cambria" pitchFamily="34" charset="-120"/>
              </a:rPr>
              <a:t>LAR-PCEで学習：帯域ごとのスパース回帰</a:t>
            </a:r>
            <a:endParaRPr lang="en-US" sz="3200"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600" i="1" dirty="0">
                <a:solidFill>
                  <a:srgbClr val="5B5F76"/>
                </a:solidFill>
                <a:latin typeface="+mn-ea"/>
                <a:ea typeface="+mn-ea"/>
                <a:cs typeface="Calibri" pitchFamily="34" charset="-120"/>
              </a:rPr>
              <a:t>LHS×LP×MODWTで得た入出力ペアから、帯域ごとに疎な多項式モデルを学習する</a:t>
            </a:r>
            <a:endParaRPr lang="en-US" sz="1600"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800" b="1" dirty="0">
                <a:solidFill>
                  <a:srgbClr val="1E2761"/>
                </a:solidFill>
                <a:latin typeface="+mn-ea"/>
                <a:ea typeface="+mn-ea"/>
                <a:cs typeface="Calibri" pitchFamily="34" charset="-120"/>
              </a:rPr>
              <a:t>学習データ：入力と出力</a:t>
            </a:r>
            <a:endParaRPr lang="en-US" sz="1800" dirty="0">
              <a:latin typeface="+mn-ea"/>
              <a:ea typeface="+mn-ea"/>
            </a:endParaRPr>
          </a:p>
        </p:txBody>
      </p:sp>
      <p:sp>
        <p:nvSpPr>
          <p:cNvPr id="5" name="Shape 3"/>
          <p:cNvSpPr/>
          <p:nvPr/>
        </p:nvSpPr>
        <p:spPr>
          <a:xfrm>
            <a:off x="401003" y="2312962"/>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600">
              <a:latin typeface="+mn-ea"/>
              <a:ea typeface="+mn-ea"/>
            </a:endParaRPr>
          </a:p>
        </p:txBody>
      </p:sp>
      <p:sp>
        <p:nvSpPr>
          <p:cNvPr id="6" name="Text 4"/>
          <p:cNvSpPr txBox="1"/>
          <p:nvPr/>
        </p:nvSpPr>
        <p:spPr>
          <a:xfrm>
            <a:off x="561404" y="2312962"/>
            <a:ext cx="4491228" cy="6817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libri" pitchFamily="34" charset="-120"/>
              </a:rPr>
              <a:t>入力　X = {x⁽¹⁾, ..., x⁽ᴺ⁾}</a:t>
            </a:r>
            <a:endParaRPr lang="en-US" dirty="0">
              <a:latin typeface="+mn-ea"/>
              <a:ea typeface="+mn-ea"/>
            </a:endParaRPr>
          </a:p>
          <a:p>
            <a:pPr>
              <a:lnSpc>
                <a:spcPct val="125000"/>
              </a:lnSpc>
            </a:pPr>
            <a:r>
              <a:rPr lang="en-US" sz="1050" dirty="0">
                <a:solidFill>
                  <a:srgbClr val="1B1B2A"/>
                </a:solidFill>
                <a:latin typeface="+mn-ea"/>
                <a:ea typeface="+mn-ea"/>
                <a:cs typeface="Calibri" pitchFamily="34" charset="-120"/>
              </a:rPr>
              <a:t>LHSでサンプリングしたパラメータ点（N＝300〜600、k個の不確実パラメータ）</a:t>
            </a:r>
            <a:endParaRPr lang="en-US" dirty="0">
              <a:latin typeface="+mn-ea"/>
              <a:ea typeface="+mn-ea"/>
            </a:endParaRPr>
          </a:p>
        </p:txBody>
      </p:sp>
      <p:sp>
        <p:nvSpPr>
          <p:cNvPr id="7" name="Text 5"/>
          <p:cNvSpPr txBox="1"/>
          <p:nvPr/>
        </p:nvSpPr>
        <p:spPr>
          <a:xfrm>
            <a:off x="401003" y="3018726"/>
            <a:ext cx="4812030" cy="240602"/>
          </a:xfrm>
          <a:prstGeom prst="rect">
            <a:avLst/>
          </a:prstGeom>
          <a:noFill/>
          <a:ln/>
        </p:spPr>
        <p:txBody>
          <a:bodyPr wrap="square" lIns="0" tIns="0" rIns="0" bIns="0" rtlCol="0" anchor="ctr"/>
          <a:lstStyle/>
          <a:p>
            <a:pPr algn="ctr"/>
            <a:r>
              <a:rPr lang="en-US" sz="1050" i="1" dirty="0">
                <a:solidFill>
                  <a:srgbClr val="5B5F76"/>
                </a:solidFill>
                <a:latin typeface="+mn-ea"/>
                <a:ea typeface="+mn-ea"/>
                <a:cs typeface="Calibri" pitchFamily="34" charset="-120"/>
              </a:rPr>
              <a:t>↓ 各点でLP求解 → MODWT帯域分解</a:t>
            </a:r>
            <a:endParaRPr lang="en-US" sz="1050" dirty="0">
              <a:latin typeface="+mn-ea"/>
              <a:ea typeface="+mn-ea"/>
            </a:endParaRPr>
          </a:p>
        </p:txBody>
      </p:sp>
      <p:sp>
        <p:nvSpPr>
          <p:cNvPr id="8" name="Shape 6"/>
          <p:cNvSpPr/>
          <p:nvPr/>
        </p:nvSpPr>
        <p:spPr>
          <a:xfrm>
            <a:off x="401003" y="3299428"/>
            <a:ext cx="4812030" cy="761905"/>
          </a:xfrm>
          <a:prstGeom prst="roundRect">
            <a:avLst>
              <a:gd name="adj" fmla="val 8421"/>
            </a:avLst>
          </a:prstGeom>
          <a:solidFill>
            <a:srgbClr val="1E2761"/>
          </a:solidFill>
          <a:ln/>
        </p:spPr>
        <p:txBody>
          <a:bodyPr/>
          <a:lstStyle/>
          <a:p>
            <a:endParaRPr lang="ja-JP" altLang="en-US" sz="1600">
              <a:latin typeface="+mn-ea"/>
              <a:ea typeface="+mn-ea"/>
            </a:endParaRPr>
          </a:p>
        </p:txBody>
      </p:sp>
      <p:sp>
        <p:nvSpPr>
          <p:cNvPr id="9" name="Text 7"/>
          <p:cNvSpPr txBox="1"/>
          <p:nvPr/>
        </p:nvSpPr>
        <p:spPr>
          <a:xfrm>
            <a:off x="561404" y="3299428"/>
            <a:ext cx="4491228" cy="761905"/>
          </a:xfrm>
          <a:prstGeom prst="rect">
            <a:avLst/>
          </a:prstGeom>
          <a:noFill/>
          <a:ln/>
        </p:spPr>
        <p:txBody>
          <a:bodyPr wrap="square" lIns="0" tIns="0" rIns="0" bIns="0" rtlCol="0" anchor="ctr"/>
          <a:lstStyle/>
          <a:p>
            <a:pPr>
              <a:lnSpc>
                <a:spcPct val="125000"/>
              </a:lnSpc>
            </a:pPr>
            <a:r>
              <a:rPr lang="en-US" b="1" dirty="0">
                <a:solidFill>
                  <a:srgbClr val="FFFFFF"/>
                </a:solidFill>
                <a:latin typeface="+mn-ea"/>
                <a:ea typeface="+mn-ea"/>
                <a:cs typeface="Calibri" pitchFamily="34" charset="-120"/>
              </a:rPr>
              <a:t>出力　Yᵦ = {y⁽¹⁾ᵦ, ..., y⁽ᴺ⁾ᵦ}　（帯域 b ごとに別々）</a:t>
            </a:r>
            <a:endParaRPr lang="en-US" dirty="0">
              <a:latin typeface="+mn-ea"/>
              <a:ea typeface="+mn-ea"/>
            </a:endParaRPr>
          </a:p>
          <a:p>
            <a:pPr>
              <a:lnSpc>
                <a:spcPct val="125000"/>
              </a:lnSpc>
            </a:pPr>
            <a:r>
              <a:rPr lang="en-US" sz="1050" dirty="0">
                <a:solidFill>
                  <a:srgbClr val="CADCFC"/>
                </a:solidFill>
                <a:latin typeface="+mn-ea"/>
                <a:ea typeface="+mn-ea"/>
                <a:cs typeface="Calibri" pitchFamily="34" charset="-120"/>
              </a:rPr>
              <a:t>帯域別指標 Πᵦ または Wᵦ ── 5帯域あれば5組の目的変数を用意する</a:t>
            </a:r>
            <a:endParaRPr lang="en-US" dirty="0">
              <a:latin typeface="+mn-ea"/>
              <a:ea typeface="+mn-ea"/>
            </a:endParaRPr>
          </a:p>
        </p:txBody>
      </p:sp>
      <p:sp>
        <p:nvSpPr>
          <p:cNvPr id="10" name="Shape 8"/>
          <p:cNvSpPr/>
          <p:nvPr/>
        </p:nvSpPr>
        <p:spPr>
          <a:xfrm>
            <a:off x="401003" y="4261834"/>
            <a:ext cx="4812030" cy="601504"/>
          </a:xfrm>
          <a:prstGeom prst="roundRect">
            <a:avLst>
              <a:gd name="adj" fmla="val 10667"/>
            </a:avLst>
          </a:prstGeom>
          <a:solidFill>
            <a:srgbClr val="FFF6E5"/>
          </a:solidFill>
          <a:ln w="12700">
            <a:solidFill>
              <a:srgbClr val="F9A61A"/>
            </a:solidFill>
            <a:prstDash val="solid"/>
          </a:ln>
        </p:spPr>
        <p:txBody>
          <a:bodyPr/>
          <a:lstStyle/>
          <a:p>
            <a:endParaRPr lang="ja-JP" altLang="en-US" sz="1600">
              <a:latin typeface="+mn-ea"/>
              <a:ea typeface="+mn-ea"/>
            </a:endParaRPr>
          </a:p>
        </p:txBody>
      </p:sp>
      <p:sp>
        <p:nvSpPr>
          <p:cNvPr id="11" name="Text 9"/>
          <p:cNvSpPr txBox="1"/>
          <p:nvPr/>
        </p:nvSpPr>
        <p:spPr>
          <a:xfrm>
            <a:off x="561404" y="4261834"/>
            <a:ext cx="4491228" cy="601504"/>
          </a:xfrm>
          <a:prstGeom prst="rect">
            <a:avLst/>
          </a:prstGeom>
          <a:noFill/>
          <a:ln/>
        </p:spPr>
        <p:txBody>
          <a:bodyPr wrap="square" lIns="0" tIns="0" rIns="0" bIns="0" rtlCol="0" anchor="ctr"/>
          <a:lstStyle/>
          <a:p>
            <a:pPr>
              <a:lnSpc>
                <a:spcPct val="125000"/>
              </a:lnSpc>
            </a:pPr>
            <a:r>
              <a:rPr lang="en-US" sz="1050" dirty="0">
                <a:solidFill>
                  <a:srgbClr val="1B1B2A"/>
                </a:solidFill>
                <a:latin typeface="+mn-ea"/>
                <a:ea typeface="+mn-ea"/>
                <a:cs typeface="Calibri" pitchFamily="34" charset="-120"/>
              </a:rPr>
              <a:t>重要：PCEは帯域ごとに独立に学習する。帯域数だけLAR回帰を繰り返し、帯域bごとに異なる係数集合 cα(b) を得る。</a:t>
            </a:r>
            <a:endParaRPr lang="en-US" sz="1050" dirty="0">
              <a:latin typeface="+mn-ea"/>
              <a:ea typeface="+mn-ea"/>
            </a:endParaRPr>
          </a:p>
        </p:txBody>
      </p:sp>
      <p:sp>
        <p:nvSpPr>
          <p:cNvPr id="12" name="Text 10"/>
          <p:cNvSpPr txBox="1"/>
          <p:nvPr/>
        </p:nvSpPr>
        <p:spPr>
          <a:xfrm>
            <a:off x="401003" y="5023739"/>
            <a:ext cx="4812030" cy="401003"/>
          </a:xfrm>
          <a:prstGeom prst="rect">
            <a:avLst/>
          </a:prstGeom>
          <a:noFill/>
          <a:ln/>
        </p:spPr>
        <p:txBody>
          <a:bodyPr wrap="square" lIns="0" tIns="0" rIns="0" bIns="0" rtlCol="0" anchor="ctr"/>
          <a:lstStyle/>
          <a:p>
            <a:r>
              <a:rPr lang="en-US" sz="1050" b="1" dirty="0">
                <a:solidFill>
                  <a:srgbClr val="1E2761"/>
                </a:solidFill>
                <a:latin typeface="+mn-ea"/>
                <a:ea typeface="+mn-ea"/>
                <a:cs typeface="Calibri" pitchFamily="34" charset="-120"/>
              </a:rPr>
              <a:t>分散低減の工夫　</a:t>
            </a:r>
            <a:r>
              <a:rPr lang="en-US" sz="1050" dirty="0">
                <a:solidFill>
                  <a:srgbClr val="5B5F76"/>
                </a:solidFill>
                <a:latin typeface="+mn-ea"/>
                <a:ea typeface="+mn-ea"/>
                <a:cs typeface="Calibri" pitchFamily="34" charset="-120"/>
              </a:rPr>
              <a:t>V1G／V0Gを共通乱数でペア実行し、差分をとることで学習の分散を抑える</a:t>
            </a:r>
            <a:endParaRPr lang="en-US" sz="1050" dirty="0">
              <a:latin typeface="+mn-ea"/>
              <a:ea typeface="+mn-ea"/>
            </a:endParaRPr>
          </a:p>
        </p:txBody>
      </p:sp>
      <p:sp>
        <p:nvSpPr>
          <p:cNvPr id="13" name="Text 11"/>
          <p:cNvSpPr txBox="1"/>
          <p:nvPr/>
        </p:nvSpPr>
        <p:spPr>
          <a:xfrm>
            <a:off x="5573935" y="1976120"/>
            <a:ext cx="4731830" cy="288722"/>
          </a:xfrm>
          <a:prstGeom prst="rect">
            <a:avLst/>
          </a:prstGeom>
          <a:noFill/>
          <a:ln/>
        </p:spPr>
        <p:txBody>
          <a:bodyPr wrap="square" lIns="0" tIns="0" rIns="0" bIns="0" rtlCol="0" anchor="ctr"/>
          <a:lstStyle/>
          <a:p>
            <a:r>
              <a:rPr lang="en-US" sz="1800" b="1" dirty="0">
                <a:solidFill>
                  <a:srgbClr val="1E2761"/>
                </a:solidFill>
                <a:latin typeface="+mn-ea"/>
                <a:ea typeface="+mn-ea"/>
                <a:cs typeface="Calibri" pitchFamily="34" charset="-120"/>
              </a:rPr>
              <a:t>LARアルゴリズムの学習手順</a:t>
            </a:r>
            <a:endParaRPr lang="en-US" sz="1800" dirty="0">
              <a:latin typeface="+mn-ea"/>
              <a:ea typeface="+mn-ea"/>
            </a:endParaRPr>
          </a:p>
        </p:txBody>
      </p:sp>
      <p:sp>
        <p:nvSpPr>
          <p:cNvPr id="14" name="Shape 12"/>
          <p:cNvSpPr/>
          <p:nvPr/>
        </p:nvSpPr>
        <p:spPr>
          <a:xfrm>
            <a:off x="5573935" y="2337022"/>
            <a:ext cx="240602" cy="240602"/>
          </a:xfrm>
          <a:prstGeom prst="ellipse">
            <a:avLst/>
          </a:prstGeom>
          <a:solidFill>
            <a:srgbClr val="1E2761"/>
          </a:solidFill>
          <a:ln/>
        </p:spPr>
        <p:txBody>
          <a:bodyPr/>
          <a:lstStyle/>
          <a:p>
            <a:endParaRPr lang="ja-JP" altLang="en-US" sz="1600">
              <a:latin typeface="+mn-ea"/>
              <a:ea typeface="+mn-ea"/>
            </a:endParaRPr>
          </a:p>
        </p:txBody>
      </p:sp>
      <p:sp>
        <p:nvSpPr>
          <p:cNvPr id="15" name="Text 13"/>
          <p:cNvSpPr txBox="1"/>
          <p:nvPr/>
        </p:nvSpPr>
        <p:spPr>
          <a:xfrm>
            <a:off x="5573935" y="2337022"/>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1</a:t>
            </a:r>
            <a:endParaRPr lang="en-US" sz="1200" dirty="0">
              <a:latin typeface="+mn-ea"/>
              <a:ea typeface="+mn-ea"/>
            </a:endParaRPr>
          </a:p>
        </p:txBody>
      </p:sp>
      <p:sp>
        <p:nvSpPr>
          <p:cNvPr id="16" name="Text 14"/>
          <p:cNvSpPr txBox="1"/>
          <p:nvPr/>
        </p:nvSpPr>
        <p:spPr>
          <a:xfrm>
            <a:off x="5934837" y="2288902"/>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全ての基底関数の係数をゼロで初期化する</a:t>
            </a:r>
            <a:endParaRPr lang="en-US" sz="1050" dirty="0">
              <a:latin typeface="+mn-ea"/>
              <a:ea typeface="+mn-ea"/>
            </a:endParaRPr>
          </a:p>
        </p:txBody>
      </p:sp>
      <p:sp>
        <p:nvSpPr>
          <p:cNvPr id="17" name="Shape 15"/>
          <p:cNvSpPr/>
          <p:nvPr/>
        </p:nvSpPr>
        <p:spPr>
          <a:xfrm>
            <a:off x="5573935" y="2882385"/>
            <a:ext cx="240602" cy="240602"/>
          </a:xfrm>
          <a:prstGeom prst="ellipse">
            <a:avLst/>
          </a:prstGeom>
          <a:solidFill>
            <a:srgbClr val="1E2761"/>
          </a:solidFill>
          <a:ln/>
        </p:spPr>
        <p:txBody>
          <a:bodyPr/>
          <a:lstStyle/>
          <a:p>
            <a:endParaRPr lang="ja-JP" altLang="en-US" sz="1600">
              <a:latin typeface="+mn-ea"/>
              <a:ea typeface="+mn-ea"/>
            </a:endParaRPr>
          </a:p>
        </p:txBody>
      </p:sp>
      <p:sp>
        <p:nvSpPr>
          <p:cNvPr id="18" name="Text 16"/>
          <p:cNvSpPr txBox="1"/>
          <p:nvPr/>
        </p:nvSpPr>
        <p:spPr>
          <a:xfrm>
            <a:off x="5573935" y="2882385"/>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2</a:t>
            </a:r>
            <a:endParaRPr lang="en-US" sz="1200" dirty="0">
              <a:latin typeface="+mn-ea"/>
              <a:ea typeface="+mn-ea"/>
            </a:endParaRPr>
          </a:p>
        </p:txBody>
      </p:sp>
      <p:sp>
        <p:nvSpPr>
          <p:cNvPr id="19" name="Text 17"/>
          <p:cNvSpPr txBox="1"/>
          <p:nvPr/>
        </p:nvSpPr>
        <p:spPr>
          <a:xfrm>
            <a:off x="5934837" y="2834265"/>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残差と最も相関の高い基底関数を1つ選ぶ</a:t>
            </a:r>
            <a:endParaRPr lang="en-US" sz="1050" dirty="0">
              <a:latin typeface="+mn-ea"/>
              <a:ea typeface="+mn-ea"/>
            </a:endParaRPr>
          </a:p>
        </p:txBody>
      </p:sp>
      <p:sp>
        <p:nvSpPr>
          <p:cNvPr id="20" name="Shape 18"/>
          <p:cNvSpPr/>
          <p:nvPr/>
        </p:nvSpPr>
        <p:spPr>
          <a:xfrm>
            <a:off x="5573935" y="3427749"/>
            <a:ext cx="240602" cy="240602"/>
          </a:xfrm>
          <a:prstGeom prst="ellipse">
            <a:avLst/>
          </a:prstGeom>
          <a:solidFill>
            <a:srgbClr val="1E2761"/>
          </a:solidFill>
          <a:ln/>
        </p:spPr>
        <p:txBody>
          <a:bodyPr/>
          <a:lstStyle/>
          <a:p>
            <a:endParaRPr lang="ja-JP" altLang="en-US" sz="1600">
              <a:latin typeface="+mn-ea"/>
              <a:ea typeface="+mn-ea"/>
            </a:endParaRPr>
          </a:p>
        </p:txBody>
      </p:sp>
      <p:sp>
        <p:nvSpPr>
          <p:cNvPr id="21" name="Text 19"/>
          <p:cNvSpPr txBox="1"/>
          <p:nvPr/>
        </p:nvSpPr>
        <p:spPr>
          <a:xfrm>
            <a:off x="5573935" y="3427749"/>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3</a:t>
            </a:r>
            <a:endParaRPr lang="en-US" sz="1200" dirty="0">
              <a:latin typeface="+mn-ea"/>
              <a:ea typeface="+mn-ea"/>
            </a:endParaRPr>
          </a:p>
        </p:txBody>
      </p:sp>
      <p:sp>
        <p:nvSpPr>
          <p:cNvPr id="22" name="Text 20"/>
          <p:cNvSpPr txBox="1"/>
          <p:nvPr/>
        </p:nvSpPr>
        <p:spPr>
          <a:xfrm>
            <a:off x="5934837" y="3379629"/>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その基底の係数を、別の基底が同程度の相関を持つまで最小角の方向に進める（Least Angle）</a:t>
            </a:r>
            <a:endParaRPr lang="en-US" sz="1050" dirty="0">
              <a:latin typeface="+mn-ea"/>
              <a:ea typeface="+mn-ea"/>
            </a:endParaRPr>
          </a:p>
        </p:txBody>
      </p:sp>
      <p:sp>
        <p:nvSpPr>
          <p:cNvPr id="23" name="Shape 21"/>
          <p:cNvSpPr/>
          <p:nvPr/>
        </p:nvSpPr>
        <p:spPr>
          <a:xfrm>
            <a:off x="5573935" y="3973112"/>
            <a:ext cx="240602" cy="240602"/>
          </a:xfrm>
          <a:prstGeom prst="ellipse">
            <a:avLst/>
          </a:prstGeom>
          <a:solidFill>
            <a:srgbClr val="1E2761"/>
          </a:solidFill>
          <a:ln/>
        </p:spPr>
        <p:txBody>
          <a:bodyPr/>
          <a:lstStyle/>
          <a:p>
            <a:endParaRPr lang="ja-JP" altLang="en-US" sz="1600">
              <a:latin typeface="+mn-ea"/>
              <a:ea typeface="+mn-ea"/>
            </a:endParaRPr>
          </a:p>
        </p:txBody>
      </p:sp>
      <p:sp>
        <p:nvSpPr>
          <p:cNvPr id="24" name="Text 22"/>
          <p:cNvSpPr txBox="1"/>
          <p:nvPr/>
        </p:nvSpPr>
        <p:spPr>
          <a:xfrm>
            <a:off x="5573935" y="3973112"/>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4</a:t>
            </a:r>
            <a:endParaRPr lang="en-US" sz="1200" dirty="0">
              <a:latin typeface="+mn-ea"/>
              <a:ea typeface="+mn-ea"/>
            </a:endParaRPr>
          </a:p>
        </p:txBody>
      </p:sp>
      <p:sp>
        <p:nvSpPr>
          <p:cNvPr id="25" name="Text 23"/>
          <p:cNvSpPr txBox="1"/>
          <p:nvPr/>
        </p:nvSpPr>
        <p:spPr>
          <a:xfrm>
            <a:off x="5934837" y="3924992"/>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相関が並んだ時点で新しい基底を加え、進む方向を修正する</a:t>
            </a:r>
            <a:endParaRPr lang="en-US" sz="1050" dirty="0">
              <a:latin typeface="+mn-ea"/>
              <a:ea typeface="+mn-ea"/>
            </a:endParaRPr>
          </a:p>
        </p:txBody>
      </p:sp>
      <p:sp>
        <p:nvSpPr>
          <p:cNvPr id="26" name="Shape 24"/>
          <p:cNvSpPr/>
          <p:nvPr/>
        </p:nvSpPr>
        <p:spPr>
          <a:xfrm>
            <a:off x="5573935" y="4518475"/>
            <a:ext cx="240602" cy="240602"/>
          </a:xfrm>
          <a:prstGeom prst="ellipse">
            <a:avLst/>
          </a:prstGeom>
          <a:solidFill>
            <a:srgbClr val="F9A61A"/>
          </a:solidFill>
          <a:ln/>
        </p:spPr>
        <p:txBody>
          <a:bodyPr/>
          <a:lstStyle/>
          <a:p>
            <a:endParaRPr lang="ja-JP" altLang="en-US" sz="1600">
              <a:latin typeface="+mn-ea"/>
              <a:ea typeface="+mn-ea"/>
            </a:endParaRPr>
          </a:p>
        </p:txBody>
      </p:sp>
      <p:sp>
        <p:nvSpPr>
          <p:cNvPr id="27" name="Text 25"/>
          <p:cNvSpPr txBox="1"/>
          <p:nvPr/>
        </p:nvSpPr>
        <p:spPr>
          <a:xfrm>
            <a:off x="5573935" y="4518475"/>
            <a:ext cx="240602" cy="240602"/>
          </a:xfrm>
          <a:prstGeom prst="rect">
            <a:avLst/>
          </a:prstGeom>
          <a:noFill/>
          <a:ln/>
        </p:spPr>
        <p:txBody>
          <a:bodyPr wrap="square" lIns="0" tIns="0" rIns="0" bIns="0" rtlCol="0" anchor="ctr"/>
          <a:lstStyle/>
          <a:p>
            <a:pPr algn="ctr"/>
            <a:r>
              <a:rPr lang="en-US" sz="1200" b="1" dirty="0">
                <a:solidFill>
                  <a:srgbClr val="FFFFFF"/>
                </a:solidFill>
                <a:latin typeface="+mn-ea"/>
                <a:ea typeface="+mn-ea"/>
                <a:cs typeface="Calibri" pitchFamily="34" charset="-120"/>
              </a:rPr>
              <a:t>5</a:t>
            </a:r>
            <a:endParaRPr lang="en-US" sz="1200" dirty="0">
              <a:latin typeface="+mn-ea"/>
              <a:ea typeface="+mn-ea"/>
            </a:endParaRPr>
          </a:p>
        </p:txBody>
      </p:sp>
      <p:sp>
        <p:nvSpPr>
          <p:cNvPr id="28" name="Text 26"/>
          <p:cNvSpPr txBox="1"/>
          <p:nvPr/>
        </p:nvSpPr>
        <p:spPr>
          <a:xfrm>
            <a:off x="5934837" y="4470355"/>
            <a:ext cx="4370927" cy="497243"/>
          </a:xfrm>
          <a:prstGeom prst="rect">
            <a:avLst/>
          </a:prstGeom>
          <a:noFill/>
          <a:ln/>
        </p:spPr>
        <p:txBody>
          <a:bodyPr wrap="square" lIns="0" tIns="0" rIns="0" bIns="0" rtlCol="0" anchor="ctr"/>
          <a:lstStyle/>
          <a:p>
            <a:pPr>
              <a:lnSpc>
                <a:spcPct val="110000"/>
              </a:lnSpc>
            </a:pPr>
            <a:r>
              <a:rPr lang="en-US" sz="1050" dirty="0">
                <a:solidFill>
                  <a:srgbClr val="1B1B2A"/>
                </a:solidFill>
                <a:latin typeface="+mn-ea"/>
                <a:ea typeface="+mn-ea"/>
                <a:cs typeface="Calibri" pitchFamily="34" charset="-120"/>
              </a:rPr>
              <a:t>この逐次選択をLOO誤差が最小になるまで繰り返し、それ以降の基底は捨てる（過学習を防ぐ）</a:t>
            </a:r>
            <a:endParaRPr lang="en-US" sz="1050" dirty="0">
              <a:latin typeface="+mn-ea"/>
              <a:ea typeface="+mn-ea"/>
            </a:endParaRPr>
          </a:p>
        </p:txBody>
      </p:sp>
      <p:sp>
        <p:nvSpPr>
          <p:cNvPr id="29" name="Shape 27"/>
          <p:cNvSpPr/>
          <p:nvPr/>
        </p:nvSpPr>
        <p:spPr>
          <a:xfrm>
            <a:off x="5573935" y="5103939"/>
            <a:ext cx="4731830" cy="922306"/>
          </a:xfrm>
          <a:prstGeom prst="roundRect">
            <a:avLst>
              <a:gd name="adj" fmla="val 6957"/>
            </a:avLst>
          </a:prstGeom>
          <a:solidFill>
            <a:srgbClr val="F4F6FB"/>
          </a:solidFill>
          <a:ln w="12700">
            <a:solidFill>
              <a:srgbClr val="E2E6F2"/>
            </a:solidFill>
            <a:prstDash val="solid"/>
          </a:ln>
        </p:spPr>
        <p:txBody>
          <a:bodyPr/>
          <a:lstStyle/>
          <a:p>
            <a:endParaRPr lang="ja-JP" altLang="en-US" sz="1600">
              <a:latin typeface="+mn-ea"/>
              <a:ea typeface="+mn-ea"/>
            </a:endParaRPr>
          </a:p>
        </p:txBody>
      </p:sp>
      <p:sp>
        <p:nvSpPr>
          <p:cNvPr id="30" name="Text 28"/>
          <p:cNvSpPr txBox="1"/>
          <p:nvPr/>
        </p:nvSpPr>
        <p:spPr>
          <a:xfrm>
            <a:off x="5734336" y="5103939"/>
            <a:ext cx="4411028" cy="922306"/>
          </a:xfrm>
          <a:prstGeom prst="rect">
            <a:avLst/>
          </a:prstGeom>
          <a:noFill/>
          <a:ln/>
        </p:spPr>
        <p:txBody>
          <a:bodyPr wrap="square" lIns="0" tIns="0" rIns="0" bIns="0" rtlCol="0" anchor="ctr"/>
          <a:lstStyle/>
          <a:p>
            <a:pPr>
              <a:lnSpc>
                <a:spcPct val="125000"/>
              </a:lnSpc>
            </a:pPr>
            <a:r>
              <a:rPr lang="en-US" sz="1200" b="1" dirty="0">
                <a:solidFill>
                  <a:srgbClr val="1E2761"/>
                </a:solidFill>
                <a:latin typeface="+mn-ea"/>
                <a:ea typeface="+mn-ea"/>
                <a:cs typeface="Calibri" pitchFamily="34" charset="-120"/>
              </a:rPr>
              <a:t>打ち切り基準：LOO交差検証誤差　</a:t>
            </a:r>
            <a:endParaRPr lang="en-US" sz="1200" dirty="0">
              <a:latin typeface="+mn-ea"/>
              <a:ea typeface="+mn-ea"/>
            </a:endParaRPr>
          </a:p>
          <a:p>
            <a:pPr>
              <a:lnSpc>
                <a:spcPct val="125000"/>
              </a:lnSpc>
            </a:pPr>
            <a:r>
              <a:rPr lang="en-US" sz="1050" dirty="0">
                <a:solidFill>
                  <a:srgbClr val="1B1B2A"/>
                </a:solidFill>
                <a:latin typeface="+mn-ea"/>
                <a:ea typeface="+mn-ea"/>
                <a:cs typeface="Calibri" pitchFamily="34" charset="-120"/>
              </a:rPr>
              <a:t>N個の学習点を1つずつ除いて再学習・予測を繰り返し、誤差が増加に転じた時点で基底の追加を停止する。過学習と過少適合のバランスを取る、モデル選択の実質的な基準。</a:t>
            </a:r>
            <a:endParaRPr lang="en-US" sz="1200" dirty="0">
              <a:latin typeface="+mn-ea"/>
              <a:ea typeface="+mn-ea"/>
            </a:endParaRPr>
          </a:p>
        </p:txBody>
      </p:sp>
      <p:sp>
        <p:nvSpPr>
          <p:cNvPr id="31" name="Text 29"/>
          <p:cNvSpPr txBox="1"/>
          <p:nvPr/>
        </p:nvSpPr>
        <p:spPr>
          <a:xfrm>
            <a:off x="5573935" y="6130506"/>
            <a:ext cx="4731830" cy="320802"/>
          </a:xfrm>
          <a:prstGeom prst="rect">
            <a:avLst/>
          </a:prstGeom>
          <a:noFill/>
          <a:ln/>
        </p:spPr>
        <p:txBody>
          <a:bodyPr wrap="square" lIns="0" tIns="0" rIns="0" bIns="0" rtlCol="0" anchor="ctr"/>
          <a:lstStyle/>
          <a:p>
            <a:r>
              <a:rPr lang="en-US" sz="1100" b="1" dirty="0">
                <a:solidFill>
                  <a:srgbClr val="1E8E5A"/>
                </a:solidFill>
                <a:latin typeface="+mn-ea"/>
                <a:ea typeface="+mn-ea"/>
                <a:cs typeface="Calibri" pitchFamily="34" charset="-120"/>
              </a:rPr>
              <a:t>→ 選ばれた係数 cα(b) から、帯域ごとにSobol指数 Sᵢ(b), STᵢ(b) を解析的に算出</a:t>
            </a:r>
            <a:endParaRPr lang="en-US" sz="1100" dirty="0">
              <a:latin typeface="+mn-ea"/>
              <a:ea typeface="+mn-e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2800" b="1" dirty="0">
                <a:solidFill>
                  <a:srgbClr val="1E2761"/>
                </a:solidFill>
                <a:latin typeface="+mn-ea"/>
                <a:ea typeface="+mn-ea"/>
                <a:cs typeface="Cambria" pitchFamily="34" charset="-120"/>
              </a:rPr>
              <a:t>Sobol指数を解析的に算出</a:t>
            </a:r>
            <a:endParaRPr lang="en-US" sz="2800"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i="1" dirty="0">
                <a:solidFill>
                  <a:srgbClr val="5B5F76"/>
                </a:solidFill>
                <a:latin typeface="+mn-ea"/>
                <a:ea typeface="+mn-ea"/>
                <a:cs typeface="Calibri" pitchFamily="34" charset="-120"/>
              </a:rPr>
              <a:t>PCE係数から、追加のサンプリングなしに閉じた形でSobol指数を導出し、感度指標行列 Sᵢ(b) を構成する</a:t>
            </a:r>
            <a:endParaRPr lang="en-US"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PCE係数からの閉じた形の公式</a:t>
            </a:r>
            <a:endParaRPr lang="en-US" sz="1600" dirty="0">
              <a:latin typeface="+mn-ea"/>
              <a:ea typeface="+mn-ea"/>
            </a:endParaRPr>
          </a:p>
        </p:txBody>
      </p:sp>
      <p:sp>
        <p:nvSpPr>
          <p:cNvPr id="5" name="Shape 3"/>
          <p:cNvSpPr/>
          <p:nvPr/>
        </p:nvSpPr>
        <p:spPr>
          <a:xfrm>
            <a:off x="401003" y="2312962"/>
            <a:ext cx="4812030" cy="601504"/>
          </a:xfrm>
          <a:prstGeom prst="roundRect">
            <a:avLst>
              <a:gd name="adj" fmla="val 10667"/>
            </a:avLst>
          </a:prstGeom>
          <a:solidFill>
            <a:srgbClr val="1E2761"/>
          </a:solidFill>
          <a:ln/>
        </p:spPr>
        <p:txBody>
          <a:bodyPr/>
          <a:lstStyle/>
          <a:p>
            <a:endParaRPr lang="ja-JP" altLang="en-US">
              <a:latin typeface="+mn-ea"/>
              <a:ea typeface="+mn-ea"/>
            </a:endParaRPr>
          </a:p>
        </p:txBody>
      </p:sp>
      <p:sp>
        <p:nvSpPr>
          <p:cNvPr id="6" name="Text 4"/>
          <p:cNvSpPr txBox="1"/>
          <p:nvPr/>
        </p:nvSpPr>
        <p:spPr>
          <a:xfrm>
            <a:off x="601504" y="2312962"/>
            <a:ext cx="4411028" cy="601504"/>
          </a:xfrm>
          <a:prstGeom prst="rect">
            <a:avLst/>
          </a:prstGeom>
          <a:noFill/>
          <a:ln/>
        </p:spPr>
        <p:txBody>
          <a:bodyPr wrap="square" lIns="0" tIns="0" rIns="0" bIns="0" rtlCol="0" anchor="ctr"/>
          <a:lstStyle/>
          <a:p>
            <a:pPr>
              <a:lnSpc>
                <a:spcPct val="125000"/>
              </a:lnSpc>
            </a:pPr>
            <a:r>
              <a:rPr lang="en-US" b="1" dirty="0">
                <a:solidFill>
                  <a:srgbClr val="FFFFFF"/>
                </a:solidFill>
                <a:latin typeface="+mn-ea"/>
                <a:ea typeface="+mn-ea"/>
                <a:cs typeface="Cambria" pitchFamily="34" charset="-120"/>
              </a:rPr>
              <a:t>全分散　Var(Y) = Σα≠0 cα²</a:t>
            </a:r>
            <a:endParaRPr lang="en-US" dirty="0">
              <a:latin typeface="+mn-ea"/>
              <a:ea typeface="+mn-ea"/>
            </a:endParaRPr>
          </a:p>
          <a:p>
            <a:pPr>
              <a:lnSpc>
                <a:spcPct val="125000"/>
              </a:lnSpc>
            </a:pPr>
            <a:r>
              <a:rPr lang="en-US" sz="1000" dirty="0">
                <a:solidFill>
                  <a:srgbClr val="CADCFC"/>
                </a:solidFill>
                <a:latin typeface="+mn-ea"/>
                <a:ea typeface="+mn-ea"/>
                <a:cs typeface="Cambria" pitchFamily="34" charset="-120"/>
              </a:rPr>
              <a:t>直交基底のため、定数項（α=0）を除く係数の二乗和が全分散に一致</a:t>
            </a:r>
            <a:endParaRPr lang="en-US" dirty="0">
              <a:latin typeface="+mn-ea"/>
              <a:ea typeface="+mn-ea"/>
            </a:endParaRPr>
          </a:p>
        </p:txBody>
      </p:sp>
      <p:sp>
        <p:nvSpPr>
          <p:cNvPr id="7" name="Shape 5"/>
          <p:cNvSpPr/>
          <p:nvPr/>
        </p:nvSpPr>
        <p:spPr>
          <a:xfrm>
            <a:off x="401003" y="3034766"/>
            <a:ext cx="4812030" cy="601504"/>
          </a:xfrm>
          <a:prstGeom prst="roundRect">
            <a:avLst>
              <a:gd name="adj" fmla="val 10667"/>
            </a:avLst>
          </a:prstGeom>
          <a:solidFill>
            <a:srgbClr val="F4F6FB"/>
          </a:solidFill>
          <a:ln w="12700">
            <a:solidFill>
              <a:srgbClr val="E2E6F2"/>
            </a:solidFill>
            <a:prstDash val="solid"/>
          </a:ln>
        </p:spPr>
        <p:txBody>
          <a:bodyPr/>
          <a:lstStyle/>
          <a:p>
            <a:endParaRPr lang="ja-JP" altLang="en-US">
              <a:latin typeface="+mn-ea"/>
              <a:ea typeface="+mn-ea"/>
            </a:endParaRPr>
          </a:p>
        </p:txBody>
      </p:sp>
      <p:sp>
        <p:nvSpPr>
          <p:cNvPr id="8" name="Text 6"/>
          <p:cNvSpPr txBox="1"/>
          <p:nvPr/>
        </p:nvSpPr>
        <p:spPr>
          <a:xfrm>
            <a:off x="601504" y="3034766"/>
            <a:ext cx="4411028" cy="6015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mbria" pitchFamily="34" charset="-120"/>
              </a:rPr>
              <a:t>第1次指数　Sᵢ = ( Σα∈Aᵢ cα² ) / Var(Y)</a:t>
            </a:r>
            <a:endParaRPr lang="en-US" dirty="0">
              <a:latin typeface="+mn-ea"/>
              <a:ea typeface="+mn-ea"/>
            </a:endParaRPr>
          </a:p>
          <a:p>
            <a:pPr>
              <a:lnSpc>
                <a:spcPct val="125000"/>
              </a:lnSpc>
            </a:pPr>
            <a:r>
              <a:rPr lang="en-US" sz="1000" dirty="0">
                <a:solidFill>
                  <a:srgbClr val="1B1B2A"/>
                </a:solidFill>
                <a:latin typeface="+mn-ea"/>
                <a:ea typeface="+mn-ea"/>
                <a:cs typeface="Cambria" pitchFamily="34" charset="-120"/>
              </a:rPr>
              <a:t>Aᵢ：パラメータ i のみに依存する基底の集合 → パラメータ i の単独効果</a:t>
            </a:r>
            <a:endParaRPr lang="en-US" dirty="0">
              <a:latin typeface="+mn-ea"/>
              <a:ea typeface="+mn-ea"/>
            </a:endParaRPr>
          </a:p>
        </p:txBody>
      </p:sp>
      <p:sp>
        <p:nvSpPr>
          <p:cNvPr id="9" name="Shape 7"/>
          <p:cNvSpPr/>
          <p:nvPr/>
        </p:nvSpPr>
        <p:spPr>
          <a:xfrm>
            <a:off x="401003" y="3756571"/>
            <a:ext cx="4812030" cy="601504"/>
          </a:xfrm>
          <a:prstGeom prst="roundRect">
            <a:avLst>
              <a:gd name="adj" fmla="val 10667"/>
            </a:avLst>
          </a:prstGeom>
          <a:solidFill>
            <a:srgbClr val="F4F6FB"/>
          </a:solidFill>
          <a:ln w="12700">
            <a:solidFill>
              <a:srgbClr val="E2E6F2"/>
            </a:solidFill>
            <a:prstDash val="solid"/>
          </a:ln>
        </p:spPr>
        <p:txBody>
          <a:bodyPr/>
          <a:lstStyle/>
          <a:p>
            <a:endParaRPr lang="ja-JP" altLang="en-US">
              <a:latin typeface="+mn-ea"/>
              <a:ea typeface="+mn-ea"/>
            </a:endParaRPr>
          </a:p>
        </p:txBody>
      </p:sp>
      <p:sp>
        <p:nvSpPr>
          <p:cNvPr id="10" name="Text 8"/>
          <p:cNvSpPr txBox="1"/>
          <p:nvPr/>
        </p:nvSpPr>
        <p:spPr>
          <a:xfrm>
            <a:off x="601504" y="3756571"/>
            <a:ext cx="4411028" cy="6015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mbria" pitchFamily="34" charset="-120"/>
              </a:rPr>
              <a:t>全効果指数　STᵢ = ( Σα:αᵢ≠0 cα² ) / Var(Y)</a:t>
            </a:r>
            <a:endParaRPr lang="en-US" dirty="0">
              <a:latin typeface="+mn-ea"/>
              <a:ea typeface="+mn-ea"/>
            </a:endParaRPr>
          </a:p>
          <a:p>
            <a:pPr>
              <a:lnSpc>
                <a:spcPct val="125000"/>
              </a:lnSpc>
            </a:pPr>
            <a:r>
              <a:rPr lang="en-US" sz="1000" dirty="0">
                <a:solidFill>
                  <a:srgbClr val="1B1B2A"/>
                </a:solidFill>
                <a:latin typeface="+mn-ea"/>
                <a:ea typeface="+mn-ea"/>
                <a:cs typeface="Cambria" pitchFamily="34" charset="-120"/>
              </a:rPr>
              <a:t>パラメータ i が関わる全ての基底（交差項を含む）→ 相互作用込みの効果</a:t>
            </a:r>
            <a:endParaRPr lang="en-US" dirty="0">
              <a:latin typeface="+mn-ea"/>
              <a:ea typeface="+mn-ea"/>
            </a:endParaRPr>
          </a:p>
        </p:txBody>
      </p:sp>
      <p:sp>
        <p:nvSpPr>
          <p:cNvPr id="11" name="Shape 9"/>
          <p:cNvSpPr/>
          <p:nvPr/>
        </p:nvSpPr>
        <p:spPr>
          <a:xfrm>
            <a:off x="401003" y="4478375"/>
            <a:ext cx="4812030" cy="681704"/>
          </a:xfrm>
          <a:prstGeom prst="roundRect">
            <a:avLst>
              <a:gd name="adj" fmla="val 9412"/>
            </a:avLst>
          </a:prstGeom>
          <a:solidFill>
            <a:srgbClr val="FFF6E5"/>
          </a:solidFill>
          <a:ln w="12700">
            <a:solidFill>
              <a:srgbClr val="F9A61A"/>
            </a:solidFill>
            <a:prstDash val="solid"/>
          </a:ln>
        </p:spPr>
        <p:txBody>
          <a:bodyPr/>
          <a:lstStyle/>
          <a:p>
            <a:endParaRPr lang="ja-JP" altLang="en-US">
              <a:latin typeface="+mn-ea"/>
              <a:ea typeface="+mn-ea"/>
            </a:endParaRPr>
          </a:p>
        </p:txBody>
      </p:sp>
      <p:sp>
        <p:nvSpPr>
          <p:cNvPr id="12" name="Text 10"/>
          <p:cNvSpPr txBox="1"/>
          <p:nvPr/>
        </p:nvSpPr>
        <p:spPr>
          <a:xfrm>
            <a:off x="561404" y="4478375"/>
            <a:ext cx="4491228" cy="681704"/>
          </a:xfrm>
          <a:prstGeom prst="rect">
            <a:avLst/>
          </a:prstGeom>
          <a:noFill/>
          <a:ln/>
        </p:spPr>
        <p:txBody>
          <a:bodyPr wrap="square" lIns="0" tIns="0" rIns="0" bIns="0" rtlCol="0" anchor="ctr"/>
          <a:lstStyle/>
          <a:p>
            <a:pPr>
              <a:lnSpc>
                <a:spcPct val="130000"/>
              </a:lnSpc>
            </a:pPr>
            <a:r>
              <a:rPr lang="en-US" sz="1050" b="1" dirty="0">
                <a:solidFill>
                  <a:srgbClr val="1E2761"/>
                </a:solidFill>
                <a:latin typeface="+mn-ea"/>
                <a:ea typeface="+mn-ea"/>
                <a:cs typeface="Calibri" pitchFamily="34" charset="-120"/>
              </a:rPr>
              <a:t>読み方　</a:t>
            </a:r>
            <a:r>
              <a:rPr lang="en-US" sz="1000" dirty="0">
                <a:solidFill>
                  <a:srgbClr val="1B1B2A"/>
                </a:solidFill>
                <a:latin typeface="+mn-ea"/>
                <a:ea typeface="+mn-ea"/>
                <a:cs typeface="Calibri" pitchFamily="34" charset="-120"/>
              </a:rPr>
              <a:t>STᵢ − Sᵢ が大きい → パラメータ i は他のパラメータと強く相互作用している（単独では説明できない効果を持つ）</a:t>
            </a:r>
            <a:endParaRPr lang="en-US" sz="1050" dirty="0">
              <a:latin typeface="+mn-ea"/>
              <a:ea typeface="+mn-ea"/>
            </a:endParaRPr>
          </a:p>
        </p:txBody>
      </p:sp>
      <p:sp>
        <p:nvSpPr>
          <p:cNvPr id="13" name="Text 11"/>
          <p:cNvSpPr txBox="1"/>
          <p:nvPr/>
        </p:nvSpPr>
        <p:spPr>
          <a:xfrm>
            <a:off x="401003" y="5264340"/>
            <a:ext cx="4812030" cy="280702"/>
          </a:xfrm>
          <a:prstGeom prst="rect">
            <a:avLst/>
          </a:prstGeom>
          <a:noFill/>
          <a:ln/>
        </p:spPr>
        <p:txBody>
          <a:bodyPr wrap="square" lIns="0" tIns="0" rIns="0" bIns="0" rtlCol="0" anchor="ctr"/>
          <a:lstStyle/>
          <a:p>
            <a:r>
              <a:rPr lang="en-US" sz="1050" b="1" i="1" dirty="0">
                <a:solidFill>
                  <a:srgbClr val="1E8E5A"/>
                </a:solidFill>
                <a:latin typeface="+mn-ea"/>
                <a:ea typeface="+mn-ea"/>
                <a:cs typeface="Calibri" pitchFamily="34" charset="-120"/>
              </a:rPr>
              <a:t>追加のモデル評価は不要 — 学習済みのPCE係数だけから、代数的に計算できる。</a:t>
            </a:r>
            <a:endParaRPr lang="en-US" sz="1050" dirty="0">
              <a:latin typeface="+mn-ea"/>
              <a:ea typeface="+mn-ea"/>
            </a:endParaRPr>
          </a:p>
        </p:txBody>
      </p:sp>
      <p:sp>
        <p:nvSpPr>
          <p:cNvPr id="14" name="Text 12"/>
          <p:cNvSpPr txBox="1"/>
          <p:nvPr/>
        </p:nvSpPr>
        <p:spPr>
          <a:xfrm>
            <a:off x="5573935" y="1976120"/>
            <a:ext cx="4731830" cy="28872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感度指標行列 Sᵢ(b)（イメージ）</a:t>
            </a:r>
            <a:endParaRPr lang="en-US" sz="1600" dirty="0">
              <a:latin typeface="+mn-ea"/>
              <a:ea typeface="+mn-ea"/>
            </a:endParaRPr>
          </a:p>
        </p:txBody>
      </p:sp>
      <p:sp>
        <p:nvSpPr>
          <p:cNvPr id="15" name="Text 13"/>
          <p:cNvSpPr txBox="1"/>
          <p:nvPr/>
        </p:nvSpPr>
        <p:spPr>
          <a:xfrm>
            <a:off x="5573935" y="2256821"/>
            <a:ext cx="4731830" cy="240602"/>
          </a:xfrm>
          <a:prstGeom prst="rect">
            <a:avLst/>
          </a:prstGeom>
          <a:noFill/>
          <a:ln/>
        </p:spPr>
        <p:txBody>
          <a:bodyPr wrap="square" lIns="0" tIns="0" rIns="0" bIns="0" rtlCol="0" anchor="ctr"/>
          <a:lstStyle/>
          <a:p>
            <a:r>
              <a:rPr lang="en-US" sz="1000" i="1" dirty="0">
                <a:solidFill>
                  <a:srgbClr val="5B5F76"/>
                </a:solidFill>
                <a:latin typeface="+mn-ea"/>
                <a:ea typeface="+mn-ea"/>
                <a:cs typeface="Calibri" pitchFamily="34" charset="-120"/>
              </a:rPr>
              <a:t>帯域ごとに算出したSᵢを並べ、パラメータ×帯域の行列として可視化する</a:t>
            </a:r>
            <a:endParaRPr lang="en-US" sz="1000" dirty="0">
              <a:latin typeface="+mn-ea"/>
              <a:ea typeface="+mn-ea"/>
            </a:endParaRPr>
          </a:p>
        </p:txBody>
      </p:sp>
      <p:sp>
        <p:nvSpPr>
          <p:cNvPr id="16" name="Text 14"/>
          <p:cNvSpPr txBox="1"/>
          <p:nvPr/>
        </p:nvSpPr>
        <p:spPr>
          <a:xfrm>
            <a:off x="6937343" y="2577624"/>
            <a:ext cx="1122807" cy="320802"/>
          </a:xfrm>
          <a:prstGeom prst="rect">
            <a:avLst/>
          </a:prstGeom>
          <a:noFill/>
          <a:ln/>
        </p:spPr>
        <p:txBody>
          <a:bodyPr wrap="square" lIns="0" tIns="0" rIns="0" bIns="0" rtlCol="0" anchor="ctr"/>
          <a:lstStyle/>
          <a:p>
            <a:pPr algn="ctr"/>
            <a:r>
              <a:rPr lang="en-US" sz="1000" b="1" dirty="0">
                <a:solidFill>
                  <a:srgbClr val="1E2761"/>
                </a:solidFill>
                <a:latin typeface="+mn-ea"/>
                <a:ea typeface="+mn-ea"/>
                <a:cs typeface="Calibri" pitchFamily="34" charset="-120"/>
              </a:rPr>
              <a:t>日次帯</a:t>
            </a:r>
            <a:endParaRPr lang="en-US" sz="1000" dirty="0">
              <a:latin typeface="+mn-ea"/>
              <a:ea typeface="+mn-ea"/>
            </a:endParaRPr>
          </a:p>
        </p:txBody>
      </p:sp>
      <p:sp>
        <p:nvSpPr>
          <p:cNvPr id="17" name="Text 15"/>
          <p:cNvSpPr txBox="1"/>
          <p:nvPr/>
        </p:nvSpPr>
        <p:spPr>
          <a:xfrm>
            <a:off x="8060150" y="2577624"/>
            <a:ext cx="1122807" cy="320802"/>
          </a:xfrm>
          <a:prstGeom prst="rect">
            <a:avLst/>
          </a:prstGeom>
          <a:noFill/>
          <a:ln/>
        </p:spPr>
        <p:txBody>
          <a:bodyPr wrap="square" lIns="0" tIns="0" rIns="0" bIns="0" rtlCol="0" anchor="ctr"/>
          <a:lstStyle/>
          <a:p>
            <a:pPr algn="ctr"/>
            <a:r>
              <a:rPr lang="en-US" sz="1000" b="1" dirty="0">
                <a:solidFill>
                  <a:srgbClr val="1E2761"/>
                </a:solidFill>
                <a:latin typeface="+mn-ea"/>
                <a:ea typeface="+mn-ea"/>
                <a:cs typeface="Calibri" pitchFamily="34" charset="-120"/>
              </a:rPr>
              <a:t>総観規模帯</a:t>
            </a:r>
            <a:endParaRPr lang="en-US" sz="1000" dirty="0">
              <a:latin typeface="+mn-ea"/>
              <a:ea typeface="+mn-ea"/>
            </a:endParaRPr>
          </a:p>
        </p:txBody>
      </p:sp>
      <p:sp>
        <p:nvSpPr>
          <p:cNvPr id="18" name="Text 16"/>
          <p:cNvSpPr txBox="1"/>
          <p:nvPr/>
        </p:nvSpPr>
        <p:spPr>
          <a:xfrm>
            <a:off x="9182957" y="2577624"/>
            <a:ext cx="1122807" cy="320802"/>
          </a:xfrm>
          <a:prstGeom prst="rect">
            <a:avLst/>
          </a:prstGeom>
          <a:noFill/>
          <a:ln/>
        </p:spPr>
        <p:txBody>
          <a:bodyPr wrap="square" lIns="0" tIns="0" rIns="0" bIns="0" rtlCol="0" anchor="ctr"/>
          <a:lstStyle/>
          <a:p>
            <a:pPr algn="ctr"/>
            <a:r>
              <a:rPr lang="en-US" sz="1000" b="1" dirty="0">
                <a:solidFill>
                  <a:srgbClr val="1E2761"/>
                </a:solidFill>
                <a:latin typeface="+mn-ea"/>
                <a:ea typeface="+mn-ea"/>
                <a:cs typeface="Calibri" pitchFamily="34" charset="-120"/>
              </a:rPr>
              <a:t>季節帯</a:t>
            </a:r>
            <a:endParaRPr lang="en-US" sz="1000" dirty="0">
              <a:latin typeface="+mn-ea"/>
              <a:ea typeface="+mn-ea"/>
            </a:endParaRPr>
          </a:p>
        </p:txBody>
      </p:sp>
      <p:sp>
        <p:nvSpPr>
          <p:cNvPr id="19" name="Text 17"/>
          <p:cNvSpPr txBox="1"/>
          <p:nvPr/>
        </p:nvSpPr>
        <p:spPr>
          <a:xfrm>
            <a:off x="5573935" y="2898425"/>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電解槽コスト</a:t>
            </a:r>
            <a:endParaRPr lang="en-US" sz="1000" dirty="0">
              <a:latin typeface="+mn-ea"/>
              <a:ea typeface="+mn-ea"/>
            </a:endParaRPr>
          </a:p>
        </p:txBody>
      </p:sp>
      <p:sp>
        <p:nvSpPr>
          <p:cNvPr id="20" name="Shape 18"/>
          <p:cNvSpPr/>
          <p:nvPr/>
        </p:nvSpPr>
        <p:spPr>
          <a:xfrm>
            <a:off x="6937343" y="2898426"/>
            <a:ext cx="1090727" cy="368922"/>
          </a:xfrm>
          <a:prstGeom prst="rect">
            <a:avLst/>
          </a:prstGeom>
          <a:solidFill>
            <a:srgbClr val="8388A8"/>
          </a:solidFill>
          <a:ln w="12700">
            <a:solidFill>
              <a:srgbClr val="FFFFFF"/>
            </a:solidFill>
            <a:prstDash val="solid"/>
          </a:ln>
        </p:spPr>
        <p:txBody>
          <a:bodyPr/>
          <a:lstStyle/>
          <a:p>
            <a:endParaRPr lang="ja-JP" altLang="en-US">
              <a:latin typeface="+mn-ea"/>
              <a:ea typeface="+mn-ea"/>
            </a:endParaRPr>
          </a:p>
        </p:txBody>
      </p:sp>
      <p:sp>
        <p:nvSpPr>
          <p:cNvPr id="21" name="Text 19"/>
          <p:cNvSpPr txBox="1"/>
          <p:nvPr/>
        </p:nvSpPr>
        <p:spPr>
          <a:xfrm>
            <a:off x="6937343" y="2898426"/>
            <a:ext cx="1090727" cy="368922"/>
          </a:xfrm>
          <a:prstGeom prst="rect">
            <a:avLst/>
          </a:prstGeom>
          <a:noFill/>
          <a:ln/>
        </p:spPr>
        <p:txBody>
          <a:bodyPr wrap="square" lIns="0" tIns="0" rIns="0" bIns="0" rtlCol="0" anchor="ctr"/>
          <a:lstStyle/>
          <a:p>
            <a:pPr algn="ctr"/>
            <a:r>
              <a:rPr lang="en-US" sz="1000" b="1" dirty="0">
                <a:solidFill>
                  <a:srgbClr val="FFFFFF"/>
                </a:solidFill>
                <a:latin typeface="+mn-ea"/>
                <a:ea typeface="+mn-ea"/>
                <a:cs typeface="Calibri" pitchFamily="34" charset="-120"/>
              </a:rPr>
              <a:t>0.55</a:t>
            </a:r>
            <a:endParaRPr lang="en-US" sz="1000" dirty="0">
              <a:latin typeface="+mn-ea"/>
              <a:ea typeface="+mn-ea"/>
            </a:endParaRPr>
          </a:p>
        </p:txBody>
      </p:sp>
      <p:sp>
        <p:nvSpPr>
          <p:cNvPr id="22" name="Shape 20"/>
          <p:cNvSpPr/>
          <p:nvPr/>
        </p:nvSpPr>
        <p:spPr>
          <a:xfrm>
            <a:off x="8060150" y="2898426"/>
            <a:ext cx="1090727" cy="368922"/>
          </a:xfrm>
          <a:prstGeom prst="rect">
            <a:avLst/>
          </a:prstGeom>
          <a:solidFill>
            <a:srgbClr val="E9E9EF"/>
          </a:solidFill>
          <a:ln w="12700">
            <a:solidFill>
              <a:srgbClr val="FFFFFF"/>
            </a:solidFill>
            <a:prstDash val="solid"/>
          </a:ln>
        </p:spPr>
        <p:txBody>
          <a:bodyPr/>
          <a:lstStyle/>
          <a:p>
            <a:endParaRPr lang="ja-JP" altLang="en-US">
              <a:latin typeface="+mn-ea"/>
              <a:ea typeface="+mn-ea"/>
            </a:endParaRPr>
          </a:p>
        </p:txBody>
      </p:sp>
      <p:sp>
        <p:nvSpPr>
          <p:cNvPr id="23" name="Text 21"/>
          <p:cNvSpPr txBox="1"/>
          <p:nvPr/>
        </p:nvSpPr>
        <p:spPr>
          <a:xfrm>
            <a:off x="8060150" y="2898426"/>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0.10</a:t>
            </a:r>
            <a:endParaRPr lang="en-US" sz="1000" dirty="0">
              <a:latin typeface="+mn-ea"/>
              <a:ea typeface="+mn-ea"/>
            </a:endParaRPr>
          </a:p>
        </p:txBody>
      </p:sp>
      <p:sp>
        <p:nvSpPr>
          <p:cNvPr id="24" name="Shape 22"/>
          <p:cNvSpPr/>
          <p:nvPr/>
        </p:nvSpPr>
        <p:spPr>
          <a:xfrm>
            <a:off x="9182957" y="2898426"/>
            <a:ext cx="1090727" cy="368922"/>
          </a:xfrm>
          <a:prstGeom prst="rect">
            <a:avLst/>
          </a:prstGeom>
          <a:solidFill>
            <a:srgbClr val="F4F4F7"/>
          </a:solidFill>
          <a:ln w="12700">
            <a:solidFill>
              <a:srgbClr val="FFFFFF"/>
            </a:solidFill>
            <a:prstDash val="solid"/>
          </a:ln>
        </p:spPr>
        <p:txBody>
          <a:bodyPr/>
          <a:lstStyle/>
          <a:p>
            <a:endParaRPr lang="ja-JP" altLang="en-US">
              <a:latin typeface="+mn-ea"/>
              <a:ea typeface="+mn-ea"/>
            </a:endParaRPr>
          </a:p>
        </p:txBody>
      </p:sp>
      <p:sp>
        <p:nvSpPr>
          <p:cNvPr id="25" name="Text 23"/>
          <p:cNvSpPr txBox="1"/>
          <p:nvPr/>
        </p:nvSpPr>
        <p:spPr>
          <a:xfrm>
            <a:off x="9182957" y="2898426"/>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0.05</a:t>
            </a:r>
            <a:endParaRPr lang="en-US" sz="1000" dirty="0">
              <a:latin typeface="+mn-ea"/>
              <a:ea typeface="+mn-ea"/>
            </a:endParaRPr>
          </a:p>
        </p:txBody>
      </p:sp>
      <p:sp>
        <p:nvSpPr>
          <p:cNvPr id="26" name="Text 24"/>
          <p:cNvSpPr txBox="1"/>
          <p:nvPr/>
        </p:nvSpPr>
        <p:spPr>
          <a:xfrm>
            <a:off x="5573935" y="3299428"/>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V1G普及率</a:t>
            </a:r>
            <a:endParaRPr lang="en-US" sz="1000" dirty="0">
              <a:latin typeface="+mn-ea"/>
              <a:ea typeface="+mn-ea"/>
            </a:endParaRPr>
          </a:p>
        </p:txBody>
      </p:sp>
      <p:sp>
        <p:nvSpPr>
          <p:cNvPr id="27" name="Shape 25"/>
          <p:cNvSpPr/>
          <p:nvPr/>
        </p:nvSpPr>
        <p:spPr>
          <a:xfrm>
            <a:off x="6937343" y="3299428"/>
            <a:ext cx="1090727" cy="368922"/>
          </a:xfrm>
          <a:prstGeom prst="rect">
            <a:avLst/>
          </a:prstGeom>
          <a:solidFill>
            <a:srgbClr val="787DA0"/>
          </a:solidFill>
          <a:ln w="12700">
            <a:solidFill>
              <a:srgbClr val="FFFFFF"/>
            </a:solidFill>
            <a:prstDash val="solid"/>
          </a:ln>
        </p:spPr>
        <p:txBody>
          <a:bodyPr/>
          <a:lstStyle/>
          <a:p>
            <a:endParaRPr lang="ja-JP" altLang="en-US">
              <a:latin typeface="+mn-ea"/>
              <a:ea typeface="+mn-ea"/>
            </a:endParaRPr>
          </a:p>
        </p:txBody>
      </p:sp>
      <p:sp>
        <p:nvSpPr>
          <p:cNvPr id="28" name="Text 26"/>
          <p:cNvSpPr txBox="1"/>
          <p:nvPr/>
        </p:nvSpPr>
        <p:spPr>
          <a:xfrm>
            <a:off x="6937343" y="3299428"/>
            <a:ext cx="1090727" cy="368922"/>
          </a:xfrm>
          <a:prstGeom prst="rect">
            <a:avLst/>
          </a:prstGeom>
          <a:noFill/>
          <a:ln/>
        </p:spPr>
        <p:txBody>
          <a:bodyPr wrap="square" lIns="0" tIns="0" rIns="0" bIns="0" rtlCol="0" anchor="ctr"/>
          <a:lstStyle/>
          <a:p>
            <a:pPr algn="ctr"/>
            <a:r>
              <a:rPr lang="en-US" sz="1000" b="1" dirty="0">
                <a:solidFill>
                  <a:srgbClr val="FFFFFF"/>
                </a:solidFill>
                <a:latin typeface="+mn-ea"/>
                <a:ea typeface="+mn-ea"/>
                <a:cs typeface="Calibri" pitchFamily="34" charset="-120"/>
              </a:rPr>
              <a:t>0.60</a:t>
            </a:r>
            <a:endParaRPr lang="en-US" sz="1000" dirty="0">
              <a:latin typeface="+mn-ea"/>
              <a:ea typeface="+mn-ea"/>
            </a:endParaRPr>
          </a:p>
        </p:txBody>
      </p:sp>
      <p:sp>
        <p:nvSpPr>
          <p:cNvPr id="29" name="Shape 27"/>
          <p:cNvSpPr/>
          <p:nvPr/>
        </p:nvSpPr>
        <p:spPr>
          <a:xfrm>
            <a:off x="8060150" y="3299428"/>
            <a:ext cx="1090727" cy="368922"/>
          </a:xfrm>
          <a:prstGeom prst="rect">
            <a:avLst/>
          </a:prstGeom>
          <a:solidFill>
            <a:srgbClr val="EDEEF2"/>
          </a:solidFill>
          <a:ln w="12700">
            <a:solidFill>
              <a:srgbClr val="FFFFFF"/>
            </a:solidFill>
            <a:prstDash val="solid"/>
          </a:ln>
        </p:spPr>
        <p:txBody>
          <a:bodyPr/>
          <a:lstStyle/>
          <a:p>
            <a:endParaRPr lang="ja-JP" altLang="en-US">
              <a:latin typeface="+mn-ea"/>
              <a:ea typeface="+mn-ea"/>
            </a:endParaRPr>
          </a:p>
        </p:txBody>
      </p:sp>
      <p:sp>
        <p:nvSpPr>
          <p:cNvPr id="30" name="Text 28"/>
          <p:cNvSpPr txBox="1"/>
          <p:nvPr/>
        </p:nvSpPr>
        <p:spPr>
          <a:xfrm>
            <a:off x="8060150" y="3299428"/>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0.08</a:t>
            </a:r>
            <a:endParaRPr lang="en-US" sz="1000" dirty="0">
              <a:latin typeface="+mn-ea"/>
              <a:ea typeface="+mn-ea"/>
            </a:endParaRPr>
          </a:p>
        </p:txBody>
      </p:sp>
      <p:sp>
        <p:nvSpPr>
          <p:cNvPr id="31" name="Shape 29"/>
          <p:cNvSpPr/>
          <p:nvPr/>
        </p:nvSpPr>
        <p:spPr>
          <a:xfrm>
            <a:off x="9182957" y="3299428"/>
            <a:ext cx="1090727" cy="368922"/>
          </a:xfrm>
          <a:prstGeom prst="rect">
            <a:avLst/>
          </a:prstGeom>
          <a:solidFill>
            <a:srgbClr val="F8F9FA"/>
          </a:solidFill>
          <a:ln w="12700">
            <a:solidFill>
              <a:srgbClr val="FFFFFF"/>
            </a:solidFill>
            <a:prstDash val="solid"/>
          </a:ln>
        </p:spPr>
        <p:txBody>
          <a:bodyPr/>
          <a:lstStyle/>
          <a:p>
            <a:endParaRPr lang="ja-JP" altLang="en-US">
              <a:latin typeface="+mn-ea"/>
              <a:ea typeface="+mn-ea"/>
            </a:endParaRPr>
          </a:p>
        </p:txBody>
      </p:sp>
      <p:sp>
        <p:nvSpPr>
          <p:cNvPr id="32" name="Text 30"/>
          <p:cNvSpPr txBox="1"/>
          <p:nvPr/>
        </p:nvSpPr>
        <p:spPr>
          <a:xfrm>
            <a:off x="9182957" y="3299428"/>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0.03</a:t>
            </a:r>
            <a:endParaRPr lang="en-US" sz="1000" dirty="0">
              <a:latin typeface="+mn-ea"/>
              <a:ea typeface="+mn-ea"/>
            </a:endParaRPr>
          </a:p>
        </p:txBody>
      </p:sp>
      <p:sp>
        <p:nvSpPr>
          <p:cNvPr id="33" name="Text 31"/>
          <p:cNvSpPr txBox="1"/>
          <p:nvPr/>
        </p:nvSpPr>
        <p:spPr>
          <a:xfrm>
            <a:off x="5573935" y="3700430"/>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蓄電池コスト</a:t>
            </a:r>
            <a:endParaRPr lang="en-US" sz="1000" dirty="0">
              <a:latin typeface="+mn-ea"/>
              <a:ea typeface="+mn-ea"/>
            </a:endParaRPr>
          </a:p>
        </p:txBody>
      </p:sp>
      <p:sp>
        <p:nvSpPr>
          <p:cNvPr id="34" name="Shape 32"/>
          <p:cNvSpPr/>
          <p:nvPr/>
        </p:nvSpPr>
        <p:spPr>
          <a:xfrm>
            <a:off x="6937343" y="3700431"/>
            <a:ext cx="1090727" cy="368922"/>
          </a:xfrm>
          <a:prstGeom prst="rect">
            <a:avLst/>
          </a:prstGeom>
          <a:solidFill>
            <a:srgbClr val="B0B3C8"/>
          </a:solidFill>
          <a:ln w="12700">
            <a:solidFill>
              <a:srgbClr val="FFFFFF"/>
            </a:solidFill>
            <a:prstDash val="solid"/>
          </a:ln>
        </p:spPr>
        <p:txBody>
          <a:bodyPr/>
          <a:lstStyle/>
          <a:p>
            <a:endParaRPr lang="ja-JP" altLang="en-US">
              <a:latin typeface="+mn-ea"/>
              <a:ea typeface="+mn-ea"/>
            </a:endParaRPr>
          </a:p>
        </p:txBody>
      </p:sp>
      <p:sp>
        <p:nvSpPr>
          <p:cNvPr id="35" name="Text 33"/>
          <p:cNvSpPr txBox="1"/>
          <p:nvPr/>
        </p:nvSpPr>
        <p:spPr>
          <a:xfrm>
            <a:off x="6937343" y="3700431"/>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0.35</a:t>
            </a:r>
            <a:endParaRPr lang="en-US" sz="1000" dirty="0">
              <a:latin typeface="+mn-ea"/>
              <a:ea typeface="+mn-ea"/>
            </a:endParaRPr>
          </a:p>
        </p:txBody>
      </p:sp>
      <p:sp>
        <p:nvSpPr>
          <p:cNvPr id="36" name="Shape 34"/>
          <p:cNvSpPr/>
          <p:nvPr/>
        </p:nvSpPr>
        <p:spPr>
          <a:xfrm>
            <a:off x="8060150" y="3700431"/>
            <a:ext cx="1090727" cy="368922"/>
          </a:xfrm>
          <a:prstGeom prst="rect">
            <a:avLst/>
          </a:prstGeom>
          <a:solidFill>
            <a:srgbClr val="F2F2F6"/>
          </a:solidFill>
          <a:ln w="12700">
            <a:solidFill>
              <a:srgbClr val="FFFFFF"/>
            </a:solidFill>
            <a:prstDash val="solid"/>
          </a:ln>
        </p:spPr>
        <p:txBody>
          <a:bodyPr/>
          <a:lstStyle/>
          <a:p>
            <a:endParaRPr lang="ja-JP" altLang="en-US">
              <a:latin typeface="+mn-ea"/>
              <a:ea typeface="+mn-ea"/>
            </a:endParaRPr>
          </a:p>
        </p:txBody>
      </p:sp>
      <p:sp>
        <p:nvSpPr>
          <p:cNvPr id="37" name="Text 35"/>
          <p:cNvSpPr txBox="1"/>
          <p:nvPr/>
        </p:nvSpPr>
        <p:spPr>
          <a:xfrm>
            <a:off x="8060150" y="3700431"/>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0.06</a:t>
            </a:r>
            <a:endParaRPr lang="en-US" sz="1000" dirty="0">
              <a:latin typeface="+mn-ea"/>
              <a:ea typeface="+mn-ea"/>
            </a:endParaRPr>
          </a:p>
        </p:txBody>
      </p:sp>
      <p:sp>
        <p:nvSpPr>
          <p:cNvPr id="38" name="Shape 36"/>
          <p:cNvSpPr/>
          <p:nvPr/>
        </p:nvSpPr>
        <p:spPr>
          <a:xfrm>
            <a:off x="9182957" y="3700431"/>
            <a:ext cx="1090727" cy="368922"/>
          </a:xfrm>
          <a:prstGeom prst="rect">
            <a:avLst/>
          </a:prstGeom>
          <a:solidFill>
            <a:srgbClr val="F6F6F9"/>
          </a:solidFill>
          <a:ln w="12700">
            <a:solidFill>
              <a:srgbClr val="FFFFFF"/>
            </a:solidFill>
            <a:prstDash val="solid"/>
          </a:ln>
        </p:spPr>
        <p:txBody>
          <a:bodyPr/>
          <a:lstStyle/>
          <a:p>
            <a:endParaRPr lang="ja-JP" altLang="en-US">
              <a:latin typeface="+mn-ea"/>
              <a:ea typeface="+mn-ea"/>
            </a:endParaRPr>
          </a:p>
        </p:txBody>
      </p:sp>
      <p:sp>
        <p:nvSpPr>
          <p:cNvPr id="39" name="Text 37"/>
          <p:cNvSpPr txBox="1"/>
          <p:nvPr/>
        </p:nvSpPr>
        <p:spPr>
          <a:xfrm>
            <a:off x="9182957" y="3700431"/>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0.04</a:t>
            </a:r>
            <a:endParaRPr lang="en-US" sz="1000" dirty="0">
              <a:latin typeface="+mn-ea"/>
              <a:ea typeface="+mn-ea"/>
            </a:endParaRPr>
          </a:p>
        </p:txBody>
      </p:sp>
      <p:sp>
        <p:nvSpPr>
          <p:cNvPr id="40" name="Text 38"/>
          <p:cNvSpPr txBox="1"/>
          <p:nvPr/>
        </p:nvSpPr>
        <p:spPr>
          <a:xfrm>
            <a:off x="5573935" y="4101433"/>
            <a:ext cx="1363409" cy="401003"/>
          </a:xfrm>
          <a:prstGeom prst="rect">
            <a:avLst/>
          </a:prstGeom>
          <a:noFill/>
          <a:ln/>
        </p:spPr>
        <p:txBody>
          <a:bodyPr wrap="square" lIns="334" tIns="334" rIns="334" bIns="334" rtlCol="0" anchor="ctr"/>
          <a:lstStyle/>
          <a:p>
            <a:r>
              <a:rPr lang="en-US" sz="1000" dirty="0">
                <a:solidFill>
                  <a:srgbClr val="1B1B2A"/>
                </a:solidFill>
                <a:latin typeface="+mn-ea"/>
                <a:ea typeface="+mn-ea"/>
                <a:cs typeface="Calibri" pitchFamily="34" charset="-120"/>
              </a:rPr>
              <a:t>水素輸入価格</a:t>
            </a:r>
            <a:endParaRPr lang="en-US" sz="1000" dirty="0">
              <a:latin typeface="+mn-ea"/>
              <a:ea typeface="+mn-ea"/>
            </a:endParaRPr>
          </a:p>
        </p:txBody>
      </p:sp>
      <p:sp>
        <p:nvSpPr>
          <p:cNvPr id="41" name="Shape 39"/>
          <p:cNvSpPr/>
          <p:nvPr/>
        </p:nvSpPr>
        <p:spPr>
          <a:xfrm>
            <a:off x="6937343" y="4101433"/>
            <a:ext cx="1090727" cy="368922"/>
          </a:xfrm>
          <a:prstGeom prst="rect">
            <a:avLst/>
          </a:prstGeom>
          <a:solidFill>
            <a:srgbClr val="F4F4F7"/>
          </a:solidFill>
          <a:ln w="12700">
            <a:solidFill>
              <a:srgbClr val="FFFFFF"/>
            </a:solidFill>
            <a:prstDash val="solid"/>
          </a:ln>
        </p:spPr>
        <p:txBody>
          <a:bodyPr/>
          <a:lstStyle/>
          <a:p>
            <a:endParaRPr lang="ja-JP" altLang="en-US">
              <a:latin typeface="+mn-ea"/>
              <a:ea typeface="+mn-ea"/>
            </a:endParaRPr>
          </a:p>
        </p:txBody>
      </p:sp>
      <p:sp>
        <p:nvSpPr>
          <p:cNvPr id="42" name="Text 40"/>
          <p:cNvSpPr txBox="1"/>
          <p:nvPr/>
        </p:nvSpPr>
        <p:spPr>
          <a:xfrm>
            <a:off x="6937343" y="4101433"/>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0.05</a:t>
            </a:r>
            <a:endParaRPr lang="en-US" sz="1000" dirty="0">
              <a:latin typeface="+mn-ea"/>
              <a:ea typeface="+mn-ea"/>
            </a:endParaRPr>
          </a:p>
        </p:txBody>
      </p:sp>
      <p:sp>
        <p:nvSpPr>
          <p:cNvPr id="43" name="Shape 41"/>
          <p:cNvSpPr/>
          <p:nvPr/>
        </p:nvSpPr>
        <p:spPr>
          <a:xfrm>
            <a:off x="8060150" y="4101433"/>
            <a:ext cx="1090727" cy="368922"/>
          </a:xfrm>
          <a:prstGeom prst="rect">
            <a:avLst/>
          </a:prstGeom>
          <a:solidFill>
            <a:srgbClr val="F6F6F9"/>
          </a:solidFill>
          <a:ln w="12700">
            <a:solidFill>
              <a:srgbClr val="FFFFFF"/>
            </a:solidFill>
            <a:prstDash val="solid"/>
          </a:ln>
        </p:spPr>
        <p:txBody>
          <a:bodyPr/>
          <a:lstStyle/>
          <a:p>
            <a:endParaRPr lang="ja-JP" altLang="en-US">
              <a:latin typeface="+mn-ea"/>
              <a:ea typeface="+mn-ea"/>
            </a:endParaRPr>
          </a:p>
        </p:txBody>
      </p:sp>
      <p:sp>
        <p:nvSpPr>
          <p:cNvPr id="44" name="Text 42"/>
          <p:cNvSpPr txBox="1"/>
          <p:nvPr/>
        </p:nvSpPr>
        <p:spPr>
          <a:xfrm>
            <a:off x="8060150" y="4101433"/>
            <a:ext cx="1090727" cy="368922"/>
          </a:xfrm>
          <a:prstGeom prst="rect">
            <a:avLst/>
          </a:prstGeom>
          <a:noFill/>
          <a:ln/>
        </p:spPr>
        <p:txBody>
          <a:bodyPr wrap="square" lIns="0" tIns="0" rIns="0" bIns="0" rtlCol="0" anchor="ctr"/>
          <a:lstStyle/>
          <a:p>
            <a:pPr algn="ctr"/>
            <a:r>
              <a:rPr lang="en-US" sz="1000" b="1" dirty="0">
                <a:solidFill>
                  <a:srgbClr val="1B1B2A"/>
                </a:solidFill>
                <a:latin typeface="+mn-ea"/>
                <a:ea typeface="+mn-ea"/>
                <a:cs typeface="Calibri" pitchFamily="34" charset="-120"/>
              </a:rPr>
              <a:t>0.04</a:t>
            </a:r>
            <a:endParaRPr lang="en-US" sz="1000" dirty="0">
              <a:latin typeface="+mn-ea"/>
              <a:ea typeface="+mn-ea"/>
            </a:endParaRPr>
          </a:p>
        </p:txBody>
      </p:sp>
      <p:sp>
        <p:nvSpPr>
          <p:cNvPr id="45" name="Shape 43"/>
          <p:cNvSpPr/>
          <p:nvPr/>
        </p:nvSpPr>
        <p:spPr>
          <a:xfrm>
            <a:off x="9182957" y="4101433"/>
            <a:ext cx="1090727" cy="368922"/>
          </a:xfrm>
          <a:prstGeom prst="rect">
            <a:avLst/>
          </a:prstGeom>
          <a:solidFill>
            <a:srgbClr val="8F93B0"/>
          </a:solidFill>
          <a:ln w="12700">
            <a:solidFill>
              <a:srgbClr val="FFFFFF"/>
            </a:solidFill>
            <a:prstDash val="solid"/>
          </a:ln>
        </p:spPr>
        <p:txBody>
          <a:bodyPr/>
          <a:lstStyle/>
          <a:p>
            <a:endParaRPr lang="ja-JP" altLang="en-US">
              <a:latin typeface="+mn-ea"/>
              <a:ea typeface="+mn-ea"/>
            </a:endParaRPr>
          </a:p>
        </p:txBody>
      </p:sp>
      <p:sp>
        <p:nvSpPr>
          <p:cNvPr id="46" name="Text 44"/>
          <p:cNvSpPr txBox="1"/>
          <p:nvPr/>
        </p:nvSpPr>
        <p:spPr>
          <a:xfrm>
            <a:off x="9182957" y="4101433"/>
            <a:ext cx="1090727" cy="368922"/>
          </a:xfrm>
          <a:prstGeom prst="rect">
            <a:avLst/>
          </a:prstGeom>
          <a:noFill/>
          <a:ln/>
        </p:spPr>
        <p:txBody>
          <a:bodyPr wrap="square" lIns="0" tIns="0" rIns="0" bIns="0" rtlCol="0" anchor="ctr"/>
          <a:lstStyle/>
          <a:p>
            <a:pPr algn="ctr"/>
            <a:r>
              <a:rPr lang="en-US" sz="1000" b="1" dirty="0">
                <a:solidFill>
                  <a:srgbClr val="FFFFFF"/>
                </a:solidFill>
                <a:latin typeface="+mn-ea"/>
                <a:ea typeface="+mn-ea"/>
                <a:cs typeface="Calibri" pitchFamily="34" charset="-120"/>
              </a:rPr>
              <a:t>0.50</a:t>
            </a:r>
            <a:endParaRPr lang="en-US" sz="1000" dirty="0">
              <a:latin typeface="+mn-ea"/>
              <a:ea typeface="+mn-ea"/>
            </a:endParaRPr>
          </a:p>
        </p:txBody>
      </p:sp>
      <p:sp>
        <p:nvSpPr>
          <p:cNvPr id="47" name="Text 45"/>
          <p:cNvSpPr txBox="1"/>
          <p:nvPr/>
        </p:nvSpPr>
        <p:spPr>
          <a:xfrm>
            <a:off x="5573935" y="4566596"/>
            <a:ext cx="4731830" cy="240602"/>
          </a:xfrm>
          <a:prstGeom prst="rect">
            <a:avLst/>
          </a:prstGeom>
          <a:noFill/>
          <a:ln/>
        </p:spPr>
        <p:txBody>
          <a:bodyPr wrap="square" lIns="0" tIns="0" rIns="0" bIns="0" rtlCol="0" anchor="ctr"/>
          <a:lstStyle/>
          <a:p>
            <a:r>
              <a:rPr lang="en-US" sz="900" i="1" dirty="0">
                <a:solidFill>
                  <a:srgbClr val="5B5F76"/>
                </a:solidFill>
                <a:latin typeface="+mn-ea"/>
                <a:ea typeface="+mn-ea"/>
                <a:cs typeface="Calibri" pitchFamily="34" charset="-120"/>
              </a:rPr>
              <a:t>※ 数値は解析の進め方を示す仮の例。実際の値は求解後に算出する。</a:t>
            </a:r>
            <a:endParaRPr lang="en-US" sz="900" dirty="0">
              <a:latin typeface="+mn-ea"/>
              <a:ea typeface="+mn-ea"/>
            </a:endParaRPr>
          </a:p>
        </p:txBody>
      </p:sp>
      <p:sp>
        <p:nvSpPr>
          <p:cNvPr id="48" name="Shape 46"/>
          <p:cNvSpPr/>
          <p:nvPr/>
        </p:nvSpPr>
        <p:spPr>
          <a:xfrm>
            <a:off x="5573935" y="4903438"/>
            <a:ext cx="4731830" cy="1122807"/>
          </a:xfrm>
          <a:prstGeom prst="roundRect">
            <a:avLst>
              <a:gd name="adj" fmla="val 5714"/>
            </a:avLst>
          </a:prstGeom>
          <a:solidFill>
            <a:srgbClr val="1E2761"/>
          </a:solidFill>
          <a:ln/>
        </p:spPr>
        <p:txBody>
          <a:bodyPr/>
          <a:lstStyle/>
          <a:p>
            <a:endParaRPr lang="ja-JP" altLang="en-US">
              <a:latin typeface="+mn-ea"/>
              <a:ea typeface="+mn-ea"/>
            </a:endParaRPr>
          </a:p>
        </p:txBody>
      </p:sp>
      <p:sp>
        <p:nvSpPr>
          <p:cNvPr id="49" name="Text 47"/>
          <p:cNvSpPr txBox="1"/>
          <p:nvPr/>
        </p:nvSpPr>
        <p:spPr>
          <a:xfrm>
            <a:off x="5774436" y="4903438"/>
            <a:ext cx="4330827" cy="1122807"/>
          </a:xfrm>
          <a:prstGeom prst="rect">
            <a:avLst/>
          </a:prstGeom>
          <a:noFill/>
          <a:ln/>
        </p:spPr>
        <p:txBody>
          <a:bodyPr wrap="square" lIns="0" tIns="0" rIns="0" bIns="0" rtlCol="0" anchor="ctr"/>
          <a:lstStyle/>
          <a:p>
            <a:pPr>
              <a:lnSpc>
                <a:spcPct val="130000"/>
              </a:lnSpc>
            </a:pPr>
            <a:r>
              <a:rPr lang="en-US" sz="1200" b="1" dirty="0">
                <a:solidFill>
                  <a:srgbClr val="CADCFC"/>
                </a:solidFill>
                <a:latin typeface="+mn-ea"/>
                <a:ea typeface="+mn-ea"/>
                <a:cs typeface="Calibri" pitchFamily="34" charset="-120"/>
              </a:rPr>
              <a:t>この行列が示すもの　</a:t>
            </a:r>
            <a:endParaRPr lang="en-US" sz="1200" dirty="0">
              <a:latin typeface="+mn-ea"/>
              <a:ea typeface="+mn-ea"/>
            </a:endParaRPr>
          </a:p>
          <a:p>
            <a:pPr>
              <a:lnSpc>
                <a:spcPct val="130000"/>
              </a:lnSpc>
            </a:pPr>
            <a:r>
              <a:rPr lang="en-US" sz="1000" dirty="0">
                <a:solidFill>
                  <a:srgbClr val="FFFFFF"/>
                </a:solidFill>
                <a:latin typeface="+mn-ea"/>
                <a:ea typeface="+mn-ea"/>
                <a:cs typeface="Calibri" pitchFamily="34" charset="-120"/>
              </a:rPr>
              <a:t>電解槽コストとV1G普及率が日次帯に集中して高い感度を持てば、両者が同じ帯域で「役割を奪い合っている」ことの数値的な根拠になる。水素輸入価格が季節帯にのみ高い感度を持てば、季節帯を担う別のリソースであることを示す。</a:t>
            </a:r>
            <a:endParaRPr lang="en-US" sz="1200" dirty="0">
              <a:latin typeface="+mn-ea"/>
              <a:ea typeface="+mn-e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01002" y="1029754"/>
            <a:ext cx="9888722" cy="497243"/>
          </a:xfrm>
          <a:prstGeom prst="rect">
            <a:avLst/>
          </a:prstGeom>
          <a:noFill/>
          <a:ln/>
        </p:spPr>
        <p:txBody>
          <a:bodyPr wrap="square" lIns="0" tIns="0" rIns="0" bIns="0" rtlCol="0" anchor="ctr"/>
          <a:lstStyle/>
          <a:p>
            <a:r>
              <a:rPr lang="en-US" sz="3600" b="1" dirty="0">
                <a:solidFill>
                  <a:srgbClr val="1E2761"/>
                </a:solidFill>
                <a:latin typeface="+mn-ea"/>
                <a:ea typeface="+mn-ea"/>
                <a:cs typeface="Cambria" pitchFamily="34" charset="-120"/>
              </a:rPr>
              <a:t>代替／補完関係の判定</a:t>
            </a:r>
            <a:endParaRPr lang="en-US" sz="3600" dirty="0">
              <a:latin typeface="+mn-ea"/>
              <a:ea typeface="+mn-ea"/>
            </a:endParaRPr>
          </a:p>
        </p:txBody>
      </p:sp>
      <p:sp>
        <p:nvSpPr>
          <p:cNvPr id="3" name="Text 1"/>
          <p:cNvSpPr txBox="1"/>
          <p:nvPr/>
        </p:nvSpPr>
        <p:spPr>
          <a:xfrm>
            <a:off x="401002" y="1526997"/>
            <a:ext cx="9888722" cy="288722"/>
          </a:xfrm>
          <a:prstGeom prst="rect">
            <a:avLst/>
          </a:prstGeom>
          <a:noFill/>
          <a:ln/>
        </p:spPr>
        <p:txBody>
          <a:bodyPr wrap="square" lIns="0" tIns="0" rIns="0" bIns="0" rtlCol="0" anchor="ctr"/>
          <a:lstStyle/>
          <a:p>
            <a:r>
              <a:rPr lang="en-US" sz="1800" i="1" dirty="0">
                <a:solidFill>
                  <a:srgbClr val="5B5F76"/>
                </a:solidFill>
                <a:latin typeface="+mn-ea"/>
                <a:ea typeface="+mn-ea"/>
                <a:cs typeface="Calibri" pitchFamily="34" charset="-120"/>
              </a:rPr>
              <a:t>Sobol指数の「大きさ」だけでなく、交差項の「符号」からリソース間の競合・補完を読み取る</a:t>
            </a:r>
            <a:endParaRPr lang="en-US" sz="1800" dirty="0">
              <a:latin typeface="+mn-ea"/>
              <a:ea typeface="+mn-ea"/>
            </a:endParaRPr>
          </a:p>
        </p:txBody>
      </p:sp>
      <p:sp>
        <p:nvSpPr>
          <p:cNvPr id="4" name="Text 2"/>
          <p:cNvSpPr txBox="1"/>
          <p:nvPr/>
        </p:nvSpPr>
        <p:spPr>
          <a:xfrm>
            <a:off x="401002" y="1976120"/>
            <a:ext cx="4892231" cy="288722"/>
          </a:xfrm>
          <a:prstGeom prst="rect">
            <a:avLst/>
          </a:prstGeom>
          <a:noFill/>
          <a:ln/>
        </p:spPr>
        <p:txBody>
          <a:bodyPr wrap="square" lIns="0" tIns="0" rIns="0" bIns="0" rtlCol="0" anchor="ctr"/>
          <a:lstStyle/>
          <a:p>
            <a:r>
              <a:rPr lang="en-US" sz="2000" b="1" dirty="0">
                <a:solidFill>
                  <a:srgbClr val="1E2761"/>
                </a:solidFill>
                <a:latin typeface="+mn-ea"/>
                <a:ea typeface="+mn-ea"/>
                <a:cs typeface="Calibri" pitchFamily="34" charset="-120"/>
              </a:rPr>
              <a:t>Sobol指数では符号がわからない</a:t>
            </a:r>
            <a:endParaRPr lang="en-US" sz="2000" dirty="0">
              <a:latin typeface="+mn-ea"/>
              <a:ea typeface="+mn-ea"/>
            </a:endParaRPr>
          </a:p>
        </p:txBody>
      </p:sp>
      <p:sp>
        <p:nvSpPr>
          <p:cNvPr id="5" name="Shape 3"/>
          <p:cNvSpPr/>
          <p:nvPr/>
        </p:nvSpPr>
        <p:spPr>
          <a:xfrm>
            <a:off x="401003" y="2312962"/>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800">
              <a:latin typeface="+mn-ea"/>
              <a:ea typeface="+mn-ea"/>
            </a:endParaRPr>
          </a:p>
        </p:txBody>
      </p:sp>
      <p:sp>
        <p:nvSpPr>
          <p:cNvPr id="6" name="Text 4"/>
          <p:cNvSpPr txBox="1"/>
          <p:nvPr/>
        </p:nvSpPr>
        <p:spPr>
          <a:xfrm>
            <a:off x="561404" y="2312962"/>
            <a:ext cx="4491228" cy="681704"/>
          </a:xfrm>
          <a:prstGeom prst="rect">
            <a:avLst/>
          </a:prstGeom>
          <a:noFill/>
          <a:ln/>
        </p:spPr>
        <p:txBody>
          <a:bodyPr wrap="square" lIns="0" tIns="0" rIns="0" bIns="0" rtlCol="0" anchor="ctr"/>
          <a:lstStyle/>
          <a:p>
            <a:pPr>
              <a:lnSpc>
                <a:spcPct val="125000"/>
              </a:lnSpc>
            </a:pPr>
            <a:r>
              <a:rPr lang="en-US" b="1" dirty="0">
                <a:solidFill>
                  <a:srgbClr val="1E2761"/>
                </a:solidFill>
                <a:latin typeface="+mn-ea"/>
                <a:ea typeface="+mn-ea"/>
                <a:cs typeface="Calibri" pitchFamily="34" charset="-120"/>
              </a:rPr>
              <a:t>Sobol指数（Vᵢ, Vᵢⱼ, Sᵢ, STᵢ）は分散への寄与量 → 常に非負</a:t>
            </a:r>
            <a:endParaRPr lang="en-US" dirty="0">
              <a:latin typeface="+mn-ea"/>
              <a:ea typeface="+mn-ea"/>
            </a:endParaRPr>
          </a:p>
          <a:p>
            <a:pPr>
              <a:lnSpc>
                <a:spcPct val="125000"/>
              </a:lnSpc>
            </a:pPr>
            <a:r>
              <a:rPr lang="en-US" sz="1100" dirty="0">
                <a:solidFill>
                  <a:srgbClr val="1B1B2A"/>
                </a:solidFill>
                <a:latin typeface="+mn-ea"/>
                <a:ea typeface="+mn-ea"/>
                <a:cs typeface="Calibri" pitchFamily="34" charset="-120"/>
              </a:rPr>
              <a:t>「相互作用が強い」ことはわかっても、競合しているのか補い合っているのかはわからない</a:t>
            </a:r>
            <a:endParaRPr lang="en-US" dirty="0">
              <a:latin typeface="+mn-ea"/>
              <a:ea typeface="+mn-ea"/>
            </a:endParaRPr>
          </a:p>
        </p:txBody>
      </p:sp>
      <p:sp>
        <p:nvSpPr>
          <p:cNvPr id="7" name="Text 5"/>
          <p:cNvSpPr txBox="1"/>
          <p:nvPr/>
        </p:nvSpPr>
        <p:spPr>
          <a:xfrm>
            <a:off x="401002" y="3139027"/>
            <a:ext cx="4892231" cy="25664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符号情報はANOVA分解の交差項に宿る</a:t>
            </a:r>
            <a:endParaRPr lang="en-US" sz="1600" dirty="0">
              <a:latin typeface="+mn-ea"/>
              <a:ea typeface="+mn-ea"/>
            </a:endParaRPr>
          </a:p>
        </p:txBody>
      </p:sp>
      <p:sp>
        <p:nvSpPr>
          <p:cNvPr id="8" name="Shape 6"/>
          <p:cNvSpPr/>
          <p:nvPr/>
        </p:nvSpPr>
        <p:spPr>
          <a:xfrm>
            <a:off x="401003" y="3435769"/>
            <a:ext cx="4812030" cy="842105"/>
          </a:xfrm>
          <a:prstGeom prst="roundRect">
            <a:avLst>
              <a:gd name="adj" fmla="val 7619"/>
            </a:avLst>
          </a:prstGeom>
          <a:solidFill>
            <a:srgbClr val="1E2761"/>
          </a:solidFill>
          <a:ln/>
        </p:spPr>
        <p:txBody>
          <a:bodyPr/>
          <a:lstStyle/>
          <a:p>
            <a:endParaRPr lang="ja-JP" altLang="en-US" sz="1800">
              <a:latin typeface="+mn-ea"/>
              <a:ea typeface="+mn-ea"/>
            </a:endParaRPr>
          </a:p>
        </p:txBody>
      </p:sp>
      <p:sp>
        <p:nvSpPr>
          <p:cNvPr id="9" name="Text 7"/>
          <p:cNvSpPr txBox="1"/>
          <p:nvPr/>
        </p:nvSpPr>
        <p:spPr>
          <a:xfrm>
            <a:off x="601504" y="3435769"/>
            <a:ext cx="4411028" cy="842105"/>
          </a:xfrm>
          <a:prstGeom prst="rect">
            <a:avLst/>
          </a:prstGeom>
          <a:noFill/>
          <a:ln/>
        </p:spPr>
        <p:txBody>
          <a:bodyPr wrap="square" lIns="0" tIns="0" rIns="0" bIns="0" rtlCol="0" anchor="ctr"/>
          <a:lstStyle/>
          <a:p>
            <a:pPr>
              <a:lnSpc>
                <a:spcPct val="130000"/>
              </a:lnSpc>
            </a:pPr>
            <a:r>
              <a:rPr lang="en-US" sz="1800" b="1" dirty="0">
                <a:solidFill>
                  <a:srgbClr val="FFFFFF"/>
                </a:solidFill>
                <a:latin typeface="+mn-ea"/>
                <a:ea typeface="+mn-ea"/>
                <a:cs typeface="Cambria" pitchFamily="34" charset="-120"/>
              </a:rPr>
              <a:t>F(x) = F₀ + Σᵢ Fᵢ(xᵢ) + Σᵢ&lt;ⱼ Fᵢⱼ(xᵢ,xⱼ) + ...</a:t>
            </a:r>
            <a:endParaRPr lang="en-US" sz="1800" dirty="0">
              <a:latin typeface="+mn-ea"/>
              <a:ea typeface="+mn-ea"/>
            </a:endParaRPr>
          </a:p>
          <a:p>
            <a:pPr>
              <a:lnSpc>
                <a:spcPct val="130000"/>
              </a:lnSpc>
            </a:pPr>
            <a:r>
              <a:rPr lang="en-US" sz="1100" dirty="0">
                <a:solidFill>
                  <a:srgbClr val="CADCFC"/>
                </a:solidFill>
                <a:latin typeface="+mn-ea"/>
                <a:ea typeface="+mn-ea"/>
                <a:cs typeface="Cambria" pitchFamily="34" charset="-120"/>
              </a:rPr>
              <a:t>Fᵢⱼ(xᵢ,xⱼ) という関数自体は正にも負にもなる（PCEでは2次交差項の係数の符号に対応）</a:t>
            </a:r>
            <a:endParaRPr lang="en-US" sz="1800" dirty="0">
              <a:latin typeface="+mn-ea"/>
              <a:ea typeface="+mn-ea"/>
            </a:endParaRPr>
          </a:p>
        </p:txBody>
      </p:sp>
      <p:sp>
        <p:nvSpPr>
          <p:cNvPr id="10" name="Shape 8"/>
          <p:cNvSpPr/>
          <p:nvPr/>
        </p:nvSpPr>
        <p:spPr>
          <a:xfrm>
            <a:off x="401003" y="4422235"/>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800">
              <a:latin typeface="+mn-ea"/>
              <a:ea typeface="+mn-ea"/>
            </a:endParaRPr>
          </a:p>
        </p:txBody>
      </p:sp>
      <p:sp>
        <p:nvSpPr>
          <p:cNvPr id="11" name="Shape 9"/>
          <p:cNvSpPr/>
          <p:nvPr/>
        </p:nvSpPr>
        <p:spPr>
          <a:xfrm>
            <a:off x="521303" y="4550556"/>
            <a:ext cx="441103" cy="441103"/>
          </a:xfrm>
          <a:prstGeom prst="ellipse">
            <a:avLst/>
          </a:prstGeom>
          <a:solidFill>
            <a:srgbClr val="C0392B"/>
          </a:solidFill>
          <a:ln/>
        </p:spPr>
        <p:txBody>
          <a:bodyPr/>
          <a:lstStyle/>
          <a:p>
            <a:endParaRPr lang="ja-JP" altLang="en-US" sz="1800">
              <a:latin typeface="+mn-ea"/>
              <a:ea typeface="+mn-ea"/>
            </a:endParaRPr>
          </a:p>
        </p:txBody>
      </p:sp>
      <p:sp>
        <p:nvSpPr>
          <p:cNvPr id="12" name="Text 10"/>
          <p:cNvSpPr txBox="1"/>
          <p:nvPr/>
        </p:nvSpPr>
        <p:spPr>
          <a:xfrm>
            <a:off x="521303" y="4550556"/>
            <a:ext cx="441103" cy="441103"/>
          </a:xfrm>
          <a:prstGeom prst="rect">
            <a:avLst/>
          </a:prstGeom>
          <a:noFill/>
          <a:ln/>
        </p:spPr>
        <p:txBody>
          <a:bodyPr wrap="square" lIns="0" tIns="0" rIns="0" bIns="0" rtlCol="0" anchor="ctr"/>
          <a:lstStyle/>
          <a:p>
            <a:pPr algn="ctr"/>
            <a:r>
              <a:rPr lang="en-US" sz="1800" b="1" dirty="0">
                <a:solidFill>
                  <a:srgbClr val="FFFFFF"/>
                </a:solidFill>
                <a:latin typeface="+mn-ea"/>
                <a:ea typeface="+mn-ea"/>
                <a:cs typeface="Calibri" pitchFamily="34" charset="-120"/>
              </a:rPr>
              <a:t>負</a:t>
            </a:r>
            <a:endParaRPr lang="en-US" sz="1800" dirty="0">
              <a:latin typeface="+mn-ea"/>
              <a:ea typeface="+mn-ea"/>
            </a:endParaRPr>
          </a:p>
        </p:txBody>
      </p:sp>
      <p:sp>
        <p:nvSpPr>
          <p:cNvPr id="13" name="Text 11"/>
          <p:cNvSpPr txBox="1"/>
          <p:nvPr/>
        </p:nvSpPr>
        <p:spPr>
          <a:xfrm>
            <a:off x="1082707" y="4502436"/>
            <a:ext cx="1082707" cy="521303"/>
          </a:xfrm>
          <a:prstGeom prst="rect">
            <a:avLst/>
          </a:prstGeom>
          <a:noFill/>
          <a:ln/>
        </p:spPr>
        <p:txBody>
          <a:bodyPr wrap="square" lIns="0" tIns="0" rIns="0" bIns="0" rtlCol="0" anchor="ctr"/>
          <a:lstStyle/>
          <a:p>
            <a:r>
              <a:rPr lang="en-US" sz="1600" b="1" dirty="0">
                <a:solidFill>
                  <a:srgbClr val="1B1B2A"/>
                </a:solidFill>
                <a:latin typeface="+mn-ea"/>
                <a:ea typeface="+mn-ea"/>
                <a:cs typeface="Calibri" pitchFamily="34" charset="-120"/>
              </a:rPr>
              <a:t>代替関係</a:t>
            </a:r>
            <a:endParaRPr lang="en-US" sz="1600" dirty="0">
              <a:latin typeface="+mn-ea"/>
              <a:ea typeface="+mn-ea"/>
            </a:endParaRPr>
          </a:p>
        </p:txBody>
      </p:sp>
      <p:sp>
        <p:nvSpPr>
          <p:cNvPr id="14" name="Text 12"/>
          <p:cNvSpPr txBox="1"/>
          <p:nvPr/>
        </p:nvSpPr>
        <p:spPr>
          <a:xfrm>
            <a:off x="2205514" y="4486395"/>
            <a:ext cx="2887218" cy="561404"/>
          </a:xfrm>
          <a:prstGeom prst="rect">
            <a:avLst/>
          </a:prstGeom>
          <a:noFill/>
          <a:ln/>
        </p:spPr>
        <p:txBody>
          <a:bodyPr wrap="square" lIns="0" tIns="0" rIns="0" bIns="0" rtlCol="0" anchor="ctr"/>
          <a:lstStyle/>
          <a:p>
            <a:pPr>
              <a:lnSpc>
                <a:spcPct val="115000"/>
              </a:lnSpc>
            </a:pPr>
            <a:r>
              <a:rPr lang="en-US" sz="1050" dirty="0">
                <a:solidFill>
                  <a:srgbClr val="1B1B2A"/>
                </a:solidFill>
                <a:latin typeface="+mn-ea"/>
                <a:ea typeface="+mn-ea"/>
                <a:cs typeface="Calibri" pitchFamily="34" charset="-120"/>
              </a:rPr>
              <a:t>片方を増やすと、もう片方の限界価値が下がる（同じ帯域で役割を奪い合う）</a:t>
            </a:r>
            <a:endParaRPr lang="en-US" sz="1050" dirty="0">
              <a:latin typeface="+mn-ea"/>
              <a:ea typeface="+mn-ea"/>
            </a:endParaRPr>
          </a:p>
        </p:txBody>
      </p:sp>
      <p:sp>
        <p:nvSpPr>
          <p:cNvPr id="15" name="Shape 13"/>
          <p:cNvSpPr/>
          <p:nvPr/>
        </p:nvSpPr>
        <p:spPr>
          <a:xfrm>
            <a:off x="401003" y="5184140"/>
            <a:ext cx="4812030" cy="681704"/>
          </a:xfrm>
          <a:prstGeom prst="roundRect">
            <a:avLst>
              <a:gd name="adj" fmla="val 9412"/>
            </a:avLst>
          </a:prstGeom>
          <a:solidFill>
            <a:srgbClr val="F4F6FB"/>
          </a:solidFill>
          <a:ln w="12700">
            <a:solidFill>
              <a:srgbClr val="E2E6F2"/>
            </a:solidFill>
            <a:prstDash val="solid"/>
          </a:ln>
        </p:spPr>
        <p:txBody>
          <a:bodyPr/>
          <a:lstStyle/>
          <a:p>
            <a:endParaRPr lang="ja-JP" altLang="en-US" sz="1800">
              <a:latin typeface="+mn-ea"/>
              <a:ea typeface="+mn-ea"/>
            </a:endParaRPr>
          </a:p>
        </p:txBody>
      </p:sp>
      <p:sp>
        <p:nvSpPr>
          <p:cNvPr id="16" name="Shape 14"/>
          <p:cNvSpPr/>
          <p:nvPr/>
        </p:nvSpPr>
        <p:spPr>
          <a:xfrm>
            <a:off x="521303" y="5312460"/>
            <a:ext cx="441103" cy="441103"/>
          </a:xfrm>
          <a:prstGeom prst="ellipse">
            <a:avLst/>
          </a:prstGeom>
          <a:solidFill>
            <a:srgbClr val="1E8E5A"/>
          </a:solidFill>
          <a:ln/>
        </p:spPr>
        <p:txBody>
          <a:bodyPr/>
          <a:lstStyle/>
          <a:p>
            <a:endParaRPr lang="ja-JP" altLang="en-US" sz="1800">
              <a:latin typeface="+mn-ea"/>
              <a:ea typeface="+mn-ea"/>
            </a:endParaRPr>
          </a:p>
        </p:txBody>
      </p:sp>
      <p:sp>
        <p:nvSpPr>
          <p:cNvPr id="17" name="Text 15"/>
          <p:cNvSpPr txBox="1"/>
          <p:nvPr/>
        </p:nvSpPr>
        <p:spPr>
          <a:xfrm>
            <a:off x="521303" y="5312460"/>
            <a:ext cx="441103" cy="441103"/>
          </a:xfrm>
          <a:prstGeom prst="rect">
            <a:avLst/>
          </a:prstGeom>
          <a:noFill/>
          <a:ln/>
        </p:spPr>
        <p:txBody>
          <a:bodyPr wrap="square" lIns="0" tIns="0" rIns="0" bIns="0" rtlCol="0" anchor="ctr"/>
          <a:lstStyle/>
          <a:p>
            <a:pPr algn="ctr"/>
            <a:r>
              <a:rPr lang="en-US" sz="1800" b="1" dirty="0">
                <a:solidFill>
                  <a:srgbClr val="FFFFFF"/>
                </a:solidFill>
                <a:latin typeface="+mn-ea"/>
                <a:ea typeface="+mn-ea"/>
                <a:cs typeface="Calibri" pitchFamily="34" charset="-120"/>
              </a:rPr>
              <a:t>正</a:t>
            </a:r>
            <a:endParaRPr lang="en-US" sz="1800" dirty="0">
              <a:latin typeface="+mn-ea"/>
              <a:ea typeface="+mn-ea"/>
            </a:endParaRPr>
          </a:p>
        </p:txBody>
      </p:sp>
      <p:sp>
        <p:nvSpPr>
          <p:cNvPr id="18" name="Text 16"/>
          <p:cNvSpPr txBox="1"/>
          <p:nvPr/>
        </p:nvSpPr>
        <p:spPr>
          <a:xfrm>
            <a:off x="1082707" y="5264340"/>
            <a:ext cx="1082707" cy="521303"/>
          </a:xfrm>
          <a:prstGeom prst="rect">
            <a:avLst/>
          </a:prstGeom>
          <a:noFill/>
          <a:ln/>
        </p:spPr>
        <p:txBody>
          <a:bodyPr wrap="square" lIns="0" tIns="0" rIns="0" bIns="0" rtlCol="0" anchor="ctr"/>
          <a:lstStyle/>
          <a:p>
            <a:r>
              <a:rPr lang="en-US" sz="1600" b="1" dirty="0">
                <a:solidFill>
                  <a:srgbClr val="1B1B2A"/>
                </a:solidFill>
                <a:latin typeface="+mn-ea"/>
                <a:ea typeface="+mn-ea"/>
                <a:cs typeface="Calibri" pitchFamily="34" charset="-120"/>
              </a:rPr>
              <a:t>補完関係</a:t>
            </a:r>
            <a:endParaRPr lang="en-US" sz="1600" dirty="0">
              <a:latin typeface="+mn-ea"/>
              <a:ea typeface="+mn-ea"/>
            </a:endParaRPr>
          </a:p>
        </p:txBody>
      </p:sp>
      <p:sp>
        <p:nvSpPr>
          <p:cNvPr id="19" name="Text 17"/>
          <p:cNvSpPr txBox="1"/>
          <p:nvPr/>
        </p:nvSpPr>
        <p:spPr>
          <a:xfrm>
            <a:off x="2205514" y="5248300"/>
            <a:ext cx="2887218" cy="561404"/>
          </a:xfrm>
          <a:prstGeom prst="rect">
            <a:avLst/>
          </a:prstGeom>
          <a:noFill/>
          <a:ln/>
        </p:spPr>
        <p:txBody>
          <a:bodyPr wrap="square" lIns="0" tIns="0" rIns="0" bIns="0" rtlCol="0" anchor="ctr"/>
          <a:lstStyle/>
          <a:p>
            <a:pPr>
              <a:lnSpc>
                <a:spcPct val="115000"/>
              </a:lnSpc>
            </a:pPr>
            <a:r>
              <a:rPr lang="en-US" sz="1050" dirty="0">
                <a:solidFill>
                  <a:srgbClr val="1B1B2A"/>
                </a:solidFill>
                <a:latin typeface="+mn-ea"/>
                <a:ea typeface="+mn-ea"/>
                <a:cs typeface="Calibri" pitchFamily="34" charset="-120"/>
              </a:rPr>
              <a:t>片方を増やすと、もう片方の限界価値も上がる（互いを補強し合う）</a:t>
            </a:r>
            <a:endParaRPr lang="en-US" sz="1050" dirty="0">
              <a:latin typeface="+mn-ea"/>
              <a:ea typeface="+mn-ea"/>
            </a:endParaRPr>
          </a:p>
        </p:txBody>
      </p:sp>
      <p:sp>
        <p:nvSpPr>
          <p:cNvPr id="20" name="Text 18"/>
          <p:cNvSpPr txBox="1"/>
          <p:nvPr/>
        </p:nvSpPr>
        <p:spPr>
          <a:xfrm>
            <a:off x="5573935" y="1976120"/>
            <a:ext cx="4731830" cy="288722"/>
          </a:xfrm>
          <a:prstGeom prst="rect">
            <a:avLst/>
          </a:prstGeom>
          <a:noFill/>
          <a:ln/>
        </p:spPr>
        <p:txBody>
          <a:bodyPr wrap="square" lIns="0" tIns="0" rIns="0" bIns="0" rtlCol="0" anchor="ctr"/>
          <a:lstStyle/>
          <a:p>
            <a:r>
              <a:rPr lang="en-US" sz="2000" b="1" dirty="0">
                <a:solidFill>
                  <a:srgbClr val="1E2761"/>
                </a:solidFill>
                <a:latin typeface="+mn-ea"/>
                <a:ea typeface="+mn-ea"/>
                <a:cs typeface="Calibri" pitchFamily="34" charset="-120"/>
              </a:rPr>
              <a:t>具体例：電解槽 × V1G（日次帯）</a:t>
            </a:r>
            <a:endParaRPr lang="en-US" sz="2000" dirty="0">
              <a:latin typeface="+mn-ea"/>
              <a:ea typeface="+mn-ea"/>
            </a:endParaRPr>
          </a:p>
        </p:txBody>
      </p:sp>
      <p:sp>
        <p:nvSpPr>
          <p:cNvPr id="21" name="Shape 19"/>
          <p:cNvSpPr/>
          <p:nvPr/>
        </p:nvSpPr>
        <p:spPr>
          <a:xfrm>
            <a:off x="5573935" y="2312962"/>
            <a:ext cx="4731830" cy="1243108"/>
          </a:xfrm>
          <a:prstGeom prst="roundRect">
            <a:avLst>
              <a:gd name="adj" fmla="val 5161"/>
            </a:avLst>
          </a:prstGeom>
          <a:solidFill>
            <a:srgbClr val="FFF0EE"/>
          </a:solidFill>
          <a:ln w="12700">
            <a:solidFill>
              <a:srgbClr val="C0392B"/>
            </a:solidFill>
            <a:prstDash val="solid"/>
          </a:ln>
        </p:spPr>
        <p:txBody>
          <a:bodyPr/>
          <a:lstStyle/>
          <a:p>
            <a:endParaRPr lang="ja-JP" altLang="en-US" sz="1800">
              <a:latin typeface="+mn-ea"/>
              <a:ea typeface="+mn-ea"/>
            </a:endParaRPr>
          </a:p>
        </p:txBody>
      </p:sp>
      <p:sp>
        <p:nvSpPr>
          <p:cNvPr id="22" name="Text 20"/>
          <p:cNvSpPr txBox="1"/>
          <p:nvPr/>
        </p:nvSpPr>
        <p:spPr>
          <a:xfrm>
            <a:off x="5774436" y="2312962"/>
            <a:ext cx="4330827" cy="1243108"/>
          </a:xfrm>
          <a:prstGeom prst="rect">
            <a:avLst/>
          </a:prstGeom>
          <a:noFill/>
          <a:ln/>
        </p:spPr>
        <p:txBody>
          <a:bodyPr wrap="square" lIns="0" tIns="0" rIns="0" bIns="0" rtlCol="0" anchor="ctr"/>
          <a:lstStyle/>
          <a:p>
            <a:pPr>
              <a:lnSpc>
                <a:spcPct val="130000"/>
              </a:lnSpc>
            </a:pPr>
            <a:r>
              <a:rPr lang="en-US" sz="1600" b="1" dirty="0">
                <a:solidFill>
                  <a:srgbClr val="C0392B"/>
                </a:solidFill>
                <a:latin typeface="+mn-ea"/>
                <a:ea typeface="+mn-ea"/>
                <a:cs typeface="Calibri" pitchFamily="34" charset="-120"/>
              </a:rPr>
              <a:t>診断：代替関係（負の交差項）</a:t>
            </a:r>
            <a:endParaRPr lang="en-US" sz="1600" dirty="0">
              <a:latin typeface="+mn-ea"/>
              <a:ea typeface="+mn-ea"/>
            </a:endParaRPr>
          </a:p>
          <a:p>
            <a:pPr>
              <a:lnSpc>
                <a:spcPct val="130000"/>
              </a:lnSpc>
            </a:pPr>
            <a:r>
              <a:rPr lang="en-US" sz="1100" dirty="0">
                <a:solidFill>
                  <a:srgbClr val="1B1B2A"/>
                </a:solidFill>
                <a:latin typeface="+mn-ea"/>
                <a:ea typeface="+mn-ea"/>
                <a:cs typeface="Calibri" pitchFamily="34" charset="-120"/>
              </a:rPr>
              <a:t>電解槽容量を増やすほど、V1Gが追加1単位の柔軟性を提供したときの限界価値（総費用削減効果）が小さくなる。→ 両者とも「安い余剰電力の時間帯」を埋める同じ仕事をしており、片方が仕事を済ませるともう片方の出番が減る。</a:t>
            </a:r>
            <a:endParaRPr lang="en-US" sz="1600" dirty="0">
              <a:latin typeface="+mn-ea"/>
              <a:ea typeface="+mn-ea"/>
            </a:endParaRPr>
          </a:p>
        </p:txBody>
      </p:sp>
      <p:sp>
        <p:nvSpPr>
          <p:cNvPr id="23" name="Text 21"/>
          <p:cNvSpPr txBox="1"/>
          <p:nvPr/>
        </p:nvSpPr>
        <p:spPr>
          <a:xfrm>
            <a:off x="5573935" y="3676370"/>
            <a:ext cx="4731830" cy="256642"/>
          </a:xfrm>
          <a:prstGeom prst="rect">
            <a:avLst/>
          </a:prstGeom>
          <a:noFill/>
          <a:ln/>
        </p:spPr>
        <p:txBody>
          <a:bodyPr wrap="square" lIns="0" tIns="0" rIns="0" bIns="0" rtlCol="0" anchor="ctr"/>
          <a:lstStyle/>
          <a:p>
            <a:r>
              <a:rPr lang="en-US" sz="1600" b="1" dirty="0">
                <a:solidFill>
                  <a:srgbClr val="1E2761"/>
                </a:solidFill>
                <a:latin typeface="+mn-ea"/>
                <a:ea typeface="+mn-ea"/>
                <a:cs typeface="Calibri" pitchFamily="34" charset="-120"/>
              </a:rPr>
              <a:t>対比：水素還元 × V1G（季節帯）</a:t>
            </a:r>
            <a:endParaRPr lang="en-US" sz="1600" dirty="0">
              <a:latin typeface="+mn-ea"/>
              <a:ea typeface="+mn-ea"/>
            </a:endParaRPr>
          </a:p>
        </p:txBody>
      </p:sp>
      <p:sp>
        <p:nvSpPr>
          <p:cNvPr id="24" name="Shape 22"/>
          <p:cNvSpPr/>
          <p:nvPr/>
        </p:nvSpPr>
        <p:spPr>
          <a:xfrm>
            <a:off x="5573935" y="3965092"/>
            <a:ext cx="4731830" cy="882206"/>
          </a:xfrm>
          <a:prstGeom prst="roundRect">
            <a:avLst>
              <a:gd name="adj" fmla="val 7273"/>
            </a:avLst>
          </a:prstGeom>
          <a:solidFill>
            <a:srgbClr val="EAF7F0"/>
          </a:solidFill>
          <a:ln w="12700">
            <a:solidFill>
              <a:srgbClr val="1E8E5A"/>
            </a:solidFill>
            <a:prstDash val="solid"/>
          </a:ln>
        </p:spPr>
        <p:txBody>
          <a:bodyPr/>
          <a:lstStyle/>
          <a:p>
            <a:endParaRPr lang="ja-JP" altLang="en-US" sz="1800">
              <a:latin typeface="+mn-ea"/>
              <a:ea typeface="+mn-ea"/>
            </a:endParaRPr>
          </a:p>
        </p:txBody>
      </p:sp>
      <p:sp>
        <p:nvSpPr>
          <p:cNvPr id="25" name="Text 23"/>
          <p:cNvSpPr txBox="1"/>
          <p:nvPr/>
        </p:nvSpPr>
        <p:spPr>
          <a:xfrm>
            <a:off x="5774436" y="3965092"/>
            <a:ext cx="4330827" cy="882206"/>
          </a:xfrm>
          <a:prstGeom prst="rect">
            <a:avLst/>
          </a:prstGeom>
          <a:noFill/>
          <a:ln/>
        </p:spPr>
        <p:txBody>
          <a:bodyPr wrap="square" lIns="0" tIns="0" rIns="0" bIns="0" rtlCol="0" anchor="ctr"/>
          <a:lstStyle/>
          <a:p>
            <a:pPr>
              <a:lnSpc>
                <a:spcPct val="130000"/>
              </a:lnSpc>
            </a:pPr>
            <a:r>
              <a:rPr lang="en-US" b="1" dirty="0">
                <a:solidFill>
                  <a:srgbClr val="1E8E5A"/>
                </a:solidFill>
                <a:latin typeface="+mn-ea"/>
                <a:ea typeface="+mn-ea"/>
                <a:cs typeface="Calibri" pitchFamily="34" charset="-120"/>
              </a:rPr>
              <a:t>診断：補完関係（正の交差項、想定）</a:t>
            </a:r>
            <a:endParaRPr lang="en-US" dirty="0">
              <a:latin typeface="+mn-ea"/>
              <a:ea typeface="+mn-ea"/>
            </a:endParaRPr>
          </a:p>
          <a:p>
            <a:pPr>
              <a:lnSpc>
                <a:spcPct val="130000"/>
              </a:lnSpc>
            </a:pPr>
            <a:r>
              <a:rPr lang="en-US" sz="1100" dirty="0">
                <a:solidFill>
                  <a:srgbClr val="1B1B2A"/>
                </a:solidFill>
                <a:latin typeface="+mn-ea"/>
                <a:ea typeface="+mn-ea"/>
                <a:cs typeface="Calibri" pitchFamily="34" charset="-120"/>
              </a:rPr>
              <a:t>電解槽容量が増え水素還元経由の季節平準化が強化されると、V1Gの季節帯での貢献価値も一緒に高まる可能性がある。帯域整合仮説の検証対象。</a:t>
            </a:r>
            <a:endParaRPr lang="en-US" dirty="0">
              <a:latin typeface="+mn-ea"/>
              <a:ea typeface="+mn-ea"/>
            </a:endParaRPr>
          </a:p>
        </p:txBody>
      </p:sp>
      <p:sp>
        <p:nvSpPr>
          <p:cNvPr id="26" name="Shape 24"/>
          <p:cNvSpPr/>
          <p:nvPr/>
        </p:nvSpPr>
        <p:spPr>
          <a:xfrm>
            <a:off x="5573935" y="5007699"/>
            <a:ext cx="4731830" cy="922306"/>
          </a:xfrm>
          <a:prstGeom prst="roundRect">
            <a:avLst>
              <a:gd name="adj" fmla="val 6957"/>
            </a:avLst>
          </a:prstGeom>
          <a:solidFill>
            <a:srgbClr val="1E2761"/>
          </a:solidFill>
          <a:ln/>
        </p:spPr>
        <p:txBody>
          <a:bodyPr/>
          <a:lstStyle/>
          <a:p>
            <a:endParaRPr lang="ja-JP" altLang="en-US" sz="1800">
              <a:latin typeface="+mn-ea"/>
              <a:ea typeface="+mn-ea"/>
            </a:endParaRPr>
          </a:p>
        </p:txBody>
      </p:sp>
      <p:sp>
        <p:nvSpPr>
          <p:cNvPr id="27" name="Text 25"/>
          <p:cNvSpPr txBox="1"/>
          <p:nvPr/>
        </p:nvSpPr>
        <p:spPr>
          <a:xfrm>
            <a:off x="5774436" y="5007699"/>
            <a:ext cx="4330827" cy="922306"/>
          </a:xfrm>
          <a:prstGeom prst="rect">
            <a:avLst/>
          </a:prstGeom>
          <a:noFill/>
          <a:ln/>
        </p:spPr>
        <p:txBody>
          <a:bodyPr wrap="square" lIns="0" tIns="0" rIns="0" bIns="0" rtlCol="0" anchor="ctr"/>
          <a:lstStyle/>
          <a:p>
            <a:pPr>
              <a:lnSpc>
                <a:spcPct val="135000"/>
              </a:lnSpc>
            </a:pPr>
            <a:r>
              <a:rPr lang="en-US" sz="1600" b="1" dirty="0">
                <a:solidFill>
                  <a:srgbClr val="CADCFC"/>
                </a:solidFill>
                <a:latin typeface="+mn-ea"/>
                <a:ea typeface="+mn-ea"/>
                <a:cs typeface="Calibri" pitchFamily="34" charset="-120"/>
              </a:rPr>
              <a:t>診断ロジック　</a:t>
            </a:r>
            <a:endParaRPr lang="en-US" sz="1600" dirty="0">
              <a:latin typeface="+mn-ea"/>
              <a:ea typeface="+mn-ea"/>
            </a:endParaRPr>
          </a:p>
          <a:p>
            <a:pPr>
              <a:lnSpc>
                <a:spcPct val="135000"/>
              </a:lnSpc>
            </a:pPr>
            <a:r>
              <a:rPr lang="en-US" sz="1100" dirty="0">
                <a:solidFill>
                  <a:srgbClr val="FFFFFF"/>
                </a:solidFill>
                <a:latin typeface="+mn-ea"/>
                <a:ea typeface="+mn-ea"/>
                <a:cs typeface="Calibri" pitchFamily="34" charset="-120"/>
              </a:rPr>
              <a:t>同一帯域で主効果が大＋交差項が負 → 代替関係</a:t>
            </a:r>
            <a:endParaRPr lang="en-US" sz="1600" dirty="0">
              <a:latin typeface="+mn-ea"/>
              <a:ea typeface="+mn-ea"/>
            </a:endParaRPr>
          </a:p>
          <a:p>
            <a:pPr>
              <a:lnSpc>
                <a:spcPct val="135000"/>
              </a:lnSpc>
            </a:pPr>
            <a:r>
              <a:rPr lang="en-US" sz="1100" dirty="0">
                <a:solidFill>
                  <a:srgbClr val="FFFFFF"/>
                </a:solidFill>
                <a:latin typeface="+mn-ea"/>
                <a:ea typeface="+mn-ea"/>
                <a:cs typeface="Calibri" pitchFamily="34" charset="-120"/>
              </a:rPr>
              <a:t>主効果が別々の帯域に分離 → 相補関係</a:t>
            </a:r>
            <a:endParaRPr lang="en-US" sz="1600" dirty="0">
              <a:latin typeface="+mn-ea"/>
              <a:ea typeface="+mn-ea"/>
            </a:endParaRPr>
          </a:p>
        </p:txBody>
      </p:sp>
      <p:sp>
        <p:nvSpPr>
          <p:cNvPr id="28" name="Text 26"/>
          <p:cNvSpPr txBox="1"/>
          <p:nvPr/>
        </p:nvSpPr>
        <p:spPr>
          <a:xfrm>
            <a:off x="5573935" y="6050305"/>
            <a:ext cx="4731830" cy="441103"/>
          </a:xfrm>
          <a:prstGeom prst="rect">
            <a:avLst/>
          </a:prstGeom>
          <a:noFill/>
          <a:ln/>
        </p:spPr>
        <p:txBody>
          <a:bodyPr wrap="square" lIns="0" tIns="0" rIns="0" bIns="0" rtlCol="0" anchor="ctr"/>
          <a:lstStyle/>
          <a:p>
            <a:pPr>
              <a:lnSpc>
                <a:spcPct val="120000"/>
              </a:lnSpc>
            </a:pPr>
            <a:r>
              <a:rPr lang="en-US" sz="1100" b="1" dirty="0">
                <a:solidFill>
                  <a:srgbClr val="1E2761"/>
                </a:solidFill>
                <a:latin typeface="+mn-ea"/>
                <a:ea typeface="+mn-ea"/>
                <a:cs typeface="Calibri" pitchFamily="34" charset="-120"/>
              </a:rPr>
              <a:t>実装上の注意　</a:t>
            </a:r>
            <a:r>
              <a:rPr lang="en-US" sz="1100" dirty="0">
                <a:solidFill>
                  <a:srgbClr val="5B5F76"/>
                </a:solidFill>
                <a:latin typeface="+mn-ea"/>
                <a:ea typeface="+mn-ea"/>
                <a:cs typeface="Calibri" pitchFamily="34" charset="-120"/>
              </a:rPr>
              <a:t>SALibの標準Sobol第2次指数は符号を持たない。LAR-PCEの2次カイオス多項式の係数を直接見て符号を判定する。</a:t>
            </a:r>
            <a:endParaRPr lang="en-US" sz="1100" dirty="0">
              <a:latin typeface="+mn-ea"/>
              <a:ea typeface="+mn-e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2336908"/>
      </p:ext>
    </p:extLst>
  </p:cSld>
  <p:clrMapOvr>
    <a:masterClrMapping/>
  </p:clrMapOvr>
</p:sld>
</file>

<file path=ppt/theme/theme1.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ユーザー定義 3">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24649</TotalTime>
  <Words>5200</Words>
  <Application>Microsoft Office PowerPoint</Application>
  <PresentationFormat>ユーザー設定</PresentationFormat>
  <Paragraphs>727</Paragraphs>
  <Slides>37</Slides>
  <Notes>10</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37</vt:i4>
      </vt:variant>
    </vt:vector>
  </HeadingPairs>
  <TitlesOfParts>
    <vt:vector size="44" baseType="lpstr">
      <vt:lpstr>Meiryo UI</vt:lpstr>
      <vt:lpstr>Arial</vt:lpstr>
      <vt:lpstr>Calibri</vt:lpstr>
      <vt:lpstr>Cambria</vt:lpstr>
      <vt:lpstr>Cambria Math</vt:lpstr>
      <vt:lpstr>Wingdings</vt:lpstr>
      <vt:lpstr>デザインの設定</vt:lpstr>
      <vt:lpstr>電力系統における柔軟性リソースの帯域別価値評価  Sobol感度分析による定量的相互作用評価 </vt:lpstr>
      <vt:lpstr>容量拡張計画における不確実性の課題</vt:lpstr>
      <vt:lpstr>実験用のサンプルモデル</vt:lpstr>
      <vt:lpstr>不確実性の設定</vt:lpstr>
      <vt:lpstr>SOBOL感度分析計算手法</vt:lpstr>
      <vt:lpstr>LHSサンプリング（ラテン超方格サンプリング）</vt:lpstr>
      <vt:lpstr>LP求解(320回実施)</vt:lpstr>
      <vt:lpstr>Weekly Supply-Demand Balance</vt:lpstr>
      <vt:lpstr>PowerPoint プレゼンテーション</vt:lpstr>
      <vt:lpstr>Monthly Energy Dispatch</vt:lpstr>
      <vt:lpstr>3.PCE学習</vt:lpstr>
      <vt:lpstr>RidgeCVについて</vt:lpstr>
      <vt:lpstr>PowerPoint プレゼンテーション</vt:lpstr>
      <vt:lpstr>PowerPoint プレゼンテーション</vt:lpstr>
      <vt:lpstr>PowerPoint プレゼンテーション</vt:lpstr>
      <vt:lpstr>従来研究の2つの限界と本研究が解決するリサーチギャップ</vt:lpstr>
      <vt:lpstr>時間帯域別SOBOL感度分析計算手法</vt:lpstr>
      <vt:lpstr>時間スケールの区分</vt:lpstr>
      <vt:lpstr>Maximum Overlap Discrete Wavelet Transform</vt:lpstr>
      <vt:lpstr>時間帯域別SOBOL感度分析</vt:lpstr>
      <vt:lpstr>S_i と 〖ST〗_i のアウトプットイメージ</vt:lpstr>
      <vt:lpstr>2次交差項 S_ijのアウトプットイメージおよび 係数 C_ijの符号による競合(代替)と補完(相補)を定量識別</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二次Sobol感度指標S_ijの数理的定義</vt:lpstr>
      <vt:lpstr>LAR-PCEにおける代数的計算式</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Project for Low Carbon and Stable Supply at Power System in Tunisia  Project Outline</dc:title>
  <dc:creator>田草川彰</dc:creator>
  <cp:lastModifiedBy>柳瀬　崇</cp:lastModifiedBy>
  <cp:revision>298</cp:revision>
  <cp:lastPrinted>2026-09-17T09:40:13Z</cp:lastPrinted>
  <dcterms:created xsi:type="dcterms:W3CDTF">2014-03-25T10:03:31Z</dcterms:created>
  <dcterms:modified xsi:type="dcterms:W3CDTF">2026-09-29T04:56:00Z</dcterms:modified>
</cp:coreProperties>
</file>