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2" r:id="rId1"/>
  </p:sldMasterIdLst>
  <p:notesMasterIdLst>
    <p:notesMasterId r:id="rId33"/>
  </p:notesMasterIdLst>
  <p:sldIdLst>
    <p:sldId id="635" r:id="rId2"/>
    <p:sldId id="705" r:id="rId3"/>
    <p:sldId id="682" r:id="rId4"/>
    <p:sldId id="706" r:id="rId5"/>
    <p:sldId id="703" r:id="rId6"/>
    <p:sldId id="699" r:id="rId7"/>
    <p:sldId id="693" r:id="rId8"/>
    <p:sldId id="701" r:id="rId9"/>
    <p:sldId id="702" r:id="rId10"/>
    <p:sldId id="686" r:id="rId11"/>
    <p:sldId id="704" r:id="rId12"/>
    <p:sldId id="696" r:id="rId13"/>
    <p:sldId id="691" r:id="rId14"/>
    <p:sldId id="695" r:id="rId15"/>
    <p:sldId id="713" r:id="rId16"/>
    <p:sldId id="685" r:id="rId17"/>
    <p:sldId id="690" r:id="rId18"/>
    <p:sldId id="700" r:id="rId19"/>
    <p:sldId id="707" r:id="rId20"/>
    <p:sldId id="697" r:id="rId21"/>
    <p:sldId id="688" r:id="rId22"/>
    <p:sldId id="709" r:id="rId23"/>
    <p:sldId id="712" r:id="rId24"/>
    <p:sldId id="710" r:id="rId25"/>
    <p:sldId id="711" r:id="rId26"/>
    <p:sldId id="714" r:id="rId27"/>
    <p:sldId id="715" r:id="rId28"/>
    <p:sldId id="716" r:id="rId29"/>
    <p:sldId id="717" r:id="rId30"/>
    <p:sldId id="718" r:id="rId31"/>
    <p:sldId id="719" r:id="rId32"/>
  </p:sldIdLst>
  <p:sldSz cx="10693400" cy="7561263"/>
  <p:notesSz cx="6735763" cy="98663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既定のセクション" id="{9FCB00D2-3A16-438B-9EEA-D83C6F7866BB}">
          <p14:sldIdLst>
            <p14:sldId id="635"/>
            <p14:sldId id="705"/>
            <p14:sldId id="682"/>
            <p14:sldId id="706"/>
            <p14:sldId id="703"/>
            <p14:sldId id="699"/>
            <p14:sldId id="693"/>
            <p14:sldId id="701"/>
            <p14:sldId id="702"/>
            <p14:sldId id="686"/>
            <p14:sldId id="704"/>
            <p14:sldId id="696"/>
            <p14:sldId id="691"/>
            <p14:sldId id="695"/>
            <p14:sldId id="713"/>
            <p14:sldId id="685"/>
            <p14:sldId id="690"/>
            <p14:sldId id="700"/>
            <p14:sldId id="707"/>
            <p14:sldId id="697"/>
            <p14:sldId id="688"/>
            <p14:sldId id="709"/>
            <p14:sldId id="712"/>
            <p14:sldId id="710"/>
            <p14:sldId id="711"/>
            <p14:sldId id="714"/>
            <p14:sldId id="715"/>
            <p14:sldId id="716"/>
            <p14:sldId id="717"/>
            <p14:sldId id="718"/>
            <p14:sldId id="719"/>
          </p14:sldIdLst>
        </p14:section>
      </p14:sectionLst>
    </p:ext>
    <p:ext uri="{EFAFB233-063F-42B5-8137-9DF3F51BA10A}">
      <p15:sldGuideLst xmlns:p15="http://schemas.microsoft.com/office/powerpoint/2012/main">
        <p15:guide id="1" orient="horz" pos="2382">
          <p15:clr>
            <a:srgbClr val="A4A3A4"/>
          </p15:clr>
        </p15:guide>
        <p15:guide id="2" pos="3368" userDrawn="1">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4" roundtripDataSignature="AMtx7mgE3X5YQNVkCfK6IQlmZLeiBaORrQ=="/>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柳瀬崇" initials="" lastIdx="2" clrIdx="0"/>
  <p:cmAuthor id="1" name="柳瀬崇" initials="柳瀬崇" lastIdx="0" clrIdx="1">
    <p:extLst>
      <p:ext uri="{19B8F6BF-5375-455C-9EA6-DF929625EA0E}">
        <p15:presenceInfo xmlns:p15="http://schemas.microsoft.com/office/powerpoint/2012/main" userId="S-1-5-21-1348145760-402173477-3656683305-155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4D624F7-45F6-4965-A375-3286DDFBF814}">
  <a:tblStyle styleId="{64D624F7-45F6-4965-A375-3286DDFBF81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501B0F7-01FF-4960-B730-E44C7A256130}" styleName="Table_1">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854B67C7-B280-42D8-B184-0A409CBFCAF9}" styleName="Table_2">
    <a:wholeTbl>
      <a:tcTxStyle b="off" i="off">
        <a:font>
          <a:latin typeface="Times New Roman"/>
          <a:ea typeface="Times New Roman"/>
          <a:cs typeface="Times New Roman"/>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b="off" i="off"/>
      <a:tcStyle>
        <a:tcBdr/>
        <a:fill>
          <a:solidFill>
            <a:srgbClr val="CFD7E7"/>
          </a:solidFill>
        </a:fill>
      </a:tcStyle>
    </a:band1H>
    <a:band2H>
      <a:tcTxStyle b="off" i="off"/>
      <a:tcStyle>
        <a:tcBdr/>
      </a:tcStyle>
    </a:band2H>
    <a:band1V>
      <a:tcTxStyle b="off" i="off"/>
      <a:tcStyle>
        <a:tcBdr/>
        <a:fill>
          <a:solidFill>
            <a:srgbClr val="CFD7E7"/>
          </a:solidFill>
        </a:fill>
      </a:tcStyle>
    </a:band1V>
    <a:band2V>
      <a:tcTxStyle b="off" i="off"/>
      <a:tcStyle>
        <a:tcBdr/>
      </a:tcStyle>
    </a:band2V>
    <a:lastCol>
      <a:tcTxStyle b="on" i="off">
        <a:font>
          <a:latin typeface="Times New Roman"/>
          <a:ea typeface="Times New Roman"/>
          <a:cs typeface="Times New Roman"/>
        </a:font>
        <a:schemeClr val="lt1"/>
      </a:tcTxStyle>
      <a:tcStyle>
        <a:tcBdr/>
        <a:fill>
          <a:solidFill>
            <a:schemeClr val="accent1"/>
          </a:solidFill>
        </a:fill>
      </a:tcStyle>
    </a:lastCol>
    <a:firstCol>
      <a:tcTxStyle b="on" i="off">
        <a:font>
          <a:latin typeface="Times New Roman"/>
          <a:ea typeface="Times New Roman"/>
          <a:cs typeface="Times New Roman"/>
        </a:font>
        <a:schemeClr val="lt1"/>
      </a:tcTxStyle>
      <a:tcStyle>
        <a:tcBdr/>
        <a:fill>
          <a:solidFill>
            <a:schemeClr val="accent1"/>
          </a:solidFill>
        </a:fill>
      </a:tcStyle>
    </a:firstCol>
    <a:lastRow>
      <a:tcTxStyle b="on" i="off">
        <a:font>
          <a:latin typeface="Times New Roman"/>
          <a:ea typeface="Times New Roman"/>
          <a:cs typeface="Times New Roman"/>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Times New Roman"/>
          <a:ea typeface="Times New Roman"/>
          <a:cs typeface="Times New Roman"/>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4C1A8A3-306A-4EB7-A6B1-4F7E0EB9C5D6}" styleName="中間スタイル 3 - アクセント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5914" autoAdjust="0"/>
    <p:restoredTop sz="96076" autoAdjust="0"/>
  </p:normalViewPr>
  <p:slideViewPr>
    <p:cSldViewPr snapToGrid="0">
      <p:cViewPr varScale="1">
        <p:scale>
          <a:sx n="96" d="100"/>
          <a:sy n="96" d="100"/>
        </p:scale>
        <p:origin x="978" y="90"/>
      </p:cViewPr>
      <p:guideLst>
        <p:guide orient="horz" pos="2382"/>
        <p:guide pos="3368"/>
      </p:guideLst>
    </p:cSldViewPr>
  </p:slideViewPr>
  <p:outlineViewPr>
    <p:cViewPr>
      <p:scale>
        <a:sx n="33" d="100"/>
        <a:sy n="33" d="100"/>
      </p:scale>
      <p:origin x="0" y="-12306"/>
    </p:cViewPr>
  </p:outlin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6"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75"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74" Type="http://customschemas.google.com/relationships/presentationmetadata" Target="metadata"/><Relationship Id="rId79"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77"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492384270602355E-2"/>
          <c:y val="2.8032619775739041E-2"/>
          <c:w val="0.91111123773171321"/>
          <c:h val="0.8013303886598252"/>
        </c:manualLayout>
      </c:layout>
      <c:barChart>
        <c:barDir val="col"/>
        <c:grouping val="stacked"/>
        <c:varyColors val="1"/>
        <c:ser>
          <c:idx val="0"/>
          <c:order val="0"/>
          <c:tx>
            <c:strRef>
              <c:f>Sheet1!$B$1</c:f>
              <c:strCache>
                <c:ptCount val="1"/>
                <c:pt idx="0">
                  <c:v>Solar</c:v>
                </c:pt>
              </c:strCache>
            </c:strRef>
          </c:tx>
          <c:spPr>
            <a:solidFill>
              <a:srgbClr val="FFC000"/>
            </a:solidFill>
          </c:spPr>
          <c:invertIfNegative val="1"/>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71.551032436848161</c:v>
                </c:pt>
                <c:pt idx="1">
                  <c:v>69.919405327215998</c:v>
                </c:pt>
                <c:pt idx="2">
                  <c:v>70.439173596087215</c:v>
                </c:pt>
                <c:pt idx="3">
                  <c:v>79.121424394558446</c:v>
                </c:pt>
                <c:pt idx="4">
                  <c:v>79.391360969598153</c:v>
                </c:pt>
                <c:pt idx="5">
                  <c:v>69.295556422378539</c:v>
                </c:pt>
                <c:pt idx="6">
                  <c:v>77.501776240543634</c:v>
                </c:pt>
                <c:pt idx="7">
                  <c:v>64.110032291487485</c:v>
                </c:pt>
                <c:pt idx="8">
                  <c:v>71.400655363462377</c:v>
                </c:pt>
                <c:pt idx="9">
                  <c:v>74.536827368945083</c:v>
                </c:pt>
                <c:pt idx="10">
                  <c:v>69.959750273365046</c:v>
                </c:pt>
                <c:pt idx="11">
                  <c:v>70.83065401386429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ABD5-4F01-9473-60911D7C6CAA}"/>
            </c:ext>
          </c:extLst>
        </c:ser>
        <c:ser>
          <c:idx val="1"/>
          <c:order val="1"/>
          <c:tx>
            <c:strRef>
              <c:f>Sheet1!$C$1</c:f>
              <c:strCache>
                <c:ptCount val="1"/>
                <c:pt idx="0">
                  <c:v>Wind</c:v>
                </c:pt>
              </c:strCache>
            </c:strRef>
          </c:tx>
          <c:spPr>
            <a:solidFill>
              <a:srgbClr val="00B0F0"/>
            </a:solidFill>
          </c:spPr>
          <c:invertIfNegative val="1"/>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General</c:formatCode>
                <c:ptCount val="12"/>
                <c:pt idx="0">
                  <c:v>7.7244459657863569</c:v>
                </c:pt>
                <c:pt idx="1">
                  <c:v>3.7512038193945729</c:v>
                </c:pt>
                <c:pt idx="2">
                  <c:v>1.6608568001848125</c:v>
                </c:pt>
                <c:pt idx="3">
                  <c:v>0.92359371508773247</c:v>
                </c:pt>
                <c:pt idx="4">
                  <c:v>5.3249434072081261</c:v>
                </c:pt>
                <c:pt idx="5">
                  <c:v>11.100349712463164</c:v>
                </c:pt>
                <c:pt idx="6">
                  <c:v>9.0143026920733753</c:v>
                </c:pt>
                <c:pt idx="7">
                  <c:v>19.708109752596886</c:v>
                </c:pt>
                <c:pt idx="8">
                  <c:v>8.0475694710361125</c:v>
                </c:pt>
                <c:pt idx="9">
                  <c:v>2.307451243043841</c:v>
                </c:pt>
                <c:pt idx="10">
                  <c:v>4.6658318939075398</c:v>
                </c:pt>
                <c:pt idx="11">
                  <c:v>7.2034075042200136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ABD5-4F01-9473-60911D7C6CAA}"/>
            </c:ext>
          </c:extLst>
        </c:ser>
        <c:ser>
          <c:idx val="2"/>
          <c:order val="2"/>
          <c:tx>
            <c:strRef>
              <c:f>Sheet1!$D$1</c:f>
              <c:strCache>
                <c:ptCount val="1"/>
                <c:pt idx="0">
                  <c:v>Diesel</c:v>
                </c:pt>
              </c:strCache>
            </c:strRef>
          </c:tx>
          <c:invertIfNegative val="1"/>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Sheet1!$D$2:$D$13</c:f>
              <c:numCache>
                <c:formatCode>General</c:formatCode>
                <c:ptCount val="12"/>
                <c:pt idx="0">
                  <c:v>0.44735322769009112</c:v>
                </c:pt>
                <c:pt idx="1">
                  <c:v>0</c:v>
                </c:pt>
                <c:pt idx="2">
                  <c:v>9.9760700053878104E-2</c:v>
                </c:pt>
                <c:pt idx="3">
                  <c:v>8.1797173577547326</c:v>
                </c:pt>
                <c:pt idx="4">
                  <c:v>7.7583742993849008</c:v>
                </c:pt>
                <c:pt idx="5">
                  <c:v>8.6237055722285021</c:v>
                </c:pt>
                <c:pt idx="6">
                  <c:v>1.6897376682011984</c:v>
                </c:pt>
                <c:pt idx="7">
                  <c:v>1.1910107247103636</c:v>
                </c:pt>
                <c:pt idx="8">
                  <c:v>2.4504974918895215</c:v>
                </c:pt>
                <c:pt idx="9">
                  <c:v>2.3178612391570872</c:v>
                </c:pt>
                <c:pt idx="10">
                  <c:v>1.9273853302948942</c:v>
                </c:pt>
                <c:pt idx="11">
                  <c:v>0</c:v>
                </c:pt>
              </c:numCache>
            </c:numRef>
          </c:val>
          <c:extLst>
            <c:ext xmlns:c16="http://schemas.microsoft.com/office/drawing/2014/chart" uri="{C3380CC4-5D6E-409C-BE32-E72D297353CC}">
              <c16:uniqueId val="{00000002-ABD5-4F01-9473-60911D7C6CAA}"/>
            </c:ext>
          </c:extLst>
        </c:ser>
        <c:dLbls>
          <c:showLegendKey val="0"/>
          <c:showVal val="0"/>
          <c:showCatName val="0"/>
          <c:showSerName val="0"/>
          <c:showPercent val="0"/>
          <c:showBubbleSize val="0"/>
        </c:dLbls>
        <c:gapWidth val="50"/>
        <c:overlap val="10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400">
                <a:latin typeface="+mn-ea"/>
                <a:ea typeface="+mn-ea"/>
              </a:defRPr>
            </a:pPr>
            <a:endParaRPr lang="ja-JP"/>
          </a:p>
        </c:txPr>
        <c:crossAx val="-2113994440"/>
        <c:crosses val="autoZero"/>
        <c:auto val="1"/>
        <c:lblAlgn val="ctr"/>
        <c:lblOffset val="100"/>
        <c:noMultiLvlLbl val="0"/>
      </c:catAx>
      <c:valAx>
        <c:axId val="-2113994440"/>
        <c:scaling>
          <c:orientation val="minMax"/>
        </c:scaling>
        <c:delete val="0"/>
        <c:axPos val="l"/>
        <c:majorGridlines/>
        <c:title>
          <c:tx>
            <c:rich>
              <a:bodyPr/>
              <a:lstStyle/>
              <a:p>
                <a:r>
                  <a:rPr lang="en-US" sz="1400">
                    <a:latin typeface="+mn-ea"/>
                    <a:ea typeface="+mn-ea"/>
                  </a:rPr>
                  <a:t>Energy (MWh)</a:t>
                </a:r>
              </a:p>
            </c:rich>
          </c:tx>
          <c:overlay val="0"/>
        </c:title>
        <c:numFmt formatCode="General" sourceLinked="1"/>
        <c:majorTickMark val="out"/>
        <c:minorTickMark val="none"/>
        <c:tickLblPos val="nextTo"/>
        <c:txPr>
          <a:bodyPr/>
          <a:lstStyle/>
          <a:p>
            <a:pPr>
              <a:defRPr sz="1100"/>
            </a:pPr>
            <a:endParaRPr lang="ja-JP"/>
          </a:p>
        </c:txPr>
        <c:crossAx val="-2068027336"/>
        <c:crosses val="autoZero"/>
        <c:crossBetween val="between"/>
      </c:valAx>
    </c:plotArea>
    <c:legend>
      <c:legendPos val="b"/>
      <c:layout>
        <c:manualLayout>
          <c:xMode val="edge"/>
          <c:yMode val="edge"/>
          <c:x val="0.2867033973040608"/>
          <c:y val="0.91038533858683279"/>
          <c:w val="0.42659310542824519"/>
          <c:h val="5.6114490806678914E-2"/>
        </c:manualLayout>
      </c:layout>
      <c:overlay val="1"/>
      <c:txPr>
        <a:bodyPr/>
        <a:lstStyle/>
        <a:p>
          <a:pPr>
            <a:defRPr sz="1400"/>
          </a:pPr>
          <a:endParaRPr lang="ja-JP"/>
        </a:p>
      </c:txPr>
    </c:legend>
    <c:plotVisOnly val="1"/>
    <c:dispBlanksAs val="gap"/>
    <c:showDLblsOverMax val="1"/>
  </c:chart>
  <c:txPr>
    <a:bodyPr/>
    <a:lstStyle/>
    <a:p>
      <a:pPr>
        <a:defRPr sz="1800"/>
      </a:pPr>
      <a:endParaRPr lang="en-US"/>
    </a:p>
  </c:tx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E338C7DB-E35E-4033-9D40-ECFC32A318CA}" type="doc">
      <dgm:prSet loTypeId="urn:microsoft.com/office/officeart/2009/3/layout/IncreasingArrowsProcess" loCatId="process" qsTypeId="urn:microsoft.com/office/officeart/2005/8/quickstyle/simple1" qsCatId="simple" csTypeId="urn:microsoft.com/office/officeart/2005/8/colors/accent1_2" csCatId="accent1" phldr="1"/>
      <dgm:spPr/>
      <dgm:t>
        <a:bodyPr/>
        <a:lstStyle/>
        <a:p>
          <a:endParaRPr kumimoji="1" lang="ja-JP" altLang="en-US"/>
        </a:p>
      </dgm:t>
    </dgm:pt>
    <dgm:pt modelId="{F663C735-FA61-4306-961C-37411615AF41}">
      <dgm:prSet phldrT="[テキスト]" custT="1"/>
      <dgm:spPr>
        <a:solidFill>
          <a:schemeClr val="accent1">
            <a:lumMod val="50000"/>
          </a:schemeClr>
        </a:solidFill>
      </dgm:spPr>
      <dgm:t>
        <a:bodyPr/>
        <a:lstStyle/>
        <a:p>
          <a:r>
            <a:rPr kumimoji="1" lang="ja-JP" altLang="en-US" sz="1800" dirty="0"/>
            <a:t>サンプリング</a:t>
          </a:r>
        </a:p>
      </dgm:t>
    </dgm:pt>
    <dgm:pt modelId="{FF95B167-F5CD-4D78-BAEA-BC391312AF78}" type="parTrans" cxnId="{86C8D00D-E404-4B53-B62D-5F834C271861}">
      <dgm:prSet/>
      <dgm:spPr/>
      <dgm:t>
        <a:bodyPr/>
        <a:lstStyle/>
        <a:p>
          <a:endParaRPr kumimoji="1" lang="ja-JP" altLang="en-US" sz="1800"/>
        </a:p>
      </dgm:t>
    </dgm:pt>
    <dgm:pt modelId="{46DC3A5F-CC96-4CD5-8039-20ABF91D2176}" type="sibTrans" cxnId="{86C8D00D-E404-4B53-B62D-5F834C271861}">
      <dgm:prSet/>
      <dgm:spPr/>
      <dgm:t>
        <a:bodyPr/>
        <a:lstStyle/>
        <a:p>
          <a:endParaRPr kumimoji="1" lang="ja-JP" altLang="en-US" sz="1800"/>
        </a:p>
      </dgm:t>
    </dgm:pt>
    <dgm:pt modelId="{33C87E52-B1F7-4CC3-AC98-B277D5013DCE}">
      <dgm:prSet phldrT="[テキスト]" custT="1"/>
      <dgm:spPr/>
      <dgm:t>
        <a:bodyPr/>
        <a:lstStyle/>
        <a:p>
          <a:r>
            <a:rPr kumimoji="1" lang="en-US" altLang="ja-JP" sz="1800" dirty="0"/>
            <a:t>LHS</a:t>
          </a:r>
          <a:r>
            <a:rPr kumimoji="1" lang="ja-JP" altLang="en-US" sz="1800" dirty="0"/>
            <a:t>サンプリングを用いてパラメータ空間を均一にカバー</a:t>
          </a:r>
        </a:p>
      </dgm:t>
    </dgm:pt>
    <dgm:pt modelId="{73D08F07-A81A-451D-A0C8-338D8E672375}" type="parTrans" cxnId="{CB6AF945-1AB5-45A4-BA84-6CB831024E56}">
      <dgm:prSet/>
      <dgm:spPr/>
      <dgm:t>
        <a:bodyPr/>
        <a:lstStyle/>
        <a:p>
          <a:endParaRPr kumimoji="1" lang="ja-JP" altLang="en-US" sz="1800"/>
        </a:p>
      </dgm:t>
    </dgm:pt>
    <dgm:pt modelId="{1F45F80E-AFB5-4E25-8F82-E635F5EE55B9}" type="sibTrans" cxnId="{CB6AF945-1AB5-45A4-BA84-6CB831024E56}">
      <dgm:prSet/>
      <dgm:spPr/>
      <dgm:t>
        <a:bodyPr/>
        <a:lstStyle/>
        <a:p>
          <a:endParaRPr kumimoji="1" lang="ja-JP" altLang="en-US" sz="1800"/>
        </a:p>
      </dgm:t>
    </dgm:pt>
    <dgm:pt modelId="{2DE890B9-B9E6-42CF-8EA7-75BD8D89EC21}">
      <dgm:prSet phldrT="[テキスト]" custT="1"/>
      <dgm:spPr/>
      <dgm:t>
        <a:bodyPr/>
        <a:lstStyle/>
        <a:p>
          <a:r>
            <a:rPr kumimoji="1" lang="ja-JP" altLang="en-US" sz="1800" dirty="0"/>
            <a:t>サンプリング数</a:t>
          </a:r>
          <a:r>
            <a:rPr kumimoji="1" lang="en-US" altLang="ja-JP" sz="1800" dirty="0"/>
            <a:t>N=320</a:t>
          </a:r>
          <a:endParaRPr kumimoji="1" lang="ja-JP" altLang="en-US" sz="1800" dirty="0"/>
        </a:p>
      </dgm:t>
    </dgm:pt>
    <dgm:pt modelId="{847F619A-5250-458C-A621-C84B8625ADE9}" type="parTrans" cxnId="{85BA656A-C29E-4447-977C-9EC14AE26742}">
      <dgm:prSet/>
      <dgm:spPr/>
      <dgm:t>
        <a:bodyPr/>
        <a:lstStyle/>
        <a:p>
          <a:endParaRPr kumimoji="1" lang="ja-JP" altLang="en-US" sz="1800"/>
        </a:p>
      </dgm:t>
    </dgm:pt>
    <dgm:pt modelId="{8D32C4A4-D7D7-44FC-9B86-1D45D02AC2E4}" type="sibTrans" cxnId="{85BA656A-C29E-4447-977C-9EC14AE26742}">
      <dgm:prSet/>
      <dgm:spPr/>
      <dgm:t>
        <a:bodyPr/>
        <a:lstStyle/>
        <a:p>
          <a:endParaRPr kumimoji="1" lang="ja-JP" altLang="en-US" sz="1800"/>
        </a:p>
      </dgm:t>
    </dgm:pt>
    <dgm:pt modelId="{067D33C2-718B-42FD-A99A-E7CEEDBF732E}">
      <dgm:prSet phldrT="[テキスト]" custT="1"/>
      <dgm:spPr>
        <a:solidFill>
          <a:schemeClr val="accent1">
            <a:lumMod val="50000"/>
          </a:schemeClr>
        </a:solidFill>
      </dgm:spPr>
      <dgm:t>
        <a:bodyPr/>
        <a:lstStyle/>
        <a:p>
          <a:r>
            <a:rPr kumimoji="1" lang="en-US" altLang="ja-JP" sz="1800" dirty="0"/>
            <a:t>LP</a:t>
          </a:r>
          <a:r>
            <a:rPr kumimoji="1" lang="ja-JP" altLang="en-US" sz="1800" dirty="0"/>
            <a:t>求解</a:t>
          </a:r>
        </a:p>
      </dgm:t>
    </dgm:pt>
    <dgm:pt modelId="{1169D4C7-0112-450B-9CFD-09456120AF73}" type="parTrans" cxnId="{C0C73647-51ED-4E97-A474-A383B498D154}">
      <dgm:prSet/>
      <dgm:spPr/>
      <dgm:t>
        <a:bodyPr/>
        <a:lstStyle/>
        <a:p>
          <a:endParaRPr kumimoji="1" lang="ja-JP" altLang="en-US" sz="1800"/>
        </a:p>
      </dgm:t>
    </dgm:pt>
    <dgm:pt modelId="{552807BC-51E7-4A79-8AE9-FBDBEAF21748}" type="sibTrans" cxnId="{C0C73647-51ED-4E97-A474-A383B498D154}">
      <dgm:prSet/>
      <dgm:spPr/>
      <dgm:t>
        <a:bodyPr/>
        <a:lstStyle/>
        <a:p>
          <a:endParaRPr kumimoji="1" lang="ja-JP" altLang="en-US" sz="1800"/>
        </a:p>
      </dgm:t>
    </dgm:pt>
    <dgm:pt modelId="{4267C8EB-964C-4771-9151-1070161A6158}">
      <dgm:prSet phldrT="[テキスト]" custT="1"/>
      <dgm:spPr/>
      <dgm:t>
        <a:bodyPr/>
        <a:lstStyle/>
        <a:p>
          <a:r>
            <a:rPr kumimoji="1" lang="ja-JP" altLang="en-US" sz="1800" dirty="0"/>
            <a:t>コスト最小最適化</a:t>
          </a:r>
        </a:p>
      </dgm:t>
    </dgm:pt>
    <dgm:pt modelId="{9CBB39FD-811E-4283-BF81-610DB017128F}" type="parTrans" cxnId="{AC090C6B-69B6-4920-8AA3-3FC87574C28B}">
      <dgm:prSet/>
      <dgm:spPr/>
      <dgm:t>
        <a:bodyPr/>
        <a:lstStyle/>
        <a:p>
          <a:endParaRPr kumimoji="1" lang="ja-JP" altLang="en-US" sz="1800"/>
        </a:p>
      </dgm:t>
    </dgm:pt>
    <dgm:pt modelId="{61064D14-7E0A-4782-819A-986B234C7737}" type="sibTrans" cxnId="{AC090C6B-69B6-4920-8AA3-3FC87574C28B}">
      <dgm:prSet/>
      <dgm:spPr/>
      <dgm:t>
        <a:bodyPr/>
        <a:lstStyle/>
        <a:p>
          <a:endParaRPr kumimoji="1" lang="ja-JP" altLang="en-US" sz="1800"/>
        </a:p>
      </dgm:t>
    </dgm:pt>
    <dgm:pt modelId="{7BDD196A-1890-46FA-9A4E-D38009DCC4E9}">
      <dgm:prSet phldrT="[テキスト]" custT="1"/>
      <dgm:spPr>
        <a:solidFill>
          <a:schemeClr val="accent1">
            <a:lumMod val="50000"/>
          </a:schemeClr>
        </a:solidFill>
      </dgm:spPr>
      <dgm:t>
        <a:bodyPr/>
        <a:lstStyle/>
        <a:p>
          <a:r>
            <a:rPr kumimoji="1" lang="en-US" altLang="ja-JP" sz="1800" dirty="0"/>
            <a:t>PCE</a:t>
          </a:r>
          <a:r>
            <a:rPr kumimoji="1" lang="ja-JP" altLang="en-US" sz="1800" dirty="0"/>
            <a:t>学習</a:t>
          </a:r>
        </a:p>
      </dgm:t>
    </dgm:pt>
    <dgm:pt modelId="{CE7FE2A3-DA7C-45F8-BD4D-C47439D9F0D7}" type="parTrans" cxnId="{746E0ACC-FFEB-4AB4-9012-337B003E5F31}">
      <dgm:prSet/>
      <dgm:spPr/>
      <dgm:t>
        <a:bodyPr/>
        <a:lstStyle/>
        <a:p>
          <a:endParaRPr kumimoji="1" lang="ja-JP" altLang="en-US" sz="1800"/>
        </a:p>
      </dgm:t>
    </dgm:pt>
    <dgm:pt modelId="{040755A9-73FA-4F8F-96F7-E57E8669A965}" type="sibTrans" cxnId="{746E0ACC-FFEB-4AB4-9012-337B003E5F31}">
      <dgm:prSet/>
      <dgm:spPr/>
      <dgm:t>
        <a:bodyPr/>
        <a:lstStyle/>
        <a:p>
          <a:endParaRPr kumimoji="1" lang="ja-JP" altLang="en-US" sz="1800"/>
        </a:p>
      </dgm:t>
    </dgm:pt>
    <dgm:pt modelId="{C401148E-F542-4029-A456-B2AA134C072A}">
      <dgm:prSet phldrT="[テキスト]" custT="1"/>
      <dgm:spPr/>
      <dgm:t>
        <a:bodyPr/>
        <a:lstStyle/>
        <a:p>
          <a:r>
            <a:rPr kumimoji="1" lang="en-US" altLang="ja-JP" sz="1800" dirty="0"/>
            <a:t>320</a:t>
          </a:r>
          <a:r>
            <a:rPr kumimoji="1" lang="ja-JP" altLang="en-US" sz="1800" dirty="0"/>
            <a:t>個の</a:t>
          </a:r>
          <a:r>
            <a:rPr kumimoji="1" lang="en-US" altLang="ja-JP" sz="1800" dirty="0"/>
            <a:t>LP</a:t>
          </a:r>
          <a:r>
            <a:rPr kumimoji="1" lang="ja-JP" altLang="en-US" sz="1800" dirty="0"/>
            <a:t>の計算結果から</a:t>
          </a:r>
          <a:r>
            <a:rPr kumimoji="1" lang="en-US" altLang="ja-JP" sz="1800" dirty="0"/>
            <a:t>PCE</a:t>
          </a:r>
          <a:r>
            <a:rPr kumimoji="1" lang="ja-JP" altLang="en-US" sz="1800" dirty="0"/>
            <a:t>サロゲートモデルを作成</a:t>
          </a:r>
        </a:p>
      </dgm:t>
    </dgm:pt>
    <dgm:pt modelId="{2EDF91AE-D6F8-4C19-AF19-6DE957D565CF}" type="parTrans" cxnId="{4E33AE17-E4C1-420C-A62B-5F84C89EC622}">
      <dgm:prSet/>
      <dgm:spPr/>
      <dgm:t>
        <a:bodyPr/>
        <a:lstStyle/>
        <a:p>
          <a:endParaRPr kumimoji="1" lang="ja-JP" altLang="en-US" sz="1800"/>
        </a:p>
      </dgm:t>
    </dgm:pt>
    <dgm:pt modelId="{79B38B41-EE1E-497F-A005-2677588B54EC}" type="sibTrans" cxnId="{4E33AE17-E4C1-420C-A62B-5F84C89EC622}">
      <dgm:prSet/>
      <dgm:spPr/>
      <dgm:t>
        <a:bodyPr/>
        <a:lstStyle/>
        <a:p>
          <a:endParaRPr kumimoji="1" lang="ja-JP" altLang="en-US" sz="1800"/>
        </a:p>
      </dgm:t>
    </dgm:pt>
    <dgm:pt modelId="{A882B92E-065D-460B-9EA4-75301CE9DA91}">
      <dgm:prSet phldrT="[テキスト]" custT="1"/>
      <dgm:spPr>
        <a:solidFill>
          <a:schemeClr val="accent1">
            <a:lumMod val="50000"/>
          </a:schemeClr>
        </a:solidFill>
      </dgm:spPr>
      <dgm:t>
        <a:bodyPr/>
        <a:lstStyle/>
        <a:p>
          <a:r>
            <a:rPr kumimoji="1" lang="ja-JP" altLang="en-US" sz="1800" dirty="0"/>
            <a:t>学習モデル多数の</a:t>
          </a:r>
          <a:r>
            <a:rPr kumimoji="1" lang="en-US" altLang="ja-JP" sz="1800" dirty="0"/>
            <a:t>LP</a:t>
          </a:r>
          <a:r>
            <a:rPr kumimoji="1" lang="ja-JP" altLang="en-US" sz="1800" dirty="0"/>
            <a:t>解を求解</a:t>
          </a:r>
        </a:p>
      </dgm:t>
    </dgm:pt>
    <dgm:pt modelId="{F85ADD7E-9B4C-4F73-A138-5FF8D18BDF5F}" type="parTrans" cxnId="{39C7D999-707D-4571-AA95-26F68B755072}">
      <dgm:prSet/>
      <dgm:spPr/>
      <dgm:t>
        <a:bodyPr/>
        <a:lstStyle/>
        <a:p>
          <a:endParaRPr kumimoji="1" lang="ja-JP" altLang="en-US" sz="1800"/>
        </a:p>
      </dgm:t>
    </dgm:pt>
    <dgm:pt modelId="{043E19ED-D8DC-40FE-A9D0-F067DCF0EDF0}" type="sibTrans" cxnId="{39C7D999-707D-4571-AA95-26F68B755072}">
      <dgm:prSet/>
      <dgm:spPr/>
      <dgm:t>
        <a:bodyPr/>
        <a:lstStyle/>
        <a:p>
          <a:endParaRPr kumimoji="1" lang="ja-JP" altLang="en-US" sz="1800"/>
        </a:p>
      </dgm:t>
    </dgm:pt>
    <dgm:pt modelId="{B348277F-A85C-4E22-9AAB-901E1959E2D4}">
      <dgm:prSet phldrT="[テキスト]" custT="1"/>
      <dgm:spPr/>
      <dgm:t>
        <a:bodyPr/>
        <a:lstStyle/>
        <a:p>
          <a:r>
            <a:rPr kumimoji="1" lang="en-US" altLang="ja-JP" sz="1800" dirty="0"/>
            <a:t>320</a:t>
          </a:r>
          <a:r>
            <a:rPr kumimoji="1" lang="ja-JP" altLang="en-US" sz="1800" dirty="0"/>
            <a:t>回実施</a:t>
          </a:r>
        </a:p>
      </dgm:t>
    </dgm:pt>
    <dgm:pt modelId="{EA111345-8639-435C-A62A-E2B282D461AF}" type="parTrans" cxnId="{39A3F3FE-793F-4BB7-9D31-72BADAD84DCD}">
      <dgm:prSet/>
      <dgm:spPr/>
      <dgm:t>
        <a:bodyPr/>
        <a:lstStyle/>
        <a:p>
          <a:endParaRPr kumimoji="1" lang="ja-JP" altLang="en-US" sz="1800"/>
        </a:p>
      </dgm:t>
    </dgm:pt>
    <dgm:pt modelId="{DAB51D0C-0E7C-4B26-B7E1-B7FC282F1346}" type="sibTrans" cxnId="{39A3F3FE-793F-4BB7-9D31-72BADAD84DCD}">
      <dgm:prSet/>
      <dgm:spPr/>
      <dgm:t>
        <a:bodyPr/>
        <a:lstStyle/>
        <a:p>
          <a:endParaRPr kumimoji="1" lang="ja-JP" altLang="en-US" sz="1800"/>
        </a:p>
      </dgm:t>
    </dgm:pt>
    <dgm:pt modelId="{D11CA087-6E67-427E-8C7E-5EC2A709A032}">
      <dgm:prSet phldrT="[テキスト]" custT="1"/>
      <dgm:spPr/>
      <dgm:t>
        <a:bodyPr/>
        <a:lstStyle/>
        <a:p>
          <a:r>
            <a:rPr kumimoji="1" lang="en-US" altLang="ja-JP" sz="1800" dirty="0"/>
            <a:t>PCE</a:t>
          </a:r>
          <a:r>
            <a:rPr kumimoji="1" lang="ja-JP" altLang="en-US" sz="1800" dirty="0"/>
            <a:t>サロゲートモデルから</a:t>
          </a:r>
          <a:r>
            <a:rPr kumimoji="1" lang="en-US" altLang="ja-JP" sz="1800" dirty="0"/>
            <a:t>10,240</a:t>
          </a:r>
          <a:r>
            <a:rPr kumimoji="1" lang="ja-JP" altLang="en-US" sz="1800" dirty="0"/>
            <a:t>の</a:t>
          </a:r>
          <a:r>
            <a:rPr kumimoji="1" lang="en-US" altLang="ja-JP" sz="1800" dirty="0"/>
            <a:t>LP</a:t>
          </a:r>
          <a:r>
            <a:rPr kumimoji="1" lang="ja-JP" altLang="en-US" sz="1800" dirty="0"/>
            <a:t>求解</a:t>
          </a:r>
        </a:p>
      </dgm:t>
    </dgm:pt>
    <dgm:pt modelId="{E45F0648-AD49-43B2-9A53-EAD3B8FD2A18}" type="parTrans" cxnId="{5A1E9BDE-EF40-465A-AA6F-3FAF275C62FA}">
      <dgm:prSet/>
      <dgm:spPr/>
      <dgm:t>
        <a:bodyPr/>
        <a:lstStyle/>
        <a:p>
          <a:endParaRPr kumimoji="1" lang="ja-JP" altLang="en-US" sz="1800"/>
        </a:p>
      </dgm:t>
    </dgm:pt>
    <dgm:pt modelId="{F1701FDA-D380-417D-900F-8CCB516BB387}" type="sibTrans" cxnId="{5A1E9BDE-EF40-465A-AA6F-3FAF275C62FA}">
      <dgm:prSet/>
      <dgm:spPr/>
      <dgm:t>
        <a:bodyPr/>
        <a:lstStyle/>
        <a:p>
          <a:endParaRPr kumimoji="1" lang="ja-JP" altLang="en-US" sz="1800"/>
        </a:p>
      </dgm:t>
    </dgm:pt>
    <dgm:pt modelId="{6262A5BB-88D4-4744-8BFD-C0116E2EC439}">
      <dgm:prSet phldrT="[テキスト]"/>
      <dgm:spPr>
        <a:solidFill>
          <a:schemeClr val="accent1">
            <a:lumMod val="50000"/>
          </a:schemeClr>
        </a:solidFill>
      </dgm:spPr>
      <dgm:t>
        <a:bodyPr/>
        <a:lstStyle/>
        <a:p>
          <a:r>
            <a:rPr kumimoji="1" lang="en-US" altLang="ja-JP" dirty="0"/>
            <a:t>Sobol</a:t>
          </a:r>
          <a:r>
            <a:rPr kumimoji="1" lang="ja-JP" altLang="en-US" dirty="0"/>
            <a:t>指数を導出</a:t>
          </a:r>
        </a:p>
      </dgm:t>
    </dgm:pt>
    <dgm:pt modelId="{E5581F1D-400E-4EE3-ACBF-FC53DC2EB569}" type="parTrans" cxnId="{0A2F13CB-D401-4C51-AEEB-EADA746C6043}">
      <dgm:prSet/>
      <dgm:spPr/>
      <dgm:t>
        <a:bodyPr/>
        <a:lstStyle/>
        <a:p>
          <a:endParaRPr kumimoji="1" lang="ja-JP" altLang="en-US"/>
        </a:p>
      </dgm:t>
    </dgm:pt>
    <dgm:pt modelId="{6D1C4A1E-C1FA-49E8-85B5-6A7FA541A3F3}" type="sibTrans" cxnId="{0A2F13CB-D401-4C51-AEEB-EADA746C6043}">
      <dgm:prSet/>
      <dgm:spPr/>
      <dgm:t>
        <a:bodyPr/>
        <a:lstStyle/>
        <a:p>
          <a:endParaRPr kumimoji="1" lang="ja-JP" altLang="en-US"/>
        </a:p>
      </dgm:t>
    </dgm:pt>
    <dgm:pt modelId="{6C2FB89A-9334-47E1-BAF2-0E8349484BF9}">
      <dgm:prSet phldrT="[テキスト]" custT="1"/>
      <dgm:spPr/>
      <dgm:t>
        <a:bodyPr/>
        <a:lstStyle/>
        <a:p>
          <a:r>
            <a:rPr lang="en-US" altLang="ja-JP" sz="1600" b="0" i="1" dirty="0">
              <a:solidFill>
                <a:schemeClr val="tx1"/>
              </a:solidFill>
              <a:latin typeface="+mn-ea"/>
              <a:ea typeface="+mn-ea"/>
              <a:cs typeface="Calibri" pitchFamily="34" charset="-120"/>
            </a:rPr>
            <a:t>Sᵢ, STᵢ, Sᵢⱼ</a:t>
          </a:r>
          <a:r>
            <a:rPr lang="ja-JP" altLang="en-US" sz="1600" b="0" dirty="0">
              <a:solidFill>
                <a:schemeClr val="tx1"/>
              </a:solidFill>
              <a:latin typeface="+mn-ea"/>
              <a:ea typeface="+mn-ea"/>
              <a:cs typeface="Calibri" pitchFamily="34" charset="-120"/>
            </a:rPr>
            <a:t>算出</a:t>
          </a:r>
          <a:endParaRPr kumimoji="1" lang="ja-JP" altLang="en-US" sz="1600" dirty="0">
            <a:latin typeface="+mn-ea"/>
            <a:ea typeface="+mn-ea"/>
          </a:endParaRPr>
        </a:p>
      </dgm:t>
    </dgm:pt>
    <dgm:pt modelId="{571DC3DC-83DC-416B-BA64-9D9053FE5625}" type="parTrans" cxnId="{550D63D3-217F-469B-80F2-2FD73B236CF0}">
      <dgm:prSet/>
      <dgm:spPr/>
      <dgm:t>
        <a:bodyPr/>
        <a:lstStyle/>
        <a:p>
          <a:endParaRPr kumimoji="1" lang="ja-JP" altLang="en-US"/>
        </a:p>
      </dgm:t>
    </dgm:pt>
    <dgm:pt modelId="{528B00AF-ECA9-4546-B29C-5C4E84FC4543}" type="sibTrans" cxnId="{550D63D3-217F-469B-80F2-2FD73B236CF0}">
      <dgm:prSet/>
      <dgm:spPr/>
      <dgm:t>
        <a:bodyPr/>
        <a:lstStyle/>
        <a:p>
          <a:endParaRPr kumimoji="1" lang="ja-JP" altLang="en-US"/>
        </a:p>
      </dgm:t>
    </dgm:pt>
    <dgm:pt modelId="{342E6563-22A5-4C26-B064-A585F3701474}" type="pres">
      <dgm:prSet presAssocID="{E338C7DB-E35E-4033-9D40-ECFC32A318CA}" presName="Name0" presStyleCnt="0">
        <dgm:presLayoutVars>
          <dgm:chMax val="5"/>
          <dgm:chPref val="5"/>
          <dgm:dir/>
          <dgm:animLvl val="lvl"/>
        </dgm:presLayoutVars>
      </dgm:prSet>
      <dgm:spPr/>
    </dgm:pt>
    <dgm:pt modelId="{0555A131-7BB0-47EB-9972-A4106B7A027A}" type="pres">
      <dgm:prSet presAssocID="{F663C735-FA61-4306-961C-37411615AF41}" presName="parentText1" presStyleLbl="node1" presStyleIdx="0" presStyleCnt="5">
        <dgm:presLayoutVars>
          <dgm:chMax/>
          <dgm:chPref val="3"/>
          <dgm:bulletEnabled val="1"/>
        </dgm:presLayoutVars>
      </dgm:prSet>
      <dgm:spPr/>
    </dgm:pt>
    <dgm:pt modelId="{6766FCD0-04D3-4F04-A5F8-288D47131E6E}" type="pres">
      <dgm:prSet presAssocID="{F663C735-FA61-4306-961C-37411615AF41}" presName="childText1" presStyleLbl="solidAlignAcc1" presStyleIdx="0" presStyleCnt="5">
        <dgm:presLayoutVars>
          <dgm:chMax val="0"/>
          <dgm:chPref val="0"/>
          <dgm:bulletEnabled val="1"/>
        </dgm:presLayoutVars>
      </dgm:prSet>
      <dgm:spPr/>
    </dgm:pt>
    <dgm:pt modelId="{21C0189A-4E2E-471B-8B0F-D8AD10B44747}" type="pres">
      <dgm:prSet presAssocID="{067D33C2-718B-42FD-A99A-E7CEEDBF732E}" presName="parentText2" presStyleLbl="node1" presStyleIdx="1" presStyleCnt="5">
        <dgm:presLayoutVars>
          <dgm:chMax/>
          <dgm:chPref val="3"/>
          <dgm:bulletEnabled val="1"/>
        </dgm:presLayoutVars>
      </dgm:prSet>
      <dgm:spPr/>
    </dgm:pt>
    <dgm:pt modelId="{97F9D412-24AB-4693-85DC-65E0A06D17D6}" type="pres">
      <dgm:prSet presAssocID="{067D33C2-718B-42FD-A99A-E7CEEDBF732E}" presName="childText2" presStyleLbl="solidAlignAcc1" presStyleIdx="1" presStyleCnt="5" custLinFactNeighborX="1893">
        <dgm:presLayoutVars>
          <dgm:chMax val="0"/>
          <dgm:chPref val="0"/>
          <dgm:bulletEnabled val="1"/>
        </dgm:presLayoutVars>
      </dgm:prSet>
      <dgm:spPr/>
    </dgm:pt>
    <dgm:pt modelId="{DB895EE6-8B82-4BD5-9994-6187E2450FD6}" type="pres">
      <dgm:prSet presAssocID="{7BDD196A-1890-46FA-9A4E-D38009DCC4E9}" presName="parentText3" presStyleLbl="node1" presStyleIdx="2" presStyleCnt="5">
        <dgm:presLayoutVars>
          <dgm:chMax/>
          <dgm:chPref val="3"/>
          <dgm:bulletEnabled val="1"/>
        </dgm:presLayoutVars>
      </dgm:prSet>
      <dgm:spPr/>
    </dgm:pt>
    <dgm:pt modelId="{E4D11C8A-3C1C-404A-ABB0-756E935BCAAC}" type="pres">
      <dgm:prSet presAssocID="{7BDD196A-1890-46FA-9A4E-D38009DCC4E9}" presName="childText3" presStyleLbl="solidAlignAcc1" presStyleIdx="2" presStyleCnt="5">
        <dgm:presLayoutVars>
          <dgm:chMax val="0"/>
          <dgm:chPref val="0"/>
          <dgm:bulletEnabled val="1"/>
        </dgm:presLayoutVars>
      </dgm:prSet>
      <dgm:spPr/>
    </dgm:pt>
    <dgm:pt modelId="{D1EBE732-835E-46CF-9A13-FA8641EA0C84}" type="pres">
      <dgm:prSet presAssocID="{A882B92E-065D-460B-9EA4-75301CE9DA91}" presName="parentText4" presStyleLbl="node1" presStyleIdx="3" presStyleCnt="5">
        <dgm:presLayoutVars>
          <dgm:chMax/>
          <dgm:chPref val="3"/>
          <dgm:bulletEnabled val="1"/>
        </dgm:presLayoutVars>
      </dgm:prSet>
      <dgm:spPr/>
    </dgm:pt>
    <dgm:pt modelId="{34010180-8546-4EC6-969E-71C0C04F9E9A}" type="pres">
      <dgm:prSet presAssocID="{A882B92E-065D-460B-9EA4-75301CE9DA91}" presName="childText4" presStyleLbl="solidAlignAcc1" presStyleIdx="3" presStyleCnt="5">
        <dgm:presLayoutVars>
          <dgm:chMax val="0"/>
          <dgm:chPref val="0"/>
          <dgm:bulletEnabled val="1"/>
        </dgm:presLayoutVars>
      </dgm:prSet>
      <dgm:spPr/>
    </dgm:pt>
    <dgm:pt modelId="{D6659B1B-A8B9-4724-BBA6-AD6127501E23}" type="pres">
      <dgm:prSet presAssocID="{6262A5BB-88D4-4744-8BFD-C0116E2EC439}" presName="parentText5" presStyleLbl="node1" presStyleIdx="4" presStyleCnt="5">
        <dgm:presLayoutVars>
          <dgm:chMax/>
          <dgm:chPref val="3"/>
          <dgm:bulletEnabled val="1"/>
        </dgm:presLayoutVars>
      </dgm:prSet>
      <dgm:spPr/>
    </dgm:pt>
    <dgm:pt modelId="{9E4DE4EA-A2C5-47A6-B1C2-A716FD93478E}" type="pres">
      <dgm:prSet presAssocID="{6262A5BB-88D4-4744-8BFD-C0116E2EC439}" presName="childText5" presStyleLbl="solidAlignAcc1" presStyleIdx="4" presStyleCnt="5">
        <dgm:presLayoutVars>
          <dgm:chMax val="0"/>
          <dgm:chPref val="0"/>
          <dgm:bulletEnabled val="1"/>
        </dgm:presLayoutVars>
      </dgm:prSet>
      <dgm:spPr/>
    </dgm:pt>
  </dgm:ptLst>
  <dgm:cxnLst>
    <dgm:cxn modelId="{86C8D00D-E404-4B53-B62D-5F834C271861}" srcId="{E338C7DB-E35E-4033-9D40-ECFC32A318CA}" destId="{F663C735-FA61-4306-961C-37411615AF41}" srcOrd="0" destOrd="0" parTransId="{FF95B167-F5CD-4D78-BAEA-BC391312AF78}" sibTransId="{46DC3A5F-CC96-4CD5-8039-20ABF91D2176}"/>
    <dgm:cxn modelId="{C9B34817-EED9-4137-892B-BFFC9DDEDB9C}" type="presOf" srcId="{6262A5BB-88D4-4744-8BFD-C0116E2EC439}" destId="{D6659B1B-A8B9-4724-BBA6-AD6127501E23}" srcOrd="0" destOrd="0" presId="urn:microsoft.com/office/officeart/2009/3/layout/IncreasingArrowsProcess"/>
    <dgm:cxn modelId="{4E33AE17-E4C1-420C-A62B-5F84C89EC622}" srcId="{7BDD196A-1890-46FA-9A4E-D38009DCC4E9}" destId="{C401148E-F542-4029-A456-B2AA134C072A}" srcOrd="0" destOrd="0" parTransId="{2EDF91AE-D6F8-4C19-AF19-6DE957D565CF}" sibTransId="{79B38B41-EE1E-497F-A005-2677588B54EC}"/>
    <dgm:cxn modelId="{CB6AF945-1AB5-45A4-BA84-6CB831024E56}" srcId="{F663C735-FA61-4306-961C-37411615AF41}" destId="{33C87E52-B1F7-4CC3-AC98-B277D5013DCE}" srcOrd="0" destOrd="0" parTransId="{73D08F07-A81A-451D-A0C8-338D8E672375}" sibTransId="{1F45F80E-AFB5-4E25-8F82-E635F5EE55B9}"/>
    <dgm:cxn modelId="{C0C73647-51ED-4E97-A474-A383B498D154}" srcId="{E338C7DB-E35E-4033-9D40-ECFC32A318CA}" destId="{067D33C2-718B-42FD-A99A-E7CEEDBF732E}" srcOrd="1" destOrd="0" parTransId="{1169D4C7-0112-450B-9CFD-09456120AF73}" sibTransId="{552807BC-51E7-4A79-8AE9-FBDBEAF21748}"/>
    <dgm:cxn modelId="{6933FA47-6FE5-4CA9-8B7D-2BA62851DD7C}" type="presOf" srcId="{4267C8EB-964C-4771-9151-1070161A6158}" destId="{97F9D412-24AB-4693-85DC-65E0A06D17D6}" srcOrd="0" destOrd="0" presId="urn:microsoft.com/office/officeart/2009/3/layout/IncreasingArrowsProcess"/>
    <dgm:cxn modelId="{85BA656A-C29E-4447-977C-9EC14AE26742}" srcId="{F663C735-FA61-4306-961C-37411615AF41}" destId="{2DE890B9-B9E6-42CF-8EA7-75BD8D89EC21}" srcOrd="1" destOrd="0" parTransId="{847F619A-5250-458C-A621-C84B8625ADE9}" sibTransId="{8D32C4A4-D7D7-44FC-9B86-1D45D02AC2E4}"/>
    <dgm:cxn modelId="{AC090C6B-69B6-4920-8AA3-3FC87574C28B}" srcId="{067D33C2-718B-42FD-A99A-E7CEEDBF732E}" destId="{4267C8EB-964C-4771-9151-1070161A6158}" srcOrd="0" destOrd="0" parTransId="{9CBB39FD-811E-4283-BF81-610DB017128F}" sibTransId="{61064D14-7E0A-4782-819A-986B234C7737}"/>
    <dgm:cxn modelId="{BFE25A73-EEB6-422F-8AB8-239061EDA026}" type="presOf" srcId="{33C87E52-B1F7-4CC3-AC98-B277D5013DCE}" destId="{6766FCD0-04D3-4F04-A5F8-288D47131E6E}" srcOrd="0" destOrd="0" presId="urn:microsoft.com/office/officeart/2009/3/layout/IncreasingArrowsProcess"/>
    <dgm:cxn modelId="{6FC69355-991F-4AAE-843D-A5B04F0CAA8C}" type="presOf" srcId="{F663C735-FA61-4306-961C-37411615AF41}" destId="{0555A131-7BB0-47EB-9972-A4106B7A027A}" srcOrd="0" destOrd="0" presId="urn:microsoft.com/office/officeart/2009/3/layout/IncreasingArrowsProcess"/>
    <dgm:cxn modelId="{E0AE0E91-25E3-4BA3-89BB-BF3C9B0BB67E}" type="presOf" srcId="{B348277F-A85C-4E22-9AAB-901E1959E2D4}" destId="{97F9D412-24AB-4693-85DC-65E0A06D17D6}" srcOrd="0" destOrd="1" presId="urn:microsoft.com/office/officeart/2009/3/layout/IncreasingArrowsProcess"/>
    <dgm:cxn modelId="{39C7D999-707D-4571-AA95-26F68B755072}" srcId="{E338C7DB-E35E-4033-9D40-ECFC32A318CA}" destId="{A882B92E-065D-460B-9EA4-75301CE9DA91}" srcOrd="3" destOrd="0" parTransId="{F85ADD7E-9B4C-4F73-A138-5FF8D18BDF5F}" sibTransId="{043E19ED-D8DC-40FE-A9D0-F067DCF0EDF0}"/>
    <dgm:cxn modelId="{39402AAF-2AC9-4B2A-ADC9-A5AF17D44AEE}" type="presOf" srcId="{D11CA087-6E67-427E-8C7E-5EC2A709A032}" destId="{34010180-8546-4EC6-969E-71C0C04F9E9A}" srcOrd="0" destOrd="0" presId="urn:microsoft.com/office/officeart/2009/3/layout/IncreasingArrowsProcess"/>
    <dgm:cxn modelId="{354633C8-3545-4536-8785-E2DE69AB5F74}" type="presOf" srcId="{7BDD196A-1890-46FA-9A4E-D38009DCC4E9}" destId="{DB895EE6-8B82-4BD5-9994-6187E2450FD6}" srcOrd="0" destOrd="0" presId="urn:microsoft.com/office/officeart/2009/3/layout/IncreasingArrowsProcess"/>
    <dgm:cxn modelId="{998E34C8-E982-4518-B2E2-9ABF30883C66}" type="presOf" srcId="{C401148E-F542-4029-A456-B2AA134C072A}" destId="{E4D11C8A-3C1C-404A-ABB0-756E935BCAAC}" srcOrd="0" destOrd="0" presId="urn:microsoft.com/office/officeart/2009/3/layout/IncreasingArrowsProcess"/>
    <dgm:cxn modelId="{0A2F13CB-D401-4C51-AEEB-EADA746C6043}" srcId="{E338C7DB-E35E-4033-9D40-ECFC32A318CA}" destId="{6262A5BB-88D4-4744-8BFD-C0116E2EC439}" srcOrd="4" destOrd="0" parTransId="{E5581F1D-400E-4EE3-ACBF-FC53DC2EB569}" sibTransId="{6D1C4A1E-C1FA-49E8-85B5-6A7FA541A3F3}"/>
    <dgm:cxn modelId="{746E0ACC-FFEB-4AB4-9012-337B003E5F31}" srcId="{E338C7DB-E35E-4033-9D40-ECFC32A318CA}" destId="{7BDD196A-1890-46FA-9A4E-D38009DCC4E9}" srcOrd="2" destOrd="0" parTransId="{CE7FE2A3-DA7C-45F8-BD4D-C47439D9F0D7}" sibTransId="{040755A9-73FA-4F8F-96F7-E57E8669A965}"/>
    <dgm:cxn modelId="{550D63D3-217F-469B-80F2-2FD73B236CF0}" srcId="{6262A5BB-88D4-4744-8BFD-C0116E2EC439}" destId="{6C2FB89A-9334-47E1-BAF2-0E8349484BF9}" srcOrd="0" destOrd="0" parTransId="{571DC3DC-83DC-416B-BA64-9D9053FE5625}" sibTransId="{528B00AF-ECA9-4546-B29C-5C4E84FC4543}"/>
    <dgm:cxn modelId="{EA109AD6-F847-42A2-9809-06A03F80C930}" type="presOf" srcId="{A882B92E-065D-460B-9EA4-75301CE9DA91}" destId="{D1EBE732-835E-46CF-9A13-FA8641EA0C84}" srcOrd="0" destOrd="0" presId="urn:microsoft.com/office/officeart/2009/3/layout/IncreasingArrowsProcess"/>
    <dgm:cxn modelId="{94D2A6DC-7406-4BD6-86AC-41790628E655}" type="presOf" srcId="{6C2FB89A-9334-47E1-BAF2-0E8349484BF9}" destId="{9E4DE4EA-A2C5-47A6-B1C2-A716FD93478E}" srcOrd="0" destOrd="0" presId="urn:microsoft.com/office/officeart/2009/3/layout/IncreasingArrowsProcess"/>
    <dgm:cxn modelId="{5A1E9BDE-EF40-465A-AA6F-3FAF275C62FA}" srcId="{A882B92E-065D-460B-9EA4-75301CE9DA91}" destId="{D11CA087-6E67-427E-8C7E-5EC2A709A032}" srcOrd="0" destOrd="0" parTransId="{E45F0648-AD49-43B2-9A53-EAD3B8FD2A18}" sibTransId="{F1701FDA-D380-417D-900F-8CCB516BB387}"/>
    <dgm:cxn modelId="{CAD59CDE-F308-43BD-8F83-526E950468F7}" type="presOf" srcId="{067D33C2-718B-42FD-A99A-E7CEEDBF732E}" destId="{21C0189A-4E2E-471B-8B0F-D8AD10B44747}" srcOrd="0" destOrd="0" presId="urn:microsoft.com/office/officeart/2009/3/layout/IncreasingArrowsProcess"/>
    <dgm:cxn modelId="{86127FE3-5750-4355-881F-F0A6FF71C4CE}" type="presOf" srcId="{E338C7DB-E35E-4033-9D40-ECFC32A318CA}" destId="{342E6563-22A5-4C26-B064-A585F3701474}" srcOrd="0" destOrd="0" presId="urn:microsoft.com/office/officeart/2009/3/layout/IncreasingArrowsProcess"/>
    <dgm:cxn modelId="{E59C41F1-0E34-42D1-B143-77C2EDE6205D}" type="presOf" srcId="{2DE890B9-B9E6-42CF-8EA7-75BD8D89EC21}" destId="{6766FCD0-04D3-4F04-A5F8-288D47131E6E}" srcOrd="0" destOrd="1" presId="urn:microsoft.com/office/officeart/2009/3/layout/IncreasingArrowsProcess"/>
    <dgm:cxn modelId="{39A3F3FE-793F-4BB7-9D31-72BADAD84DCD}" srcId="{067D33C2-718B-42FD-A99A-E7CEEDBF732E}" destId="{B348277F-A85C-4E22-9AAB-901E1959E2D4}" srcOrd="1" destOrd="0" parTransId="{EA111345-8639-435C-A62A-E2B282D461AF}" sibTransId="{DAB51D0C-0E7C-4B26-B7E1-B7FC282F1346}"/>
    <dgm:cxn modelId="{6EA224B1-3F55-4D29-B411-22C4C5A42613}" type="presParOf" srcId="{342E6563-22A5-4C26-B064-A585F3701474}" destId="{0555A131-7BB0-47EB-9972-A4106B7A027A}" srcOrd="0" destOrd="0" presId="urn:microsoft.com/office/officeart/2009/3/layout/IncreasingArrowsProcess"/>
    <dgm:cxn modelId="{8058D61D-3C0F-46B3-8D2A-440765284436}" type="presParOf" srcId="{342E6563-22A5-4C26-B064-A585F3701474}" destId="{6766FCD0-04D3-4F04-A5F8-288D47131E6E}" srcOrd="1" destOrd="0" presId="urn:microsoft.com/office/officeart/2009/3/layout/IncreasingArrowsProcess"/>
    <dgm:cxn modelId="{D1984104-126E-49C9-B52C-5CB97A750F06}" type="presParOf" srcId="{342E6563-22A5-4C26-B064-A585F3701474}" destId="{21C0189A-4E2E-471B-8B0F-D8AD10B44747}" srcOrd="2" destOrd="0" presId="urn:microsoft.com/office/officeart/2009/3/layout/IncreasingArrowsProcess"/>
    <dgm:cxn modelId="{8DD79B77-6563-4D37-B06F-8CD86840592A}" type="presParOf" srcId="{342E6563-22A5-4C26-B064-A585F3701474}" destId="{97F9D412-24AB-4693-85DC-65E0A06D17D6}" srcOrd="3" destOrd="0" presId="urn:microsoft.com/office/officeart/2009/3/layout/IncreasingArrowsProcess"/>
    <dgm:cxn modelId="{770F6B40-8C00-4FC8-8333-916D4335B356}" type="presParOf" srcId="{342E6563-22A5-4C26-B064-A585F3701474}" destId="{DB895EE6-8B82-4BD5-9994-6187E2450FD6}" srcOrd="4" destOrd="0" presId="urn:microsoft.com/office/officeart/2009/3/layout/IncreasingArrowsProcess"/>
    <dgm:cxn modelId="{FCBCB624-8A82-4D8F-AF34-93CEF880C00A}" type="presParOf" srcId="{342E6563-22A5-4C26-B064-A585F3701474}" destId="{E4D11C8A-3C1C-404A-ABB0-756E935BCAAC}" srcOrd="5" destOrd="0" presId="urn:microsoft.com/office/officeart/2009/3/layout/IncreasingArrowsProcess"/>
    <dgm:cxn modelId="{3447E0D7-2F21-422B-A92C-BA399920A54C}" type="presParOf" srcId="{342E6563-22A5-4C26-B064-A585F3701474}" destId="{D1EBE732-835E-46CF-9A13-FA8641EA0C84}" srcOrd="6" destOrd="0" presId="urn:microsoft.com/office/officeart/2009/3/layout/IncreasingArrowsProcess"/>
    <dgm:cxn modelId="{294198B3-7BA7-4689-B89C-7569F013205F}" type="presParOf" srcId="{342E6563-22A5-4C26-B064-A585F3701474}" destId="{34010180-8546-4EC6-969E-71C0C04F9E9A}" srcOrd="7" destOrd="0" presId="urn:microsoft.com/office/officeart/2009/3/layout/IncreasingArrowsProcess"/>
    <dgm:cxn modelId="{E3A7259E-E58E-4B54-A8A8-B3FED00E80EF}" type="presParOf" srcId="{342E6563-22A5-4C26-B064-A585F3701474}" destId="{D6659B1B-A8B9-4724-BBA6-AD6127501E23}" srcOrd="8" destOrd="0" presId="urn:microsoft.com/office/officeart/2009/3/layout/IncreasingArrowsProcess"/>
    <dgm:cxn modelId="{9C0B9BFF-EB77-4492-85BE-A5D09FBA67D7}" type="presParOf" srcId="{342E6563-22A5-4C26-B064-A585F3701474}" destId="{9E4DE4EA-A2C5-47A6-B1C2-A716FD93478E}" srcOrd="9" destOrd="0" presId="urn:microsoft.com/office/officeart/2009/3/layout/IncreasingArrows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338C7DB-E35E-4033-9D40-ECFC32A318CA}" type="doc">
      <dgm:prSet loTypeId="urn:microsoft.com/office/officeart/2009/3/layout/IncreasingArrowsProcess" loCatId="process" qsTypeId="urn:microsoft.com/office/officeart/2005/8/quickstyle/simple1" qsCatId="simple" csTypeId="urn:microsoft.com/office/officeart/2005/8/colors/accent1_2" csCatId="accent1" phldr="1"/>
      <dgm:spPr/>
      <dgm:t>
        <a:bodyPr/>
        <a:lstStyle/>
        <a:p>
          <a:endParaRPr kumimoji="1" lang="ja-JP" altLang="en-US"/>
        </a:p>
      </dgm:t>
    </dgm:pt>
    <dgm:pt modelId="{F663C735-FA61-4306-961C-37411615AF41}">
      <dgm:prSet phldrT="[テキスト]" custT="1"/>
      <dgm:spPr>
        <a:solidFill>
          <a:schemeClr val="accent1">
            <a:lumMod val="50000"/>
          </a:schemeClr>
        </a:solidFill>
      </dgm:spPr>
      <dgm:t>
        <a:bodyPr/>
        <a:lstStyle/>
        <a:p>
          <a:r>
            <a:rPr kumimoji="1" lang="ja-JP" altLang="en-US" sz="1000" dirty="0"/>
            <a:t>サンプリング</a:t>
          </a:r>
        </a:p>
      </dgm:t>
    </dgm:pt>
    <dgm:pt modelId="{FF95B167-F5CD-4D78-BAEA-BC391312AF78}" type="parTrans" cxnId="{86C8D00D-E404-4B53-B62D-5F834C271861}">
      <dgm:prSet/>
      <dgm:spPr/>
      <dgm:t>
        <a:bodyPr/>
        <a:lstStyle/>
        <a:p>
          <a:endParaRPr kumimoji="1" lang="ja-JP" altLang="en-US" sz="1000"/>
        </a:p>
      </dgm:t>
    </dgm:pt>
    <dgm:pt modelId="{46DC3A5F-CC96-4CD5-8039-20ABF91D2176}" type="sibTrans" cxnId="{86C8D00D-E404-4B53-B62D-5F834C271861}">
      <dgm:prSet/>
      <dgm:spPr/>
      <dgm:t>
        <a:bodyPr/>
        <a:lstStyle/>
        <a:p>
          <a:endParaRPr kumimoji="1" lang="ja-JP" altLang="en-US" sz="1000"/>
        </a:p>
      </dgm:t>
    </dgm:pt>
    <dgm:pt modelId="{33C87E52-B1F7-4CC3-AC98-B277D5013DCE}">
      <dgm:prSet phldrT="[テキスト]" custT="1"/>
      <dgm:spPr/>
      <dgm:t>
        <a:bodyPr/>
        <a:lstStyle/>
        <a:p>
          <a:r>
            <a:rPr kumimoji="1" lang="en-US" altLang="ja-JP" sz="1000" dirty="0"/>
            <a:t>LHS</a:t>
          </a:r>
          <a:r>
            <a:rPr kumimoji="1" lang="ja-JP" altLang="en-US" sz="1000" dirty="0"/>
            <a:t>サンプリングを用いてパラメータ空間を均一にカバー</a:t>
          </a:r>
        </a:p>
      </dgm:t>
    </dgm:pt>
    <dgm:pt modelId="{73D08F07-A81A-451D-A0C8-338D8E672375}" type="parTrans" cxnId="{CB6AF945-1AB5-45A4-BA84-6CB831024E56}">
      <dgm:prSet/>
      <dgm:spPr/>
      <dgm:t>
        <a:bodyPr/>
        <a:lstStyle/>
        <a:p>
          <a:endParaRPr kumimoji="1" lang="ja-JP" altLang="en-US" sz="1000"/>
        </a:p>
      </dgm:t>
    </dgm:pt>
    <dgm:pt modelId="{1F45F80E-AFB5-4E25-8F82-E635F5EE55B9}" type="sibTrans" cxnId="{CB6AF945-1AB5-45A4-BA84-6CB831024E56}">
      <dgm:prSet/>
      <dgm:spPr/>
      <dgm:t>
        <a:bodyPr/>
        <a:lstStyle/>
        <a:p>
          <a:endParaRPr kumimoji="1" lang="ja-JP" altLang="en-US" sz="1000"/>
        </a:p>
      </dgm:t>
    </dgm:pt>
    <dgm:pt modelId="{2DE890B9-B9E6-42CF-8EA7-75BD8D89EC21}">
      <dgm:prSet phldrT="[テキスト]" custT="1"/>
      <dgm:spPr/>
      <dgm:t>
        <a:bodyPr/>
        <a:lstStyle/>
        <a:p>
          <a:r>
            <a:rPr kumimoji="1" lang="ja-JP" altLang="en-US" sz="1000" dirty="0"/>
            <a:t>サンプリング数</a:t>
          </a:r>
          <a:r>
            <a:rPr kumimoji="1" lang="en-US" altLang="ja-JP" sz="1000" dirty="0"/>
            <a:t>N=320</a:t>
          </a:r>
          <a:endParaRPr kumimoji="1" lang="ja-JP" altLang="en-US" sz="1000" dirty="0"/>
        </a:p>
      </dgm:t>
    </dgm:pt>
    <dgm:pt modelId="{847F619A-5250-458C-A621-C84B8625ADE9}" type="parTrans" cxnId="{85BA656A-C29E-4447-977C-9EC14AE26742}">
      <dgm:prSet/>
      <dgm:spPr/>
      <dgm:t>
        <a:bodyPr/>
        <a:lstStyle/>
        <a:p>
          <a:endParaRPr kumimoji="1" lang="ja-JP" altLang="en-US" sz="1000"/>
        </a:p>
      </dgm:t>
    </dgm:pt>
    <dgm:pt modelId="{8D32C4A4-D7D7-44FC-9B86-1D45D02AC2E4}" type="sibTrans" cxnId="{85BA656A-C29E-4447-977C-9EC14AE26742}">
      <dgm:prSet/>
      <dgm:spPr/>
      <dgm:t>
        <a:bodyPr/>
        <a:lstStyle/>
        <a:p>
          <a:endParaRPr kumimoji="1" lang="ja-JP" altLang="en-US" sz="1000"/>
        </a:p>
      </dgm:t>
    </dgm:pt>
    <dgm:pt modelId="{067D33C2-718B-42FD-A99A-E7CEEDBF732E}">
      <dgm:prSet phldrT="[テキスト]" custT="1"/>
      <dgm:spPr>
        <a:solidFill>
          <a:schemeClr val="accent1">
            <a:lumMod val="50000"/>
          </a:schemeClr>
        </a:solidFill>
      </dgm:spPr>
      <dgm:t>
        <a:bodyPr/>
        <a:lstStyle/>
        <a:p>
          <a:r>
            <a:rPr kumimoji="1" lang="en-US" altLang="ja-JP" sz="1000" dirty="0"/>
            <a:t>LP</a:t>
          </a:r>
          <a:r>
            <a:rPr kumimoji="1" lang="ja-JP" altLang="en-US" sz="1000" dirty="0"/>
            <a:t>求解</a:t>
          </a:r>
        </a:p>
      </dgm:t>
    </dgm:pt>
    <dgm:pt modelId="{1169D4C7-0112-450B-9CFD-09456120AF73}" type="parTrans" cxnId="{C0C73647-51ED-4E97-A474-A383B498D154}">
      <dgm:prSet/>
      <dgm:spPr/>
      <dgm:t>
        <a:bodyPr/>
        <a:lstStyle/>
        <a:p>
          <a:endParaRPr kumimoji="1" lang="ja-JP" altLang="en-US" sz="1000"/>
        </a:p>
      </dgm:t>
    </dgm:pt>
    <dgm:pt modelId="{552807BC-51E7-4A79-8AE9-FBDBEAF21748}" type="sibTrans" cxnId="{C0C73647-51ED-4E97-A474-A383B498D154}">
      <dgm:prSet/>
      <dgm:spPr/>
      <dgm:t>
        <a:bodyPr/>
        <a:lstStyle/>
        <a:p>
          <a:endParaRPr kumimoji="1" lang="ja-JP" altLang="en-US" sz="1000"/>
        </a:p>
      </dgm:t>
    </dgm:pt>
    <dgm:pt modelId="{4267C8EB-964C-4771-9151-1070161A6158}">
      <dgm:prSet phldrT="[テキスト]" custT="1"/>
      <dgm:spPr/>
      <dgm:t>
        <a:bodyPr/>
        <a:lstStyle/>
        <a:p>
          <a:r>
            <a:rPr kumimoji="1" lang="ja-JP" altLang="en-US" sz="1000" dirty="0"/>
            <a:t>コスト最小最適化</a:t>
          </a:r>
        </a:p>
      </dgm:t>
    </dgm:pt>
    <dgm:pt modelId="{9CBB39FD-811E-4283-BF81-610DB017128F}" type="parTrans" cxnId="{AC090C6B-69B6-4920-8AA3-3FC87574C28B}">
      <dgm:prSet/>
      <dgm:spPr/>
      <dgm:t>
        <a:bodyPr/>
        <a:lstStyle/>
        <a:p>
          <a:endParaRPr kumimoji="1" lang="ja-JP" altLang="en-US" sz="1000"/>
        </a:p>
      </dgm:t>
    </dgm:pt>
    <dgm:pt modelId="{61064D14-7E0A-4782-819A-986B234C7737}" type="sibTrans" cxnId="{AC090C6B-69B6-4920-8AA3-3FC87574C28B}">
      <dgm:prSet/>
      <dgm:spPr/>
      <dgm:t>
        <a:bodyPr/>
        <a:lstStyle/>
        <a:p>
          <a:endParaRPr kumimoji="1" lang="ja-JP" altLang="en-US" sz="1000"/>
        </a:p>
      </dgm:t>
    </dgm:pt>
    <dgm:pt modelId="{7BDD196A-1890-46FA-9A4E-D38009DCC4E9}">
      <dgm:prSet phldrT="[テキスト]" custT="1"/>
      <dgm:spPr>
        <a:solidFill>
          <a:srgbClr val="FF0000"/>
        </a:solidFill>
      </dgm:spPr>
      <dgm:t>
        <a:bodyPr/>
        <a:lstStyle/>
        <a:p>
          <a:r>
            <a:rPr kumimoji="1" lang="en-US" altLang="ja-JP" sz="1000" dirty="0"/>
            <a:t>MODWT</a:t>
          </a:r>
          <a:r>
            <a:rPr kumimoji="1" lang="ja-JP" altLang="en-US" sz="1000" dirty="0"/>
            <a:t>帯域分解</a:t>
          </a:r>
        </a:p>
      </dgm:t>
    </dgm:pt>
    <dgm:pt modelId="{CE7FE2A3-DA7C-45F8-BD4D-C47439D9F0D7}" type="parTrans" cxnId="{746E0ACC-FFEB-4AB4-9012-337B003E5F31}">
      <dgm:prSet/>
      <dgm:spPr/>
      <dgm:t>
        <a:bodyPr/>
        <a:lstStyle/>
        <a:p>
          <a:endParaRPr kumimoji="1" lang="ja-JP" altLang="en-US" sz="1000"/>
        </a:p>
      </dgm:t>
    </dgm:pt>
    <dgm:pt modelId="{040755A9-73FA-4F8F-96F7-E57E8669A965}" type="sibTrans" cxnId="{746E0ACC-FFEB-4AB4-9012-337B003E5F31}">
      <dgm:prSet/>
      <dgm:spPr/>
      <dgm:t>
        <a:bodyPr/>
        <a:lstStyle/>
        <a:p>
          <a:endParaRPr kumimoji="1" lang="ja-JP" altLang="en-US" sz="1000"/>
        </a:p>
      </dgm:t>
    </dgm:pt>
    <dgm:pt modelId="{C401148E-F542-4029-A456-B2AA134C072A}">
      <dgm:prSet phldrT="[テキスト]" custT="1"/>
      <dgm:spPr/>
      <dgm:t>
        <a:bodyPr/>
        <a:lstStyle/>
        <a:p>
          <a:r>
            <a:rPr kumimoji="1" lang="en-US" altLang="ja-JP" sz="1000" dirty="0"/>
            <a:t>帯域別の指標ごとにPCEサロゲートモデルを作成</a:t>
          </a:r>
        </a:p>
      </dgm:t>
    </dgm:pt>
    <dgm:pt modelId="{2EDF91AE-D6F8-4C19-AF19-6DE957D565CF}" type="parTrans" cxnId="{4E33AE17-E4C1-420C-A62B-5F84C89EC622}">
      <dgm:prSet/>
      <dgm:spPr/>
      <dgm:t>
        <a:bodyPr/>
        <a:lstStyle/>
        <a:p>
          <a:endParaRPr kumimoji="1" lang="ja-JP" altLang="en-US" sz="1000"/>
        </a:p>
      </dgm:t>
    </dgm:pt>
    <dgm:pt modelId="{79B38B41-EE1E-497F-A005-2677588B54EC}" type="sibTrans" cxnId="{4E33AE17-E4C1-420C-A62B-5F84C89EC622}">
      <dgm:prSet/>
      <dgm:spPr/>
      <dgm:t>
        <a:bodyPr/>
        <a:lstStyle/>
        <a:p>
          <a:endParaRPr kumimoji="1" lang="ja-JP" altLang="en-US" sz="1000"/>
        </a:p>
      </dgm:t>
    </dgm:pt>
    <dgm:pt modelId="{A882B92E-065D-460B-9EA4-75301CE9DA91}">
      <dgm:prSet phldrT="[テキスト]" custT="1"/>
      <dgm:spPr>
        <a:solidFill>
          <a:schemeClr val="accent1">
            <a:lumMod val="50000"/>
          </a:schemeClr>
        </a:solidFill>
      </dgm:spPr>
      <dgm:t>
        <a:bodyPr/>
        <a:lstStyle/>
        <a:p>
          <a:r>
            <a:rPr kumimoji="1" lang="ja-JP" altLang="en-US" sz="1000" dirty="0"/>
            <a:t>Sobol指数算出</a:t>
          </a:r>
        </a:p>
      </dgm:t>
    </dgm:pt>
    <dgm:pt modelId="{F85ADD7E-9B4C-4F73-A138-5FF8D18BDF5F}" type="parTrans" cxnId="{39C7D999-707D-4571-AA95-26F68B755072}">
      <dgm:prSet/>
      <dgm:spPr/>
      <dgm:t>
        <a:bodyPr/>
        <a:lstStyle/>
        <a:p>
          <a:endParaRPr kumimoji="1" lang="ja-JP" altLang="en-US" sz="1000"/>
        </a:p>
      </dgm:t>
    </dgm:pt>
    <dgm:pt modelId="{043E19ED-D8DC-40FE-A9D0-F067DCF0EDF0}" type="sibTrans" cxnId="{39C7D999-707D-4571-AA95-26F68B755072}">
      <dgm:prSet/>
      <dgm:spPr/>
      <dgm:t>
        <a:bodyPr/>
        <a:lstStyle/>
        <a:p>
          <a:endParaRPr kumimoji="1" lang="ja-JP" altLang="en-US" sz="1000"/>
        </a:p>
      </dgm:t>
    </dgm:pt>
    <dgm:pt modelId="{B348277F-A85C-4E22-9AAB-901E1959E2D4}">
      <dgm:prSet phldrT="[テキスト]" custT="1"/>
      <dgm:spPr/>
      <dgm:t>
        <a:bodyPr/>
        <a:lstStyle/>
        <a:p>
          <a:r>
            <a:rPr kumimoji="1" lang="en-US" altLang="ja-JP" sz="1000" dirty="0"/>
            <a:t>320</a:t>
          </a:r>
          <a:r>
            <a:rPr kumimoji="1" lang="ja-JP" altLang="en-US" sz="1000" dirty="0"/>
            <a:t>回実施</a:t>
          </a:r>
        </a:p>
      </dgm:t>
    </dgm:pt>
    <dgm:pt modelId="{EA111345-8639-435C-A62A-E2B282D461AF}" type="parTrans" cxnId="{39A3F3FE-793F-4BB7-9D31-72BADAD84DCD}">
      <dgm:prSet/>
      <dgm:spPr/>
      <dgm:t>
        <a:bodyPr/>
        <a:lstStyle/>
        <a:p>
          <a:endParaRPr kumimoji="1" lang="ja-JP" altLang="en-US" sz="1000"/>
        </a:p>
      </dgm:t>
    </dgm:pt>
    <dgm:pt modelId="{DAB51D0C-0E7C-4B26-B7E1-B7FC282F1346}" type="sibTrans" cxnId="{39A3F3FE-793F-4BB7-9D31-72BADAD84DCD}">
      <dgm:prSet/>
      <dgm:spPr/>
      <dgm:t>
        <a:bodyPr/>
        <a:lstStyle/>
        <a:p>
          <a:endParaRPr kumimoji="1" lang="ja-JP" altLang="en-US" sz="1000"/>
        </a:p>
      </dgm:t>
    </dgm:pt>
    <dgm:pt modelId="{D11CA087-6E67-427E-8C7E-5EC2A709A032}">
      <dgm:prSet phldrT="[テキスト]" custT="1"/>
      <dgm:spPr/>
      <dgm:t>
        <a:bodyPr/>
        <a:lstStyle/>
        <a:p>
          <a:r>
            <a:rPr kumimoji="1" lang="en-US" altLang="ja-JP" sz="1000" dirty="0"/>
            <a:t>10,240回のサロゲート評価から帯域別Sobol指数を算出</a:t>
          </a:r>
        </a:p>
      </dgm:t>
    </dgm:pt>
    <dgm:pt modelId="{E45F0648-AD49-43B2-9A53-EAD3B8FD2A18}" type="parTrans" cxnId="{5A1E9BDE-EF40-465A-AA6F-3FAF275C62FA}">
      <dgm:prSet/>
      <dgm:spPr/>
      <dgm:t>
        <a:bodyPr/>
        <a:lstStyle/>
        <a:p>
          <a:endParaRPr kumimoji="1" lang="ja-JP" altLang="en-US" sz="1000"/>
        </a:p>
      </dgm:t>
    </dgm:pt>
    <dgm:pt modelId="{F1701FDA-D380-417D-900F-8CCB516BB387}" type="sibTrans" cxnId="{5A1E9BDE-EF40-465A-AA6F-3FAF275C62FA}">
      <dgm:prSet/>
      <dgm:spPr/>
      <dgm:t>
        <a:bodyPr/>
        <a:lstStyle/>
        <a:p>
          <a:endParaRPr kumimoji="1" lang="ja-JP" altLang="en-US" sz="1000"/>
        </a:p>
      </dgm:t>
    </dgm:pt>
    <dgm:pt modelId="{6262A5BB-88D4-4744-8BFD-C0116E2EC439}">
      <dgm:prSet phldrT="[テキスト]" custT="1"/>
      <dgm:spPr>
        <a:solidFill>
          <a:schemeClr val="accent1">
            <a:lumMod val="50000"/>
          </a:schemeClr>
        </a:solidFill>
      </dgm:spPr>
      <dgm:t>
        <a:bodyPr/>
        <a:lstStyle/>
        <a:p>
          <a:endParaRPr kumimoji="1" lang="ja-JP" altLang="en-US"/>
        </a:p>
      </dgm:t>
    </dgm:pt>
    <dgm:pt modelId="{E5581F1D-400E-4EE3-ACBF-FC53DC2EB569}" type="parTrans" cxnId="{0A2F13CB-D401-4C51-AEEB-EADA746C6043}">
      <dgm:prSet/>
      <dgm:spPr/>
      <dgm:t>
        <a:bodyPr/>
        <a:lstStyle/>
        <a:p>
          <a:endParaRPr kumimoji="1" lang="ja-JP" altLang="en-US" sz="1000"/>
        </a:p>
      </dgm:t>
    </dgm:pt>
    <dgm:pt modelId="{6D1C4A1E-C1FA-49E8-85B5-6A7FA541A3F3}" type="sibTrans" cxnId="{0A2F13CB-D401-4C51-AEEB-EADA746C6043}">
      <dgm:prSet/>
      <dgm:spPr/>
      <dgm:t>
        <a:bodyPr/>
        <a:lstStyle/>
        <a:p>
          <a:endParaRPr kumimoji="1" lang="ja-JP" altLang="en-US" sz="1000"/>
        </a:p>
      </dgm:t>
    </dgm:pt>
    <dgm:pt modelId="{6C2FB89A-9334-47E1-BAF2-0E8349484BF9}">
      <dgm:prSet phldrT="[テキスト]" custT="1"/>
      <dgm:spPr/>
      <dgm:t>
        <a:bodyPr/>
        <a:lstStyle/>
        <a:p>
          <a:endParaRPr kumimoji="1" lang="ja-JP" altLang="en-US"/>
        </a:p>
      </dgm:t>
    </dgm:pt>
    <dgm:pt modelId="{571DC3DC-83DC-416B-BA64-9D9053FE5625}" type="parTrans" cxnId="{550D63D3-217F-469B-80F2-2FD73B236CF0}">
      <dgm:prSet/>
      <dgm:spPr/>
      <dgm:t>
        <a:bodyPr/>
        <a:lstStyle/>
        <a:p>
          <a:endParaRPr kumimoji="1" lang="ja-JP" altLang="en-US" sz="1000"/>
        </a:p>
      </dgm:t>
    </dgm:pt>
    <dgm:pt modelId="{528B00AF-ECA9-4546-B29C-5C4E84FC4543}" type="sibTrans" cxnId="{550D63D3-217F-469B-80F2-2FD73B236CF0}">
      <dgm:prSet/>
      <dgm:spPr/>
      <dgm:t>
        <a:bodyPr/>
        <a:lstStyle/>
        <a:p>
          <a:endParaRPr kumimoji="1" lang="ja-JP" altLang="en-US" sz="1000"/>
        </a:p>
      </dgm:t>
    </dgm:pt>
    <dgm:pt modelId="{7B429B94-8EC2-4E08-B844-434195A8F2A7}">
      <dgm:prSet phldrT="[テキスト]" custT="1"/>
      <dgm:spPr>
        <a:solidFill>
          <a:schemeClr val="accent1">
            <a:lumMod val="50000"/>
          </a:schemeClr>
        </a:solidFill>
      </dgm:spPr>
      <dgm:t>
        <a:bodyPr/>
        <a:lstStyle/>
        <a:p>
          <a:r>
            <a:rPr kumimoji="1" lang="en-US" altLang="ja-JP" sz="1000" dirty="0"/>
            <a:t>PCE</a:t>
          </a:r>
          <a:r>
            <a:rPr kumimoji="1" lang="ja-JP" altLang="en-US" sz="1000" dirty="0"/>
            <a:t>学習</a:t>
          </a:r>
        </a:p>
      </dgm:t>
    </dgm:pt>
    <dgm:pt modelId="{1802406B-171E-4F4C-A223-09B8168AF637}" type="parTrans" cxnId="{6034543E-D8AA-4F17-AD9A-1576A04F9742}">
      <dgm:prSet/>
      <dgm:spPr/>
      <dgm:t>
        <a:bodyPr/>
        <a:lstStyle/>
        <a:p>
          <a:endParaRPr kumimoji="1" lang="ja-JP" altLang="en-US" sz="1200"/>
        </a:p>
      </dgm:t>
    </dgm:pt>
    <dgm:pt modelId="{FE02DF50-2DB5-45A1-B8FD-ABEEB815EE69}" type="sibTrans" cxnId="{6034543E-D8AA-4F17-AD9A-1576A04F9742}">
      <dgm:prSet/>
      <dgm:spPr/>
      <dgm:t>
        <a:bodyPr/>
        <a:lstStyle/>
        <a:p>
          <a:endParaRPr kumimoji="1" lang="ja-JP" altLang="en-US" sz="1200"/>
        </a:p>
      </dgm:t>
    </dgm:pt>
    <dgm:pt modelId="{E15099B4-8E62-4887-B60E-5A884FC208F7}">
      <dgm:prSet phldrT="[テキスト]" custT="1"/>
      <dgm:spPr>
        <a:solidFill>
          <a:schemeClr val="bg1"/>
        </a:solidFill>
      </dgm:spPr>
      <dgm:t>
        <a:bodyPr/>
        <a:lstStyle/>
        <a:p>
          <a:r>
            <a:rPr kumimoji="1" lang="ja-JP" altLang="en-US" sz="1000" dirty="0"/>
            <a:t>LP解の時系列を日次・Dunkelflaute・季節帯へ分解</a:t>
          </a:r>
        </a:p>
      </dgm:t>
    </dgm:pt>
    <dgm:pt modelId="{62595BA5-3E11-44BA-B6CF-31E11370F6CF}" type="parTrans" cxnId="{171798E7-62D0-4DE0-96BF-89C8EB43300B}">
      <dgm:prSet/>
      <dgm:spPr/>
      <dgm:t>
        <a:bodyPr/>
        <a:lstStyle/>
        <a:p>
          <a:endParaRPr kumimoji="1" lang="ja-JP" altLang="en-US" sz="1200"/>
        </a:p>
      </dgm:t>
    </dgm:pt>
    <dgm:pt modelId="{CA4C0763-962C-4521-8C20-5265991DDDB7}" type="sibTrans" cxnId="{171798E7-62D0-4DE0-96BF-89C8EB43300B}">
      <dgm:prSet/>
      <dgm:spPr/>
      <dgm:t>
        <a:bodyPr/>
        <a:lstStyle/>
        <a:p>
          <a:endParaRPr kumimoji="1" lang="ja-JP" altLang="en-US" sz="1200"/>
        </a:p>
      </dgm:t>
    </dgm:pt>
    <dgm:pt modelId="{342E6563-22A5-4C26-B064-A585F3701474}" type="pres">
      <dgm:prSet presAssocID="{E338C7DB-E35E-4033-9D40-ECFC32A318CA}" presName="Name0" presStyleCnt="0">
        <dgm:presLayoutVars>
          <dgm:chMax val="5"/>
          <dgm:chPref val="5"/>
          <dgm:dir/>
          <dgm:animLvl val="lvl"/>
        </dgm:presLayoutVars>
      </dgm:prSet>
      <dgm:spPr/>
    </dgm:pt>
    <dgm:pt modelId="{0555A131-7BB0-47EB-9972-A4106B7A027A}" type="pres">
      <dgm:prSet presAssocID="{F663C735-FA61-4306-961C-37411615AF41}" presName="parentText1" presStyleLbl="node1" presStyleIdx="0" presStyleCnt="5" custLinFactNeighborX="-193" custLinFactNeighborY="-2576">
        <dgm:presLayoutVars>
          <dgm:chMax/>
          <dgm:chPref val="3"/>
          <dgm:bulletEnabled val="1"/>
        </dgm:presLayoutVars>
      </dgm:prSet>
      <dgm:spPr/>
    </dgm:pt>
    <dgm:pt modelId="{6766FCD0-04D3-4F04-A5F8-288D47131E6E}" type="pres">
      <dgm:prSet presAssocID="{F663C735-FA61-4306-961C-37411615AF41}" presName="childText1" presStyleLbl="solidAlignAcc1" presStyleIdx="0" presStyleCnt="5">
        <dgm:presLayoutVars>
          <dgm:chMax val="0"/>
          <dgm:chPref val="0"/>
          <dgm:bulletEnabled val="1"/>
        </dgm:presLayoutVars>
      </dgm:prSet>
      <dgm:spPr/>
    </dgm:pt>
    <dgm:pt modelId="{21C0189A-4E2E-471B-8B0F-D8AD10B44747}" type="pres">
      <dgm:prSet presAssocID="{067D33C2-718B-42FD-A99A-E7CEEDBF732E}" presName="parentText2" presStyleLbl="node1" presStyleIdx="1" presStyleCnt="5">
        <dgm:presLayoutVars>
          <dgm:chMax/>
          <dgm:chPref val="3"/>
          <dgm:bulletEnabled val="1"/>
        </dgm:presLayoutVars>
      </dgm:prSet>
      <dgm:spPr/>
    </dgm:pt>
    <dgm:pt modelId="{97F9D412-24AB-4693-85DC-65E0A06D17D6}" type="pres">
      <dgm:prSet presAssocID="{067D33C2-718B-42FD-A99A-E7CEEDBF732E}" presName="childText2" presStyleLbl="solidAlignAcc1" presStyleIdx="1" presStyleCnt="5" custLinFactNeighborX="1893">
        <dgm:presLayoutVars>
          <dgm:chMax val="0"/>
          <dgm:chPref val="0"/>
          <dgm:bulletEnabled val="1"/>
        </dgm:presLayoutVars>
      </dgm:prSet>
      <dgm:spPr/>
    </dgm:pt>
    <dgm:pt modelId="{DB895EE6-8B82-4BD5-9994-6187E2450FD6}" type="pres">
      <dgm:prSet presAssocID="{7BDD196A-1890-46FA-9A4E-D38009DCC4E9}" presName="parentText3" presStyleLbl="node1" presStyleIdx="2" presStyleCnt="5">
        <dgm:presLayoutVars>
          <dgm:chMax/>
          <dgm:chPref val="3"/>
          <dgm:bulletEnabled val="1"/>
        </dgm:presLayoutVars>
      </dgm:prSet>
      <dgm:spPr/>
    </dgm:pt>
    <dgm:pt modelId="{60721ED9-EF25-486A-8664-F8AAE24D69F8}" type="pres">
      <dgm:prSet presAssocID="{7BDD196A-1890-46FA-9A4E-D38009DCC4E9}" presName="childText3" presStyleLbl="solidAlignAcc1" presStyleIdx="2" presStyleCnt="5">
        <dgm:presLayoutVars>
          <dgm:chMax val="0"/>
          <dgm:chPref val="0"/>
          <dgm:bulletEnabled val="1"/>
        </dgm:presLayoutVars>
      </dgm:prSet>
      <dgm:spPr/>
    </dgm:pt>
    <dgm:pt modelId="{563B338E-8A06-41C2-B3A4-6597A1A7EE93}" type="pres">
      <dgm:prSet presAssocID="{7B429B94-8EC2-4E08-B844-434195A8F2A7}" presName="parentText4" presStyleLbl="node1" presStyleIdx="3" presStyleCnt="5">
        <dgm:presLayoutVars>
          <dgm:chMax/>
          <dgm:chPref val="3"/>
          <dgm:bulletEnabled val="1"/>
        </dgm:presLayoutVars>
      </dgm:prSet>
      <dgm:spPr/>
    </dgm:pt>
    <dgm:pt modelId="{A0BBDFE8-3742-49E9-AEDC-0BF4110F7CB8}" type="pres">
      <dgm:prSet presAssocID="{7B429B94-8EC2-4E08-B844-434195A8F2A7}" presName="childText4" presStyleLbl="solidAlignAcc1" presStyleIdx="3" presStyleCnt="5">
        <dgm:presLayoutVars>
          <dgm:chMax val="0"/>
          <dgm:chPref val="0"/>
          <dgm:bulletEnabled val="1"/>
        </dgm:presLayoutVars>
      </dgm:prSet>
      <dgm:spPr/>
    </dgm:pt>
    <dgm:pt modelId="{D616D08C-EB95-4B25-B7D2-248959EC5DE5}" type="pres">
      <dgm:prSet presAssocID="{A882B92E-065D-460B-9EA4-75301CE9DA91}" presName="parentText5" presStyleLbl="node1" presStyleIdx="4" presStyleCnt="5">
        <dgm:presLayoutVars>
          <dgm:chMax/>
          <dgm:chPref val="3"/>
          <dgm:bulletEnabled val="1"/>
        </dgm:presLayoutVars>
      </dgm:prSet>
      <dgm:spPr/>
    </dgm:pt>
    <dgm:pt modelId="{99E250EA-9667-4C0D-B9DD-772712C05707}" type="pres">
      <dgm:prSet presAssocID="{A882B92E-065D-460B-9EA4-75301CE9DA91}" presName="childText5" presStyleLbl="solidAlignAcc1" presStyleIdx="4" presStyleCnt="5">
        <dgm:presLayoutVars>
          <dgm:chMax val="0"/>
          <dgm:chPref val="0"/>
          <dgm:bulletEnabled val="1"/>
        </dgm:presLayoutVars>
      </dgm:prSet>
      <dgm:spPr/>
    </dgm:pt>
  </dgm:ptLst>
  <dgm:cxnLst>
    <dgm:cxn modelId="{D9B10006-3932-439B-8A86-51E2FF945552}" type="presOf" srcId="{7BDD196A-1890-46FA-9A4E-D38009DCC4E9}" destId="{DB895EE6-8B82-4BD5-9994-6187E2450FD6}" srcOrd="0" destOrd="0" presId="urn:microsoft.com/office/officeart/2009/3/layout/IncreasingArrowsProcess"/>
    <dgm:cxn modelId="{B134B10B-293A-4034-8AD9-B1CE8A7D7CE3}" type="presOf" srcId="{067D33C2-718B-42FD-A99A-E7CEEDBF732E}" destId="{21C0189A-4E2E-471B-8B0F-D8AD10B44747}" srcOrd="0" destOrd="0" presId="urn:microsoft.com/office/officeart/2009/3/layout/IncreasingArrowsProcess"/>
    <dgm:cxn modelId="{2C4ABB0C-53E5-4348-A04A-609F69F0EB1B}" type="presOf" srcId="{B348277F-A85C-4E22-9AAB-901E1959E2D4}" destId="{97F9D412-24AB-4693-85DC-65E0A06D17D6}" srcOrd="0" destOrd="1" presId="urn:microsoft.com/office/officeart/2009/3/layout/IncreasingArrowsProcess"/>
    <dgm:cxn modelId="{86C8D00D-E404-4B53-B62D-5F834C271861}" srcId="{E338C7DB-E35E-4033-9D40-ECFC32A318CA}" destId="{F663C735-FA61-4306-961C-37411615AF41}" srcOrd="0" destOrd="0" parTransId="{FF95B167-F5CD-4D78-BAEA-BC391312AF78}" sibTransId="{46DC3A5F-CC96-4CD5-8039-20ABF91D2176}"/>
    <dgm:cxn modelId="{4E33AE17-E4C1-420C-A62B-5F84C89EC622}" srcId="{7B429B94-8EC2-4E08-B844-434195A8F2A7}" destId="{C401148E-F542-4029-A456-B2AA134C072A}" srcOrd="0" destOrd="0" parTransId="{2EDF91AE-D6F8-4C19-AF19-6DE957D565CF}" sibTransId="{79B38B41-EE1E-497F-A005-2677588B54EC}"/>
    <dgm:cxn modelId="{F9E88B1F-C08E-41C0-BA75-0900D6E3AB8D}" type="presOf" srcId="{C401148E-F542-4029-A456-B2AA134C072A}" destId="{A0BBDFE8-3742-49E9-AEDC-0BF4110F7CB8}" srcOrd="0" destOrd="0" presId="urn:microsoft.com/office/officeart/2009/3/layout/IncreasingArrowsProcess"/>
    <dgm:cxn modelId="{DEBA4422-730D-4918-812F-06E0A2E90B15}" type="presOf" srcId="{4267C8EB-964C-4771-9151-1070161A6158}" destId="{97F9D412-24AB-4693-85DC-65E0A06D17D6}" srcOrd="0" destOrd="0" presId="urn:microsoft.com/office/officeart/2009/3/layout/IncreasingArrowsProcess"/>
    <dgm:cxn modelId="{6034543E-D8AA-4F17-AD9A-1576A04F9742}" srcId="{E338C7DB-E35E-4033-9D40-ECFC32A318CA}" destId="{7B429B94-8EC2-4E08-B844-434195A8F2A7}" srcOrd="3" destOrd="0" parTransId="{1802406B-171E-4F4C-A223-09B8168AF637}" sibTransId="{FE02DF50-2DB5-45A1-B8FD-ABEEB815EE69}"/>
    <dgm:cxn modelId="{CB6AF945-1AB5-45A4-BA84-6CB831024E56}" srcId="{F663C735-FA61-4306-961C-37411615AF41}" destId="{33C87E52-B1F7-4CC3-AC98-B277D5013DCE}" srcOrd="0" destOrd="0" parTransId="{73D08F07-A81A-451D-A0C8-338D8E672375}" sibTransId="{1F45F80E-AFB5-4E25-8F82-E635F5EE55B9}"/>
    <dgm:cxn modelId="{C9ECFC65-F5C8-4D61-8197-2827883FE6A9}" type="presOf" srcId="{A882B92E-065D-460B-9EA4-75301CE9DA91}" destId="{D616D08C-EB95-4B25-B7D2-248959EC5DE5}" srcOrd="0" destOrd="0" presId="urn:microsoft.com/office/officeart/2009/3/layout/IncreasingArrowsProcess"/>
    <dgm:cxn modelId="{EEA4BD66-F5C5-4C1F-9EC7-010471C69EC3}" type="presOf" srcId="{2DE890B9-B9E6-42CF-8EA7-75BD8D89EC21}" destId="{6766FCD0-04D3-4F04-A5F8-288D47131E6E}" srcOrd="0" destOrd="1" presId="urn:microsoft.com/office/officeart/2009/3/layout/IncreasingArrowsProcess"/>
    <dgm:cxn modelId="{C0C73647-51ED-4E97-A474-A383B498D154}" srcId="{E338C7DB-E35E-4033-9D40-ECFC32A318CA}" destId="{067D33C2-718B-42FD-A99A-E7CEEDBF732E}" srcOrd="1" destOrd="0" parTransId="{1169D4C7-0112-450B-9CFD-09456120AF73}" sibTransId="{552807BC-51E7-4A79-8AE9-FBDBEAF21748}"/>
    <dgm:cxn modelId="{85BA656A-C29E-4447-977C-9EC14AE26742}" srcId="{F663C735-FA61-4306-961C-37411615AF41}" destId="{2DE890B9-B9E6-42CF-8EA7-75BD8D89EC21}" srcOrd="1" destOrd="0" parTransId="{847F619A-5250-458C-A621-C84B8625ADE9}" sibTransId="{8D32C4A4-D7D7-44FC-9B86-1D45D02AC2E4}"/>
    <dgm:cxn modelId="{AC090C6B-69B6-4920-8AA3-3FC87574C28B}" srcId="{067D33C2-718B-42FD-A99A-E7CEEDBF732E}" destId="{4267C8EB-964C-4771-9151-1070161A6158}" srcOrd="0" destOrd="0" parTransId="{9CBB39FD-811E-4283-BF81-610DB017128F}" sibTransId="{61064D14-7E0A-4782-819A-986B234C7737}"/>
    <dgm:cxn modelId="{345CBA4D-2805-4DA4-BD9F-0ABCADBACDBB}" type="presOf" srcId="{7B429B94-8EC2-4E08-B844-434195A8F2A7}" destId="{563B338E-8A06-41C2-B3A4-6597A1A7EE93}" srcOrd="0" destOrd="0" presId="urn:microsoft.com/office/officeart/2009/3/layout/IncreasingArrowsProcess"/>
    <dgm:cxn modelId="{A96EE387-6361-457E-9E74-53F7D95FB48F}" type="presOf" srcId="{E15099B4-8E62-4887-B60E-5A884FC208F7}" destId="{60721ED9-EF25-486A-8664-F8AAE24D69F8}" srcOrd="0" destOrd="0" presId="urn:microsoft.com/office/officeart/2009/3/layout/IncreasingArrowsProcess"/>
    <dgm:cxn modelId="{9BF01296-BF1C-4770-92B5-B96BA155EB7C}" type="presOf" srcId="{F663C735-FA61-4306-961C-37411615AF41}" destId="{0555A131-7BB0-47EB-9972-A4106B7A027A}" srcOrd="0" destOrd="0" presId="urn:microsoft.com/office/officeart/2009/3/layout/IncreasingArrowsProcess"/>
    <dgm:cxn modelId="{39C7D999-707D-4571-AA95-26F68B755072}" srcId="{E338C7DB-E35E-4033-9D40-ECFC32A318CA}" destId="{A882B92E-065D-460B-9EA4-75301CE9DA91}" srcOrd="4" destOrd="0" parTransId="{F85ADD7E-9B4C-4F73-A138-5FF8D18BDF5F}" sibTransId="{043E19ED-D8DC-40FE-A9D0-F067DCF0EDF0}"/>
    <dgm:cxn modelId="{31FC1DA3-F299-4591-8F10-1DEE6297F574}" type="presOf" srcId="{33C87E52-B1F7-4CC3-AC98-B277D5013DCE}" destId="{6766FCD0-04D3-4F04-A5F8-288D47131E6E}" srcOrd="0" destOrd="0" presId="urn:microsoft.com/office/officeart/2009/3/layout/IncreasingArrowsProcess"/>
    <dgm:cxn modelId="{0A2F13CB-D401-4C51-AEEB-EADA746C6043}" srcId="{E338C7DB-E35E-4033-9D40-ECFC32A318CA}" destId="{6262A5BB-88D4-4744-8BFD-C0116E2EC439}" srcOrd="5" destOrd="0" parTransId="{E5581F1D-400E-4EE3-ACBF-FC53DC2EB569}" sibTransId="{6D1C4A1E-C1FA-49E8-85B5-6A7FA541A3F3}"/>
    <dgm:cxn modelId="{746E0ACC-FFEB-4AB4-9012-337B003E5F31}" srcId="{E338C7DB-E35E-4033-9D40-ECFC32A318CA}" destId="{7BDD196A-1890-46FA-9A4E-D38009DCC4E9}" srcOrd="2" destOrd="0" parTransId="{CE7FE2A3-DA7C-45F8-BD4D-C47439D9F0D7}" sibTransId="{040755A9-73FA-4F8F-96F7-E57E8669A965}"/>
    <dgm:cxn modelId="{550D63D3-217F-469B-80F2-2FD73B236CF0}" srcId="{6262A5BB-88D4-4744-8BFD-C0116E2EC439}" destId="{6C2FB89A-9334-47E1-BAF2-0E8349484BF9}" srcOrd="0" destOrd="0" parTransId="{571DC3DC-83DC-416B-BA64-9D9053FE5625}" sibTransId="{528B00AF-ECA9-4546-B29C-5C4E84FC4543}"/>
    <dgm:cxn modelId="{5A1E9BDE-EF40-465A-AA6F-3FAF275C62FA}" srcId="{A882B92E-065D-460B-9EA4-75301CE9DA91}" destId="{D11CA087-6E67-427E-8C7E-5EC2A709A032}" srcOrd="0" destOrd="0" parTransId="{E45F0648-AD49-43B2-9A53-EAD3B8FD2A18}" sibTransId="{F1701FDA-D380-417D-900F-8CCB516BB387}"/>
    <dgm:cxn modelId="{86127FE3-5750-4355-881F-F0A6FF71C4CE}" type="presOf" srcId="{E338C7DB-E35E-4033-9D40-ECFC32A318CA}" destId="{342E6563-22A5-4C26-B064-A585F3701474}" srcOrd="0" destOrd="0" presId="urn:microsoft.com/office/officeart/2009/3/layout/IncreasingArrowsProcess"/>
    <dgm:cxn modelId="{171798E7-62D0-4DE0-96BF-89C8EB43300B}" srcId="{7BDD196A-1890-46FA-9A4E-D38009DCC4E9}" destId="{E15099B4-8E62-4887-B60E-5A884FC208F7}" srcOrd="0" destOrd="0" parTransId="{62595BA5-3E11-44BA-B6CF-31E11370F6CF}" sibTransId="{CA4C0763-962C-4521-8C20-5265991DDDB7}"/>
    <dgm:cxn modelId="{0E55CFEC-3240-474F-8974-9A92B6CF77CF}" type="presOf" srcId="{D11CA087-6E67-427E-8C7E-5EC2A709A032}" destId="{99E250EA-9667-4C0D-B9DD-772712C05707}" srcOrd="0" destOrd="0" presId="urn:microsoft.com/office/officeart/2009/3/layout/IncreasingArrowsProcess"/>
    <dgm:cxn modelId="{39A3F3FE-793F-4BB7-9D31-72BADAD84DCD}" srcId="{067D33C2-718B-42FD-A99A-E7CEEDBF732E}" destId="{B348277F-A85C-4E22-9AAB-901E1959E2D4}" srcOrd="1" destOrd="0" parTransId="{EA111345-8639-435C-A62A-E2B282D461AF}" sibTransId="{DAB51D0C-0E7C-4B26-B7E1-B7FC282F1346}"/>
    <dgm:cxn modelId="{3BC9BF67-38F4-4F7E-B592-38A9C63BE007}" type="presParOf" srcId="{342E6563-22A5-4C26-B064-A585F3701474}" destId="{0555A131-7BB0-47EB-9972-A4106B7A027A}" srcOrd="0" destOrd="0" presId="urn:microsoft.com/office/officeart/2009/3/layout/IncreasingArrowsProcess"/>
    <dgm:cxn modelId="{880B3A72-D120-408C-9E82-2C5A1398BDC3}" type="presParOf" srcId="{342E6563-22A5-4C26-B064-A585F3701474}" destId="{6766FCD0-04D3-4F04-A5F8-288D47131E6E}" srcOrd="1" destOrd="0" presId="urn:microsoft.com/office/officeart/2009/3/layout/IncreasingArrowsProcess"/>
    <dgm:cxn modelId="{93A37A08-846A-4C70-BCEE-C823CEE80AB8}" type="presParOf" srcId="{342E6563-22A5-4C26-B064-A585F3701474}" destId="{21C0189A-4E2E-471B-8B0F-D8AD10B44747}" srcOrd="2" destOrd="0" presId="urn:microsoft.com/office/officeart/2009/3/layout/IncreasingArrowsProcess"/>
    <dgm:cxn modelId="{9685F403-201C-4909-BA96-0276784AFFB7}" type="presParOf" srcId="{342E6563-22A5-4C26-B064-A585F3701474}" destId="{97F9D412-24AB-4693-85DC-65E0A06D17D6}" srcOrd="3" destOrd="0" presId="urn:microsoft.com/office/officeart/2009/3/layout/IncreasingArrowsProcess"/>
    <dgm:cxn modelId="{2517BCD7-A858-45F1-BC8B-D7D7700A83F0}" type="presParOf" srcId="{342E6563-22A5-4C26-B064-A585F3701474}" destId="{DB895EE6-8B82-4BD5-9994-6187E2450FD6}" srcOrd="4" destOrd="0" presId="urn:microsoft.com/office/officeart/2009/3/layout/IncreasingArrowsProcess"/>
    <dgm:cxn modelId="{DA8AD741-EDEC-4F45-A035-8C7019000FAD}" type="presParOf" srcId="{342E6563-22A5-4C26-B064-A585F3701474}" destId="{60721ED9-EF25-486A-8664-F8AAE24D69F8}" srcOrd="5" destOrd="0" presId="urn:microsoft.com/office/officeart/2009/3/layout/IncreasingArrowsProcess"/>
    <dgm:cxn modelId="{53A25CDF-6793-485D-B9CB-CE4AEB4FA700}" type="presParOf" srcId="{342E6563-22A5-4C26-B064-A585F3701474}" destId="{563B338E-8A06-41C2-B3A4-6597A1A7EE93}" srcOrd="6" destOrd="0" presId="urn:microsoft.com/office/officeart/2009/3/layout/IncreasingArrowsProcess"/>
    <dgm:cxn modelId="{50AD7810-4575-4AA0-8389-CF8ACA791312}" type="presParOf" srcId="{342E6563-22A5-4C26-B064-A585F3701474}" destId="{A0BBDFE8-3742-49E9-AEDC-0BF4110F7CB8}" srcOrd="7" destOrd="0" presId="urn:microsoft.com/office/officeart/2009/3/layout/IncreasingArrowsProcess"/>
    <dgm:cxn modelId="{3391848D-BA3B-4145-8B25-E20B53D9E95A}" type="presParOf" srcId="{342E6563-22A5-4C26-B064-A585F3701474}" destId="{D616D08C-EB95-4B25-B7D2-248959EC5DE5}" srcOrd="8" destOrd="0" presId="urn:microsoft.com/office/officeart/2009/3/layout/IncreasingArrowsProcess"/>
    <dgm:cxn modelId="{57B1034C-6FC0-40CA-A654-B2F2D14D32F9}" type="presParOf" srcId="{342E6563-22A5-4C26-B064-A585F3701474}" destId="{99E250EA-9667-4C0D-B9DD-772712C05707}" srcOrd="9" destOrd="0" presId="urn:microsoft.com/office/officeart/2009/3/layout/IncreasingArrows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55A131-7BB0-47EB-9972-A4106B7A027A}">
      <dsp:nvSpPr>
        <dsp:cNvPr id="0" name=""/>
        <dsp:cNvSpPr/>
      </dsp:nvSpPr>
      <dsp:spPr>
        <a:xfrm>
          <a:off x="1436941" y="58181"/>
          <a:ext cx="7789492" cy="1132810"/>
        </a:xfrm>
        <a:prstGeom prst="rightArrow">
          <a:avLst>
            <a:gd name="adj1" fmla="val 50000"/>
            <a:gd name="adj2" fmla="val 50000"/>
          </a:avLst>
        </a:prstGeom>
        <a:solidFill>
          <a:schemeClr val="accent1">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254000" bIns="179834" numCol="1" spcCol="1270" anchor="ctr" anchorCtr="0">
          <a:noAutofit/>
        </a:bodyPr>
        <a:lstStyle/>
        <a:p>
          <a:pPr marL="0" lvl="0" indent="0" algn="l" defTabSz="800100">
            <a:lnSpc>
              <a:spcPct val="90000"/>
            </a:lnSpc>
            <a:spcBef>
              <a:spcPct val="0"/>
            </a:spcBef>
            <a:spcAft>
              <a:spcPct val="35000"/>
            </a:spcAft>
            <a:buNone/>
          </a:pPr>
          <a:r>
            <a:rPr kumimoji="1" lang="ja-JP" altLang="en-US" sz="1800" kern="1200" dirty="0"/>
            <a:t>サンプリング</a:t>
          </a:r>
        </a:p>
      </dsp:txBody>
      <dsp:txXfrm>
        <a:off x="1436941" y="341384"/>
        <a:ext cx="7506290" cy="566405"/>
      </dsp:txXfrm>
    </dsp:sp>
    <dsp:sp modelId="{6766FCD0-04D3-4F04-A5F8-288D47131E6E}">
      <dsp:nvSpPr>
        <dsp:cNvPr id="0" name=""/>
        <dsp:cNvSpPr/>
      </dsp:nvSpPr>
      <dsp:spPr>
        <a:xfrm>
          <a:off x="1436941" y="930279"/>
          <a:ext cx="1439654" cy="2080022"/>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kumimoji="1" lang="en-US" altLang="ja-JP" sz="1800" kern="1200" dirty="0"/>
            <a:t>LHS</a:t>
          </a:r>
          <a:r>
            <a:rPr kumimoji="1" lang="ja-JP" altLang="en-US" sz="1800" kern="1200" dirty="0"/>
            <a:t>サンプリングを用いてパラメータ空間を均一にカバー</a:t>
          </a:r>
        </a:p>
        <a:p>
          <a:pPr marL="0" lvl="0" indent="0" algn="l" defTabSz="800100">
            <a:lnSpc>
              <a:spcPct val="90000"/>
            </a:lnSpc>
            <a:spcBef>
              <a:spcPct val="0"/>
            </a:spcBef>
            <a:spcAft>
              <a:spcPct val="35000"/>
            </a:spcAft>
            <a:buNone/>
          </a:pPr>
          <a:r>
            <a:rPr kumimoji="1" lang="ja-JP" altLang="en-US" sz="1800" kern="1200" dirty="0"/>
            <a:t>サンプリング数</a:t>
          </a:r>
          <a:r>
            <a:rPr kumimoji="1" lang="en-US" altLang="ja-JP" sz="1800" kern="1200" dirty="0"/>
            <a:t>N=320</a:t>
          </a:r>
          <a:endParaRPr kumimoji="1" lang="ja-JP" altLang="en-US" sz="1800" kern="1200" dirty="0"/>
        </a:p>
      </dsp:txBody>
      <dsp:txXfrm>
        <a:off x="1436941" y="930279"/>
        <a:ext cx="1439654" cy="2080022"/>
      </dsp:txXfrm>
    </dsp:sp>
    <dsp:sp modelId="{21C0189A-4E2E-471B-8B0F-D8AD10B44747}">
      <dsp:nvSpPr>
        <dsp:cNvPr id="0" name=""/>
        <dsp:cNvSpPr/>
      </dsp:nvSpPr>
      <dsp:spPr>
        <a:xfrm>
          <a:off x="2876439" y="435930"/>
          <a:ext cx="6349994" cy="1132810"/>
        </a:xfrm>
        <a:prstGeom prst="rightArrow">
          <a:avLst>
            <a:gd name="adj1" fmla="val 50000"/>
            <a:gd name="adj2" fmla="val 50000"/>
          </a:avLst>
        </a:prstGeom>
        <a:solidFill>
          <a:schemeClr val="accent1">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254000" bIns="179834" numCol="1" spcCol="1270" anchor="ctr" anchorCtr="0">
          <a:noAutofit/>
        </a:bodyPr>
        <a:lstStyle/>
        <a:p>
          <a:pPr marL="0" lvl="0" indent="0" algn="l" defTabSz="800100">
            <a:lnSpc>
              <a:spcPct val="90000"/>
            </a:lnSpc>
            <a:spcBef>
              <a:spcPct val="0"/>
            </a:spcBef>
            <a:spcAft>
              <a:spcPct val="35000"/>
            </a:spcAft>
            <a:buNone/>
          </a:pPr>
          <a:r>
            <a:rPr kumimoji="1" lang="en-US" altLang="ja-JP" sz="1800" kern="1200" dirty="0"/>
            <a:t>LP</a:t>
          </a:r>
          <a:r>
            <a:rPr kumimoji="1" lang="ja-JP" altLang="en-US" sz="1800" kern="1200" dirty="0"/>
            <a:t>求解</a:t>
          </a:r>
        </a:p>
      </dsp:txBody>
      <dsp:txXfrm>
        <a:off x="2876439" y="719133"/>
        <a:ext cx="6066792" cy="566405"/>
      </dsp:txXfrm>
    </dsp:sp>
    <dsp:sp modelId="{97F9D412-24AB-4693-85DC-65E0A06D17D6}">
      <dsp:nvSpPr>
        <dsp:cNvPr id="0" name=""/>
        <dsp:cNvSpPr/>
      </dsp:nvSpPr>
      <dsp:spPr>
        <a:xfrm>
          <a:off x="2903692" y="1308028"/>
          <a:ext cx="1439654" cy="2080022"/>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kumimoji="1" lang="ja-JP" altLang="en-US" sz="1800" kern="1200" dirty="0"/>
            <a:t>コスト最小最適化</a:t>
          </a:r>
        </a:p>
        <a:p>
          <a:pPr marL="0" lvl="0" indent="0" algn="l" defTabSz="800100">
            <a:lnSpc>
              <a:spcPct val="90000"/>
            </a:lnSpc>
            <a:spcBef>
              <a:spcPct val="0"/>
            </a:spcBef>
            <a:spcAft>
              <a:spcPct val="35000"/>
            </a:spcAft>
            <a:buNone/>
          </a:pPr>
          <a:r>
            <a:rPr kumimoji="1" lang="en-US" altLang="ja-JP" sz="1800" kern="1200" dirty="0"/>
            <a:t>320</a:t>
          </a:r>
          <a:r>
            <a:rPr kumimoji="1" lang="ja-JP" altLang="en-US" sz="1800" kern="1200" dirty="0"/>
            <a:t>回実施</a:t>
          </a:r>
        </a:p>
      </dsp:txBody>
      <dsp:txXfrm>
        <a:off x="2903692" y="1308028"/>
        <a:ext cx="1439654" cy="2080022"/>
      </dsp:txXfrm>
    </dsp:sp>
    <dsp:sp modelId="{DB895EE6-8B82-4BD5-9994-6187E2450FD6}">
      <dsp:nvSpPr>
        <dsp:cNvPr id="0" name=""/>
        <dsp:cNvSpPr/>
      </dsp:nvSpPr>
      <dsp:spPr>
        <a:xfrm>
          <a:off x="4315938" y="813679"/>
          <a:ext cx="4910496" cy="1132810"/>
        </a:xfrm>
        <a:prstGeom prst="rightArrow">
          <a:avLst>
            <a:gd name="adj1" fmla="val 50000"/>
            <a:gd name="adj2" fmla="val 50000"/>
          </a:avLst>
        </a:prstGeom>
        <a:solidFill>
          <a:schemeClr val="accent1">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254000" bIns="179834" numCol="1" spcCol="1270" anchor="ctr" anchorCtr="0">
          <a:noAutofit/>
        </a:bodyPr>
        <a:lstStyle/>
        <a:p>
          <a:pPr marL="0" lvl="0" indent="0" algn="l" defTabSz="800100">
            <a:lnSpc>
              <a:spcPct val="90000"/>
            </a:lnSpc>
            <a:spcBef>
              <a:spcPct val="0"/>
            </a:spcBef>
            <a:spcAft>
              <a:spcPct val="35000"/>
            </a:spcAft>
            <a:buNone/>
          </a:pPr>
          <a:r>
            <a:rPr kumimoji="1" lang="en-US" altLang="ja-JP" sz="1800" kern="1200" dirty="0"/>
            <a:t>PCE</a:t>
          </a:r>
          <a:r>
            <a:rPr kumimoji="1" lang="ja-JP" altLang="en-US" sz="1800" kern="1200" dirty="0"/>
            <a:t>学習</a:t>
          </a:r>
        </a:p>
      </dsp:txBody>
      <dsp:txXfrm>
        <a:off x="4315938" y="1096882"/>
        <a:ext cx="4627294" cy="566405"/>
      </dsp:txXfrm>
    </dsp:sp>
    <dsp:sp modelId="{E4D11C8A-3C1C-404A-ABB0-756E935BCAAC}">
      <dsp:nvSpPr>
        <dsp:cNvPr id="0" name=""/>
        <dsp:cNvSpPr/>
      </dsp:nvSpPr>
      <dsp:spPr>
        <a:xfrm>
          <a:off x="4315938" y="1685777"/>
          <a:ext cx="1439654" cy="2080022"/>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kumimoji="1" lang="en-US" altLang="ja-JP" sz="1800" kern="1200" dirty="0"/>
            <a:t>320</a:t>
          </a:r>
          <a:r>
            <a:rPr kumimoji="1" lang="ja-JP" altLang="en-US" sz="1800" kern="1200" dirty="0"/>
            <a:t>個の</a:t>
          </a:r>
          <a:r>
            <a:rPr kumimoji="1" lang="en-US" altLang="ja-JP" sz="1800" kern="1200" dirty="0"/>
            <a:t>LP</a:t>
          </a:r>
          <a:r>
            <a:rPr kumimoji="1" lang="ja-JP" altLang="en-US" sz="1800" kern="1200" dirty="0"/>
            <a:t>の計算結果から</a:t>
          </a:r>
          <a:r>
            <a:rPr kumimoji="1" lang="en-US" altLang="ja-JP" sz="1800" kern="1200" dirty="0"/>
            <a:t>PCE</a:t>
          </a:r>
          <a:r>
            <a:rPr kumimoji="1" lang="ja-JP" altLang="en-US" sz="1800" kern="1200" dirty="0"/>
            <a:t>サロゲートモデルを作成</a:t>
          </a:r>
        </a:p>
      </dsp:txBody>
      <dsp:txXfrm>
        <a:off x="4315938" y="1685777"/>
        <a:ext cx="1439654" cy="2080022"/>
      </dsp:txXfrm>
    </dsp:sp>
    <dsp:sp modelId="{D1EBE732-835E-46CF-9A13-FA8641EA0C84}">
      <dsp:nvSpPr>
        <dsp:cNvPr id="0" name=""/>
        <dsp:cNvSpPr/>
      </dsp:nvSpPr>
      <dsp:spPr>
        <a:xfrm>
          <a:off x="5756215" y="1191428"/>
          <a:ext cx="3470219" cy="1132810"/>
        </a:xfrm>
        <a:prstGeom prst="rightArrow">
          <a:avLst>
            <a:gd name="adj1" fmla="val 50000"/>
            <a:gd name="adj2" fmla="val 50000"/>
          </a:avLst>
        </a:prstGeom>
        <a:solidFill>
          <a:schemeClr val="accent1">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254000" bIns="179834" numCol="1" spcCol="1270" anchor="ctr" anchorCtr="0">
          <a:noAutofit/>
        </a:bodyPr>
        <a:lstStyle/>
        <a:p>
          <a:pPr marL="0" lvl="0" indent="0" algn="l" defTabSz="800100">
            <a:lnSpc>
              <a:spcPct val="90000"/>
            </a:lnSpc>
            <a:spcBef>
              <a:spcPct val="0"/>
            </a:spcBef>
            <a:spcAft>
              <a:spcPct val="35000"/>
            </a:spcAft>
            <a:buNone/>
          </a:pPr>
          <a:r>
            <a:rPr kumimoji="1" lang="ja-JP" altLang="en-US" sz="1800" kern="1200" dirty="0"/>
            <a:t>学習モデル多数の</a:t>
          </a:r>
          <a:r>
            <a:rPr kumimoji="1" lang="en-US" altLang="ja-JP" sz="1800" kern="1200" dirty="0"/>
            <a:t>LP</a:t>
          </a:r>
          <a:r>
            <a:rPr kumimoji="1" lang="ja-JP" altLang="en-US" sz="1800" kern="1200" dirty="0"/>
            <a:t>解を求解</a:t>
          </a:r>
        </a:p>
      </dsp:txBody>
      <dsp:txXfrm>
        <a:off x="5756215" y="1474631"/>
        <a:ext cx="3187017" cy="566405"/>
      </dsp:txXfrm>
    </dsp:sp>
    <dsp:sp modelId="{34010180-8546-4EC6-969E-71C0C04F9E9A}">
      <dsp:nvSpPr>
        <dsp:cNvPr id="0" name=""/>
        <dsp:cNvSpPr/>
      </dsp:nvSpPr>
      <dsp:spPr>
        <a:xfrm>
          <a:off x="5756215" y="2063526"/>
          <a:ext cx="1439654" cy="2080022"/>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kumimoji="1" lang="en-US" altLang="ja-JP" sz="1800" kern="1200" dirty="0"/>
            <a:t>PCE</a:t>
          </a:r>
          <a:r>
            <a:rPr kumimoji="1" lang="ja-JP" altLang="en-US" sz="1800" kern="1200" dirty="0"/>
            <a:t>サロゲートモデルから</a:t>
          </a:r>
          <a:r>
            <a:rPr kumimoji="1" lang="en-US" altLang="ja-JP" sz="1800" kern="1200" dirty="0"/>
            <a:t>10,240</a:t>
          </a:r>
          <a:r>
            <a:rPr kumimoji="1" lang="ja-JP" altLang="en-US" sz="1800" kern="1200" dirty="0"/>
            <a:t>の</a:t>
          </a:r>
          <a:r>
            <a:rPr kumimoji="1" lang="en-US" altLang="ja-JP" sz="1800" kern="1200" dirty="0"/>
            <a:t>LP</a:t>
          </a:r>
          <a:r>
            <a:rPr kumimoji="1" lang="ja-JP" altLang="en-US" sz="1800" kern="1200" dirty="0"/>
            <a:t>求解</a:t>
          </a:r>
        </a:p>
      </dsp:txBody>
      <dsp:txXfrm>
        <a:off x="5756215" y="2063526"/>
        <a:ext cx="1439654" cy="2080022"/>
      </dsp:txXfrm>
    </dsp:sp>
    <dsp:sp modelId="{D6659B1B-A8B9-4724-BBA6-AD6127501E23}">
      <dsp:nvSpPr>
        <dsp:cNvPr id="0" name=""/>
        <dsp:cNvSpPr/>
      </dsp:nvSpPr>
      <dsp:spPr>
        <a:xfrm>
          <a:off x="7195713" y="1569177"/>
          <a:ext cx="2030720" cy="1132810"/>
        </a:xfrm>
        <a:prstGeom prst="rightArrow">
          <a:avLst>
            <a:gd name="adj1" fmla="val 50000"/>
            <a:gd name="adj2" fmla="val 50000"/>
          </a:avLst>
        </a:prstGeom>
        <a:solidFill>
          <a:schemeClr val="accent1">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254000" bIns="179834" numCol="1" spcCol="1270" anchor="ctr" anchorCtr="0">
          <a:noAutofit/>
        </a:bodyPr>
        <a:lstStyle/>
        <a:p>
          <a:pPr marL="0" lvl="0" indent="0" algn="l" defTabSz="666750">
            <a:lnSpc>
              <a:spcPct val="90000"/>
            </a:lnSpc>
            <a:spcBef>
              <a:spcPct val="0"/>
            </a:spcBef>
            <a:spcAft>
              <a:spcPct val="35000"/>
            </a:spcAft>
            <a:buNone/>
          </a:pPr>
          <a:r>
            <a:rPr kumimoji="1" lang="en-US" altLang="ja-JP" sz="1500" kern="1200" dirty="0"/>
            <a:t>Sobol</a:t>
          </a:r>
          <a:r>
            <a:rPr kumimoji="1" lang="ja-JP" altLang="en-US" sz="1500" kern="1200" dirty="0"/>
            <a:t>指数を導出</a:t>
          </a:r>
        </a:p>
      </dsp:txBody>
      <dsp:txXfrm>
        <a:off x="7195713" y="1852380"/>
        <a:ext cx="1747518" cy="566405"/>
      </dsp:txXfrm>
    </dsp:sp>
    <dsp:sp modelId="{9E4DE4EA-A2C5-47A6-B1C2-A716FD93478E}">
      <dsp:nvSpPr>
        <dsp:cNvPr id="0" name=""/>
        <dsp:cNvSpPr/>
      </dsp:nvSpPr>
      <dsp:spPr>
        <a:xfrm>
          <a:off x="7195713" y="2441275"/>
          <a:ext cx="1439654" cy="2080022"/>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altLang="ja-JP" sz="1600" b="0" i="1" kern="1200" dirty="0">
              <a:solidFill>
                <a:schemeClr val="tx1"/>
              </a:solidFill>
              <a:latin typeface="+mn-ea"/>
              <a:ea typeface="+mn-ea"/>
              <a:cs typeface="Calibri" pitchFamily="34" charset="-120"/>
            </a:rPr>
            <a:t>Sᵢ, STᵢ, Sᵢⱼ</a:t>
          </a:r>
          <a:r>
            <a:rPr lang="ja-JP" altLang="en-US" sz="1600" b="0" kern="1200" dirty="0">
              <a:solidFill>
                <a:schemeClr val="tx1"/>
              </a:solidFill>
              <a:latin typeface="+mn-ea"/>
              <a:ea typeface="+mn-ea"/>
              <a:cs typeface="Calibri" pitchFamily="34" charset="-120"/>
            </a:rPr>
            <a:t>算出</a:t>
          </a:r>
          <a:endParaRPr kumimoji="1" lang="ja-JP" altLang="en-US" sz="1600" kern="1200" dirty="0">
            <a:latin typeface="+mn-ea"/>
            <a:ea typeface="+mn-ea"/>
          </a:endParaRPr>
        </a:p>
      </dsp:txBody>
      <dsp:txXfrm>
        <a:off x="7195713" y="2441275"/>
        <a:ext cx="1439654" cy="208002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55A131-7BB0-47EB-9972-A4106B7A027A}">
      <dsp:nvSpPr>
        <dsp:cNvPr id="0" name=""/>
        <dsp:cNvSpPr/>
      </dsp:nvSpPr>
      <dsp:spPr>
        <a:xfrm>
          <a:off x="47450" y="8987"/>
          <a:ext cx="5231604" cy="760822"/>
        </a:xfrm>
        <a:prstGeom prst="rightArrow">
          <a:avLst>
            <a:gd name="adj1" fmla="val 50000"/>
            <a:gd name="adj2" fmla="val 50000"/>
          </a:avLst>
        </a:prstGeom>
        <a:solidFill>
          <a:schemeClr val="accent1">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254000" bIns="120780" numCol="1" spcCol="1270" anchor="ctr" anchorCtr="0">
          <a:noAutofit/>
        </a:bodyPr>
        <a:lstStyle/>
        <a:p>
          <a:pPr marL="0" lvl="0" indent="0" algn="l" defTabSz="444500">
            <a:lnSpc>
              <a:spcPct val="90000"/>
            </a:lnSpc>
            <a:spcBef>
              <a:spcPct val="0"/>
            </a:spcBef>
            <a:spcAft>
              <a:spcPct val="35000"/>
            </a:spcAft>
            <a:buNone/>
          </a:pPr>
          <a:r>
            <a:rPr kumimoji="1" lang="ja-JP" altLang="en-US" sz="1000" kern="1200" dirty="0"/>
            <a:t>サンプリング</a:t>
          </a:r>
        </a:p>
      </dsp:txBody>
      <dsp:txXfrm>
        <a:off x="47450" y="199193"/>
        <a:ext cx="5041399" cy="380411"/>
      </dsp:txXfrm>
    </dsp:sp>
    <dsp:sp modelId="{6766FCD0-04D3-4F04-A5F8-288D47131E6E}">
      <dsp:nvSpPr>
        <dsp:cNvPr id="0" name=""/>
        <dsp:cNvSpPr/>
      </dsp:nvSpPr>
      <dsp:spPr>
        <a:xfrm>
          <a:off x="57547" y="614307"/>
          <a:ext cx="966905" cy="1396991"/>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kumimoji="1" lang="en-US" altLang="ja-JP" sz="1000" kern="1200" dirty="0"/>
            <a:t>LHS</a:t>
          </a:r>
          <a:r>
            <a:rPr kumimoji="1" lang="ja-JP" altLang="en-US" sz="1000" kern="1200" dirty="0"/>
            <a:t>サンプリングを用いてパラメータ空間を均一にカバー</a:t>
          </a:r>
        </a:p>
        <a:p>
          <a:pPr marL="0" lvl="0" indent="0" algn="l" defTabSz="444500">
            <a:lnSpc>
              <a:spcPct val="90000"/>
            </a:lnSpc>
            <a:spcBef>
              <a:spcPct val="0"/>
            </a:spcBef>
            <a:spcAft>
              <a:spcPct val="35000"/>
            </a:spcAft>
            <a:buNone/>
          </a:pPr>
          <a:r>
            <a:rPr kumimoji="1" lang="ja-JP" altLang="en-US" sz="1000" kern="1200" dirty="0"/>
            <a:t>サンプリング数</a:t>
          </a:r>
          <a:r>
            <a:rPr kumimoji="1" lang="en-US" altLang="ja-JP" sz="1000" kern="1200" dirty="0"/>
            <a:t>N=320</a:t>
          </a:r>
          <a:endParaRPr kumimoji="1" lang="ja-JP" altLang="en-US" sz="1000" kern="1200" dirty="0"/>
        </a:p>
      </dsp:txBody>
      <dsp:txXfrm>
        <a:off x="57547" y="614307"/>
        <a:ext cx="966905" cy="1396991"/>
      </dsp:txXfrm>
    </dsp:sp>
    <dsp:sp modelId="{21C0189A-4E2E-471B-8B0F-D8AD10B44747}">
      <dsp:nvSpPr>
        <dsp:cNvPr id="0" name=""/>
        <dsp:cNvSpPr/>
      </dsp:nvSpPr>
      <dsp:spPr>
        <a:xfrm>
          <a:off x="1024348" y="282291"/>
          <a:ext cx="4264804" cy="760822"/>
        </a:xfrm>
        <a:prstGeom prst="rightArrow">
          <a:avLst>
            <a:gd name="adj1" fmla="val 50000"/>
            <a:gd name="adj2" fmla="val 50000"/>
          </a:avLst>
        </a:prstGeom>
        <a:solidFill>
          <a:schemeClr val="accent1">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254000" bIns="120780" numCol="1" spcCol="1270" anchor="ctr" anchorCtr="0">
          <a:noAutofit/>
        </a:bodyPr>
        <a:lstStyle/>
        <a:p>
          <a:pPr marL="0" lvl="0" indent="0" algn="l" defTabSz="444500">
            <a:lnSpc>
              <a:spcPct val="90000"/>
            </a:lnSpc>
            <a:spcBef>
              <a:spcPct val="0"/>
            </a:spcBef>
            <a:spcAft>
              <a:spcPct val="35000"/>
            </a:spcAft>
            <a:buNone/>
          </a:pPr>
          <a:r>
            <a:rPr kumimoji="1" lang="en-US" altLang="ja-JP" sz="1000" kern="1200" dirty="0"/>
            <a:t>LP</a:t>
          </a:r>
          <a:r>
            <a:rPr kumimoji="1" lang="ja-JP" altLang="en-US" sz="1000" kern="1200" dirty="0"/>
            <a:t>求解</a:t>
          </a:r>
        </a:p>
      </dsp:txBody>
      <dsp:txXfrm>
        <a:off x="1024348" y="472497"/>
        <a:ext cx="4074599" cy="380411"/>
      </dsp:txXfrm>
    </dsp:sp>
    <dsp:sp modelId="{97F9D412-24AB-4693-85DC-65E0A06D17D6}">
      <dsp:nvSpPr>
        <dsp:cNvPr id="0" name=""/>
        <dsp:cNvSpPr/>
      </dsp:nvSpPr>
      <dsp:spPr>
        <a:xfrm>
          <a:off x="1042651" y="868012"/>
          <a:ext cx="966905" cy="1396991"/>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kumimoji="1" lang="ja-JP" altLang="en-US" sz="1000" kern="1200" dirty="0"/>
            <a:t>コスト最小最適化</a:t>
          </a:r>
        </a:p>
        <a:p>
          <a:pPr marL="0" lvl="0" indent="0" algn="l" defTabSz="444500">
            <a:lnSpc>
              <a:spcPct val="90000"/>
            </a:lnSpc>
            <a:spcBef>
              <a:spcPct val="0"/>
            </a:spcBef>
            <a:spcAft>
              <a:spcPct val="35000"/>
            </a:spcAft>
            <a:buNone/>
          </a:pPr>
          <a:r>
            <a:rPr kumimoji="1" lang="en-US" altLang="ja-JP" sz="1000" kern="1200" dirty="0"/>
            <a:t>320</a:t>
          </a:r>
          <a:r>
            <a:rPr kumimoji="1" lang="ja-JP" altLang="en-US" sz="1000" kern="1200" dirty="0"/>
            <a:t>回実施</a:t>
          </a:r>
        </a:p>
      </dsp:txBody>
      <dsp:txXfrm>
        <a:off x="1042651" y="868012"/>
        <a:ext cx="966905" cy="1396991"/>
      </dsp:txXfrm>
    </dsp:sp>
    <dsp:sp modelId="{DB895EE6-8B82-4BD5-9994-6187E2450FD6}">
      <dsp:nvSpPr>
        <dsp:cNvPr id="0" name=""/>
        <dsp:cNvSpPr/>
      </dsp:nvSpPr>
      <dsp:spPr>
        <a:xfrm>
          <a:off x="1991148" y="535996"/>
          <a:ext cx="3298003" cy="760822"/>
        </a:xfrm>
        <a:prstGeom prst="rightArrow">
          <a:avLst>
            <a:gd name="adj1" fmla="val 50000"/>
            <a:gd name="adj2" fmla="val 50000"/>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254000" bIns="120780" numCol="1" spcCol="1270" anchor="ctr" anchorCtr="0">
          <a:noAutofit/>
        </a:bodyPr>
        <a:lstStyle/>
        <a:p>
          <a:pPr marL="0" lvl="0" indent="0" algn="l" defTabSz="444500">
            <a:lnSpc>
              <a:spcPct val="90000"/>
            </a:lnSpc>
            <a:spcBef>
              <a:spcPct val="0"/>
            </a:spcBef>
            <a:spcAft>
              <a:spcPct val="35000"/>
            </a:spcAft>
            <a:buNone/>
          </a:pPr>
          <a:r>
            <a:rPr kumimoji="1" lang="en-US" altLang="ja-JP" sz="1000" kern="1200" dirty="0"/>
            <a:t>MODWT</a:t>
          </a:r>
          <a:r>
            <a:rPr kumimoji="1" lang="ja-JP" altLang="en-US" sz="1000" kern="1200" dirty="0"/>
            <a:t>帯域分解</a:t>
          </a:r>
        </a:p>
      </dsp:txBody>
      <dsp:txXfrm>
        <a:off x="1991148" y="726202"/>
        <a:ext cx="3107798" cy="380411"/>
      </dsp:txXfrm>
    </dsp:sp>
    <dsp:sp modelId="{60721ED9-EF25-486A-8664-F8AAE24D69F8}">
      <dsp:nvSpPr>
        <dsp:cNvPr id="0" name=""/>
        <dsp:cNvSpPr/>
      </dsp:nvSpPr>
      <dsp:spPr>
        <a:xfrm>
          <a:off x="1991148" y="1121717"/>
          <a:ext cx="966905" cy="1396991"/>
        </a:xfrm>
        <a:prstGeom prst="rect">
          <a:avLst/>
        </a:prstGeom>
        <a:solidFill>
          <a:schemeClr val="bg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kumimoji="1" lang="ja-JP" altLang="en-US" sz="1000" kern="1200" dirty="0"/>
            <a:t>LP解の時系列を日次・Dunkelflaute・季節帯へ分解</a:t>
          </a:r>
        </a:p>
      </dsp:txBody>
      <dsp:txXfrm>
        <a:off x="1991148" y="1121717"/>
        <a:ext cx="966905" cy="1396991"/>
      </dsp:txXfrm>
    </dsp:sp>
    <dsp:sp modelId="{563B338E-8A06-41C2-B3A4-6597A1A7EE93}">
      <dsp:nvSpPr>
        <dsp:cNvPr id="0" name=""/>
        <dsp:cNvSpPr/>
      </dsp:nvSpPr>
      <dsp:spPr>
        <a:xfrm>
          <a:off x="2958472" y="789701"/>
          <a:ext cx="2330679" cy="760822"/>
        </a:xfrm>
        <a:prstGeom prst="rightArrow">
          <a:avLst>
            <a:gd name="adj1" fmla="val 50000"/>
            <a:gd name="adj2" fmla="val 50000"/>
          </a:avLst>
        </a:prstGeom>
        <a:solidFill>
          <a:schemeClr val="accent1">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254000" bIns="120780" numCol="1" spcCol="1270" anchor="ctr" anchorCtr="0">
          <a:noAutofit/>
        </a:bodyPr>
        <a:lstStyle/>
        <a:p>
          <a:pPr marL="0" lvl="0" indent="0" algn="l" defTabSz="444500">
            <a:lnSpc>
              <a:spcPct val="90000"/>
            </a:lnSpc>
            <a:spcBef>
              <a:spcPct val="0"/>
            </a:spcBef>
            <a:spcAft>
              <a:spcPct val="35000"/>
            </a:spcAft>
            <a:buNone/>
          </a:pPr>
          <a:r>
            <a:rPr kumimoji="1" lang="en-US" altLang="ja-JP" sz="1000" kern="1200" dirty="0"/>
            <a:t>PCE</a:t>
          </a:r>
          <a:r>
            <a:rPr kumimoji="1" lang="ja-JP" altLang="en-US" sz="1000" kern="1200" dirty="0"/>
            <a:t>学習</a:t>
          </a:r>
        </a:p>
      </dsp:txBody>
      <dsp:txXfrm>
        <a:off x="2958472" y="979907"/>
        <a:ext cx="2140474" cy="380411"/>
      </dsp:txXfrm>
    </dsp:sp>
    <dsp:sp modelId="{A0BBDFE8-3742-49E9-AEDC-0BF4110F7CB8}">
      <dsp:nvSpPr>
        <dsp:cNvPr id="0" name=""/>
        <dsp:cNvSpPr/>
      </dsp:nvSpPr>
      <dsp:spPr>
        <a:xfrm>
          <a:off x="2958472" y="1375422"/>
          <a:ext cx="966905" cy="1396991"/>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kumimoji="1" lang="en-US" altLang="ja-JP" sz="1000" kern="1200" dirty="0"/>
            <a:t>帯域別の指標ごとにPCEサロゲートモデルを作成</a:t>
          </a:r>
        </a:p>
      </dsp:txBody>
      <dsp:txXfrm>
        <a:off x="2958472" y="1375422"/>
        <a:ext cx="966905" cy="1396991"/>
      </dsp:txXfrm>
    </dsp:sp>
    <dsp:sp modelId="{D616D08C-EB95-4B25-B7D2-248959EC5DE5}">
      <dsp:nvSpPr>
        <dsp:cNvPr id="0" name=""/>
        <dsp:cNvSpPr/>
      </dsp:nvSpPr>
      <dsp:spPr>
        <a:xfrm>
          <a:off x="3925273" y="1043406"/>
          <a:ext cx="1363879" cy="760822"/>
        </a:xfrm>
        <a:prstGeom prst="rightArrow">
          <a:avLst>
            <a:gd name="adj1" fmla="val 50000"/>
            <a:gd name="adj2" fmla="val 50000"/>
          </a:avLst>
        </a:prstGeom>
        <a:solidFill>
          <a:schemeClr val="accent1">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254000" bIns="120780" numCol="1" spcCol="1270" anchor="ctr" anchorCtr="0">
          <a:noAutofit/>
        </a:bodyPr>
        <a:lstStyle/>
        <a:p>
          <a:pPr marL="0" lvl="0" indent="0" algn="l" defTabSz="444500">
            <a:lnSpc>
              <a:spcPct val="90000"/>
            </a:lnSpc>
            <a:spcBef>
              <a:spcPct val="0"/>
            </a:spcBef>
            <a:spcAft>
              <a:spcPct val="35000"/>
            </a:spcAft>
            <a:buNone/>
          </a:pPr>
          <a:r>
            <a:rPr kumimoji="1" lang="ja-JP" altLang="en-US" sz="1000" kern="1200" dirty="0"/>
            <a:t>Sobol指数算出</a:t>
          </a:r>
        </a:p>
      </dsp:txBody>
      <dsp:txXfrm>
        <a:off x="3925273" y="1233612"/>
        <a:ext cx="1173674" cy="380411"/>
      </dsp:txXfrm>
    </dsp:sp>
    <dsp:sp modelId="{99E250EA-9667-4C0D-B9DD-772712C05707}">
      <dsp:nvSpPr>
        <dsp:cNvPr id="0" name=""/>
        <dsp:cNvSpPr/>
      </dsp:nvSpPr>
      <dsp:spPr>
        <a:xfrm>
          <a:off x="3925273" y="1629127"/>
          <a:ext cx="966905" cy="1396991"/>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kumimoji="1" lang="en-US" altLang="ja-JP" sz="1000" kern="1200" dirty="0"/>
            <a:t>10,240回のサロゲート評価から帯域別Sobol指数を算出</a:t>
          </a:r>
        </a:p>
      </dsp:txBody>
      <dsp:txXfrm>
        <a:off x="3925273" y="1629127"/>
        <a:ext cx="966905" cy="1396991"/>
      </dsp:txXfrm>
    </dsp:sp>
  </dsp:spTree>
</dsp:drawing>
</file>

<file path=ppt/diagrams/layout1.xml><?xml version="1.0" encoding="utf-8"?>
<dgm:layoutDef xmlns:dgm="http://schemas.openxmlformats.org/drawingml/2006/diagram" xmlns:a="http://schemas.openxmlformats.org/drawingml/2006/main" uniqueId="urn:microsoft.com/office/officeart/2009/3/layout/IncreasingArrowsProcess">
  <dgm:title val=""/>
  <dgm:desc val=""/>
  <dgm:catLst>
    <dgm:cat type="process" pri="5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val="5"/>
      <dgm:chPref val="5"/>
      <dgm:dir/>
      <dgm:animLvl val="lvl"/>
    </dgm:varLst>
    <dgm:shape xmlns:r="http://schemas.openxmlformats.org/officeDocument/2006/relationships" r:blip="">
      <dgm:adjLst/>
    </dgm:shape>
    <dgm:choose name="Name1">
      <dgm:if name="Name2" axis="ch" ptType="node" func="cnt" op="equ" val="1">
        <dgm:choose name="Name3">
          <dgm:if name="Name4" axis="ch ch" ptType="node node" func="cnt" op="equ" val="0">
            <dgm:alg type="composite">
              <dgm:param type="ar" val="6.8662"/>
            </dgm:alg>
            <dgm:choose name="Name5">
              <dgm:if name="Name6" func="var" arg="dir" op="equ" val="norm">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if>
              <dgm:else name="Name7">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else>
            </dgm:choose>
          </dgm:if>
          <dgm:else name="Name8">
            <dgm:alg type="composite">
              <dgm:param type="ar" val="1.9864"/>
            </dgm:alg>
            <dgm:choose name="Name9">
              <dgm:if name="Name10" func="var" arg="dir" op="equ" val="norm">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
                  <dgm:constr type="t" for="ch" forName="childText1" refType="h" fact="0.224"/>
                  <dgm:constr type="w" for="ch" forName="childText1" refType="w" fact="0.9241"/>
                  <dgm:constr type="h" for="ch" forName="childText1" refType="h" fact="0.776"/>
                </dgm:constrLst>
              </dgm:if>
              <dgm:else name="Name11">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076"/>
                  <dgm:constr type="t" for="ch" forName="childText1" refType="h" fact="0.224"/>
                  <dgm:constr type="w" for="ch" forName="childText1" refType="w" fact="0.9241"/>
                  <dgm:constr type="h" for="ch" forName="childText1" refType="h" fact="0.776"/>
                </dgm:constrLst>
              </dgm:else>
            </dgm:choose>
          </dgm:else>
        </dgm:choose>
      </dgm:if>
      <dgm:if name="Name12" axis="ch" ptType="node" func="cnt" op="equ" val="2">
        <dgm:choose name="Name13">
          <dgm:if name="Name14" axis="ch ch" ptType="node node" func="cnt" op="equ" val="0">
            <dgm:alg type="composite">
              <dgm:param type="ar" val="5.1498"/>
            </dgm:alg>
            <dgm:choose name="Name15">
              <dgm:if name="Name16" func="var" arg="dir" op="equ" val="norm">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462"/>
                  <dgm:constr type="t" for="ch" forName="parentText2" refType="h" fact="0.2499"/>
                  <dgm:constr type="w" for="ch" forName="parentText2" refType="w" fact="0.538"/>
                  <dgm:constr type="h" for="ch" forName="parentText2" refType="h" fact="0.7501"/>
                </dgm:constrLst>
              </dgm:if>
              <dgm:else name="Name17">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
                  <dgm:constr type="t" for="ch" forName="parentText2" refType="h" fact="0.2499"/>
                  <dgm:constr type="w" for="ch" forName="parentText2" refType="w" fact="0.538"/>
                  <dgm:constr type="h" for="ch" forName="parentText2" refType="h" fact="0.7501"/>
                </dgm:constrLst>
              </dgm:else>
            </dgm:choose>
          </dgm:if>
          <dgm:else name="Name18">
            <dgm:alg type="composite">
              <dgm:param type="ar" val="2.0563"/>
            </dgm:alg>
            <dgm:choose name="Name19">
              <dgm:if name="Name2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462"/>
                  <dgm:constr type="t" for="ch" forName="parentText2" refType="h" fact="0.0998"/>
                  <dgm:constr type="w" for="ch" forName="parentText2" refType="w" fact="0.538"/>
                  <dgm:constr type="h" for="ch" forName="parentText2" refType="h" fact="0.2995"/>
                  <dgm:constr type="l" for="ch" forName="childText1" refType="w" fact="0"/>
                  <dgm:constr type="t" for="ch" forName="childText1" refType="h" fact="0.2317"/>
                  <dgm:constr type="w" for="ch" forName="childText1" refType="w" fact="0.462"/>
                  <dgm:constr type="h" for="ch" forName="childText1" refType="h" fact="0.6685"/>
                  <dgm:constr type="l" for="ch" forName="childText2" refType="w" fact="0.462"/>
                  <dgm:constr type="t" for="ch" forName="childText2" refType="h" fact="0.3315"/>
                  <dgm:constr type="w" for="ch" forName="childText2" refType="w" fact="0.462"/>
                  <dgm:constr type="h" for="ch" forName="childText2" refType="h" fact="0.6685"/>
                </dgm:constrLst>
              </dgm:if>
              <dgm:else name="Name2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
                  <dgm:constr type="t" for="ch" forName="parentText2" refType="h" fact="0.0998"/>
                  <dgm:constr type="w" for="ch" forName="parentText2" refType="w" fact="0.538"/>
                  <dgm:constr type="h" for="ch" forName="parentText2" refType="h" fact="0.2995"/>
                  <dgm:constr type="l" for="ch" forName="childText1" refType="w" fact="0.538"/>
                  <dgm:constr type="t" for="ch" forName="childText1" refType="h" fact="0.2317"/>
                  <dgm:constr type="w" for="ch" forName="childText1" refType="w" fact="0.462"/>
                  <dgm:constr type="h" for="ch" forName="childText1" refType="h" fact="0.6685"/>
                  <dgm:constr type="l" for="ch" forName="childText2" refType="w" fact="0.076"/>
                  <dgm:constr type="t" for="ch" forName="childText2" refType="h" fact="0.3315"/>
                  <dgm:constr type="w" for="ch" forName="childText2" refType="w" fact="0.462"/>
                  <dgm:constr type="h" for="ch" forName="childText2" refType="h" fact="0.6685"/>
                </dgm:constrLst>
              </dgm:else>
            </dgm:choose>
          </dgm:else>
        </dgm:choose>
      </dgm:if>
      <dgm:if name="Name22" axis="ch" ptType="node" func="cnt" op="equ" val="3">
        <dgm:choose name="Name23">
          <dgm:if name="Name24" axis="ch ch" ptType="node node" func="cnt" op="equ" val="0">
            <dgm:alg type="composite">
              <dgm:param type="ar" val="4.1198"/>
            </dgm:alg>
            <dgm:choose name="Name25">
              <dgm:if name="Name2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308"/>
                  <dgm:constr type="t" for="ch" forName="parentText2" refType="h" fact="0.2"/>
                  <dgm:constr type="w" for="ch" forName="parentText2" refType="w" fact="0.692"/>
                  <dgm:constr type="h" for="ch" forName="parentText2" refType="h" fact="0.6"/>
                  <dgm:constr type="l" for="ch" forName="parentText3" refType="w" fact="0.616"/>
                  <dgm:constr type="t" for="ch" forName="parentText3" refType="h" fact="0.4"/>
                  <dgm:constr type="w" for="ch" forName="parentText3" refType="w" fact="0.384"/>
                  <dgm:constr type="h" for="ch" forName="parentText3" refType="h" fact="0.6"/>
                </dgm:constrLst>
              </dgm:if>
              <dgm:else name="Name2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
                  <dgm:constr type="t" for="ch" forName="parentText2" refType="h" fact="0.2"/>
                  <dgm:constr type="w" for="ch" forName="parentText2" refType="w" fact="0.692"/>
                  <dgm:constr type="h" for="ch" forName="parentText2" refType="h" fact="0.6"/>
                  <dgm:constr type="l" for="ch" forName="parentText3" refType="w" fact="0"/>
                  <dgm:constr type="t" for="ch" forName="parentText3" refType="h" fact="0.4"/>
                  <dgm:constr type="w" for="ch" forName="parentText3" refType="w" fact="0.384"/>
                  <dgm:constr type="h" for="ch" forName="parentText3" refType="h" fact="0.6"/>
                </dgm:constrLst>
              </dgm:else>
            </dgm:choose>
          </dgm:if>
          <dgm:else name="Name28">
            <dgm:alg type="composite">
              <dgm:param type="ar" val="2.0702"/>
            </dgm:alg>
            <dgm:choose name="Name29">
              <dgm:if name="Name3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
                  <dgm:constr type="t" for="ch" forName="childText1" refType="h" fact="0.2325"/>
                  <dgm:constr type="w" for="ch" forName="childText1" refType="w" fact="0.308"/>
                  <dgm:constr type="h" for="ch" forName="childText1" refType="h" fact="0.5808"/>
                  <dgm:constr type="l" for="ch" forName="childText2" refType="w" fact="0.308"/>
                  <dgm:constr type="t" for="ch" forName="childText2" refType="h" fact="0.333"/>
                  <dgm:constr type="w" for="ch" forName="childText2" refType="w" fact="0.308"/>
                  <dgm:constr type="h" for="ch" forName="childText2" refType="h" fact="0.5808"/>
                  <dgm:constr type="l" for="ch" forName="childText3" refType="w" fact="0.61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308"/>
                  <dgm:constr type="t" for="ch" forName="parentText2" refType="h" fact="0.1005"/>
                  <dgm:constr type="w" for="ch" forName="parentText2" refType="w" fact="0.692"/>
                  <dgm:constr type="h" for="ch" forName="parentText2" refType="h" fact="0.3015"/>
                  <dgm:constr type="l" for="ch" forName="parentText3" refType="w" fact="0.616"/>
                  <dgm:constr type="t" for="ch" forName="parentText3" refType="h" fact="0.201"/>
                  <dgm:constr type="w" for="ch" forName="parentText3" refType="w" fact="0.384"/>
                  <dgm:constr type="h" for="ch" forName="parentText3" refType="h" fact="0.3015"/>
                </dgm:constrLst>
              </dgm:if>
              <dgm:else name="Name3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692"/>
                  <dgm:constr type="t" for="ch" forName="childText1" refType="h" fact="0.2325"/>
                  <dgm:constr type="w" for="ch" forName="childText1" refType="w" fact="0.308"/>
                  <dgm:constr type="h" for="ch" forName="childText1" refType="h" fact="0.5808"/>
                  <dgm:constr type="l" for="ch" forName="childText2" refType="w" fact="0.384"/>
                  <dgm:constr type="t" for="ch" forName="childText2" refType="h" fact="0.333"/>
                  <dgm:constr type="w" for="ch" forName="childText2" refType="w" fact="0.308"/>
                  <dgm:constr type="h" for="ch" forName="childText2" refType="h" fact="0.5808"/>
                  <dgm:constr type="l" for="ch" forName="childText3" refType="w" fact="0.07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
                  <dgm:constr type="t" for="ch" forName="parentText2" refType="h" fact="0.1005"/>
                  <dgm:constr type="w" for="ch" forName="parentText2" refType="w" fact="0.692"/>
                  <dgm:constr type="h" for="ch" forName="parentText2" refType="h" fact="0.3015"/>
                  <dgm:constr type="l" for="ch" forName="parentText3" refType="w" fact="0"/>
                  <dgm:constr type="t" for="ch" forName="parentText3" refType="h" fact="0.201"/>
                  <dgm:constr type="w" for="ch" forName="parentText3" refType="w" fact="0.384"/>
                  <dgm:constr type="h" for="ch" forName="parentText3" refType="h" fact="0.3015"/>
                </dgm:constrLst>
              </dgm:else>
            </dgm:choose>
          </dgm:else>
        </dgm:choose>
      </dgm:if>
      <dgm:if name="Name32" axis="ch" ptType="node" func="cnt" op="equ" val="4">
        <dgm:choose name="Name33">
          <dgm:if name="Name34" axis="ch ch" ptType="node node" func="cnt" op="equ" val="0">
            <dgm:alg type="composite">
              <dgm:param type="ar" val="3.435"/>
            </dgm:alg>
            <dgm:choose name="Name35">
              <dgm:if name="Name3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2305"/>
                  <dgm:constr type="t" for="ch" forName="parentText2" refType="h" fact="0.1666"/>
                  <dgm:constr type="w" for="ch" forName="parentText2" refType="w" fact="0.7695"/>
                  <dgm:constr type="h" for="ch" forName="parentText2" refType="h" fact="0.5001"/>
                  <dgm:constr type="l" for="ch" forName="parentText3" refType="w" fact="0.461"/>
                  <dgm:constr type="t" for="ch" forName="parentText3" refType="h" fact="0.3333"/>
                  <dgm:constr type="w" for="ch" forName="parentText3" refType="w" fact="0.539"/>
                  <dgm:constr type="h" for="ch" forName="parentText3" refType="h" fact="0.5001"/>
                  <dgm:constr type="l" for="ch" forName="parentText4" refType="w" fact="0.6915"/>
                  <dgm:constr type="t" for="ch" forName="parentText4" refType="h" fact="0.4999"/>
                  <dgm:constr type="w" for="ch" forName="parentText4" refType="w" fact="0.3085"/>
                  <dgm:constr type="h" for="ch" forName="parentText4" refType="h" fact="0.5001"/>
                </dgm:constrLst>
              </dgm:if>
              <dgm:else name="Name3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
                  <dgm:constr type="t" for="ch" forName="parentText2" refType="h" fact="0.1666"/>
                  <dgm:constr type="w" for="ch" forName="parentText2" refType="w" fact="0.7695"/>
                  <dgm:constr type="h" for="ch" forName="parentText2" refType="h" fact="0.5001"/>
                  <dgm:constr type="l" for="ch" forName="parentText3" refType="w" fact="0"/>
                  <dgm:constr type="t" for="ch" forName="parentText3" refType="h" fact="0.3333"/>
                  <dgm:constr type="w" for="ch" forName="parentText3" refType="w" fact="0.539"/>
                  <dgm:constr type="h" for="ch" forName="parentText3" refType="h" fact="0.5001"/>
                  <dgm:constr type="l" for="ch" forName="parentText4" refType="w" fact="0"/>
                  <dgm:constr type="t" for="ch" forName="parentText4" refType="h" fact="0.4999"/>
                  <dgm:constr type="w" for="ch" forName="parentText4" refType="w" fact="0.3085"/>
                  <dgm:constr type="h" for="ch" forName="parentText4" refType="h" fact="0.5001"/>
                </dgm:constrLst>
              </dgm:else>
            </dgm:choose>
          </dgm:if>
          <dgm:else name="Name38">
            <dgm:alg type="composite">
              <dgm:param type="ar" val="1.9377"/>
            </dgm:alg>
            <dgm:choose name="Name39">
              <dgm:if name="Name4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
                  <dgm:constr type="t" for="ch" forName="childText1" refType="h" fact="0.218"/>
                  <dgm:constr type="w" for="ch" forName="childText1" refType="w" fact="0.2305"/>
                  <dgm:constr type="h" for="ch" forName="childText1" refType="h" fact="0.5218"/>
                  <dgm:constr type="l" for="ch" forName="childText2" refType="w" fact="0.2305"/>
                  <dgm:constr type="t" for="ch" forName="childText2" refType="h" fact="0.312"/>
                  <dgm:constr type="w" for="ch" forName="childText2" refType="w" fact="0.2305"/>
                  <dgm:constr type="h" for="ch" forName="childText2" refType="h" fact="0.5085"/>
                  <dgm:constr type="l" for="ch" forName="childText3" refType="w" fact="0.461"/>
                  <dgm:constr type="t" for="ch" forName="childText3" refType="h" fact="0.406"/>
                  <dgm:constr type="w" for="ch" forName="childText3" refType="w" fact="0.2305"/>
                  <dgm:constr type="h" for="ch" forName="childText3" refType="h" fact="0.5119"/>
                  <dgm:constr type="l" for="ch" forName="childText4" refType="w" fact="0.6915"/>
                  <dgm:constr type="t" for="ch" forName="childText4" refType="h" fact="0.5"/>
                  <dgm:constr type="w" for="ch" forName="childText4" refType="w" fact="0.232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2305"/>
                  <dgm:constr type="t" for="ch" forName="parentText2" refType="h" fact="0.094"/>
                  <dgm:constr type="w" for="ch" forName="parentText2" refType="w" fact="0.7695"/>
                  <dgm:constr type="h" for="ch" forName="parentText2" refType="h" fact="0.2821"/>
                  <dgm:constr type="l" for="ch" forName="parentText3" refType="w" fact="0.461"/>
                  <dgm:constr type="t" for="ch" forName="parentText3" refType="h" fact="0.188"/>
                  <dgm:constr type="w" for="ch" forName="parentText3" refType="w" fact="0.539"/>
                  <dgm:constr type="h" for="ch" forName="parentText3" refType="h" fact="0.2821"/>
                  <dgm:constr type="l" for="ch" forName="parentText4" refType="w" fact="0.6915"/>
                  <dgm:constr type="t" for="ch" forName="parentText4" refType="h" fact="0.282"/>
                  <dgm:constr type="w" for="ch" forName="parentText4" refType="w" fact="0.3085"/>
                  <dgm:constr type="h" for="ch" forName="parentText4" refType="h" fact="0.2821"/>
                </dgm:constrLst>
              </dgm:if>
              <dgm:else name="Name4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7695"/>
                  <dgm:constr type="t" for="ch" forName="childText1" refType="h" fact="0.218"/>
                  <dgm:constr type="w" for="ch" forName="childText1" refType="w" fact="0.2305"/>
                  <dgm:constr type="h" for="ch" forName="childText1" refType="h" fact="0.5218"/>
                  <dgm:constr type="l" for="ch" forName="childText2" refType="w" fact="0.539"/>
                  <dgm:constr type="t" for="ch" forName="childText2" refType="h" fact="0.312"/>
                  <dgm:constr type="w" for="ch" forName="childText2" refType="w" fact="0.2305"/>
                  <dgm:constr type="h" for="ch" forName="childText2" refType="h" fact="0.5085"/>
                  <dgm:constr type="l" for="ch" forName="childText3" refType="w" fact="0.3085"/>
                  <dgm:constr type="t" for="ch" forName="childText3" refType="h" fact="0.406"/>
                  <dgm:constr type="w" for="ch" forName="childText3" refType="w" fact="0.2305"/>
                  <dgm:constr type="h" for="ch" forName="childText3" refType="h" fact="0.5119"/>
                  <dgm:constr type="l" for="ch" forName="childText4" refType="w" fact="0.076"/>
                  <dgm:constr type="t" for="ch" forName="childText4" refType="h" fact="0.5"/>
                  <dgm:constr type="w" for="ch" forName="childText4" refType="w" fact="0.234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
                  <dgm:constr type="t" for="ch" forName="parentText2" refType="h" fact="0.094"/>
                  <dgm:constr type="w" for="ch" forName="parentText2" refType="w" fact="0.7695"/>
                  <dgm:constr type="h" for="ch" forName="parentText2" refType="h" fact="0.2821"/>
                  <dgm:constr type="l" for="ch" forName="parentText3" refType="w" fact="0"/>
                  <dgm:constr type="t" for="ch" forName="parentText3" refType="h" fact="0.188"/>
                  <dgm:constr type="w" for="ch" forName="parentText3" refType="w" fact="0.539"/>
                  <dgm:constr type="h" for="ch" forName="parentText3" refType="h" fact="0.2821"/>
                  <dgm:constr type="l" for="ch" forName="parentText4" refType="w" fact="0"/>
                  <dgm:constr type="t" for="ch" forName="parentText4" refType="h" fact="0.282"/>
                  <dgm:constr type="w" for="ch" forName="parentText4" refType="w" fact="0.3085"/>
                  <dgm:constr type="h" for="ch" forName="parentText4" refType="h" fact="0.2821"/>
                </dgm:constrLst>
              </dgm:else>
            </dgm:choose>
          </dgm:else>
        </dgm:choose>
      </dgm:if>
      <dgm:else name="Name42">
        <dgm:choose name="Name43">
          <dgm:if name="Name44" axis="ch ch" ptType="node node" func="cnt" op="equ" val="0">
            <dgm:alg type="composite">
              <dgm:param type="ar" val="2.9463"/>
            </dgm:alg>
            <dgm:choose name="Name45">
              <dgm:if name="Name4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1848"/>
                  <dgm:constr type="t" for="ch" forName="parentText2" refType="h" fact="0.1429"/>
                  <dgm:constr type="w" for="ch" forName="parentText2" refType="w" fact="0.8152"/>
                  <dgm:constr type="h" for="ch" forName="parentText2" refType="h" fact="0.4285"/>
                  <dgm:constr type="l" for="ch" forName="parentText3" refType="w" fact="0.3696"/>
                  <dgm:constr type="t" for="ch" forName="parentText3" refType="h" fact="0.2858"/>
                  <dgm:constr type="w" for="ch" forName="parentText3" refType="w" fact="0.6304"/>
                  <dgm:constr type="h" for="ch" forName="parentText3" refType="h" fact="0.4285"/>
                  <dgm:constr type="l" for="ch" forName="parentText4" refType="w" fact="0.5545"/>
                  <dgm:constr type="t" for="ch" forName="parentText4" refType="h" fact="0.4286"/>
                  <dgm:constr type="w" for="ch" forName="parentText4" refType="w" fact="0.4455"/>
                  <dgm:constr type="h" for="ch" forName="parentText4" refType="h" fact="0.4285"/>
                  <dgm:constr type="l" for="ch" forName="parentText5" refType="w" fact="0.7393"/>
                  <dgm:constr type="t" for="ch" forName="parentText5" refType="h" fact="0.5715"/>
                  <dgm:constr type="w" for="ch" forName="parentText5" refType="w" fact="0.2607"/>
                  <dgm:constr type="h" for="ch" forName="parentText5" refType="h" fact="0.4285"/>
                </dgm:constrLst>
              </dgm:if>
              <dgm:else name="Name4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
                  <dgm:constr type="t" for="ch" forName="parentText2" refType="h" fact="0.1429"/>
                  <dgm:constr type="w" for="ch" forName="parentText2" refType="w" fact="0.8152"/>
                  <dgm:constr type="h" for="ch" forName="parentText2" refType="h" fact="0.4285"/>
                  <dgm:constr type="l" for="ch" forName="parentText3" refType="w" fact="0"/>
                  <dgm:constr type="t" for="ch" forName="parentText3" refType="h" fact="0.2858"/>
                  <dgm:constr type="w" for="ch" forName="parentText3" refType="w" fact="0.6304"/>
                  <dgm:constr type="h" for="ch" forName="parentText3" refType="h" fact="0.4285"/>
                  <dgm:constr type="l" for="ch" forName="parentText4" refType="w" fact="0"/>
                  <dgm:constr type="t" for="ch" forName="parentText4" refType="h" fact="0.4286"/>
                  <dgm:constr type="w" for="ch" forName="parentText4" refType="w" fact="0.4455"/>
                  <dgm:constr type="h" for="ch" forName="parentText4" refType="h" fact="0.4285"/>
                  <dgm:constr type="l" for="ch" forName="parentText5" refType="w" fact="0"/>
                  <dgm:constr type="t" for="ch" forName="parentText5" refType="h" fact="0.5715"/>
                  <dgm:constr type="w" for="ch" forName="parentText5" refType="w" fact="0.2607"/>
                  <dgm:constr type="h" for="ch" forName="parentText5" refType="h" fact="0.4285"/>
                </dgm:constrLst>
              </dgm:else>
            </dgm:choose>
          </dgm:if>
          <dgm:else name="Name48">
            <dgm:alg type="composite">
              <dgm:param type="ar" val="1.7837"/>
            </dgm:alg>
            <dgm:choose name="Name49">
              <dgm:if name="Name5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
                  <dgm:constr type="t" for="ch" forName="childText1" refType="h" fact="0.1997"/>
                  <dgm:constr type="w" for="ch" forName="childText1" refType="w" fact="0.18482"/>
                  <dgm:constr type="h" for="ch" forName="childText1" refType="h" fact="0.4763"/>
                  <dgm:constr type="l" for="ch" forName="childText2" refType="w" fact="0.1848"/>
                  <dgm:constr type="t" for="ch" forName="childText2" refType="h" fact="0.2862"/>
                  <dgm:constr type="w" for="ch" forName="childText2" refType="w" fact="0.18482"/>
                  <dgm:constr type="h" for="ch" forName="childText2" refType="h" fact="0.4763"/>
                  <dgm:constr type="l" for="ch" forName="childText3" refType="w" fact="0.3696"/>
                  <dgm:constr type="t" for="ch" forName="childText3" refType="h" fact="0.3727"/>
                  <dgm:constr type="w" for="ch" forName="childText3" refType="w" fact="0.18482"/>
                  <dgm:constr type="h" for="ch" forName="childText3" refType="h" fact="0.4763"/>
                  <dgm:constr type="l" for="ch" forName="childText4" refType="w" fact="0.5545"/>
                  <dgm:constr type="t" for="ch" forName="childText4" refType="h" fact="0.4592"/>
                  <dgm:constr type="w" for="ch" forName="childText4" refType="w" fact="0.18482"/>
                  <dgm:constr type="h" for="ch" forName="childText4" refType="h" fact="0.4763"/>
                  <dgm:constr type="l" for="ch" forName="childText5" refType="w" fact="0.7393"/>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1848"/>
                  <dgm:constr type="t" for="ch" forName="parentText2" refType="h" fact="0.0865"/>
                  <dgm:constr type="w" for="ch" forName="parentText2" refType="w" fact="0.8152"/>
                  <dgm:constr type="h" for="ch" forName="parentText2" refType="h" fact="0.2594"/>
                  <dgm:constr type="l" for="ch" forName="parentText3" refType="w" fact="0.3696"/>
                  <dgm:constr type="t" for="ch" forName="parentText3" refType="h" fact="0.173"/>
                  <dgm:constr type="w" for="ch" forName="parentText3" refType="w" fact="0.6304"/>
                  <dgm:constr type="h" for="ch" forName="parentText3" refType="h" fact="0.2594"/>
                  <dgm:constr type="l" for="ch" forName="parentText4" refType="w" fact="0.5545"/>
                  <dgm:constr type="t" for="ch" forName="parentText4" refType="h" fact="0.2595"/>
                  <dgm:constr type="w" for="ch" forName="parentText4" refType="w" fact="0.4455"/>
                  <dgm:constr type="h" for="ch" forName="parentText4" refType="h" fact="0.2594"/>
                  <dgm:constr type="l" for="ch" forName="parentText5" refType="w" fact="0.7393"/>
                  <dgm:constr type="t" for="ch" forName="parentText5" refType="h" fact="0.346"/>
                  <dgm:constr type="w" for="ch" forName="parentText5" refType="w" fact="0.2607"/>
                  <dgm:constr type="h" for="ch" forName="parentText5" refType="h" fact="0.2594"/>
                </dgm:constrLst>
              </dgm:if>
              <dgm:else name="Name5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81518"/>
                  <dgm:constr type="t" for="ch" forName="childText1" refType="h" fact="0.1997"/>
                  <dgm:constr type="w" for="ch" forName="childText1" refType="w" fact="0.18482"/>
                  <dgm:constr type="h" for="ch" forName="childText1" refType="h" fact="0.4763"/>
                  <dgm:constr type="l" for="ch" forName="childText2" refType="w" fact="0.63036"/>
                  <dgm:constr type="t" for="ch" forName="childText2" refType="h" fact="0.2862"/>
                  <dgm:constr type="w" for="ch" forName="childText2" refType="w" fact="0.18482"/>
                  <dgm:constr type="h" for="ch" forName="childText2" refType="h" fact="0.4763"/>
                  <dgm:constr type="l" for="ch" forName="childText3" refType="w" fact="0.44554"/>
                  <dgm:constr type="t" for="ch" forName="childText3" refType="h" fact="0.3727"/>
                  <dgm:constr type="w" for="ch" forName="childText3" refType="w" fact="0.18482"/>
                  <dgm:constr type="h" for="ch" forName="childText3" refType="h" fact="0.4763"/>
                  <dgm:constr type="l" for="ch" forName="childText4" refType="w" fact="0.26072"/>
                  <dgm:constr type="t" for="ch" forName="childText4" refType="h" fact="0.4592"/>
                  <dgm:constr type="w" for="ch" forName="childText4" refType="w" fact="0.18482"/>
                  <dgm:constr type="h" for="ch" forName="childText4" refType="h" fact="0.4763"/>
                  <dgm:constr type="l" for="ch" forName="childText5" refType="w" fact="0.0759"/>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
                  <dgm:constr type="t" for="ch" forName="parentText2" refType="h" fact="0.0865"/>
                  <dgm:constr type="w" for="ch" forName="parentText2" refType="w" fact="0.8152"/>
                  <dgm:constr type="h" for="ch" forName="parentText2" refType="h" fact="0.2594"/>
                  <dgm:constr type="l" for="ch" forName="parentText3" refType="w" fact="0"/>
                  <dgm:constr type="t" for="ch" forName="parentText3" refType="h" fact="0.173"/>
                  <dgm:constr type="w" for="ch" forName="parentText3" refType="w" fact="0.6304"/>
                  <dgm:constr type="h" for="ch" forName="parentText3" refType="h" fact="0.2594"/>
                  <dgm:constr type="l" for="ch" forName="parentText4" refType="w" fact="0"/>
                  <dgm:constr type="t" for="ch" forName="parentText4" refType="h" fact="0.2595"/>
                  <dgm:constr type="w" for="ch" forName="parentText4" refType="w" fact="0.4455"/>
                  <dgm:constr type="h" for="ch" forName="parentText4" refType="h" fact="0.2594"/>
                  <dgm:constr type="l" for="ch" forName="parentText5" refType="w" fact="0"/>
                  <dgm:constr type="t" for="ch" forName="parentText5" refType="h" fact="0.346"/>
                  <dgm:constr type="w" for="ch" forName="parentText5" refType="w" fact="0.2607"/>
                  <dgm:constr type="h" for="ch" forName="parentText5" refType="h" fact="0.2594"/>
                </dgm:constrLst>
              </dgm:else>
            </dgm:choose>
          </dgm:else>
        </dgm:choose>
      </dgm:else>
    </dgm:choose>
    <dgm:forEach name="Name52" axis="ch" ptType="node" cnt="1">
      <dgm:layoutNode name="parentText1" styleLbl="node1">
        <dgm:varLst>
          <dgm:chMax/>
          <dgm:chPref val="3"/>
          <dgm:bulletEnabled val="1"/>
        </dgm:varLst>
        <dgm:choose name="Name53">
          <dgm:if name="Name54"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55">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56">
        <dgm:if name="Name57" axis="ch" ptType="node" func="cnt" op="gte" val="1">
          <dgm:layoutNode name="childText1"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dgm:forEach>
    <dgm:forEach name="Name59" axis="ch" ptType="node" st="2" cnt="1">
      <dgm:layoutNode name="parentText2" styleLbl="node1">
        <dgm:varLst>
          <dgm:chMax/>
          <dgm:chPref val="3"/>
          <dgm:bulletEnabled val="1"/>
        </dgm:varLst>
        <dgm:choose name="Name60">
          <dgm:if name="Name61"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2">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63">
        <dgm:if name="Name64" axis="ch" ptType="node" func="cnt" op="gte" val="1">
          <dgm:layoutNode name="childText2"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5"/>
      </dgm:choose>
    </dgm:forEach>
    <dgm:forEach name="Name66" axis="ch" ptType="node" st="3" cnt="1">
      <dgm:layoutNode name="parentText3" styleLbl="node1">
        <dgm:varLst>
          <dgm:chMax/>
          <dgm:chPref val="3"/>
          <dgm:bulletEnabled val="1"/>
        </dgm:varLst>
        <dgm:choose name="Name67">
          <dgm:if name="Name68"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9">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0">
        <dgm:if name="Name71" axis="ch" ptType="node" func="cnt" op="gte" val="1">
          <dgm:layoutNode name="childText3"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forEach>
    <dgm:forEach name="Name73" axis="ch" ptType="node" st="4" cnt="1">
      <dgm:layoutNode name="parentText4" styleLbl="node1">
        <dgm:varLst>
          <dgm:chMax/>
          <dgm:chPref val="3"/>
          <dgm:bulletEnabled val="1"/>
        </dgm:varLst>
        <dgm:choose name="Name74">
          <dgm:if name="Name75"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76">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7">
        <dgm:if name="Name78" axis="ch" ptType="node" func="cnt" op="gte" val="1">
          <dgm:layoutNode name="childText4"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dgm:forEach>
    <dgm:forEach name="Name80" axis="ch" ptType="node" st="5" cnt="1">
      <dgm:layoutNode name="parentText5" styleLbl="node1">
        <dgm:varLst>
          <dgm:chMax/>
          <dgm:chPref val="3"/>
          <dgm:bulletEnabled val="1"/>
        </dgm:varLst>
        <dgm:choose name="Name81">
          <dgm:if name="Name82"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83">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84">
        <dgm:if name="Name85" axis="ch" ptType="node" func="cnt" op="gte" val="1">
          <dgm:layoutNode name="childText5"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6"/>
      </dgm:choose>
    </dgm:forEach>
  </dgm:layoutNode>
</dgm:layoutDef>
</file>

<file path=ppt/diagrams/layout2.xml><?xml version="1.0" encoding="utf-8"?>
<dgm:layoutDef xmlns:dgm="http://schemas.openxmlformats.org/drawingml/2006/diagram" xmlns:a="http://schemas.openxmlformats.org/drawingml/2006/main" uniqueId="urn:microsoft.com/office/officeart/2009/3/layout/IncreasingArrowsProcess">
  <dgm:title val=""/>
  <dgm:desc val=""/>
  <dgm:catLst>
    <dgm:cat type="process" pri="5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val="5"/>
      <dgm:chPref val="5"/>
      <dgm:dir/>
      <dgm:animLvl val="lvl"/>
    </dgm:varLst>
    <dgm:shape xmlns:r="http://schemas.openxmlformats.org/officeDocument/2006/relationships" r:blip="">
      <dgm:adjLst/>
    </dgm:shape>
    <dgm:choose name="Name1">
      <dgm:if name="Name2" axis="ch" ptType="node" func="cnt" op="equ" val="1">
        <dgm:choose name="Name3">
          <dgm:if name="Name4" axis="ch ch" ptType="node node" func="cnt" op="equ" val="0">
            <dgm:alg type="composite">
              <dgm:param type="ar" val="6.8662"/>
            </dgm:alg>
            <dgm:choose name="Name5">
              <dgm:if name="Name6" func="var" arg="dir" op="equ" val="norm">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if>
              <dgm:else name="Name7">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else>
            </dgm:choose>
          </dgm:if>
          <dgm:else name="Name8">
            <dgm:alg type="composite">
              <dgm:param type="ar" val="1.9864"/>
            </dgm:alg>
            <dgm:choose name="Name9">
              <dgm:if name="Name10" func="var" arg="dir" op="equ" val="norm">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
                  <dgm:constr type="t" for="ch" forName="childText1" refType="h" fact="0.224"/>
                  <dgm:constr type="w" for="ch" forName="childText1" refType="w" fact="0.9241"/>
                  <dgm:constr type="h" for="ch" forName="childText1" refType="h" fact="0.776"/>
                </dgm:constrLst>
              </dgm:if>
              <dgm:else name="Name11">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076"/>
                  <dgm:constr type="t" for="ch" forName="childText1" refType="h" fact="0.224"/>
                  <dgm:constr type="w" for="ch" forName="childText1" refType="w" fact="0.9241"/>
                  <dgm:constr type="h" for="ch" forName="childText1" refType="h" fact="0.776"/>
                </dgm:constrLst>
              </dgm:else>
            </dgm:choose>
          </dgm:else>
        </dgm:choose>
      </dgm:if>
      <dgm:if name="Name12" axis="ch" ptType="node" func="cnt" op="equ" val="2">
        <dgm:choose name="Name13">
          <dgm:if name="Name14" axis="ch ch" ptType="node node" func="cnt" op="equ" val="0">
            <dgm:alg type="composite">
              <dgm:param type="ar" val="5.1498"/>
            </dgm:alg>
            <dgm:choose name="Name15">
              <dgm:if name="Name16" func="var" arg="dir" op="equ" val="norm">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462"/>
                  <dgm:constr type="t" for="ch" forName="parentText2" refType="h" fact="0.2499"/>
                  <dgm:constr type="w" for="ch" forName="parentText2" refType="w" fact="0.538"/>
                  <dgm:constr type="h" for="ch" forName="parentText2" refType="h" fact="0.7501"/>
                </dgm:constrLst>
              </dgm:if>
              <dgm:else name="Name17">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
                  <dgm:constr type="t" for="ch" forName="parentText2" refType="h" fact="0.2499"/>
                  <dgm:constr type="w" for="ch" forName="parentText2" refType="w" fact="0.538"/>
                  <dgm:constr type="h" for="ch" forName="parentText2" refType="h" fact="0.7501"/>
                </dgm:constrLst>
              </dgm:else>
            </dgm:choose>
          </dgm:if>
          <dgm:else name="Name18">
            <dgm:alg type="composite">
              <dgm:param type="ar" val="2.0563"/>
            </dgm:alg>
            <dgm:choose name="Name19">
              <dgm:if name="Name2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462"/>
                  <dgm:constr type="t" for="ch" forName="parentText2" refType="h" fact="0.0998"/>
                  <dgm:constr type="w" for="ch" forName="parentText2" refType="w" fact="0.538"/>
                  <dgm:constr type="h" for="ch" forName="parentText2" refType="h" fact="0.2995"/>
                  <dgm:constr type="l" for="ch" forName="childText1" refType="w" fact="0"/>
                  <dgm:constr type="t" for="ch" forName="childText1" refType="h" fact="0.2317"/>
                  <dgm:constr type="w" for="ch" forName="childText1" refType="w" fact="0.462"/>
                  <dgm:constr type="h" for="ch" forName="childText1" refType="h" fact="0.6685"/>
                  <dgm:constr type="l" for="ch" forName="childText2" refType="w" fact="0.462"/>
                  <dgm:constr type="t" for="ch" forName="childText2" refType="h" fact="0.3315"/>
                  <dgm:constr type="w" for="ch" forName="childText2" refType="w" fact="0.462"/>
                  <dgm:constr type="h" for="ch" forName="childText2" refType="h" fact="0.6685"/>
                </dgm:constrLst>
              </dgm:if>
              <dgm:else name="Name2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
                  <dgm:constr type="t" for="ch" forName="parentText2" refType="h" fact="0.0998"/>
                  <dgm:constr type="w" for="ch" forName="parentText2" refType="w" fact="0.538"/>
                  <dgm:constr type="h" for="ch" forName="parentText2" refType="h" fact="0.2995"/>
                  <dgm:constr type="l" for="ch" forName="childText1" refType="w" fact="0.538"/>
                  <dgm:constr type="t" for="ch" forName="childText1" refType="h" fact="0.2317"/>
                  <dgm:constr type="w" for="ch" forName="childText1" refType="w" fact="0.462"/>
                  <dgm:constr type="h" for="ch" forName="childText1" refType="h" fact="0.6685"/>
                  <dgm:constr type="l" for="ch" forName="childText2" refType="w" fact="0.076"/>
                  <dgm:constr type="t" for="ch" forName="childText2" refType="h" fact="0.3315"/>
                  <dgm:constr type="w" for="ch" forName="childText2" refType="w" fact="0.462"/>
                  <dgm:constr type="h" for="ch" forName="childText2" refType="h" fact="0.6685"/>
                </dgm:constrLst>
              </dgm:else>
            </dgm:choose>
          </dgm:else>
        </dgm:choose>
      </dgm:if>
      <dgm:if name="Name22" axis="ch" ptType="node" func="cnt" op="equ" val="3">
        <dgm:choose name="Name23">
          <dgm:if name="Name24" axis="ch ch" ptType="node node" func="cnt" op="equ" val="0">
            <dgm:alg type="composite">
              <dgm:param type="ar" val="4.1198"/>
            </dgm:alg>
            <dgm:choose name="Name25">
              <dgm:if name="Name2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308"/>
                  <dgm:constr type="t" for="ch" forName="parentText2" refType="h" fact="0.2"/>
                  <dgm:constr type="w" for="ch" forName="parentText2" refType="w" fact="0.692"/>
                  <dgm:constr type="h" for="ch" forName="parentText2" refType="h" fact="0.6"/>
                  <dgm:constr type="l" for="ch" forName="parentText3" refType="w" fact="0.616"/>
                  <dgm:constr type="t" for="ch" forName="parentText3" refType="h" fact="0.4"/>
                  <dgm:constr type="w" for="ch" forName="parentText3" refType="w" fact="0.384"/>
                  <dgm:constr type="h" for="ch" forName="parentText3" refType="h" fact="0.6"/>
                </dgm:constrLst>
              </dgm:if>
              <dgm:else name="Name2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
                  <dgm:constr type="t" for="ch" forName="parentText2" refType="h" fact="0.2"/>
                  <dgm:constr type="w" for="ch" forName="parentText2" refType="w" fact="0.692"/>
                  <dgm:constr type="h" for="ch" forName="parentText2" refType="h" fact="0.6"/>
                  <dgm:constr type="l" for="ch" forName="parentText3" refType="w" fact="0"/>
                  <dgm:constr type="t" for="ch" forName="parentText3" refType="h" fact="0.4"/>
                  <dgm:constr type="w" for="ch" forName="parentText3" refType="w" fact="0.384"/>
                  <dgm:constr type="h" for="ch" forName="parentText3" refType="h" fact="0.6"/>
                </dgm:constrLst>
              </dgm:else>
            </dgm:choose>
          </dgm:if>
          <dgm:else name="Name28">
            <dgm:alg type="composite">
              <dgm:param type="ar" val="2.0702"/>
            </dgm:alg>
            <dgm:choose name="Name29">
              <dgm:if name="Name3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
                  <dgm:constr type="t" for="ch" forName="childText1" refType="h" fact="0.2325"/>
                  <dgm:constr type="w" for="ch" forName="childText1" refType="w" fact="0.308"/>
                  <dgm:constr type="h" for="ch" forName="childText1" refType="h" fact="0.5808"/>
                  <dgm:constr type="l" for="ch" forName="childText2" refType="w" fact="0.308"/>
                  <dgm:constr type="t" for="ch" forName="childText2" refType="h" fact="0.333"/>
                  <dgm:constr type="w" for="ch" forName="childText2" refType="w" fact="0.308"/>
                  <dgm:constr type="h" for="ch" forName="childText2" refType="h" fact="0.5808"/>
                  <dgm:constr type="l" for="ch" forName="childText3" refType="w" fact="0.61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308"/>
                  <dgm:constr type="t" for="ch" forName="parentText2" refType="h" fact="0.1005"/>
                  <dgm:constr type="w" for="ch" forName="parentText2" refType="w" fact="0.692"/>
                  <dgm:constr type="h" for="ch" forName="parentText2" refType="h" fact="0.3015"/>
                  <dgm:constr type="l" for="ch" forName="parentText3" refType="w" fact="0.616"/>
                  <dgm:constr type="t" for="ch" forName="parentText3" refType="h" fact="0.201"/>
                  <dgm:constr type="w" for="ch" forName="parentText3" refType="w" fact="0.384"/>
                  <dgm:constr type="h" for="ch" forName="parentText3" refType="h" fact="0.3015"/>
                </dgm:constrLst>
              </dgm:if>
              <dgm:else name="Name3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692"/>
                  <dgm:constr type="t" for="ch" forName="childText1" refType="h" fact="0.2325"/>
                  <dgm:constr type="w" for="ch" forName="childText1" refType="w" fact="0.308"/>
                  <dgm:constr type="h" for="ch" forName="childText1" refType="h" fact="0.5808"/>
                  <dgm:constr type="l" for="ch" forName="childText2" refType="w" fact="0.384"/>
                  <dgm:constr type="t" for="ch" forName="childText2" refType="h" fact="0.333"/>
                  <dgm:constr type="w" for="ch" forName="childText2" refType="w" fact="0.308"/>
                  <dgm:constr type="h" for="ch" forName="childText2" refType="h" fact="0.5808"/>
                  <dgm:constr type="l" for="ch" forName="childText3" refType="w" fact="0.07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
                  <dgm:constr type="t" for="ch" forName="parentText2" refType="h" fact="0.1005"/>
                  <dgm:constr type="w" for="ch" forName="parentText2" refType="w" fact="0.692"/>
                  <dgm:constr type="h" for="ch" forName="parentText2" refType="h" fact="0.3015"/>
                  <dgm:constr type="l" for="ch" forName="parentText3" refType="w" fact="0"/>
                  <dgm:constr type="t" for="ch" forName="parentText3" refType="h" fact="0.201"/>
                  <dgm:constr type="w" for="ch" forName="parentText3" refType="w" fact="0.384"/>
                  <dgm:constr type="h" for="ch" forName="parentText3" refType="h" fact="0.3015"/>
                </dgm:constrLst>
              </dgm:else>
            </dgm:choose>
          </dgm:else>
        </dgm:choose>
      </dgm:if>
      <dgm:if name="Name32" axis="ch" ptType="node" func="cnt" op="equ" val="4">
        <dgm:choose name="Name33">
          <dgm:if name="Name34" axis="ch ch" ptType="node node" func="cnt" op="equ" val="0">
            <dgm:alg type="composite">
              <dgm:param type="ar" val="3.435"/>
            </dgm:alg>
            <dgm:choose name="Name35">
              <dgm:if name="Name3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2305"/>
                  <dgm:constr type="t" for="ch" forName="parentText2" refType="h" fact="0.1666"/>
                  <dgm:constr type="w" for="ch" forName="parentText2" refType="w" fact="0.7695"/>
                  <dgm:constr type="h" for="ch" forName="parentText2" refType="h" fact="0.5001"/>
                  <dgm:constr type="l" for="ch" forName="parentText3" refType="w" fact="0.461"/>
                  <dgm:constr type="t" for="ch" forName="parentText3" refType="h" fact="0.3333"/>
                  <dgm:constr type="w" for="ch" forName="parentText3" refType="w" fact="0.539"/>
                  <dgm:constr type="h" for="ch" forName="parentText3" refType="h" fact="0.5001"/>
                  <dgm:constr type="l" for="ch" forName="parentText4" refType="w" fact="0.6915"/>
                  <dgm:constr type="t" for="ch" forName="parentText4" refType="h" fact="0.4999"/>
                  <dgm:constr type="w" for="ch" forName="parentText4" refType="w" fact="0.3085"/>
                  <dgm:constr type="h" for="ch" forName="parentText4" refType="h" fact="0.5001"/>
                </dgm:constrLst>
              </dgm:if>
              <dgm:else name="Name3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
                  <dgm:constr type="t" for="ch" forName="parentText2" refType="h" fact="0.1666"/>
                  <dgm:constr type="w" for="ch" forName="parentText2" refType="w" fact="0.7695"/>
                  <dgm:constr type="h" for="ch" forName="parentText2" refType="h" fact="0.5001"/>
                  <dgm:constr type="l" for="ch" forName="parentText3" refType="w" fact="0"/>
                  <dgm:constr type="t" for="ch" forName="parentText3" refType="h" fact="0.3333"/>
                  <dgm:constr type="w" for="ch" forName="parentText3" refType="w" fact="0.539"/>
                  <dgm:constr type="h" for="ch" forName="parentText3" refType="h" fact="0.5001"/>
                  <dgm:constr type="l" for="ch" forName="parentText4" refType="w" fact="0"/>
                  <dgm:constr type="t" for="ch" forName="parentText4" refType="h" fact="0.4999"/>
                  <dgm:constr type="w" for="ch" forName="parentText4" refType="w" fact="0.3085"/>
                  <dgm:constr type="h" for="ch" forName="parentText4" refType="h" fact="0.5001"/>
                </dgm:constrLst>
              </dgm:else>
            </dgm:choose>
          </dgm:if>
          <dgm:else name="Name38">
            <dgm:alg type="composite">
              <dgm:param type="ar" val="1.9377"/>
            </dgm:alg>
            <dgm:choose name="Name39">
              <dgm:if name="Name4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
                  <dgm:constr type="t" for="ch" forName="childText1" refType="h" fact="0.218"/>
                  <dgm:constr type="w" for="ch" forName="childText1" refType="w" fact="0.2305"/>
                  <dgm:constr type="h" for="ch" forName="childText1" refType="h" fact="0.5218"/>
                  <dgm:constr type="l" for="ch" forName="childText2" refType="w" fact="0.2305"/>
                  <dgm:constr type="t" for="ch" forName="childText2" refType="h" fact="0.312"/>
                  <dgm:constr type="w" for="ch" forName="childText2" refType="w" fact="0.2305"/>
                  <dgm:constr type="h" for="ch" forName="childText2" refType="h" fact="0.5085"/>
                  <dgm:constr type="l" for="ch" forName="childText3" refType="w" fact="0.461"/>
                  <dgm:constr type="t" for="ch" forName="childText3" refType="h" fact="0.406"/>
                  <dgm:constr type="w" for="ch" forName="childText3" refType="w" fact="0.2305"/>
                  <dgm:constr type="h" for="ch" forName="childText3" refType="h" fact="0.5119"/>
                  <dgm:constr type="l" for="ch" forName="childText4" refType="w" fact="0.6915"/>
                  <dgm:constr type="t" for="ch" forName="childText4" refType="h" fact="0.5"/>
                  <dgm:constr type="w" for="ch" forName="childText4" refType="w" fact="0.232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2305"/>
                  <dgm:constr type="t" for="ch" forName="parentText2" refType="h" fact="0.094"/>
                  <dgm:constr type="w" for="ch" forName="parentText2" refType="w" fact="0.7695"/>
                  <dgm:constr type="h" for="ch" forName="parentText2" refType="h" fact="0.2821"/>
                  <dgm:constr type="l" for="ch" forName="parentText3" refType="w" fact="0.461"/>
                  <dgm:constr type="t" for="ch" forName="parentText3" refType="h" fact="0.188"/>
                  <dgm:constr type="w" for="ch" forName="parentText3" refType="w" fact="0.539"/>
                  <dgm:constr type="h" for="ch" forName="parentText3" refType="h" fact="0.2821"/>
                  <dgm:constr type="l" for="ch" forName="parentText4" refType="w" fact="0.6915"/>
                  <dgm:constr type="t" for="ch" forName="parentText4" refType="h" fact="0.282"/>
                  <dgm:constr type="w" for="ch" forName="parentText4" refType="w" fact="0.3085"/>
                  <dgm:constr type="h" for="ch" forName="parentText4" refType="h" fact="0.2821"/>
                </dgm:constrLst>
              </dgm:if>
              <dgm:else name="Name4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7695"/>
                  <dgm:constr type="t" for="ch" forName="childText1" refType="h" fact="0.218"/>
                  <dgm:constr type="w" for="ch" forName="childText1" refType="w" fact="0.2305"/>
                  <dgm:constr type="h" for="ch" forName="childText1" refType="h" fact="0.5218"/>
                  <dgm:constr type="l" for="ch" forName="childText2" refType="w" fact="0.539"/>
                  <dgm:constr type="t" for="ch" forName="childText2" refType="h" fact="0.312"/>
                  <dgm:constr type="w" for="ch" forName="childText2" refType="w" fact="0.2305"/>
                  <dgm:constr type="h" for="ch" forName="childText2" refType="h" fact="0.5085"/>
                  <dgm:constr type="l" for="ch" forName="childText3" refType="w" fact="0.3085"/>
                  <dgm:constr type="t" for="ch" forName="childText3" refType="h" fact="0.406"/>
                  <dgm:constr type="w" for="ch" forName="childText3" refType="w" fact="0.2305"/>
                  <dgm:constr type="h" for="ch" forName="childText3" refType="h" fact="0.5119"/>
                  <dgm:constr type="l" for="ch" forName="childText4" refType="w" fact="0.076"/>
                  <dgm:constr type="t" for="ch" forName="childText4" refType="h" fact="0.5"/>
                  <dgm:constr type="w" for="ch" forName="childText4" refType="w" fact="0.234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
                  <dgm:constr type="t" for="ch" forName="parentText2" refType="h" fact="0.094"/>
                  <dgm:constr type="w" for="ch" forName="parentText2" refType="w" fact="0.7695"/>
                  <dgm:constr type="h" for="ch" forName="parentText2" refType="h" fact="0.2821"/>
                  <dgm:constr type="l" for="ch" forName="parentText3" refType="w" fact="0"/>
                  <dgm:constr type="t" for="ch" forName="parentText3" refType="h" fact="0.188"/>
                  <dgm:constr type="w" for="ch" forName="parentText3" refType="w" fact="0.539"/>
                  <dgm:constr type="h" for="ch" forName="parentText3" refType="h" fact="0.2821"/>
                  <dgm:constr type="l" for="ch" forName="parentText4" refType="w" fact="0"/>
                  <dgm:constr type="t" for="ch" forName="parentText4" refType="h" fact="0.282"/>
                  <dgm:constr type="w" for="ch" forName="parentText4" refType="w" fact="0.3085"/>
                  <dgm:constr type="h" for="ch" forName="parentText4" refType="h" fact="0.2821"/>
                </dgm:constrLst>
              </dgm:else>
            </dgm:choose>
          </dgm:else>
        </dgm:choose>
      </dgm:if>
      <dgm:else name="Name42">
        <dgm:choose name="Name43">
          <dgm:if name="Name44" axis="ch ch" ptType="node node" func="cnt" op="equ" val="0">
            <dgm:alg type="composite">
              <dgm:param type="ar" val="2.9463"/>
            </dgm:alg>
            <dgm:choose name="Name45">
              <dgm:if name="Name4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1848"/>
                  <dgm:constr type="t" for="ch" forName="parentText2" refType="h" fact="0.1429"/>
                  <dgm:constr type="w" for="ch" forName="parentText2" refType="w" fact="0.8152"/>
                  <dgm:constr type="h" for="ch" forName="parentText2" refType="h" fact="0.4285"/>
                  <dgm:constr type="l" for="ch" forName="parentText3" refType="w" fact="0.3696"/>
                  <dgm:constr type="t" for="ch" forName="parentText3" refType="h" fact="0.2858"/>
                  <dgm:constr type="w" for="ch" forName="parentText3" refType="w" fact="0.6304"/>
                  <dgm:constr type="h" for="ch" forName="parentText3" refType="h" fact="0.4285"/>
                  <dgm:constr type="l" for="ch" forName="parentText4" refType="w" fact="0.5545"/>
                  <dgm:constr type="t" for="ch" forName="parentText4" refType="h" fact="0.4286"/>
                  <dgm:constr type="w" for="ch" forName="parentText4" refType="w" fact="0.4455"/>
                  <dgm:constr type="h" for="ch" forName="parentText4" refType="h" fact="0.4285"/>
                  <dgm:constr type="l" for="ch" forName="parentText5" refType="w" fact="0.7393"/>
                  <dgm:constr type="t" for="ch" forName="parentText5" refType="h" fact="0.5715"/>
                  <dgm:constr type="w" for="ch" forName="parentText5" refType="w" fact="0.2607"/>
                  <dgm:constr type="h" for="ch" forName="parentText5" refType="h" fact="0.4285"/>
                </dgm:constrLst>
              </dgm:if>
              <dgm:else name="Name4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
                  <dgm:constr type="t" for="ch" forName="parentText2" refType="h" fact="0.1429"/>
                  <dgm:constr type="w" for="ch" forName="parentText2" refType="w" fact="0.8152"/>
                  <dgm:constr type="h" for="ch" forName="parentText2" refType="h" fact="0.4285"/>
                  <dgm:constr type="l" for="ch" forName="parentText3" refType="w" fact="0"/>
                  <dgm:constr type="t" for="ch" forName="parentText3" refType="h" fact="0.2858"/>
                  <dgm:constr type="w" for="ch" forName="parentText3" refType="w" fact="0.6304"/>
                  <dgm:constr type="h" for="ch" forName="parentText3" refType="h" fact="0.4285"/>
                  <dgm:constr type="l" for="ch" forName="parentText4" refType="w" fact="0"/>
                  <dgm:constr type="t" for="ch" forName="parentText4" refType="h" fact="0.4286"/>
                  <dgm:constr type="w" for="ch" forName="parentText4" refType="w" fact="0.4455"/>
                  <dgm:constr type="h" for="ch" forName="parentText4" refType="h" fact="0.4285"/>
                  <dgm:constr type="l" for="ch" forName="parentText5" refType="w" fact="0"/>
                  <dgm:constr type="t" for="ch" forName="parentText5" refType="h" fact="0.5715"/>
                  <dgm:constr type="w" for="ch" forName="parentText5" refType="w" fact="0.2607"/>
                  <dgm:constr type="h" for="ch" forName="parentText5" refType="h" fact="0.4285"/>
                </dgm:constrLst>
              </dgm:else>
            </dgm:choose>
          </dgm:if>
          <dgm:else name="Name48">
            <dgm:alg type="composite">
              <dgm:param type="ar" val="1.7837"/>
            </dgm:alg>
            <dgm:choose name="Name49">
              <dgm:if name="Name5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
                  <dgm:constr type="t" for="ch" forName="childText1" refType="h" fact="0.1997"/>
                  <dgm:constr type="w" for="ch" forName="childText1" refType="w" fact="0.18482"/>
                  <dgm:constr type="h" for="ch" forName="childText1" refType="h" fact="0.4763"/>
                  <dgm:constr type="l" for="ch" forName="childText2" refType="w" fact="0.1848"/>
                  <dgm:constr type="t" for="ch" forName="childText2" refType="h" fact="0.2862"/>
                  <dgm:constr type="w" for="ch" forName="childText2" refType="w" fact="0.18482"/>
                  <dgm:constr type="h" for="ch" forName="childText2" refType="h" fact="0.4763"/>
                  <dgm:constr type="l" for="ch" forName="childText3" refType="w" fact="0.3696"/>
                  <dgm:constr type="t" for="ch" forName="childText3" refType="h" fact="0.3727"/>
                  <dgm:constr type="w" for="ch" forName="childText3" refType="w" fact="0.18482"/>
                  <dgm:constr type="h" for="ch" forName="childText3" refType="h" fact="0.4763"/>
                  <dgm:constr type="l" for="ch" forName="childText4" refType="w" fact="0.5545"/>
                  <dgm:constr type="t" for="ch" forName="childText4" refType="h" fact="0.4592"/>
                  <dgm:constr type="w" for="ch" forName="childText4" refType="w" fact="0.18482"/>
                  <dgm:constr type="h" for="ch" forName="childText4" refType="h" fact="0.4763"/>
                  <dgm:constr type="l" for="ch" forName="childText5" refType="w" fact="0.7393"/>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1848"/>
                  <dgm:constr type="t" for="ch" forName="parentText2" refType="h" fact="0.0865"/>
                  <dgm:constr type="w" for="ch" forName="parentText2" refType="w" fact="0.8152"/>
                  <dgm:constr type="h" for="ch" forName="parentText2" refType="h" fact="0.2594"/>
                  <dgm:constr type="l" for="ch" forName="parentText3" refType="w" fact="0.3696"/>
                  <dgm:constr type="t" for="ch" forName="parentText3" refType="h" fact="0.173"/>
                  <dgm:constr type="w" for="ch" forName="parentText3" refType="w" fact="0.6304"/>
                  <dgm:constr type="h" for="ch" forName="parentText3" refType="h" fact="0.2594"/>
                  <dgm:constr type="l" for="ch" forName="parentText4" refType="w" fact="0.5545"/>
                  <dgm:constr type="t" for="ch" forName="parentText4" refType="h" fact="0.2595"/>
                  <dgm:constr type="w" for="ch" forName="parentText4" refType="w" fact="0.4455"/>
                  <dgm:constr type="h" for="ch" forName="parentText4" refType="h" fact="0.2594"/>
                  <dgm:constr type="l" for="ch" forName="parentText5" refType="w" fact="0.7393"/>
                  <dgm:constr type="t" for="ch" forName="parentText5" refType="h" fact="0.346"/>
                  <dgm:constr type="w" for="ch" forName="parentText5" refType="w" fact="0.2607"/>
                  <dgm:constr type="h" for="ch" forName="parentText5" refType="h" fact="0.2594"/>
                </dgm:constrLst>
              </dgm:if>
              <dgm:else name="Name5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81518"/>
                  <dgm:constr type="t" for="ch" forName="childText1" refType="h" fact="0.1997"/>
                  <dgm:constr type="w" for="ch" forName="childText1" refType="w" fact="0.18482"/>
                  <dgm:constr type="h" for="ch" forName="childText1" refType="h" fact="0.4763"/>
                  <dgm:constr type="l" for="ch" forName="childText2" refType="w" fact="0.63036"/>
                  <dgm:constr type="t" for="ch" forName="childText2" refType="h" fact="0.2862"/>
                  <dgm:constr type="w" for="ch" forName="childText2" refType="w" fact="0.18482"/>
                  <dgm:constr type="h" for="ch" forName="childText2" refType="h" fact="0.4763"/>
                  <dgm:constr type="l" for="ch" forName="childText3" refType="w" fact="0.44554"/>
                  <dgm:constr type="t" for="ch" forName="childText3" refType="h" fact="0.3727"/>
                  <dgm:constr type="w" for="ch" forName="childText3" refType="w" fact="0.18482"/>
                  <dgm:constr type="h" for="ch" forName="childText3" refType="h" fact="0.4763"/>
                  <dgm:constr type="l" for="ch" forName="childText4" refType="w" fact="0.26072"/>
                  <dgm:constr type="t" for="ch" forName="childText4" refType="h" fact="0.4592"/>
                  <dgm:constr type="w" for="ch" forName="childText4" refType="w" fact="0.18482"/>
                  <dgm:constr type="h" for="ch" forName="childText4" refType="h" fact="0.4763"/>
                  <dgm:constr type="l" for="ch" forName="childText5" refType="w" fact="0.0759"/>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
                  <dgm:constr type="t" for="ch" forName="parentText2" refType="h" fact="0.0865"/>
                  <dgm:constr type="w" for="ch" forName="parentText2" refType="w" fact="0.8152"/>
                  <dgm:constr type="h" for="ch" forName="parentText2" refType="h" fact="0.2594"/>
                  <dgm:constr type="l" for="ch" forName="parentText3" refType="w" fact="0"/>
                  <dgm:constr type="t" for="ch" forName="parentText3" refType="h" fact="0.173"/>
                  <dgm:constr type="w" for="ch" forName="parentText3" refType="w" fact="0.6304"/>
                  <dgm:constr type="h" for="ch" forName="parentText3" refType="h" fact="0.2594"/>
                  <dgm:constr type="l" for="ch" forName="parentText4" refType="w" fact="0"/>
                  <dgm:constr type="t" for="ch" forName="parentText4" refType="h" fact="0.2595"/>
                  <dgm:constr type="w" for="ch" forName="parentText4" refType="w" fact="0.4455"/>
                  <dgm:constr type="h" for="ch" forName="parentText4" refType="h" fact="0.2594"/>
                  <dgm:constr type="l" for="ch" forName="parentText5" refType="w" fact="0"/>
                  <dgm:constr type="t" for="ch" forName="parentText5" refType="h" fact="0.346"/>
                  <dgm:constr type="w" for="ch" forName="parentText5" refType="w" fact="0.2607"/>
                  <dgm:constr type="h" for="ch" forName="parentText5" refType="h" fact="0.2594"/>
                </dgm:constrLst>
              </dgm:else>
            </dgm:choose>
          </dgm:else>
        </dgm:choose>
      </dgm:else>
    </dgm:choose>
    <dgm:forEach name="Name52" axis="ch" ptType="node" cnt="1">
      <dgm:layoutNode name="parentText1" styleLbl="node1">
        <dgm:varLst>
          <dgm:chMax/>
          <dgm:chPref val="3"/>
          <dgm:bulletEnabled val="1"/>
        </dgm:varLst>
        <dgm:choose name="Name53">
          <dgm:if name="Name54"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55">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56">
        <dgm:if name="Name57" axis="ch" ptType="node" func="cnt" op="gte" val="1">
          <dgm:layoutNode name="childText1"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dgm:forEach>
    <dgm:forEach name="Name59" axis="ch" ptType="node" st="2" cnt="1">
      <dgm:layoutNode name="parentText2" styleLbl="node1">
        <dgm:varLst>
          <dgm:chMax/>
          <dgm:chPref val="3"/>
          <dgm:bulletEnabled val="1"/>
        </dgm:varLst>
        <dgm:choose name="Name60">
          <dgm:if name="Name61"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2">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63">
        <dgm:if name="Name64" axis="ch" ptType="node" func="cnt" op="gte" val="1">
          <dgm:layoutNode name="childText2"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5"/>
      </dgm:choose>
    </dgm:forEach>
    <dgm:forEach name="Name66" axis="ch" ptType="node" st="3" cnt="1">
      <dgm:layoutNode name="parentText3" styleLbl="node1">
        <dgm:varLst>
          <dgm:chMax/>
          <dgm:chPref val="3"/>
          <dgm:bulletEnabled val="1"/>
        </dgm:varLst>
        <dgm:choose name="Name67">
          <dgm:if name="Name68"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9">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0">
        <dgm:if name="Name71" axis="ch" ptType="node" func="cnt" op="gte" val="1">
          <dgm:layoutNode name="childText3"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forEach>
    <dgm:forEach name="Name73" axis="ch" ptType="node" st="4" cnt="1">
      <dgm:layoutNode name="parentText4" styleLbl="node1">
        <dgm:varLst>
          <dgm:chMax/>
          <dgm:chPref val="3"/>
          <dgm:bulletEnabled val="1"/>
        </dgm:varLst>
        <dgm:choose name="Name74">
          <dgm:if name="Name75"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76">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7">
        <dgm:if name="Name78" axis="ch" ptType="node" func="cnt" op="gte" val="1">
          <dgm:layoutNode name="childText4"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dgm:forEach>
    <dgm:forEach name="Name80" axis="ch" ptType="node" st="5" cnt="1">
      <dgm:layoutNode name="parentText5" styleLbl="node1">
        <dgm:varLst>
          <dgm:chMax/>
          <dgm:chPref val="3"/>
          <dgm:bulletEnabled val="1"/>
        </dgm:varLst>
        <dgm:choose name="Name81">
          <dgm:if name="Name82"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83">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84">
        <dgm:if name="Name85" axis="ch" ptType="node" func="cnt" op="gte" val="1">
          <dgm:layoutNode name="childText5"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2" y="0"/>
            <a:ext cx="2918621" cy="493237"/>
          </a:xfrm>
          <a:prstGeom prst="rect">
            <a:avLst/>
          </a:prstGeom>
          <a:noFill/>
          <a:ln>
            <a:noFill/>
          </a:ln>
        </p:spPr>
        <p:txBody>
          <a:bodyPr spcFirstLastPara="1" wrap="square" lIns="90630" tIns="45302" rIns="90630" bIns="45302"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15573" y="0"/>
            <a:ext cx="2918621" cy="493237"/>
          </a:xfrm>
          <a:prstGeom prst="rect">
            <a:avLst/>
          </a:prstGeom>
          <a:noFill/>
          <a:ln>
            <a:noFill/>
          </a:ln>
        </p:spPr>
        <p:txBody>
          <a:bodyPr spcFirstLastPara="1" wrap="square" lIns="90630" tIns="45302" rIns="90630" bIns="45302"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754063" y="741363"/>
            <a:ext cx="5227637" cy="36972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3892" y="4686539"/>
            <a:ext cx="5387982" cy="4439132"/>
          </a:xfrm>
          <a:prstGeom prst="rect">
            <a:avLst/>
          </a:prstGeom>
          <a:noFill/>
          <a:ln>
            <a:noFill/>
          </a:ln>
        </p:spPr>
        <p:txBody>
          <a:bodyPr spcFirstLastPara="1" wrap="square" lIns="90630" tIns="45302" rIns="90630" bIns="45302"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2" y="9371503"/>
            <a:ext cx="2918621" cy="493236"/>
          </a:xfrm>
          <a:prstGeom prst="rect">
            <a:avLst/>
          </a:prstGeom>
          <a:noFill/>
          <a:ln>
            <a:noFill/>
          </a:ln>
        </p:spPr>
        <p:txBody>
          <a:bodyPr spcFirstLastPara="1" wrap="square" lIns="90630" tIns="45302" rIns="90630" bIns="45302"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15573" y="9371503"/>
            <a:ext cx="2918621" cy="493236"/>
          </a:xfrm>
          <a:prstGeom prst="rect">
            <a:avLst/>
          </a:prstGeom>
          <a:noFill/>
          <a:ln>
            <a:noFill/>
          </a:ln>
        </p:spPr>
        <p:txBody>
          <a:bodyPr spcFirstLastPara="1" wrap="square" lIns="90630" tIns="45302" rIns="90630" bIns="45302" anchor="b" anchorCtr="0">
            <a:noAutofit/>
          </a:bodyPr>
          <a:lstStyle/>
          <a:p>
            <a:pPr algn="r">
              <a:buSzPts val="1200"/>
            </a:pPr>
            <a:fld id="{00000000-1234-1234-1234-123412341234}" type="slidenum">
              <a:rPr lang="en-US" sz="1200" smtClean="0">
                <a:solidFill>
                  <a:schemeClr val="dk1"/>
                </a:solidFill>
                <a:latin typeface="Calibri"/>
                <a:ea typeface="Calibri"/>
                <a:cs typeface="Calibri"/>
                <a:sym typeface="Calibri"/>
              </a:rPr>
              <a:pPr algn="r">
                <a:buSzPts val="1200"/>
              </a:pPr>
              <a:t>‹#›</a:t>
            </a:fld>
            <a:endParaRPr lang="en-US" sz="120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 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336675" y="1238250"/>
            <a:ext cx="8020050" cy="2632075"/>
          </a:xfrm>
        </p:spPr>
        <p:txBody>
          <a:bodyPr anchor="b">
            <a:normAutofit/>
          </a:bodyPr>
          <a:lstStyle>
            <a:lvl1pPr algn="ctr">
              <a:defRPr sz="3600"/>
            </a:lvl1pPr>
          </a:lstStyle>
          <a:p>
            <a:r>
              <a:rPr kumimoji="1" lang="ja-JP" altLang="en-US" dirty="0"/>
              <a:t>マスター タイトルの書式設定</a:t>
            </a:r>
          </a:p>
        </p:txBody>
      </p:sp>
      <p:sp>
        <p:nvSpPr>
          <p:cNvPr id="3" name="サブタイトル 2"/>
          <p:cNvSpPr>
            <a:spLocks noGrp="1"/>
          </p:cNvSpPr>
          <p:nvPr>
            <p:ph type="subTitle" idx="1"/>
          </p:nvPr>
        </p:nvSpPr>
        <p:spPr>
          <a:xfrm>
            <a:off x="1336675" y="3971925"/>
            <a:ext cx="8020050" cy="18256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7" name="スライド番号プレースホルダー 6"/>
          <p:cNvSpPr>
            <a:spLocks noGrp="1"/>
          </p:cNvSpPr>
          <p:nvPr>
            <p:ph type="sldNum" sz="quarter" idx="10"/>
          </p:nvPr>
        </p:nvSpPr>
        <p:spPr/>
        <p:txBody>
          <a:bodyPr/>
          <a:lstStyle/>
          <a:p>
            <a:fld id="{0396CD73-C967-4D9B-839B-6A46B6359B27}" type="slidenum">
              <a:rPr kumimoji="1" lang="ja-JP" altLang="en-US" smtClean="0"/>
              <a:pPr/>
              <a:t>‹#›</a:t>
            </a:fld>
            <a:endParaRPr kumimoji="1" lang="ja-JP" altLang="en-US"/>
          </a:p>
        </p:txBody>
      </p:sp>
    </p:spTree>
    <p:extLst>
      <p:ext uri="{BB962C8B-B14F-4D97-AF65-F5344CB8AC3E}">
        <p14:creationId xmlns:p14="http://schemas.microsoft.com/office/powerpoint/2010/main" val="16976240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2_タイトルとコンテンツ">
    <p:spTree>
      <p:nvGrpSpPr>
        <p:cNvPr id="1" name=""/>
        <p:cNvGrpSpPr/>
        <p:nvPr/>
      </p:nvGrpSpPr>
      <p:grpSpPr>
        <a:xfrm>
          <a:off x="0" y="0"/>
          <a:ext cx="0" cy="0"/>
          <a:chOff x="0" y="0"/>
          <a:chExt cx="0" cy="0"/>
        </a:xfrm>
      </p:grpSpPr>
      <p:sp>
        <p:nvSpPr>
          <p:cNvPr id="6" name="フッター プレースホルダー 2"/>
          <p:cNvSpPr txBox="1">
            <a:spLocks/>
          </p:cNvSpPr>
          <p:nvPr userDrawn="1"/>
        </p:nvSpPr>
        <p:spPr>
          <a:xfrm>
            <a:off x="3679116" y="6906827"/>
            <a:ext cx="3386243" cy="402567"/>
          </a:xfrm>
          <a:prstGeom prst="rect">
            <a:avLst/>
          </a:prstGeom>
        </p:spPr>
        <p:txBody>
          <a:bodyPr vert="horz" lIns="99569" tIns="49785" rIns="99569" bIns="49785" rtlCol="0" anchor="ctr"/>
          <a:lstStyle>
            <a:defPPr>
              <a:defRPr lang="ja-JP"/>
            </a:defPPr>
            <a:lvl1pPr marL="0" algn="ctr" defTabSz="995690" rtl="0" eaLnBrk="1" latinLnBrk="0" hangingPunct="1">
              <a:defRPr kumimoji="1" sz="1300" kern="1200">
                <a:solidFill>
                  <a:schemeClr val="tx1">
                    <a:tint val="75000"/>
                  </a:schemeClr>
                </a:solidFill>
                <a:latin typeface="+mn-lt"/>
                <a:ea typeface="+mn-ea"/>
                <a:cs typeface="+mn-cs"/>
              </a:defRPr>
            </a:lvl1pPr>
            <a:lvl2pPr marL="497845" algn="l" defTabSz="995690" rtl="0" eaLnBrk="1" latinLnBrk="0" hangingPunct="1">
              <a:defRPr kumimoji="1" sz="2000" kern="1200">
                <a:solidFill>
                  <a:schemeClr val="tx1"/>
                </a:solidFill>
                <a:latin typeface="+mn-lt"/>
                <a:ea typeface="+mn-ea"/>
                <a:cs typeface="+mn-cs"/>
              </a:defRPr>
            </a:lvl2pPr>
            <a:lvl3pPr marL="995690" algn="l" defTabSz="995690" rtl="0" eaLnBrk="1" latinLnBrk="0" hangingPunct="1">
              <a:defRPr kumimoji="1" sz="2000" kern="1200">
                <a:solidFill>
                  <a:schemeClr val="tx1"/>
                </a:solidFill>
                <a:latin typeface="+mn-lt"/>
                <a:ea typeface="+mn-ea"/>
                <a:cs typeface="+mn-cs"/>
              </a:defRPr>
            </a:lvl3pPr>
            <a:lvl4pPr marL="1493535" algn="l" defTabSz="995690" rtl="0" eaLnBrk="1" latinLnBrk="0" hangingPunct="1">
              <a:defRPr kumimoji="1" sz="2000" kern="1200">
                <a:solidFill>
                  <a:schemeClr val="tx1"/>
                </a:solidFill>
                <a:latin typeface="+mn-lt"/>
                <a:ea typeface="+mn-ea"/>
                <a:cs typeface="+mn-cs"/>
              </a:defRPr>
            </a:lvl4pPr>
            <a:lvl5pPr marL="1991380" algn="l" defTabSz="995690" rtl="0" eaLnBrk="1" latinLnBrk="0" hangingPunct="1">
              <a:defRPr kumimoji="1" sz="2000" kern="1200">
                <a:solidFill>
                  <a:schemeClr val="tx1"/>
                </a:solidFill>
                <a:latin typeface="+mn-lt"/>
                <a:ea typeface="+mn-ea"/>
                <a:cs typeface="+mn-cs"/>
              </a:defRPr>
            </a:lvl5pPr>
            <a:lvl6pPr marL="2489225" algn="l" defTabSz="995690" rtl="0" eaLnBrk="1" latinLnBrk="0" hangingPunct="1">
              <a:defRPr kumimoji="1" sz="2000" kern="1200">
                <a:solidFill>
                  <a:schemeClr val="tx1"/>
                </a:solidFill>
                <a:latin typeface="+mn-lt"/>
                <a:ea typeface="+mn-ea"/>
                <a:cs typeface="+mn-cs"/>
              </a:defRPr>
            </a:lvl6pPr>
            <a:lvl7pPr marL="2987070" algn="l" defTabSz="995690" rtl="0" eaLnBrk="1" latinLnBrk="0" hangingPunct="1">
              <a:defRPr kumimoji="1" sz="2000" kern="1200">
                <a:solidFill>
                  <a:schemeClr val="tx1"/>
                </a:solidFill>
                <a:latin typeface="+mn-lt"/>
                <a:ea typeface="+mn-ea"/>
                <a:cs typeface="+mn-cs"/>
              </a:defRPr>
            </a:lvl7pPr>
            <a:lvl8pPr marL="3484916" algn="l" defTabSz="995690" rtl="0" eaLnBrk="1" latinLnBrk="0" hangingPunct="1">
              <a:defRPr kumimoji="1" sz="2000" kern="1200">
                <a:solidFill>
                  <a:schemeClr val="tx1"/>
                </a:solidFill>
                <a:latin typeface="+mn-lt"/>
                <a:ea typeface="+mn-ea"/>
                <a:cs typeface="+mn-cs"/>
              </a:defRPr>
            </a:lvl8pPr>
            <a:lvl9pPr marL="3982761" algn="l" defTabSz="995690" rtl="0" eaLnBrk="1" latinLnBrk="0" hangingPunct="1">
              <a:defRPr kumimoji="1" sz="2000" kern="1200">
                <a:solidFill>
                  <a:schemeClr val="tx1"/>
                </a:solidFill>
                <a:latin typeface="+mn-lt"/>
                <a:ea typeface="+mn-ea"/>
                <a:cs typeface="+mn-cs"/>
              </a:defRPr>
            </a:lvl9pPr>
          </a:lstStyle>
          <a:p>
            <a:fld id="{66C50E4F-84EF-44D1-888E-7D075554C033}" type="slidenum">
              <a:rPr lang="ja-JP" altLang="en-US" b="1" smtClean="0">
                <a:solidFill>
                  <a:schemeClr val="bg1"/>
                </a:solidFill>
                <a:latin typeface="Meiryo UI" panose="020B0604030504040204" pitchFamily="50" charset="-128"/>
                <a:ea typeface="Meiryo UI" panose="020B0604030504040204" pitchFamily="50" charset="-128"/>
              </a:rPr>
              <a:pPr/>
              <a:t>‹#›</a:t>
            </a:fld>
            <a:endParaRPr lang="ja-JP" altLang="en-US" b="1" dirty="0">
              <a:solidFill>
                <a:schemeClr val="bg1"/>
              </a:solidFill>
              <a:latin typeface="Meiryo UI" panose="020B0604030504040204" pitchFamily="50" charset="-128"/>
              <a:ea typeface="Meiryo UI" panose="020B0604030504040204" pitchFamily="50" charset="-128"/>
            </a:endParaRPr>
          </a:p>
        </p:txBody>
      </p:sp>
      <p:sp>
        <p:nvSpPr>
          <p:cNvPr id="3" name="タイトル 2"/>
          <p:cNvSpPr>
            <a:spLocks noGrp="1"/>
          </p:cNvSpPr>
          <p:nvPr>
            <p:ph type="title" hasCustomPrompt="1"/>
          </p:nvPr>
        </p:nvSpPr>
        <p:spPr>
          <a:xfrm>
            <a:off x="374904" y="61259"/>
            <a:ext cx="10003638" cy="706210"/>
          </a:xfrm>
        </p:spPr>
        <p:txBody>
          <a:bodyPr>
            <a:noAutofit/>
          </a:bodyPr>
          <a:lstStyle>
            <a:lvl1pPr>
              <a:defRPr sz="2800" b="1" i="0"/>
            </a:lvl1pPr>
          </a:lstStyle>
          <a:p>
            <a:r>
              <a:rPr kumimoji="1" lang="en-US" altLang="ja-JP" dirty="0"/>
              <a:t>Title</a:t>
            </a:r>
            <a:endParaRPr kumimoji="1" lang="ja-JP" altLang="en-US" dirty="0"/>
          </a:p>
        </p:txBody>
      </p:sp>
      <p:sp>
        <p:nvSpPr>
          <p:cNvPr id="15" name="テキスト プレースホルダー 14"/>
          <p:cNvSpPr>
            <a:spLocks noGrp="1"/>
          </p:cNvSpPr>
          <p:nvPr>
            <p:ph type="body" sz="quarter" idx="12" hasCustomPrompt="1"/>
          </p:nvPr>
        </p:nvSpPr>
        <p:spPr>
          <a:xfrm>
            <a:off x="374650" y="949973"/>
            <a:ext cx="10004425" cy="6250928"/>
          </a:xfrm>
        </p:spPr>
        <p:txBody>
          <a:bodyPr>
            <a:normAutofit/>
          </a:bodyPr>
          <a:lstStyle>
            <a:lvl1pPr>
              <a:defRPr sz="1800" i="0"/>
            </a:lvl1pPr>
            <a:lvl2pPr marL="685800" indent="-228600">
              <a:buFont typeface="Wingdings" panose="05000000000000000000" pitchFamily="2" charset="2"/>
              <a:buChar char="Ø"/>
              <a:defRPr sz="1800" i="0" baseline="0"/>
            </a:lvl2pPr>
            <a:lvl3pPr marL="1143000" indent="-228600">
              <a:buFont typeface="Wingdings" panose="05000000000000000000" pitchFamily="2" charset="2"/>
              <a:buChar char="l"/>
              <a:defRPr sz="1800" i="0" baseline="0"/>
            </a:lvl3pPr>
            <a:lvl4pPr>
              <a:defRPr sz="1800" i="0" baseline="0"/>
            </a:lvl4pPr>
            <a:lvl5pPr>
              <a:defRPr sz="1800" i="0" baseline="0"/>
            </a:lvl5pPr>
          </a:lstStyle>
          <a:p>
            <a:pPr lvl="0"/>
            <a:r>
              <a:rPr kumimoji="1" lang="en-US" altLang="ja-JP" dirty="0"/>
              <a:t>Text</a:t>
            </a:r>
            <a:endParaRPr kumimoji="1" lang="ja-JP" altLang="en-US" dirty="0"/>
          </a:p>
          <a:p>
            <a:pPr lvl="1"/>
            <a:r>
              <a:rPr kumimoji="1" lang="en-US" altLang="ja-JP" dirty="0"/>
              <a:t>Level 2</a:t>
            </a:r>
            <a:endParaRPr kumimoji="1" lang="ja-JP" altLang="en-US" dirty="0"/>
          </a:p>
          <a:p>
            <a:pPr lvl="2"/>
            <a:r>
              <a:rPr kumimoji="1" lang="en-US" altLang="ja-JP" dirty="0"/>
              <a:t>Level 3</a:t>
            </a:r>
            <a:endParaRPr kumimoji="1" lang="ja-JP" altLang="en-US" dirty="0"/>
          </a:p>
          <a:p>
            <a:pPr lvl="3"/>
            <a:r>
              <a:rPr kumimoji="1" lang="en-US" altLang="ja-JP" dirty="0"/>
              <a:t>Level 4</a:t>
            </a:r>
            <a:endParaRPr kumimoji="1" lang="ja-JP" altLang="en-US" dirty="0"/>
          </a:p>
          <a:p>
            <a:pPr lvl="4"/>
            <a:r>
              <a:rPr kumimoji="1" lang="en-US" altLang="ja-JP" dirty="0"/>
              <a:t>Level 5</a:t>
            </a:r>
            <a:endParaRPr kumimoji="1" lang="ja-JP" altLang="en-US" dirty="0"/>
          </a:p>
        </p:txBody>
      </p:sp>
      <p:sp>
        <p:nvSpPr>
          <p:cNvPr id="8" name="フッター プレースホルダー 2"/>
          <p:cNvSpPr txBox="1">
            <a:spLocks/>
          </p:cNvSpPr>
          <p:nvPr userDrawn="1"/>
        </p:nvSpPr>
        <p:spPr>
          <a:xfrm>
            <a:off x="10158578" y="19905"/>
            <a:ext cx="534822" cy="251869"/>
          </a:xfrm>
          <a:prstGeom prst="rect">
            <a:avLst/>
          </a:prstGeom>
          <a:solidFill>
            <a:schemeClr val="tx2">
              <a:lumMod val="75000"/>
            </a:schemeClr>
          </a:solidFill>
        </p:spPr>
        <p:txBody>
          <a:bodyPr vert="horz" lIns="99569" tIns="49785" rIns="99569" bIns="49785" rtlCol="0" anchor="ctr"/>
          <a:lstStyle>
            <a:defPPr>
              <a:defRPr lang="ja-JP"/>
            </a:defPPr>
            <a:lvl1pPr marL="0" algn="ctr" defTabSz="995690" rtl="0" eaLnBrk="1" latinLnBrk="0" hangingPunct="1">
              <a:defRPr kumimoji="1" sz="1300" kern="1200">
                <a:solidFill>
                  <a:schemeClr val="tx1">
                    <a:tint val="75000"/>
                  </a:schemeClr>
                </a:solidFill>
                <a:latin typeface="+mn-lt"/>
                <a:ea typeface="+mn-ea"/>
                <a:cs typeface="+mn-cs"/>
              </a:defRPr>
            </a:lvl1pPr>
            <a:lvl2pPr marL="497845" algn="l" defTabSz="995690" rtl="0" eaLnBrk="1" latinLnBrk="0" hangingPunct="1">
              <a:defRPr kumimoji="1" sz="2000" kern="1200">
                <a:solidFill>
                  <a:schemeClr val="tx1"/>
                </a:solidFill>
                <a:latin typeface="+mn-lt"/>
                <a:ea typeface="+mn-ea"/>
                <a:cs typeface="+mn-cs"/>
              </a:defRPr>
            </a:lvl2pPr>
            <a:lvl3pPr marL="995690" algn="l" defTabSz="995690" rtl="0" eaLnBrk="1" latinLnBrk="0" hangingPunct="1">
              <a:defRPr kumimoji="1" sz="2000" kern="1200">
                <a:solidFill>
                  <a:schemeClr val="tx1"/>
                </a:solidFill>
                <a:latin typeface="+mn-lt"/>
                <a:ea typeface="+mn-ea"/>
                <a:cs typeface="+mn-cs"/>
              </a:defRPr>
            </a:lvl3pPr>
            <a:lvl4pPr marL="1493535" algn="l" defTabSz="995690" rtl="0" eaLnBrk="1" latinLnBrk="0" hangingPunct="1">
              <a:defRPr kumimoji="1" sz="2000" kern="1200">
                <a:solidFill>
                  <a:schemeClr val="tx1"/>
                </a:solidFill>
                <a:latin typeface="+mn-lt"/>
                <a:ea typeface="+mn-ea"/>
                <a:cs typeface="+mn-cs"/>
              </a:defRPr>
            </a:lvl4pPr>
            <a:lvl5pPr marL="1991380" algn="l" defTabSz="995690" rtl="0" eaLnBrk="1" latinLnBrk="0" hangingPunct="1">
              <a:defRPr kumimoji="1" sz="2000" kern="1200">
                <a:solidFill>
                  <a:schemeClr val="tx1"/>
                </a:solidFill>
                <a:latin typeface="+mn-lt"/>
                <a:ea typeface="+mn-ea"/>
                <a:cs typeface="+mn-cs"/>
              </a:defRPr>
            </a:lvl5pPr>
            <a:lvl6pPr marL="2489225" algn="l" defTabSz="995690" rtl="0" eaLnBrk="1" latinLnBrk="0" hangingPunct="1">
              <a:defRPr kumimoji="1" sz="2000" kern="1200">
                <a:solidFill>
                  <a:schemeClr val="tx1"/>
                </a:solidFill>
                <a:latin typeface="+mn-lt"/>
                <a:ea typeface="+mn-ea"/>
                <a:cs typeface="+mn-cs"/>
              </a:defRPr>
            </a:lvl6pPr>
            <a:lvl7pPr marL="2987070" algn="l" defTabSz="995690" rtl="0" eaLnBrk="1" latinLnBrk="0" hangingPunct="1">
              <a:defRPr kumimoji="1" sz="2000" kern="1200">
                <a:solidFill>
                  <a:schemeClr val="tx1"/>
                </a:solidFill>
                <a:latin typeface="+mn-lt"/>
                <a:ea typeface="+mn-ea"/>
                <a:cs typeface="+mn-cs"/>
              </a:defRPr>
            </a:lvl7pPr>
            <a:lvl8pPr marL="3484916" algn="l" defTabSz="995690" rtl="0" eaLnBrk="1" latinLnBrk="0" hangingPunct="1">
              <a:defRPr kumimoji="1" sz="2000" kern="1200">
                <a:solidFill>
                  <a:schemeClr val="tx1"/>
                </a:solidFill>
                <a:latin typeface="+mn-lt"/>
                <a:ea typeface="+mn-ea"/>
                <a:cs typeface="+mn-cs"/>
              </a:defRPr>
            </a:lvl8pPr>
            <a:lvl9pPr marL="3982761" algn="l" defTabSz="995690" rtl="0" eaLnBrk="1" latinLnBrk="0" hangingPunct="1">
              <a:defRPr kumimoji="1" sz="2000" kern="1200">
                <a:solidFill>
                  <a:schemeClr val="tx1"/>
                </a:solidFill>
                <a:latin typeface="+mn-lt"/>
                <a:ea typeface="+mn-ea"/>
                <a:cs typeface="+mn-cs"/>
              </a:defRPr>
            </a:lvl9pPr>
          </a:lstStyle>
          <a:p>
            <a:fld id="{66C50E4F-84EF-44D1-888E-7D075554C033}" type="slidenum">
              <a:rPr lang="ja-JP" altLang="en-US" b="1" smtClean="0">
                <a:solidFill>
                  <a:schemeClr val="bg1"/>
                </a:solidFill>
                <a:latin typeface="Meiryo UI" panose="020B0604030504040204" pitchFamily="50" charset="-128"/>
                <a:ea typeface="Meiryo UI" panose="020B0604030504040204" pitchFamily="50" charset="-128"/>
              </a:rPr>
              <a:pPr/>
              <a:t>‹#›</a:t>
            </a:fld>
            <a:endParaRPr lang="ja-JP" altLang="en-US" b="1" dirty="0">
              <a:solidFill>
                <a:schemeClr val="bg1"/>
              </a:solidFill>
              <a:latin typeface="Meiryo UI" panose="020B0604030504040204" pitchFamily="50" charset="-128"/>
              <a:ea typeface="Meiryo UI" panose="020B0604030504040204" pitchFamily="50" charset="-128"/>
            </a:endParaRPr>
          </a:p>
        </p:txBody>
      </p:sp>
      <p:cxnSp>
        <p:nvCxnSpPr>
          <p:cNvPr id="10" name="直線コネクタ 9"/>
          <p:cNvCxnSpPr/>
          <p:nvPr userDrawn="1"/>
        </p:nvCxnSpPr>
        <p:spPr>
          <a:xfrm>
            <a:off x="0" y="828303"/>
            <a:ext cx="10693400" cy="0"/>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2353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タイトルとコンテンツ">
    <p:spTree>
      <p:nvGrpSpPr>
        <p:cNvPr id="1" name=""/>
        <p:cNvGrpSpPr/>
        <p:nvPr/>
      </p:nvGrpSpPr>
      <p:grpSpPr>
        <a:xfrm>
          <a:off x="0" y="0"/>
          <a:ext cx="0" cy="0"/>
          <a:chOff x="0" y="0"/>
          <a:chExt cx="0" cy="0"/>
        </a:xfrm>
      </p:grpSpPr>
      <p:sp>
        <p:nvSpPr>
          <p:cNvPr id="6" name="フッター プレースホルダー 2"/>
          <p:cNvSpPr txBox="1">
            <a:spLocks/>
          </p:cNvSpPr>
          <p:nvPr userDrawn="1"/>
        </p:nvSpPr>
        <p:spPr>
          <a:xfrm>
            <a:off x="3679116" y="6906827"/>
            <a:ext cx="3386243" cy="402567"/>
          </a:xfrm>
          <a:prstGeom prst="rect">
            <a:avLst/>
          </a:prstGeom>
        </p:spPr>
        <p:txBody>
          <a:bodyPr vert="horz" lIns="99569" tIns="49785" rIns="99569" bIns="49785" rtlCol="0" anchor="ctr"/>
          <a:lstStyle>
            <a:defPPr>
              <a:defRPr lang="ja-JP"/>
            </a:defPPr>
            <a:lvl1pPr marL="0" algn="ctr" defTabSz="995690" rtl="0" eaLnBrk="1" latinLnBrk="0" hangingPunct="1">
              <a:defRPr kumimoji="1" sz="1300" kern="1200">
                <a:solidFill>
                  <a:schemeClr val="tx1">
                    <a:tint val="75000"/>
                  </a:schemeClr>
                </a:solidFill>
                <a:latin typeface="+mn-lt"/>
                <a:ea typeface="+mn-ea"/>
                <a:cs typeface="+mn-cs"/>
              </a:defRPr>
            </a:lvl1pPr>
            <a:lvl2pPr marL="497845" algn="l" defTabSz="995690" rtl="0" eaLnBrk="1" latinLnBrk="0" hangingPunct="1">
              <a:defRPr kumimoji="1" sz="2000" kern="1200">
                <a:solidFill>
                  <a:schemeClr val="tx1"/>
                </a:solidFill>
                <a:latin typeface="+mn-lt"/>
                <a:ea typeface="+mn-ea"/>
                <a:cs typeface="+mn-cs"/>
              </a:defRPr>
            </a:lvl2pPr>
            <a:lvl3pPr marL="995690" algn="l" defTabSz="995690" rtl="0" eaLnBrk="1" latinLnBrk="0" hangingPunct="1">
              <a:defRPr kumimoji="1" sz="2000" kern="1200">
                <a:solidFill>
                  <a:schemeClr val="tx1"/>
                </a:solidFill>
                <a:latin typeface="+mn-lt"/>
                <a:ea typeface="+mn-ea"/>
                <a:cs typeface="+mn-cs"/>
              </a:defRPr>
            </a:lvl3pPr>
            <a:lvl4pPr marL="1493535" algn="l" defTabSz="995690" rtl="0" eaLnBrk="1" latinLnBrk="0" hangingPunct="1">
              <a:defRPr kumimoji="1" sz="2000" kern="1200">
                <a:solidFill>
                  <a:schemeClr val="tx1"/>
                </a:solidFill>
                <a:latin typeface="+mn-lt"/>
                <a:ea typeface="+mn-ea"/>
                <a:cs typeface="+mn-cs"/>
              </a:defRPr>
            </a:lvl4pPr>
            <a:lvl5pPr marL="1991380" algn="l" defTabSz="995690" rtl="0" eaLnBrk="1" latinLnBrk="0" hangingPunct="1">
              <a:defRPr kumimoji="1" sz="2000" kern="1200">
                <a:solidFill>
                  <a:schemeClr val="tx1"/>
                </a:solidFill>
                <a:latin typeface="+mn-lt"/>
                <a:ea typeface="+mn-ea"/>
                <a:cs typeface="+mn-cs"/>
              </a:defRPr>
            </a:lvl5pPr>
            <a:lvl6pPr marL="2489225" algn="l" defTabSz="995690" rtl="0" eaLnBrk="1" latinLnBrk="0" hangingPunct="1">
              <a:defRPr kumimoji="1" sz="2000" kern="1200">
                <a:solidFill>
                  <a:schemeClr val="tx1"/>
                </a:solidFill>
                <a:latin typeface="+mn-lt"/>
                <a:ea typeface="+mn-ea"/>
                <a:cs typeface="+mn-cs"/>
              </a:defRPr>
            </a:lvl6pPr>
            <a:lvl7pPr marL="2987070" algn="l" defTabSz="995690" rtl="0" eaLnBrk="1" latinLnBrk="0" hangingPunct="1">
              <a:defRPr kumimoji="1" sz="2000" kern="1200">
                <a:solidFill>
                  <a:schemeClr val="tx1"/>
                </a:solidFill>
                <a:latin typeface="+mn-lt"/>
                <a:ea typeface="+mn-ea"/>
                <a:cs typeface="+mn-cs"/>
              </a:defRPr>
            </a:lvl7pPr>
            <a:lvl8pPr marL="3484916" algn="l" defTabSz="995690" rtl="0" eaLnBrk="1" latinLnBrk="0" hangingPunct="1">
              <a:defRPr kumimoji="1" sz="2000" kern="1200">
                <a:solidFill>
                  <a:schemeClr val="tx1"/>
                </a:solidFill>
                <a:latin typeface="+mn-lt"/>
                <a:ea typeface="+mn-ea"/>
                <a:cs typeface="+mn-cs"/>
              </a:defRPr>
            </a:lvl8pPr>
            <a:lvl9pPr marL="3982761" algn="l" defTabSz="995690" rtl="0" eaLnBrk="1" latinLnBrk="0" hangingPunct="1">
              <a:defRPr kumimoji="1" sz="2000" kern="1200">
                <a:solidFill>
                  <a:schemeClr val="tx1"/>
                </a:solidFill>
                <a:latin typeface="+mn-lt"/>
                <a:ea typeface="+mn-ea"/>
                <a:cs typeface="+mn-cs"/>
              </a:defRPr>
            </a:lvl9pPr>
          </a:lstStyle>
          <a:p>
            <a:fld id="{66C50E4F-84EF-44D1-888E-7D075554C033}" type="slidenum">
              <a:rPr lang="ja-JP" altLang="en-US" b="1" smtClean="0">
                <a:solidFill>
                  <a:schemeClr val="bg1"/>
                </a:solidFill>
                <a:latin typeface="Meiryo UI" panose="020B0604030504040204" pitchFamily="50" charset="-128"/>
                <a:ea typeface="Meiryo UI" panose="020B0604030504040204" pitchFamily="50" charset="-128"/>
              </a:rPr>
              <a:pPr/>
              <a:t>‹#›</a:t>
            </a:fld>
            <a:endParaRPr lang="ja-JP" altLang="en-US" b="1" dirty="0">
              <a:solidFill>
                <a:schemeClr val="bg1"/>
              </a:solidFill>
              <a:latin typeface="Meiryo UI" panose="020B0604030504040204" pitchFamily="50" charset="-128"/>
              <a:ea typeface="Meiryo UI" panose="020B0604030504040204" pitchFamily="50" charset="-128"/>
            </a:endParaRPr>
          </a:p>
        </p:txBody>
      </p:sp>
      <p:sp>
        <p:nvSpPr>
          <p:cNvPr id="3" name="タイトル 2"/>
          <p:cNvSpPr>
            <a:spLocks noGrp="1"/>
          </p:cNvSpPr>
          <p:nvPr>
            <p:ph type="title" hasCustomPrompt="1"/>
          </p:nvPr>
        </p:nvSpPr>
        <p:spPr>
          <a:xfrm>
            <a:off x="374904" y="61259"/>
            <a:ext cx="10003638" cy="706210"/>
          </a:xfrm>
        </p:spPr>
        <p:txBody>
          <a:bodyPr>
            <a:noAutofit/>
          </a:bodyPr>
          <a:lstStyle>
            <a:lvl1pPr>
              <a:defRPr sz="2800" b="1" i="0"/>
            </a:lvl1pPr>
          </a:lstStyle>
          <a:p>
            <a:r>
              <a:rPr kumimoji="1" lang="en-US" altLang="ja-JP" dirty="0"/>
              <a:t>Title</a:t>
            </a:r>
            <a:endParaRPr kumimoji="1" lang="ja-JP" altLang="en-US" dirty="0"/>
          </a:p>
        </p:txBody>
      </p:sp>
      <p:sp>
        <p:nvSpPr>
          <p:cNvPr id="8" name="フッター プレースホルダー 2"/>
          <p:cNvSpPr txBox="1">
            <a:spLocks/>
          </p:cNvSpPr>
          <p:nvPr userDrawn="1"/>
        </p:nvSpPr>
        <p:spPr>
          <a:xfrm>
            <a:off x="10158578" y="19905"/>
            <a:ext cx="534822" cy="251869"/>
          </a:xfrm>
          <a:prstGeom prst="rect">
            <a:avLst/>
          </a:prstGeom>
          <a:solidFill>
            <a:schemeClr val="tx2">
              <a:lumMod val="75000"/>
            </a:schemeClr>
          </a:solidFill>
        </p:spPr>
        <p:txBody>
          <a:bodyPr vert="horz" lIns="99569" tIns="49785" rIns="99569" bIns="49785" rtlCol="0" anchor="ctr"/>
          <a:lstStyle>
            <a:defPPr>
              <a:defRPr lang="ja-JP"/>
            </a:defPPr>
            <a:lvl1pPr marL="0" algn="ctr" defTabSz="995690" rtl="0" eaLnBrk="1" latinLnBrk="0" hangingPunct="1">
              <a:defRPr kumimoji="1" sz="1300" kern="1200">
                <a:solidFill>
                  <a:schemeClr val="tx1">
                    <a:tint val="75000"/>
                  </a:schemeClr>
                </a:solidFill>
                <a:latin typeface="+mn-lt"/>
                <a:ea typeface="+mn-ea"/>
                <a:cs typeface="+mn-cs"/>
              </a:defRPr>
            </a:lvl1pPr>
            <a:lvl2pPr marL="497845" algn="l" defTabSz="995690" rtl="0" eaLnBrk="1" latinLnBrk="0" hangingPunct="1">
              <a:defRPr kumimoji="1" sz="2000" kern="1200">
                <a:solidFill>
                  <a:schemeClr val="tx1"/>
                </a:solidFill>
                <a:latin typeface="+mn-lt"/>
                <a:ea typeface="+mn-ea"/>
                <a:cs typeface="+mn-cs"/>
              </a:defRPr>
            </a:lvl2pPr>
            <a:lvl3pPr marL="995690" algn="l" defTabSz="995690" rtl="0" eaLnBrk="1" latinLnBrk="0" hangingPunct="1">
              <a:defRPr kumimoji="1" sz="2000" kern="1200">
                <a:solidFill>
                  <a:schemeClr val="tx1"/>
                </a:solidFill>
                <a:latin typeface="+mn-lt"/>
                <a:ea typeface="+mn-ea"/>
                <a:cs typeface="+mn-cs"/>
              </a:defRPr>
            </a:lvl3pPr>
            <a:lvl4pPr marL="1493535" algn="l" defTabSz="995690" rtl="0" eaLnBrk="1" latinLnBrk="0" hangingPunct="1">
              <a:defRPr kumimoji="1" sz="2000" kern="1200">
                <a:solidFill>
                  <a:schemeClr val="tx1"/>
                </a:solidFill>
                <a:latin typeface="+mn-lt"/>
                <a:ea typeface="+mn-ea"/>
                <a:cs typeface="+mn-cs"/>
              </a:defRPr>
            </a:lvl4pPr>
            <a:lvl5pPr marL="1991380" algn="l" defTabSz="995690" rtl="0" eaLnBrk="1" latinLnBrk="0" hangingPunct="1">
              <a:defRPr kumimoji="1" sz="2000" kern="1200">
                <a:solidFill>
                  <a:schemeClr val="tx1"/>
                </a:solidFill>
                <a:latin typeface="+mn-lt"/>
                <a:ea typeface="+mn-ea"/>
                <a:cs typeface="+mn-cs"/>
              </a:defRPr>
            </a:lvl5pPr>
            <a:lvl6pPr marL="2489225" algn="l" defTabSz="995690" rtl="0" eaLnBrk="1" latinLnBrk="0" hangingPunct="1">
              <a:defRPr kumimoji="1" sz="2000" kern="1200">
                <a:solidFill>
                  <a:schemeClr val="tx1"/>
                </a:solidFill>
                <a:latin typeface="+mn-lt"/>
                <a:ea typeface="+mn-ea"/>
                <a:cs typeface="+mn-cs"/>
              </a:defRPr>
            </a:lvl6pPr>
            <a:lvl7pPr marL="2987070" algn="l" defTabSz="995690" rtl="0" eaLnBrk="1" latinLnBrk="0" hangingPunct="1">
              <a:defRPr kumimoji="1" sz="2000" kern="1200">
                <a:solidFill>
                  <a:schemeClr val="tx1"/>
                </a:solidFill>
                <a:latin typeface="+mn-lt"/>
                <a:ea typeface="+mn-ea"/>
                <a:cs typeface="+mn-cs"/>
              </a:defRPr>
            </a:lvl7pPr>
            <a:lvl8pPr marL="3484916" algn="l" defTabSz="995690" rtl="0" eaLnBrk="1" latinLnBrk="0" hangingPunct="1">
              <a:defRPr kumimoji="1" sz="2000" kern="1200">
                <a:solidFill>
                  <a:schemeClr val="tx1"/>
                </a:solidFill>
                <a:latin typeface="+mn-lt"/>
                <a:ea typeface="+mn-ea"/>
                <a:cs typeface="+mn-cs"/>
              </a:defRPr>
            </a:lvl8pPr>
            <a:lvl9pPr marL="3982761" algn="l" defTabSz="995690" rtl="0" eaLnBrk="1" latinLnBrk="0" hangingPunct="1">
              <a:defRPr kumimoji="1" sz="2000" kern="1200">
                <a:solidFill>
                  <a:schemeClr val="tx1"/>
                </a:solidFill>
                <a:latin typeface="+mn-lt"/>
                <a:ea typeface="+mn-ea"/>
                <a:cs typeface="+mn-cs"/>
              </a:defRPr>
            </a:lvl9pPr>
          </a:lstStyle>
          <a:p>
            <a:fld id="{66C50E4F-84EF-44D1-888E-7D075554C033}" type="slidenum">
              <a:rPr lang="ja-JP" altLang="en-US" b="1" smtClean="0">
                <a:solidFill>
                  <a:schemeClr val="bg1"/>
                </a:solidFill>
                <a:latin typeface="Meiryo UI" panose="020B0604030504040204" pitchFamily="50" charset="-128"/>
                <a:ea typeface="Meiryo UI" panose="020B0604030504040204" pitchFamily="50" charset="-128"/>
              </a:rPr>
              <a:pPr/>
              <a:t>‹#›</a:t>
            </a:fld>
            <a:endParaRPr lang="ja-JP" altLang="en-US" b="1" dirty="0">
              <a:solidFill>
                <a:schemeClr val="bg1"/>
              </a:solidFill>
              <a:latin typeface="Meiryo UI" panose="020B0604030504040204" pitchFamily="50" charset="-128"/>
              <a:ea typeface="Meiryo UI" panose="020B0604030504040204" pitchFamily="50" charset="-128"/>
            </a:endParaRPr>
          </a:p>
        </p:txBody>
      </p:sp>
      <p:cxnSp>
        <p:nvCxnSpPr>
          <p:cNvPr id="10" name="直線コネクタ 9"/>
          <p:cNvCxnSpPr/>
          <p:nvPr userDrawn="1"/>
        </p:nvCxnSpPr>
        <p:spPr>
          <a:xfrm>
            <a:off x="0" y="828303"/>
            <a:ext cx="10693400" cy="0"/>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36762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タイトルとコンテンツ">
    <p:bg>
      <p:bgPr>
        <a:solidFill>
          <a:schemeClr val="accent5">
            <a:lumMod val="50000"/>
          </a:schemeClr>
        </a:solidFill>
        <a:effectLst/>
      </p:bgPr>
    </p:bg>
    <p:spTree>
      <p:nvGrpSpPr>
        <p:cNvPr id="1" name=""/>
        <p:cNvGrpSpPr/>
        <p:nvPr/>
      </p:nvGrpSpPr>
      <p:grpSpPr>
        <a:xfrm>
          <a:off x="0" y="0"/>
          <a:ext cx="0" cy="0"/>
          <a:chOff x="0" y="0"/>
          <a:chExt cx="0" cy="0"/>
        </a:xfrm>
      </p:grpSpPr>
      <p:sp>
        <p:nvSpPr>
          <p:cNvPr id="3" name="タイトル 2"/>
          <p:cNvSpPr>
            <a:spLocks noGrp="1"/>
          </p:cNvSpPr>
          <p:nvPr>
            <p:ph type="title" hasCustomPrompt="1"/>
          </p:nvPr>
        </p:nvSpPr>
        <p:spPr>
          <a:xfrm>
            <a:off x="374904" y="3370941"/>
            <a:ext cx="10003638" cy="706210"/>
          </a:xfrm>
        </p:spPr>
        <p:txBody>
          <a:bodyPr>
            <a:noAutofit/>
          </a:bodyPr>
          <a:lstStyle>
            <a:lvl1pPr>
              <a:defRPr sz="3600" i="0">
                <a:solidFill>
                  <a:schemeClr val="bg1"/>
                </a:solidFill>
              </a:defRPr>
            </a:lvl1pPr>
          </a:lstStyle>
          <a:p>
            <a:r>
              <a:rPr kumimoji="1" lang="en-US" altLang="ja-JP" dirty="0"/>
              <a:t>Title</a:t>
            </a:r>
            <a:endParaRPr kumimoji="1" lang="ja-JP" altLang="en-US" dirty="0"/>
          </a:p>
        </p:txBody>
      </p:sp>
      <p:sp>
        <p:nvSpPr>
          <p:cNvPr id="8" name="フッター プレースホルダー 2"/>
          <p:cNvSpPr txBox="1">
            <a:spLocks/>
          </p:cNvSpPr>
          <p:nvPr userDrawn="1"/>
        </p:nvSpPr>
        <p:spPr>
          <a:xfrm>
            <a:off x="10158578" y="19905"/>
            <a:ext cx="534822" cy="251869"/>
          </a:xfrm>
          <a:prstGeom prst="rect">
            <a:avLst/>
          </a:prstGeom>
          <a:solidFill>
            <a:schemeClr val="tx2">
              <a:lumMod val="75000"/>
            </a:schemeClr>
          </a:solidFill>
        </p:spPr>
        <p:txBody>
          <a:bodyPr vert="horz" lIns="99569" tIns="49785" rIns="99569" bIns="49785" rtlCol="0" anchor="ctr"/>
          <a:lstStyle>
            <a:defPPr>
              <a:defRPr lang="ja-JP"/>
            </a:defPPr>
            <a:lvl1pPr marL="0" algn="ctr" defTabSz="995690" rtl="0" eaLnBrk="1" latinLnBrk="0" hangingPunct="1">
              <a:defRPr kumimoji="1" sz="1300" kern="1200">
                <a:solidFill>
                  <a:schemeClr val="tx1">
                    <a:tint val="75000"/>
                  </a:schemeClr>
                </a:solidFill>
                <a:latin typeface="+mn-lt"/>
                <a:ea typeface="+mn-ea"/>
                <a:cs typeface="+mn-cs"/>
              </a:defRPr>
            </a:lvl1pPr>
            <a:lvl2pPr marL="497845" algn="l" defTabSz="995690" rtl="0" eaLnBrk="1" latinLnBrk="0" hangingPunct="1">
              <a:defRPr kumimoji="1" sz="2000" kern="1200">
                <a:solidFill>
                  <a:schemeClr val="tx1"/>
                </a:solidFill>
                <a:latin typeface="+mn-lt"/>
                <a:ea typeface="+mn-ea"/>
                <a:cs typeface="+mn-cs"/>
              </a:defRPr>
            </a:lvl2pPr>
            <a:lvl3pPr marL="995690" algn="l" defTabSz="995690" rtl="0" eaLnBrk="1" latinLnBrk="0" hangingPunct="1">
              <a:defRPr kumimoji="1" sz="2000" kern="1200">
                <a:solidFill>
                  <a:schemeClr val="tx1"/>
                </a:solidFill>
                <a:latin typeface="+mn-lt"/>
                <a:ea typeface="+mn-ea"/>
                <a:cs typeface="+mn-cs"/>
              </a:defRPr>
            </a:lvl3pPr>
            <a:lvl4pPr marL="1493535" algn="l" defTabSz="995690" rtl="0" eaLnBrk="1" latinLnBrk="0" hangingPunct="1">
              <a:defRPr kumimoji="1" sz="2000" kern="1200">
                <a:solidFill>
                  <a:schemeClr val="tx1"/>
                </a:solidFill>
                <a:latin typeface="+mn-lt"/>
                <a:ea typeface="+mn-ea"/>
                <a:cs typeface="+mn-cs"/>
              </a:defRPr>
            </a:lvl4pPr>
            <a:lvl5pPr marL="1991380" algn="l" defTabSz="995690" rtl="0" eaLnBrk="1" latinLnBrk="0" hangingPunct="1">
              <a:defRPr kumimoji="1" sz="2000" kern="1200">
                <a:solidFill>
                  <a:schemeClr val="tx1"/>
                </a:solidFill>
                <a:latin typeface="+mn-lt"/>
                <a:ea typeface="+mn-ea"/>
                <a:cs typeface="+mn-cs"/>
              </a:defRPr>
            </a:lvl5pPr>
            <a:lvl6pPr marL="2489225" algn="l" defTabSz="995690" rtl="0" eaLnBrk="1" latinLnBrk="0" hangingPunct="1">
              <a:defRPr kumimoji="1" sz="2000" kern="1200">
                <a:solidFill>
                  <a:schemeClr val="tx1"/>
                </a:solidFill>
                <a:latin typeface="+mn-lt"/>
                <a:ea typeface="+mn-ea"/>
                <a:cs typeface="+mn-cs"/>
              </a:defRPr>
            </a:lvl6pPr>
            <a:lvl7pPr marL="2987070" algn="l" defTabSz="995690" rtl="0" eaLnBrk="1" latinLnBrk="0" hangingPunct="1">
              <a:defRPr kumimoji="1" sz="2000" kern="1200">
                <a:solidFill>
                  <a:schemeClr val="tx1"/>
                </a:solidFill>
                <a:latin typeface="+mn-lt"/>
                <a:ea typeface="+mn-ea"/>
                <a:cs typeface="+mn-cs"/>
              </a:defRPr>
            </a:lvl7pPr>
            <a:lvl8pPr marL="3484916" algn="l" defTabSz="995690" rtl="0" eaLnBrk="1" latinLnBrk="0" hangingPunct="1">
              <a:defRPr kumimoji="1" sz="2000" kern="1200">
                <a:solidFill>
                  <a:schemeClr val="tx1"/>
                </a:solidFill>
                <a:latin typeface="+mn-lt"/>
                <a:ea typeface="+mn-ea"/>
                <a:cs typeface="+mn-cs"/>
              </a:defRPr>
            </a:lvl8pPr>
            <a:lvl9pPr marL="3982761" algn="l" defTabSz="995690" rtl="0" eaLnBrk="1" latinLnBrk="0" hangingPunct="1">
              <a:defRPr kumimoji="1" sz="2000" kern="1200">
                <a:solidFill>
                  <a:schemeClr val="tx1"/>
                </a:solidFill>
                <a:latin typeface="+mn-lt"/>
                <a:ea typeface="+mn-ea"/>
                <a:cs typeface="+mn-cs"/>
              </a:defRPr>
            </a:lvl9pPr>
          </a:lstStyle>
          <a:p>
            <a:fld id="{66C50E4F-84EF-44D1-888E-7D075554C033}" type="slidenum">
              <a:rPr lang="ja-JP" altLang="en-US" b="1" smtClean="0">
                <a:solidFill>
                  <a:schemeClr val="bg1"/>
                </a:solidFill>
                <a:latin typeface="Meiryo UI" panose="020B0604030504040204" pitchFamily="50" charset="-128"/>
                <a:ea typeface="Meiryo UI" panose="020B0604030504040204" pitchFamily="50" charset="-128"/>
              </a:rPr>
              <a:pPr/>
              <a:t>‹#›</a:t>
            </a:fld>
            <a:endParaRPr lang="ja-JP" altLang="en-US" b="1" dirty="0">
              <a:solidFill>
                <a:schemeClr val="bg1"/>
              </a:solidFill>
              <a:latin typeface="Meiryo UI" panose="020B0604030504040204" pitchFamily="50" charset="-128"/>
              <a:ea typeface="Meiryo UI" panose="020B0604030504040204" pitchFamily="50" charset="-128"/>
            </a:endParaRPr>
          </a:p>
        </p:txBody>
      </p:sp>
      <p:cxnSp>
        <p:nvCxnSpPr>
          <p:cNvPr id="10" name="直線コネクタ 9"/>
          <p:cNvCxnSpPr/>
          <p:nvPr userDrawn="1"/>
        </p:nvCxnSpPr>
        <p:spPr>
          <a:xfrm>
            <a:off x="0" y="4111222"/>
            <a:ext cx="10693400" cy="0"/>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64111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307649" y="209373"/>
            <a:ext cx="10066945" cy="495656"/>
          </a:xfrm>
          <a:prstGeom prst="rect">
            <a:avLst/>
          </a:prstGeom>
        </p:spPr>
        <p:txBody>
          <a:bodyPr vert="horz" lIns="91440" tIns="45720" rIns="91440" bIns="45720" rtlCol="0" anchor="ctr">
            <a:noAutofit/>
          </a:bodyPr>
          <a:lstStyle/>
          <a:p>
            <a:r>
              <a:rPr kumimoji="1" lang="ja-JP" altLang="en-US" dirty="0"/>
              <a:t>マスター タイトルの書式設定</a:t>
            </a:r>
          </a:p>
        </p:txBody>
      </p:sp>
      <p:sp>
        <p:nvSpPr>
          <p:cNvPr id="3" name="テキスト プレースホルダー 2"/>
          <p:cNvSpPr>
            <a:spLocks noGrp="1"/>
          </p:cNvSpPr>
          <p:nvPr>
            <p:ph type="body" idx="1"/>
          </p:nvPr>
        </p:nvSpPr>
        <p:spPr>
          <a:xfrm>
            <a:off x="307649" y="914400"/>
            <a:ext cx="10066945" cy="6413619"/>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6" name="スライド番号プレースホルダー 5"/>
          <p:cNvSpPr>
            <a:spLocks noGrp="1"/>
          </p:cNvSpPr>
          <p:nvPr>
            <p:ph type="sldNum" sz="quarter" idx="4"/>
          </p:nvPr>
        </p:nvSpPr>
        <p:spPr>
          <a:xfrm>
            <a:off x="10216571" y="7159626"/>
            <a:ext cx="476829" cy="401637"/>
          </a:xfrm>
          <a:prstGeom prst="rect">
            <a:avLst/>
          </a:prstGeom>
          <a:solidFill>
            <a:schemeClr val="tx2"/>
          </a:solidFill>
        </p:spPr>
        <p:txBody>
          <a:bodyPr vert="horz" lIns="91440" tIns="45720" rIns="91440" bIns="45720" rtlCol="0" anchor="ctr"/>
          <a:lstStyle>
            <a:lvl1pPr algn="r">
              <a:defRPr sz="1200">
                <a:solidFill>
                  <a:schemeClr val="bg1"/>
                </a:solidFill>
              </a:defRPr>
            </a:lvl1pPr>
          </a:lstStyle>
          <a:p>
            <a:fld id="{0396CD73-C967-4D9B-839B-6A46B6359B27}" type="slidenum">
              <a:rPr kumimoji="1" lang="ja-JP" altLang="en-US" smtClean="0"/>
              <a:pPr/>
              <a:t>‹#›</a:t>
            </a:fld>
            <a:endParaRPr kumimoji="1" lang="ja-JP" altLang="en-US"/>
          </a:p>
        </p:txBody>
      </p:sp>
    </p:spTree>
    <p:extLst>
      <p:ext uri="{BB962C8B-B14F-4D97-AF65-F5344CB8AC3E}">
        <p14:creationId xmlns:p14="http://schemas.microsoft.com/office/powerpoint/2010/main" val="3644967794"/>
      </p:ext>
    </p:extLst>
  </p:cSld>
  <p:clrMap bg1="lt1" tx1="dk1" bg2="lt2" tx2="dk2" accent1="accent1" accent2="accent2" accent3="accent3" accent4="accent4" accent5="accent5" accent6="accent6" hlink="hlink" folHlink="folHlink"/>
  <p:sldLayoutIdLst>
    <p:sldLayoutId id="2147483653" r:id="rId1"/>
    <p:sldLayoutId id="2147483657" r:id="rId2"/>
    <p:sldLayoutId id="2147483658" r:id="rId3"/>
    <p:sldLayoutId id="2147483659" r:id="rId4"/>
  </p:sldLayoutIdLst>
  <p:hf hdr="0" ftr="0" dt="0"/>
  <p:txStyles>
    <p:titleStyle>
      <a:lvl1pPr algn="l" defTabSz="914400" rtl="0" eaLnBrk="1" latinLnBrk="0" hangingPunct="1">
        <a:lnSpc>
          <a:spcPct val="90000"/>
        </a:lnSpc>
        <a:spcBef>
          <a:spcPct val="0"/>
        </a:spcBef>
        <a:buNone/>
        <a:defRPr kumimoji="1"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n"/>
        <a:defRPr kumimoji="1"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n"/>
        <a:defRPr kumimoji="1"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n"/>
        <a:defRPr kumimoji="1"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n"/>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n"/>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jp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41.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3.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image" Target="../media/image23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package" Target="../embeddings/Microsoft_Excel_Worksheet1.xlsx"/><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0.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261256" y="1238250"/>
            <a:ext cx="10303329" cy="2632075"/>
          </a:xfrm>
        </p:spPr>
        <p:txBody>
          <a:bodyPr>
            <a:normAutofit/>
          </a:bodyPr>
          <a:lstStyle/>
          <a:p>
            <a:r>
              <a:rPr lang="ja-JP" altLang="en-US" dirty="0"/>
              <a:t>電力系統における</a:t>
            </a:r>
            <a:r>
              <a:rPr lang="en-US" altLang="ja-JP" dirty="0"/>
              <a:t>Sobol</a:t>
            </a:r>
            <a:r>
              <a:rPr lang="ja-JP" altLang="en-US" dirty="0"/>
              <a:t>感度分析</a:t>
            </a:r>
            <a:br>
              <a:rPr lang="en-US" altLang="ja-JP" dirty="0"/>
            </a:br>
            <a:br>
              <a:rPr lang="en-US" altLang="ja-JP" dirty="0"/>
            </a:br>
            <a:r>
              <a:rPr lang="en-US" altLang="ja-JP" dirty="0"/>
              <a:t>~LHS</a:t>
            </a:r>
            <a:r>
              <a:rPr lang="ja-JP" altLang="en-US" dirty="0"/>
              <a:t>サンプリング、</a:t>
            </a:r>
            <a:r>
              <a:rPr lang="en-US" altLang="ja-JP" dirty="0"/>
              <a:t>PCE</a:t>
            </a:r>
            <a:r>
              <a:rPr lang="ja-JP" altLang="en-US" dirty="0"/>
              <a:t>サロゲートモデル、</a:t>
            </a:r>
            <a:br>
              <a:rPr lang="en-US" altLang="ja-JP" dirty="0"/>
            </a:br>
            <a:r>
              <a:rPr lang="en-US" altLang="ja-JP" dirty="0"/>
              <a:t>Sobol</a:t>
            </a:r>
            <a:r>
              <a:rPr lang="ja-JP" altLang="en-US" dirty="0"/>
              <a:t>感度分析の検証</a:t>
            </a:r>
            <a:r>
              <a:rPr lang="en-US" altLang="ja-JP" dirty="0"/>
              <a:t>~</a:t>
            </a:r>
            <a:endParaRPr lang="ja-JP" altLang="en-US" dirty="0"/>
          </a:p>
        </p:txBody>
      </p:sp>
      <p:sp>
        <p:nvSpPr>
          <p:cNvPr id="3" name="サブタイトル 2"/>
          <p:cNvSpPr>
            <a:spLocks noGrp="1"/>
          </p:cNvSpPr>
          <p:nvPr>
            <p:ph type="subTitle" idx="1"/>
          </p:nvPr>
        </p:nvSpPr>
        <p:spPr>
          <a:xfrm>
            <a:off x="1336675" y="5334000"/>
            <a:ext cx="8020050" cy="1825625"/>
          </a:xfrm>
        </p:spPr>
        <p:txBody>
          <a:bodyPr>
            <a:normAutofit/>
          </a:bodyPr>
          <a:lstStyle/>
          <a:p>
            <a:r>
              <a:rPr lang="ja-JP" altLang="en-US" dirty="0"/>
              <a:t>柳瀬　崇</a:t>
            </a:r>
            <a:endParaRPr lang="en-US" altLang="ja-JP" dirty="0"/>
          </a:p>
          <a:p>
            <a:r>
              <a:rPr lang="en-US" altLang="ja-JP" dirty="0"/>
              <a:t>2026</a:t>
            </a:r>
            <a:r>
              <a:rPr lang="ja-JP" altLang="en-US" dirty="0"/>
              <a:t>年</a:t>
            </a:r>
            <a:r>
              <a:rPr lang="en-US" altLang="ja-JP" dirty="0"/>
              <a:t>9</a:t>
            </a:r>
            <a:r>
              <a:rPr lang="ja-JP" altLang="en-US" dirty="0"/>
              <a:t>月</a:t>
            </a:r>
            <a:r>
              <a:rPr lang="en-US" altLang="ja-JP" dirty="0"/>
              <a:t>18</a:t>
            </a:r>
            <a:r>
              <a:rPr lang="ja-JP" altLang="en-US" dirty="0"/>
              <a:t>日</a:t>
            </a:r>
            <a:endParaRPr lang="en-US" altLang="ja-JP" dirty="0"/>
          </a:p>
        </p:txBody>
      </p:sp>
      <p:sp>
        <p:nvSpPr>
          <p:cNvPr id="4" name="スライド番号プレースホルダー 3"/>
          <p:cNvSpPr>
            <a:spLocks noGrp="1"/>
          </p:cNvSpPr>
          <p:nvPr>
            <p:ph type="sldNum" sz="quarter" idx="10"/>
          </p:nvPr>
        </p:nvSpPr>
        <p:spPr>
          <a:xfrm>
            <a:off x="10216571" y="7159626"/>
            <a:ext cx="476829" cy="401637"/>
          </a:xfrm>
        </p:spPr>
        <p:txBody>
          <a:bodyPr/>
          <a:lstStyle/>
          <a:p>
            <a:fld id="{0396CD73-C967-4D9B-839B-6A46B6359B27}" type="slidenum">
              <a:rPr lang="ja-JP" altLang="en-US" smtClean="0"/>
              <a:pPr/>
              <a:t>1</a:t>
            </a:fld>
            <a:endParaRPr lang="ja-JP" altLang="en-US"/>
          </a:p>
        </p:txBody>
      </p:sp>
    </p:spTree>
    <p:extLst>
      <p:ext uri="{BB962C8B-B14F-4D97-AF65-F5344CB8AC3E}">
        <p14:creationId xmlns:p14="http://schemas.microsoft.com/office/powerpoint/2010/main" val="8739501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E161E-65E1-A72F-0818-4676F3AB34E5}"/>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F802DA47-3CFB-5555-A8CD-F53394B1E0DC}"/>
              </a:ext>
            </a:extLst>
          </p:cNvPr>
          <p:cNvSpPr>
            <a:spLocks noGrp="1"/>
          </p:cNvSpPr>
          <p:nvPr>
            <p:ph type="title"/>
          </p:nvPr>
        </p:nvSpPr>
        <p:spPr/>
        <p:txBody>
          <a:bodyPr/>
          <a:lstStyle/>
          <a:p>
            <a:r>
              <a:rPr lang="ja-JP" altLang="en-US" dirty="0"/>
              <a:t>背景と目的</a:t>
            </a:r>
          </a:p>
        </p:txBody>
      </p:sp>
    </p:spTree>
    <p:extLst>
      <p:ext uri="{BB962C8B-B14F-4D97-AF65-F5344CB8AC3E}">
        <p14:creationId xmlns:p14="http://schemas.microsoft.com/office/powerpoint/2010/main" val="2012041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4EE5A20-FEC7-84B4-ED4A-2E998BD4B7A4}"/>
              </a:ext>
            </a:extLst>
          </p:cNvPr>
          <p:cNvSpPr>
            <a:spLocks noGrp="1"/>
          </p:cNvSpPr>
          <p:nvPr>
            <p:ph type="title"/>
          </p:nvPr>
        </p:nvSpPr>
        <p:spPr/>
        <p:txBody>
          <a:bodyPr/>
          <a:lstStyle/>
          <a:p>
            <a:r>
              <a:rPr lang="ja-JP" altLang="en-US" dirty="0"/>
              <a:t>容量拡張計画における不確実性の課題</a:t>
            </a:r>
            <a:endParaRPr kumimoji="1" lang="ja-JP" altLang="en-US" dirty="0"/>
          </a:p>
        </p:txBody>
      </p:sp>
      <p:sp>
        <p:nvSpPr>
          <p:cNvPr id="3" name="テキスト プレースホルダー 2">
            <a:extLst>
              <a:ext uri="{FF2B5EF4-FFF2-40B4-BE49-F238E27FC236}">
                <a16:creationId xmlns:a16="http://schemas.microsoft.com/office/drawing/2014/main" id="{90A8C274-EEA2-F1A3-AC5B-B125B0C0E90E}"/>
              </a:ext>
            </a:extLst>
          </p:cNvPr>
          <p:cNvSpPr>
            <a:spLocks noGrp="1"/>
          </p:cNvSpPr>
          <p:nvPr>
            <p:ph type="body" sz="quarter" idx="12"/>
          </p:nvPr>
        </p:nvSpPr>
        <p:spPr/>
        <p:txBody>
          <a:bodyPr/>
          <a:lstStyle/>
          <a:p>
            <a:r>
              <a:rPr kumimoji="1" lang="ja-JP" altLang="en-US" dirty="0"/>
              <a:t>決定論的最適化（</a:t>
            </a:r>
            <a:r>
              <a:rPr kumimoji="1" lang="en-US" altLang="ja-JP" dirty="0"/>
              <a:t>Deterministic</a:t>
            </a:r>
            <a:r>
              <a:rPr kumimoji="1" lang="ja-JP" altLang="en-US" dirty="0"/>
              <a:t> </a:t>
            </a:r>
            <a:r>
              <a:rPr kumimoji="1" lang="en-US" altLang="ja-JP" dirty="0"/>
              <a:t>Optimization)</a:t>
            </a:r>
          </a:p>
          <a:p>
            <a:pPr lvl="1"/>
            <a:r>
              <a:rPr lang="ja-JP" altLang="en-US" dirty="0"/>
              <a:t>特定の前提条件（１点）に依存する。⇒前提条件によって、結論が大きく変わる。</a:t>
            </a:r>
            <a:endParaRPr lang="en-US" altLang="ja-JP" dirty="0"/>
          </a:p>
          <a:p>
            <a:pPr lvl="1"/>
            <a:r>
              <a:rPr lang="ja-JP" altLang="en-US" dirty="0"/>
              <a:t>感度分析も少数のパラメータを独立に変化させるのみである。</a:t>
            </a:r>
            <a:endParaRPr lang="en-US" altLang="ja-JP" dirty="0"/>
          </a:p>
          <a:p>
            <a:pPr lvl="1"/>
            <a:endParaRPr lang="en-US" altLang="ja-JP" dirty="0"/>
          </a:p>
          <a:p>
            <a:pPr lvl="1"/>
            <a:endParaRPr lang="en-US" altLang="ja-JP" dirty="0"/>
          </a:p>
          <a:p>
            <a:pPr lvl="1"/>
            <a:endParaRPr lang="en-US" altLang="ja-JP" dirty="0"/>
          </a:p>
          <a:p>
            <a:r>
              <a:rPr kumimoji="1" lang="ja-JP" altLang="en-US" dirty="0"/>
              <a:t>グローバル感度分析（</a:t>
            </a:r>
            <a:r>
              <a:rPr kumimoji="1" lang="en-US" altLang="ja-JP" dirty="0"/>
              <a:t>Global</a:t>
            </a:r>
            <a:r>
              <a:rPr kumimoji="1" lang="ja-JP" altLang="en-US" dirty="0"/>
              <a:t> </a:t>
            </a:r>
            <a:r>
              <a:rPr kumimoji="1" lang="en-US" altLang="ja-JP" dirty="0"/>
              <a:t>Sensitivity</a:t>
            </a:r>
            <a:r>
              <a:rPr kumimoji="1" lang="ja-JP" altLang="en-US" dirty="0"/>
              <a:t> </a:t>
            </a:r>
            <a:r>
              <a:rPr kumimoji="1" lang="en-US" altLang="ja-JP" dirty="0"/>
              <a:t>Analysis:</a:t>
            </a:r>
            <a:r>
              <a:rPr kumimoji="1" lang="ja-JP" altLang="en-US" dirty="0"/>
              <a:t> </a:t>
            </a:r>
            <a:r>
              <a:rPr kumimoji="1" lang="en-US" altLang="ja-JP" dirty="0"/>
              <a:t>GSA)</a:t>
            </a:r>
          </a:p>
          <a:p>
            <a:pPr lvl="1"/>
            <a:r>
              <a:rPr lang="ja-JP" altLang="en-US" dirty="0"/>
              <a:t>多数のパラメータ空間全体をマッピングし、不確実性がシステム構成と総コストにどう影響するかを定量化</a:t>
            </a:r>
            <a:endParaRPr lang="en-US" altLang="ja-JP" dirty="0"/>
          </a:p>
          <a:p>
            <a:pPr lvl="1"/>
            <a:r>
              <a:rPr kumimoji="1" lang="ja-JP" altLang="en-US" dirty="0"/>
              <a:t>コスト変動に対するシステムのロバスト性と技術間の隠れた相互作用を可視化。</a:t>
            </a:r>
            <a:endParaRPr lang="en-US" altLang="ja-JP" dirty="0"/>
          </a:p>
          <a:p>
            <a:pPr lvl="1"/>
            <a:endParaRPr kumimoji="1" lang="en-US" altLang="ja-JP" dirty="0"/>
          </a:p>
          <a:p>
            <a:r>
              <a:rPr lang="ja-JP" altLang="en-US" dirty="0"/>
              <a:t>帯域別のリソースの割当</a:t>
            </a:r>
            <a:endParaRPr lang="en-US" altLang="ja-JP" dirty="0"/>
          </a:p>
          <a:p>
            <a:pPr lvl="1"/>
            <a:r>
              <a:rPr lang="ja-JP" altLang="ja-JP" dirty="0"/>
              <a:t>従来の容量拡張計画は、各電源の総容量を示すだけで、どの時間スケールの変動をどの資源が吸収しているのかは示さない。</a:t>
            </a:r>
            <a:endParaRPr lang="en-US" altLang="ja-JP" dirty="0"/>
          </a:p>
          <a:p>
            <a:pPr lvl="1"/>
            <a:r>
              <a:rPr lang="ja-JP" altLang="ja-JP" dirty="0"/>
              <a:t>正味需要をMODWTで日次帯、Dunkelflaute帯、季節帯に分解し、帯域ごとの資源の割当と、そのコスト不確実性に対する感度を評価</a:t>
            </a:r>
          </a:p>
        </p:txBody>
      </p:sp>
      <p:sp>
        <p:nvSpPr>
          <p:cNvPr id="4" name="矢印: 下 3">
            <a:extLst>
              <a:ext uri="{FF2B5EF4-FFF2-40B4-BE49-F238E27FC236}">
                <a16:creationId xmlns:a16="http://schemas.microsoft.com/office/drawing/2014/main" id="{D8AAA942-D9F7-6723-E2C2-D4A08A494265}"/>
              </a:ext>
            </a:extLst>
          </p:cNvPr>
          <p:cNvSpPr/>
          <p:nvPr/>
        </p:nvSpPr>
        <p:spPr>
          <a:xfrm>
            <a:off x="4198936" y="2083618"/>
            <a:ext cx="2355574" cy="56653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9569453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E161E-65E1-A72F-0818-4676F3AB34E5}"/>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F802DA47-3CFB-5555-A8CD-F53394B1E0DC}"/>
              </a:ext>
            </a:extLst>
          </p:cNvPr>
          <p:cNvSpPr>
            <a:spLocks noGrp="1"/>
          </p:cNvSpPr>
          <p:nvPr>
            <p:ph type="title"/>
          </p:nvPr>
        </p:nvSpPr>
        <p:spPr>
          <a:xfrm>
            <a:off x="374904" y="3151866"/>
            <a:ext cx="10003638" cy="706210"/>
          </a:xfrm>
        </p:spPr>
        <p:txBody>
          <a:bodyPr/>
          <a:lstStyle/>
          <a:p>
            <a:r>
              <a:rPr lang="en-US" altLang="ja-JP" dirty="0"/>
              <a:t>LHS</a:t>
            </a:r>
            <a:r>
              <a:rPr lang="ja-JP" altLang="en-US" dirty="0"/>
              <a:t>サンプリング、</a:t>
            </a:r>
            <a:r>
              <a:rPr lang="en-US" altLang="ja-JP" dirty="0"/>
              <a:t>PCE</a:t>
            </a:r>
            <a:r>
              <a:rPr lang="ja-JP" altLang="en-US" dirty="0"/>
              <a:t>サロゲートモデル、</a:t>
            </a:r>
            <a:br>
              <a:rPr lang="en-US" altLang="ja-JP" dirty="0"/>
            </a:br>
            <a:r>
              <a:rPr lang="en-US" altLang="ja-JP" dirty="0"/>
              <a:t>Sobol</a:t>
            </a:r>
            <a:r>
              <a:rPr lang="ja-JP" altLang="en-US" dirty="0"/>
              <a:t>感度分析の検証用モデル</a:t>
            </a:r>
          </a:p>
        </p:txBody>
      </p:sp>
    </p:spTree>
    <p:extLst>
      <p:ext uri="{BB962C8B-B14F-4D97-AF65-F5344CB8AC3E}">
        <p14:creationId xmlns:p14="http://schemas.microsoft.com/office/powerpoint/2010/main" val="26445686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18C23-C9DC-8788-74FD-7603EE457D5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913A592-D2CF-AC33-DF91-5D60C01B4B84}"/>
              </a:ext>
            </a:extLst>
          </p:cNvPr>
          <p:cNvSpPr>
            <a:spLocks noGrp="1"/>
          </p:cNvSpPr>
          <p:nvPr>
            <p:ph type="title"/>
          </p:nvPr>
        </p:nvSpPr>
        <p:spPr/>
        <p:txBody>
          <a:bodyPr/>
          <a:lstStyle/>
          <a:p>
            <a:r>
              <a:rPr kumimoji="1" lang="ja-JP" altLang="en-US" dirty="0"/>
              <a:t>実験用のサンプルモデル</a:t>
            </a:r>
          </a:p>
        </p:txBody>
      </p:sp>
      <p:sp>
        <p:nvSpPr>
          <p:cNvPr id="3" name="テキスト プレースホルダー 2">
            <a:extLst>
              <a:ext uri="{FF2B5EF4-FFF2-40B4-BE49-F238E27FC236}">
                <a16:creationId xmlns:a16="http://schemas.microsoft.com/office/drawing/2014/main" id="{6675B5E8-0745-6B9A-345F-66874A5B43A0}"/>
              </a:ext>
            </a:extLst>
          </p:cNvPr>
          <p:cNvSpPr>
            <a:spLocks noGrp="1"/>
          </p:cNvSpPr>
          <p:nvPr>
            <p:ph type="body" sz="quarter" idx="12"/>
          </p:nvPr>
        </p:nvSpPr>
        <p:spPr>
          <a:xfrm>
            <a:off x="374650" y="949973"/>
            <a:ext cx="10004425" cy="6550031"/>
          </a:xfrm>
        </p:spPr>
        <p:txBody>
          <a:bodyPr>
            <a:normAutofit/>
          </a:bodyPr>
          <a:lstStyle/>
          <a:p>
            <a:r>
              <a:rPr kumimoji="1" lang="ja-JP" altLang="en-US" dirty="0"/>
              <a:t>計算手法の確認のための結果の解釈が容易な島嶼マイクログリッドモデルを試験用モデルとした。</a:t>
            </a:r>
            <a:endParaRPr kumimoji="1" lang="en-US" altLang="ja-JP" dirty="0"/>
          </a:p>
          <a:p>
            <a:r>
              <a:rPr lang="ja-JP" altLang="en-US" dirty="0"/>
              <a:t>モデルとしてタイ・パヤム島を設定⇒気候データ、需要データはこの島を想定</a:t>
            </a:r>
            <a:endParaRPr lang="en-US" altLang="ja-JP" dirty="0"/>
          </a:p>
          <a:p>
            <a:r>
              <a:rPr lang="ja-JP" altLang="en-US" dirty="0"/>
              <a:t>データソースとして、タイ南部の島</a:t>
            </a:r>
            <a:r>
              <a:rPr lang="en-US" altLang="ja-JP" dirty="0"/>
              <a:t>Payam</a:t>
            </a:r>
            <a:r>
              <a:rPr lang="ja-JP" altLang="en-US" dirty="0"/>
              <a:t>島の気象実データを適用した。</a:t>
            </a:r>
            <a:r>
              <a:rPr lang="en-US" altLang="ja-JP" dirty="0"/>
              <a:t>8760</a:t>
            </a:r>
            <a:r>
              <a:rPr lang="ja-JP" altLang="en-US" dirty="0"/>
              <a:t>時間の需要データは入手できなかったため、</a:t>
            </a:r>
            <a:r>
              <a:rPr lang="en-US" altLang="ja-JP" dirty="0"/>
              <a:t>Payam</a:t>
            </a:r>
            <a:r>
              <a:rPr lang="ja-JP" altLang="en-US" dirty="0"/>
              <a:t>島の最大電力、年間需要に合わせて、入手可能なタイ南部の一般的な</a:t>
            </a:r>
            <a:r>
              <a:rPr lang="en-US" altLang="ja-JP" dirty="0"/>
              <a:t>8,760</a:t>
            </a:r>
            <a:r>
              <a:rPr lang="ja-JP" altLang="en-US" dirty="0"/>
              <a:t>時間の需要データから生成した。</a:t>
            </a:r>
            <a:endParaRPr kumimoji="1" lang="en-US" altLang="ja-JP" dirty="0"/>
          </a:p>
          <a:p>
            <a:r>
              <a:rPr lang="ja-JP" altLang="en-US" dirty="0"/>
              <a:t>モデルの基本構造</a:t>
            </a:r>
            <a:endParaRPr lang="en-US" altLang="ja-JP" dirty="0"/>
          </a:p>
          <a:p>
            <a:pPr lvl="1"/>
            <a:r>
              <a:rPr lang="ja-JP" altLang="en-US" dirty="0"/>
              <a:t>単一ノード</a:t>
            </a:r>
            <a:endParaRPr lang="en-US" altLang="ja-JP" dirty="0"/>
          </a:p>
          <a:p>
            <a:pPr lvl="1"/>
            <a:r>
              <a:rPr lang="ja-JP" altLang="en-US" dirty="0"/>
              <a:t>需要プロファイル　合成年間需要データ　ピーク</a:t>
            </a:r>
            <a:r>
              <a:rPr lang="en-US" altLang="ja-JP" dirty="0"/>
              <a:t>150kW</a:t>
            </a:r>
          </a:p>
          <a:p>
            <a:pPr lvl="1"/>
            <a:r>
              <a:rPr lang="ja-JP" altLang="en-US" dirty="0"/>
              <a:t>時間解像度　</a:t>
            </a:r>
            <a:r>
              <a:rPr lang="en-US" altLang="ja-JP" dirty="0"/>
              <a:t>8760</a:t>
            </a:r>
            <a:r>
              <a:rPr lang="ja-JP" altLang="en-US" dirty="0"/>
              <a:t>時間</a:t>
            </a:r>
            <a:endParaRPr lang="en-US" altLang="ja-JP" dirty="0"/>
          </a:p>
          <a:p>
            <a:pPr lvl="1"/>
            <a:r>
              <a:rPr lang="ja-JP" altLang="en-US" dirty="0"/>
              <a:t>最適化手法</a:t>
            </a:r>
            <a:r>
              <a:rPr lang="en-US" altLang="ja-JP" dirty="0"/>
              <a:t>:</a:t>
            </a:r>
            <a:r>
              <a:rPr lang="ja-JP" altLang="en-US" dirty="0"/>
              <a:t>容量拡張線形計画法（年間総システムコスト（</a:t>
            </a:r>
            <a:r>
              <a:rPr lang="en-US" altLang="ja-JP" dirty="0"/>
              <a:t>CAPEX+OPEX</a:t>
            </a:r>
            <a:r>
              <a:rPr lang="ja-JP" altLang="en-US" dirty="0"/>
              <a:t>）を最小化）</a:t>
            </a:r>
            <a:endParaRPr kumimoji="1" lang="en-US" altLang="ja-JP" dirty="0"/>
          </a:p>
          <a:p>
            <a:endParaRPr kumimoji="1" lang="en-US" altLang="ja-JP" dirty="0"/>
          </a:p>
          <a:p>
            <a:endParaRPr kumimoji="1" lang="ja-JP" altLang="en-US" dirty="0"/>
          </a:p>
        </p:txBody>
      </p:sp>
      <p:grpSp>
        <p:nvGrpSpPr>
          <p:cNvPr id="58" name="グループ化 57">
            <a:extLst>
              <a:ext uri="{FF2B5EF4-FFF2-40B4-BE49-F238E27FC236}">
                <a16:creationId xmlns:a16="http://schemas.microsoft.com/office/drawing/2014/main" id="{E7473694-4690-9FF4-A32F-151632DC9E49}"/>
              </a:ext>
            </a:extLst>
          </p:cNvPr>
          <p:cNvGrpSpPr/>
          <p:nvPr/>
        </p:nvGrpSpPr>
        <p:grpSpPr>
          <a:xfrm>
            <a:off x="275680" y="5591194"/>
            <a:ext cx="6532527" cy="1554793"/>
            <a:chOff x="1138626" y="4740472"/>
            <a:chExt cx="6532527" cy="1554793"/>
          </a:xfrm>
        </p:grpSpPr>
        <p:sp>
          <p:nvSpPr>
            <p:cNvPr id="8" name="Google Shape;263;p14">
              <a:extLst>
                <a:ext uri="{FF2B5EF4-FFF2-40B4-BE49-F238E27FC236}">
                  <a16:creationId xmlns:a16="http://schemas.microsoft.com/office/drawing/2014/main" id="{F79CEEE9-CF53-C523-121B-F8EDA02F3D69}"/>
                </a:ext>
              </a:extLst>
            </p:cNvPr>
            <p:cNvSpPr txBox="1"/>
            <p:nvPr/>
          </p:nvSpPr>
          <p:spPr>
            <a:xfrm>
              <a:off x="1138626" y="5498862"/>
              <a:ext cx="1195725" cy="796403"/>
            </a:xfrm>
            <a:prstGeom prst="rect">
              <a:avLst/>
            </a:prstGeom>
            <a:solidFill>
              <a:schemeClr val="lt1"/>
            </a:solidFill>
            <a:ln w="19050"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ja-JP" altLang="en-US" sz="1200" b="0" i="0" u="none" strike="noStrike" cap="none" dirty="0">
                  <a:solidFill>
                    <a:srgbClr val="000000"/>
                  </a:solidFill>
                  <a:latin typeface="+mn-ea"/>
                  <a:ea typeface="+mn-ea"/>
                  <a:cs typeface="Arial"/>
                  <a:sym typeface="Arial"/>
                </a:rPr>
                <a:t>ディーゼル</a:t>
              </a:r>
              <a:endParaRPr lang="en-US" altLang="ja-JP" sz="1200" b="0" i="0" u="none" strike="noStrike" cap="none" dirty="0">
                <a:solidFill>
                  <a:srgbClr val="000000"/>
                </a:solidFill>
                <a:latin typeface="+mn-ea"/>
                <a:ea typeface="+mn-ea"/>
                <a:cs typeface="Arial"/>
                <a:sym typeface="Arial"/>
              </a:endParaRPr>
            </a:p>
            <a:p>
              <a:pPr marL="0" marR="0" lvl="0" indent="0" algn="ctr" rtl="0">
                <a:lnSpc>
                  <a:spcPct val="100000"/>
                </a:lnSpc>
                <a:spcBef>
                  <a:spcPts val="0"/>
                </a:spcBef>
                <a:spcAft>
                  <a:spcPts val="0"/>
                </a:spcAft>
                <a:buClr>
                  <a:srgbClr val="000000"/>
                </a:buClr>
                <a:buSzPts val="1600"/>
                <a:buFont typeface="Arial"/>
                <a:buNone/>
              </a:pPr>
              <a:r>
                <a:rPr lang="ja-JP" altLang="en-US" sz="1200" b="0" i="0" u="none" strike="noStrike" cap="none" dirty="0">
                  <a:solidFill>
                    <a:srgbClr val="000000"/>
                  </a:solidFill>
                  <a:latin typeface="+mn-ea"/>
                  <a:ea typeface="+mn-ea"/>
                  <a:cs typeface="Arial"/>
                  <a:sym typeface="Arial"/>
                </a:rPr>
                <a:t>発電機</a:t>
              </a:r>
              <a:endParaRPr sz="1200" b="0" i="0" u="none" strike="noStrike" cap="none" dirty="0">
                <a:solidFill>
                  <a:srgbClr val="000000"/>
                </a:solidFill>
                <a:latin typeface="+mn-ea"/>
                <a:ea typeface="+mn-ea"/>
                <a:cs typeface="Arial"/>
                <a:sym typeface="Arial"/>
              </a:endParaRPr>
            </a:p>
          </p:txBody>
        </p:sp>
        <p:sp>
          <p:nvSpPr>
            <p:cNvPr id="10" name="Google Shape;265;p14">
              <a:extLst>
                <a:ext uri="{FF2B5EF4-FFF2-40B4-BE49-F238E27FC236}">
                  <a16:creationId xmlns:a16="http://schemas.microsoft.com/office/drawing/2014/main" id="{631B3E25-7384-6DEB-93AC-F7C6A957921D}"/>
                </a:ext>
              </a:extLst>
            </p:cNvPr>
            <p:cNvSpPr txBox="1"/>
            <p:nvPr/>
          </p:nvSpPr>
          <p:spPr>
            <a:xfrm>
              <a:off x="2473351" y="5498862"/>
              <a:ext cx="1195725" cy="796403"/>
            </a:xfrm>
            <a:prstGeom prst="rect">
              <a:avLst/>
            </a:prstGeom>
            <a:solidFill>
              <a:schemeClr val="lt1"/>
            </a:solidFill>
            <a:ln w="19050"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ja-JP" altLang="en-US" sz="1200" dirty="0">
                  <a:latin typeface="+mn-ea"/>
                  <a:ea typeface="+mn-ea"/>
                </a:rPr>
                <a:t>太陽光</a:t>
              </a:r>
              <a:endParaRPr lang="en-US" altLang="ja-JP" sz="1200" dirty="0">
                <a:latin typeface="+mn-ea"/>
                <a:ea typeface="+mn-ea"/>
              </a:endParaRPr>
            </a:p>
            <a:p>
              <a:pPr marL="0" marR="0" lvl="0" indent="0" algn="ctr" rtl="0">
                <a:lnSpc>
                  <a:spcPct val="100000"/>
                </a:lnSpc>
                <a:spcBef>
                  <a:spcPts val="0"/>
                </a:spcBef>
                <a:spcAft>
                  <a:spcPts val="0"/>
                </a:spcAft>
                <a:buClr>
                  <a:srgbClr val="000000"/>
                </a:buClr>
                <a:buSzPts val="1600"/>
                <a:buFont typeface="Arial"/>
                <a:buNone/>
              </a:pPr>
              <a:r>
                <a:rPr lang="ja-JP" altLang="en-US" sz="1200" dirty="0">
                  <a:latin typeface="+mn-ea"/>
                  <a:ea typeface="+mn-ea"/>
                </a:rPr>
                <a:t>発電</a:t>
              </a:r>
              <a:endParaRPr sz="1200" b="0" i="0" u="none" strike="noStrike" cap="none" dirty="0">
                <a:solidFill>
                  <a:srgbClr val="000000"/>
                </a:solidFill>
                <a:latin typeface="+mn-ea"/>
                <a:ea typeface="+mn-ea"/>
                <a:cs typeface="Arial"/>
                <a:sym typeface="Arial"/>
              </a:endParaRPr>
            </a:p>
          </p:txBody>
        </p:sp>
        <p:sp>
          <p:nvSpPr>
            <p:cNvPr id="11" name="Google Shape;266;p14">
              <a:extLst>
                <a:ext uri="{FF2B5EF4-FFF2-40B4-BE49-F238E27FC236}">
                  <a16:creationId xmlns:a16="http://schemas.microsoft.com/office/drawing/2014/main" id="{4A9D01D5-6E25-612D-9BF9-861D377C469A}"/>
                </a:ext>
              </a:extLst>
            </p:cNvPr>
            <p:cNvSpPr txBox="1"/>
            <p:nvPr/>
          </p:nvSpPr>
          <p:spPr>
            <a:xfrm>
              <a:off x="3808839" y="5498862"/>
              <a:ext cx="1195725" cy="796403"/>
            </a:xfrm>
            <a:prstGeom prst="rect">
              <a:avLst/>
            </a:prstGeom>
            <a:solidFill>
              <a:schemeClr val="lt1"/>
            </a:solidFill>
            <a:ln w="19050"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ja-JP" altLang="en-US" sz="1200" b="0" i="0" u="none" strike="noStrike" cap="none" dirty="0">
                  <a:solidFill>
                    <a:srgbClr val="000000"/>
                  </a:solidFill>
                  <a:latin typeface="+mn-ea"/>
                  <a:ea typeface="+mn-ea"/>
                  <a:cs typeface="Arial"/>
                  <a:sym typeface="Arial"/>
                </a:rPr>
                <a:t>蓄電</a:t>
              </a:r>
              <a:endParaRPr lang="en-US" altLang="ja-JP" sz="1200" b="0" i="0" u="none" strike="noStrike" cap="none" dirty="0">
                <a:solidFill>
                  <a:srgbClr val="000000"/>
                </a:solidFill>
                <a:latin typeface="+mn-ea"/>
                <a:ea typeface="+mn-ea"/>
                <a:cs typeface="Arial"/>
                <a:sym typeface="Arial"/>
              </a:endParaRPr>
            </a:p>
            <a:p>
              <a:pPr marL="0" marR="0" lvl="0" indent="0" algn="ctr" rtl="0">
                <a:lnSpc>
                  <a:spcPct val="100000"/>
                </a:lnSpc>
                <a:spcBef>
                  <a:spcPts val="0"/>
                </a:spcBef>
                <a:spcAft>
                  <a:spcPts val="0"/>
                </a:spcAft>
                <a:buClr>
                  <a:srgbClr val="000000"/>
                </a:buClr>
                <a:buSzPts val="1600"/>
                <a:buFont typeface="Arial"/>
                <a:buNone/>
              </a:pPr>
              <a:r>
                <a:rPr lang="ja-JP" altLang="en-US" sz="1200" b="0" i="0" u="none" strike="noStrike" cap="none" dirty="0">
                  <a:solidFill>
                    <a:srgbClr val="000000"/>
                  </a:solidFill>
                  <a:latin typeface="+mn-ea"/>
                  <a:ea typeface="+mn-ea"/>
                  <a:cs typeface="Arial"/>
                  <a:sym typeface="Arial"/>
                </a:rPr>
                <a:t>システム</a:t>
              </a:r>
              <a:endParaRPr sz="1200" b="0" i="0" u="none" strike="noStrike" cap="none" dirty="0">
                <a:solidFill>
                  <a:srgbClr val="000000"/>
                </a:solidFill>
                <a:latin typeface="+mn-ea"/>
                <a:ea typeface="+mn-ea"/>
                <a:cs typeface="Arial"/>
                <a:sym typeface="Arial"/>
              </a:endParaRPr>
            </a:p>
          </p:txBody>
        </p:sp>
        <p:sp>
          <p:nvSpPr>
            <p:cNvPr id="15" name="Google Shape;261;p14">
              <a:extLst>
                <a:ext uri="{FF2B5EF4-FFF2-40B4-BE49-F238E27FC236}">
                  <a16:creationId xmlns:a16="http://schemas.microsoft.com/office/drawing/2014/main" id="{B31E73FA-82C8-927E-7A17-2785EEAD6BC3}"/>
                </a:ext>
              </a:extLst>
            </p:cNvPr>
            <p:cNvSpPr txBox="1"/>
            <p:nvPr/>
          </p:nvSpPr>
          <p:spPr>
            <a:xfrm>
              <a:off x="5144327" y="5492820"/>
              <a:ext cx="1195725" cy="796403"/>
            </a:xfrm>
            <a:prstGeom prst="rect">
              <a:avLst/>
            </a:prstGeom>
            <a:solidFill>
              <a:schemeClr val="lt1"/>
            </a:solidFill>
            <a:ln w="19050"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ja-JP" altLang="en-US" sz="1200" b="0" i="0" u="none" strike="noStrike" cap="none" dirty="0">
                  <a:solidFill>
                    <a:srgbClr val="000000"/>
                  </a:solidFill>
                  <a:latin typeface="+mn-ea"/>
                  <a:ea typeface="+mn-ea"/>
                  <a:cs typeface="Arial"/>
                  <a:sym typeface="Arial"/>
                </a:rPr>
                <a:t>風力発電</a:t>
              </a:r>
              <a:endParaRPr sz="1200" b="0" i="0" u="none" strike="noStrike" cap="none" dirty="0">
                <a:solidFill>
                  <a:srgbClr val="000000"/>
                </a:solidFill>
                <a:latin typeface="+mn-ea"/>
                <a:ea typeface="+mn-ea"/>
                <a:cs typeface="Arial"/>
                <a:sym typeface="Arial"/>
              </a:endParaRPr>
            </a:p>
          </p:txBody>
        </p:sp>
        <p:cxnSp>
          <p:nvCxnSpPr>
            <p:cNvPr id="18" name="直線コネクタ 17">
              <a:extLst>
                <a:ext uri="{FF2B5EF4-FFF2-40B4-BE49-F238E27FC236}">
                  <a16:creationId xmlns:a16="http://schemas.microsoft.com/office/drawing/2014/main" id="{D9250745-91E8-F047-F6E7-0F951FD3A5AC}"/>
                </a:ext>
              </a:extLst>
            </p:cNvPr>
            <p:cNvCxnSpPr>
              <a:cxnSpLocks/>
            </p:cNvCxnSpPr>
            <p:nvPr/>
          </p:nvCxnSpPr>
          <p:spPr>
            <a:xfrm flipV="1">
              <a:off x="1200479" y="4740472"/>
              <a:ext cx="6470674" cy="3434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20" name="直線コネクタ 19">
              <a:extLst>
                <a:ext uri="{FF2B5EF4-FFF2-40B4-BE49-F238E27FC236}">
                  <a16:creationId xmlns:a16="http://schemas.microsoft.com/office/drawing/2014/main" id="{5C81289D-7BC0-0B24-CD54-24A810C37793}"/>
                </a:ext>
              </a:extLst>
            </p:cNvPr>
            <p:cNvCxnSpPr>
              <a:stCxn id="8" idx="0"/>
            </p:cNvCxnSpPr>
            <p:nvPr/>
          </p:nvCxnSpPr>
          <p:spPr>
            <a:xfrm flipH="1" flipV="1">
              <a:off x="1734735" y="4774812"/>
              <a:ext cx="1754" cy="72405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線コネクタ 20">
              <a:extLst>
                <a:ext uri="{FF2B5EF4-FFF2-40B4-BE49-F238E27FC236}">
                  <a16:creationId xmlns:a16="http://schemas.microsoft.com/office/drawing/2014/main" id="{C351B502-C24A-C512-7D19-9B662A905F2C}"/>
                </a:ext>
              </a:extLst>
            </p:cNvPr>
            <p:cNvCxnSpPr>
              <a:cxnSpLocks/>
            </p:cNvCxnSpPr>
            <p:nvPr/>
          </p:nvCxnSpPr>
          <p:spPr>
            <a:xfrm flipH="1" flipV="1">
              <a:off x="3070337" y="4774812"/>
              <a:ext cx="1754" cy="72405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8D3E94BC-406B-498A-316D-65C727ECD64D}"/>
                </a:ext>
              </a:extLst>
            </p:cNvPr>
            <p:cNvCxnSpPr>
              <a:cxnSpLocks/>
            </p:cNvCxnSpPr>
            <p:nvPr/>
          </p:nvCxnSpPr>
          <p:spPr>
            <a:xfrm flipH="1" flipV="1">
              <a:off x="4405825" y="4774812"/>
              <a:ext cx="1754" cy="72405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線コネクタ 22">
              <a:extLst>
                <a:ext uri="{FF2B5EF4-FFF2-40B4-BE49-F238E27FC236}">
                  <a16:creationId xmlns:a16="http://schemas.microsoft.com/office/drawing/2014/main" id="{43FE06C9-838E-3F71-877E-9979A357E779}"/>
                </a:ext>
              </a:extLst>
            </p:cNvPr>
            <p:cNvCxnSpPr>
              <a:cxnSpLocks/>
            </p:cNvCxnSpPr>
            <p:nvPr/>
          </p:nvCxnSpPr>
          <p:spPr>
            <a:xfrm flipH="1" flipV="1">
              <a:off x="5739558" y="4774812"/>
              <a:ext cx="1754" cy="72405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Google Shape;261;p14">
              <a:extLst>
                <a:ext uri="{FF2B5EF4-FFF2-40B4-BE49-F238E27FC236}">
                  <a16:creationId xmlns:a16="http://schemas.microsoft.com/office/drawing/2014/main" id="{177C758B-0529-6BB9-4106-B9B24A1553BC}"/>
                </a:ext>
              </a:extLst>
            </p:cNvPr>
            <p:cNvSpPr txBox="1"/>
            <p:nvPr/>
          </p:nvSpPr>
          <p:spPr>
            <a:xfrm>
              <a:off x="6475428" y="5492820"/>
              <a:ext cx="1195725" cy="796403"/>
            </a:xfrm>
            <a:prstGeom prst="rect">
              <a:avLst/>
            </a:prstGeom>
            <a:solidFill>
              <a:schemeClr val="lt1"/>
            </a:solidFill>
            <a:ln w="19050"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ja-JP" altLang="en-US" sz="1200" b="0" i="0" u="none" strike="noStrike" cap="none" dirty="0">
                  <a:solidFill>
                    <a:srgbClr val="000000"/>
                  </a:solidFill>
                  <a:latin typeface="+mn-ea"/>
                  <a:ea typeface="+mn-ea"/>
                  <a:cs typeface="Arial"/>
                  <a:sym typeface="Arial"/>
                </a:rPr>
                <a:t>電力需要</a:t>
              </a:r>
              <a:endParaRPr sz="1200" b="0" i="0" u="none" strike="noStrike" cap="none" dirty="0">
                <a:solidFill>
                  <a:srgbClr val="000000"/>
                </a:solidFill>
                <a:latin typeface="+mn-ea"/>
                <a:ea typeface="+mn-ea"/>
                <a:cs typeface="Arial"/>
                <a:sym typeface="Arial"/>
              </a:endParaRPr>
            </a:p>
          </p:txBody>
        </p:sp>
        <p:cxnSp>
          <p:nvCxnSpPr>
            <p:cNvPr id="25" name="直線コネクタ 24">
              <a:extLst>
                <a:ext uri="{FF2B5EF4-FFF2-40B4-BE49-F238E27FC236}">
                  <a16:creationId xmlns:a16="http://schemas.microsoft.com/office/drawing/2014/main" id="{ED846139-CA2C-3C97-EA8C-9197B718D9FE}"/>
                </a:ext>
              </a:extLst>
            </p:cNvPr>
            <p:cNvCxnSpPr>
              <a:cxnSpLocks/>
            </p:cNvCxnSpPr>
            <p:nvPr/>
          </p:nvCxnSpPr>
          <p:spPr>
            <a:xfrm flipH="1" flipV="1">
              <a:off x="7070659" y="4774812"/>
              <a:ext cx="1754" cy="72405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 name="グループ化 3">
            <a:extLst>
              <a:ext uri="{FF2B5EF4-FFF2-40B4-BE49-F238E27FC236}">
                <a16:creationId xmlns:a16="http://schemas.microsoft.com/office/drawing/2014/main" id="{9CF1F2E0-14F7-9BB7-4789-DD52D3BF8A5E}"/>
              </a:ext>
            </a:extLst>
          </p:cNvPr>
          <p:cNvGrpSpPr/>
          <p:nvPr/>
        </p:nvGrpSpPr>
        <p:grpSpPr>
          <a:xfrm>
            <a:off x="7305346" y="5217435"/>
            <a:ext cx="3230024" cy="2252214"/>
            <a:chOff x="5926060" y="3613603"/>
            <a:chExt cx="4644180" cy="3912081"/>
          </a:xfrm>
        </p:grpSpPr>
        <p:pic>
          <p:nvPicPr>
            <p:cNvPr id="5" name="Google Shape;69;p5">
              <a:extLst>
                <a:ext uri="{FF2B5EF4-FFF2-40B4-BE49-F238E27FC236}">
                  <a16:creationId xmlns:a16="http://schemas.microsoft.com/office/drawing/2014/main" id="{24117329-C534-706C-66C8-2CB517AAF7AD}"/>
                </a:ext>
              </a:extLst>
            </p:cNvPr>
            <p:cNvPicPr preferRelativeResize="0"/>
            <p:nvPr/>
          </p:nvPicPr>
          <p:blipFill rotWithShape="1">
            <a:blip r:embed="rId2">
              <a:alphaModFix/>
            </a:blip>
            <a:srcRect/>
            <a:stretch/>
          </p:blipFill>
          <p:spPr>
            <a:xfrm>
              <a:off x="5973248" y="3613603"/>
              <a:ext cx="4515796" cy="3912081"/>
            </a:xfrm>
            <a:prstGeom prst="rect">
              <a:avLst/>
            </a:prstGeom>
            <a:noFill/>
            <a:ln>
              <a:noFill/>
            </a:ln>
          </p:spPr>
        </p:pic>
        <p:pic>
          <p:nvPicPr>
            <p:cNvPr id="6" name="Google Shape;88;p5">
              <a:extLst>
                <a:ext uri="{FF2B5EF4-FFF2-40B4-BE49-F238E27FC236}">
                  <a16:creationId xmlns:a16="http://schemas.microsoft.com/office/drawing/2014/main" id="{6233361B-583E-13DF-1A03-1FE6B5AD7D75}"/>
                </a:ext>
              </a:extLst>
            </p:cNvPr>
            <p:cNvPicPr preferRelativeResize="0"/>
            <p:nvPr/>
          </p:nvPicPr>
          <p:blipFill rotWithShape="1">
            <a:blip r:embed="rId3">
              <a:alphaModFix/>
            </a:blip>
            <a:srcRect/>
            <a:stretch/>
          </p:blipFill>
          <p:spPr>
            <a:xfrm>
              <a:off x="8061407" y="4260358"/>
              <a:ext cx="223012" cy="345220"/>
            </a:xfrm>
            <a:prstGeom prst="rect">
              <a:avLst/>
            </a:prstGeom>
            <a:noFill/>
            <a:ln>
              <a:noFill/>
            </a:ln>
          </p:spPr>
        </p:pic>
        <p:sp>
          <p:nvSpPr>
            <p:cNvPr id="7" name="Google Shape;89;p5">
              <a:extLst>
                <a:ext uri="{FF2B5EF4-FFF2-40B4-BE49-F238E27FC236}">
                  <a16:creationId xmlns:a16="http://schemas.microsoft.com/office/drawing/2014/main" id="{791C414F-AE5C-86BA-F595-D43A260D0913}"/>
                </a:ext>
              </a:extLst>
            </p:cNvPr>
            <p:cNvSpPr/>
            <p:nvPr/>
          </p:nvSpPr>
          <p:spPr>
            <a:xfrm>
              <a:off x="7884061" y="4044694"/>
              <a:ext cx="549881" cy="169494"/>
            </a:xfrm>
            <a:prstGeom prst="downArrow">
              <a:avLst>
                <a:gd name="adj1" fmla="val 50000"/>
                <a:gd name="adj2" fmla="val 50000"/>
              </a:avLst>
            </a:prstGeom>
            <a:gradFill>
              <a:gsLst>
                <a:gs pos="0">
                  <a:srgbClr val="FFB1B1"/>
                </a:gs>
                <a:gs pos="100000">
                  <a:srgbClr val="FFD9D9"/>
                </a:gs>
              </a:gsLst>
              <a:lin ang="5400000" scaled="0"/>
            </a:gradFill>
            <a:ln>
              <a:noFill/>
            </a:ln>
          </p:spPr>
          <p:txBody>
            <a:bodyPr spcFirstLastPara="1" wrap="square" lIns="90000" tIns="46800" rIns="90000" bIns="46800" anchor="ctr" anchorCtr="0">
              <a:noAutofit/>
            </a:bodyPr>
            <a:lstStyle/>
            <a:p>
              <a:pPr marL="0" marR="0" lvl="0" indent="0" algn="ctr" rtl="0">
                <a:lnSpc>
                  <a:spcPct val="100000"/>
                </a:lnSpc>
                <a:spcBef>
                  <a:spcPts val="0"/>
                </a:spcBef>
                <a:spcAft>
                  <a:spcPts val="0"/>
                </a:spcAft>
                <a:buClr>
                  <a:schemeClr val="dk1"/>
                </a:buClr>
                <a:buSzPts val="2000"/>
                <a:buFont typeface="Calibri"/>
                <a:buNone/>
              </a:pPr>
              <a:endParaRPr sz="2000" b="0" i="0" u="none" strike="noStrike" cap="none">
                <a:solidFill>
                  <a:srgbClr val="000000"/>
                </a:solidFill>
                <a:latin typeface="Arial"/>
                <a:ea typeface="Arial"/>
                <a:cs typeface="Arial"/>
                <a:sym typeface="Arial"/>
              </a:endParaRPr>
            </a:p>
          </p:txBody>
        </p:sp>
        <p:pic>
          <p:nvPicPr>
            <p:cNvPr id="9" name="Google Shape;98;p5">
              <a:extLst>
                <a:ext uri="{FF2B5EF4-FFF2-40B4-BE49-F238E27FC236}">
                  <a16:creationId xmlns:a16="http://schemas.microsoft.com/office/drawing/2014/main" id="{AE9B01C9-8FE6-E09E-B75B-CB9B8042632A}"/>
                </a:ext>
              </a:extLst>
            </p:cNvPr>
            <p:cNvPicPr preferRelativeResize="0"/>
            <p:nvPr/>
          </p:nvPicPr>
          <p:blipFill rotWithShape="1">
            <a:blip r:embed="rId4">
              <a:alphaModFix/>
            </a:blip>
            <a:srcRect t="34941"/>
            <a:stretch/>
          </p:blipFill>
          <p:spPr>
            <a:xfrm>
              <a:off x="8298700" y="3882546"/>
              <a:ext cx="1239875" cy="806635"/>
            </a:xfrm>
            <a:prstGeom prst="rect">
              <a:avLst/>
            </a:prstGeom>
            <a:noFill/>
            <a:ln>
              <a:noFill/>
            </a:ln>
          </p:spPr>
        </p:pic>
        <p:pic>
          <p:nvPicPr>
            <p:cNvPr id="12" name="Google Shape;109;p5">
              <a:extLst>
                <a:ext uri="{FF2B5EF4-FFF2-40B4-BE49-F238E27FC236}">
                  <a16:creationId xmlns:a16="http://schemas.microsoft.com/office/drawing/2014/main" id="{AC90A3DC-6979-C4B6-369E-2BF93EDF23A5}"/>
                </a:ext>
              </a:extLst>
            </p:cNvPr>
            <p:cNvPicPr preferRelativeResize="0"/>
            <p:nvPr/>
          </p:nvPicPr>
          <p:blipFill rotWithShape="1">
            <a:blip r:embed="rId5">
              <a:alphaModFix/>
            </a:blip>
            <a:srcRect/>
            <a:stretch/>
          </p:blipFill>
          <p:spPr>
            <a:xfrm>
              <a:off x="6208302" y="4141805"/>
              <a:ext cx="993652" cy="993652"/>
            </a:xfrm>
            <a:prstGeom prst="rect">
              <a:avLst/>
            </a:prstGeom>
            <a:noFill/>
            <a:ln>
              <a:noFill/>
            </a:ln>
          </p:spPr>
        </p:pic>
        <p:pic>
          <p:nvPicPr>
            <p:cNvPr id="13" name="Google Shape;110;p5" descr="MC900431627[1]">
              <a:extLst>
                <a:ext uri="{FF2B5EF4-FFF2-40B4-BE49-F238E27FC236}">
                  <a16:creationId xmlns:a16="http://schemas.microsoft.com/office/drawing/2014/main" id="{0E3AB073-1D7E-EA5F-FF7E-D019A99F9D43}"/>
                </a:ext>
              </a:extLst>
            </p:cNvPr>
            <p:cNvPicPr preferRelativeResize="0"/>
            <p:nvPr/>
          </p:nvPicPr>
          <p:blipFill rotWithShape="1">
            <a:blip r:embed="rId6">
              <a:alphaModFix/>
            </a:blip>
            <a:srcRect/>
            <a:stretch/>
          </p:blipFill>
          <p:spPr>
            <a:xfrm>
              <a:off x="7829586" y="6629957"/>
              <a:ext cx="531520" cy="531520"/>
            </a:xfrm>
            <a:prstGeom prst="rect">
              <a:avLst/>
            </a:prstGeom>
            <a:noFill/>
            <a:ln>
              <a:noFill/>
            </a:ln>
          </p:spPr>
        </p:pic>
        <p:pic>
          <p:nvPicPr>
            <p:cNvPr id="14" name="Google Shape;111;p5" descr="MC900431627[1]">
              <a:extLst>
                <a:ext uri="{FF2B5EF4-FFF2-40B4-BE49-F238E27FC236}">
                  <a16:creationId xmlns:a16="http://schemas.microsoft.com/office/drawing/2014/main" id="{FC60FA09-9652-4D47-2E76-552D9FE481D7}"/>
                </a:ext>
              </a:extLst>
            </p:cNvPr>
            <p:cNvPicPr preferRelativeResize="0"/>
            <p:nvPr/>
          </p:nvPicPr>
          <p:blipFill rotWithShape="1">
            <a:blip r:embed="rId6">
              <a:alphaModFix/>
            </a:blip>
            <a:srcRect/>
            <a:stretch/>
          </p:blipFill>
          <p:spPr>
            <a:xfrm>
              <a:off x="9226483" y="6665432"/>
              <a:ext cx="531520" cy="531520"/>
            </a:xfrm>
            <a:prstGeom prst="rect">
              <a:avLst/>
            </a:prstGeom>
            <a:noFill/>
            <a:ln>
              <a:noFill/>
            </a:ln>
          </p:spPr>
        </p:pic>
        <p:pic>
          <p:nvPicPr>
            <p:cNvPr id="16" name="Google Shape;112;p5">
              <a:extLst>
                <a:ext uri="{FF2B5EF4-FFF2-40B4-BE49-F238E27FC236}">
                  <a16:creationId xmlns:a16="http://schemas.microsoft.com/office/drawing/2014/main" id="{AF904850-76CF-B1F9-596A-FA7EDC0931C2}"/>
                </a:ext>
              </a:extLst>
            </p:cNvPr>
            <p:cNvPicPr preferRelativeResize="0"/>
            <p:nvPr/>
          </p:nvPicPr>
          <p:blipFill rotWithShape="1">
            <a:blip r:embed="rId7">
              <a:alphaModFix/>
            </a:blip>
            <a:srcRect/>
            <a:stretch/>
          </p:blipFill>
          <p:spPr>
            <a:xfrm>
              <a:off x="8575296" y="4851461"/>
              <a:ext cx="602560" cy="602560"/>
            </a:xfrm>
            <a:prstGeom prst="rect">
              <a:avLst/>
            </a:prstGeom>
            <a:noFill/>
            <a:ln>
              <a:noFill/>
            </a:ln>
          </p:spPr>
        </p:pic>
        <p:pic>
          <p:nvPicPr>
            <p:cNvPr id="17" name="Google Shape;113;p5" descr="MC900431627[1]">
              <a:extLst>
                <a:ext uri="{FF2B5EF4-FFF2-40B4-BE49-F238E27FC236}">
                  <a16:creationId xmlns:a16="http://schemas.microsoft.com/office/drawing/2014/main" id="{48D8522F-0CA5-FAB4-EFBC-7878D05731C5}"/>
                </a:ext>
              </a:extLst>
            </p:cNvPr>
            <p:cNvPicPr preferRelativeResize="0"/>
            <p:nvPr/>
          </p:nvPicPr>
          <p:blipFill rotWithShape="1">
            <a:blip r:embed="rId6">
              <a:alphaModFix/>
            </a:blip>
            <a:srcRect/>
            <a:stretch/>
          </p:blipFill>
          <p:spPr>
            <a:xfrm>
              <a:off x="6969376" y="6853609"/>
              <a:ext cx="531520" cy="531520"/>
            </a:xfrm>
            <a:prstGeom prst="rect">
              <a:avLst/>
            </a:prstGeom>
            <a:noFill/>
            <a:ln>
              <a:noFill/>
            </a:ln>
          </p:spPr>
        </p:pic>
        <p:pic>
          <p:nvPicPr>
            <p:cNvPr id="19" name="Google Shape;114;p5">
              <a:extLst>
                <a:ext uri="{FF2B5EF4-FFF2-40B4-BE49-F238E27FC236}">
                  <a16:creationId xmlns:a16="http://schemas.microsoft.com/office/drawing/2014/main" id="{BAB38940-5307-A987-EB9D-131CD30F9164}"/>
                </a:ext>
              </a:extLst>
            </p:cNvPr>
            <p:cNvPicPr preferRelativeResize="0"/>
            <p:nvPr/>
          </p:nvPicPr>
          <p:blipFill rotWithShape="1">
            <a:blip r:embed="rId8">
              <a:alphaModFix/>
            </a:blip>
            <a:srcRect/>
            <a:stretch/>
          </p:blipFill>
          <p:spPr>
            <a:xfrm>
              <a:off x="6103373" y="5526566"/>
              <a:ext cx="713691" cy="713691"/>
            </a:xfrm>
            <a:prstGeom prst="rect">
              <a:avLst/>
            </a:prstGeom>
            <a:noFill/>
            <a:ln>
              <a:noFill/>
            </a:ln>
          </p:spPr>
        </p:pic>
        <p:pic>
          <p:nvPicPr>
            <p:cNvPr id="26" name="Google Shape;115;p5">
              <a:extLst>
                <a:ext uri="{FF2B5EF4-FFF2-40B4-BE49-F238E27FC236}">
                  <a16:creationId xmlns:a16="http://schemas.microsoft.com/office/drawing/2014/main" id="{56EB8FC9-5270-C0E2-418B-C4DE02DEDB32}"/>
                </a:ext>
              </a:extLst>
            </p:cNvPr>
            <p:cNvPicPr preferRelativeResize="0"/>
            <p:nvPr/>
          </p:nvPicPr>
          <p:blipFill rotWithShape="1">
            <a:blip r:embed="rId7">
              <a:alphaModFix/>
            </a:blip>
            <a:srcRect/>
            <a:stretch/>
          </p:blipFill>
          <p:spPr>
            <a:xfrm>
              <a:off x="8056259" y="5662409"/>
              <a:ext cx="602560" cy="602560"/>
            </a:xfrm>
            <a:prstGeom prst="rect">
              <a:avLst/>
            </a:prstGeom>
            <a:noFill/>
            <a:ln>
              <a:noFill/>
            </a:ln>
          </p:spPr>
        </p:pic>
        <p:pic>
          <p:nvPicPr>
            <p:cNvPr id="27" name="Google Shape;116;p5">
              <a:extLst>
                <a:ext uri="{FF2B5EF4-FFF2-40B4-BE49-F238E27FC236}">
                  <a16:creationId xmlns:a16="http://schemas.microsoft.com/office/drawing/2014/main" id="{8449C645-CBCA-30DF-A42A-E531644C9BA1}"/>
                </a:ext>
              </a:extLst>
            </p:cNvPr>
            <p:cNvPicPr preferRelativeResize="0"/>
            <p:nvPr/>
          </p:nvPicPr>
          <p:blipFill rotWithShape="1">
            <a:blip r:embed="rId7">
              <a:alphaModFix/>
            </a:blip>
            <a:srcRect/>
            <a:stretch/>
          </p:blipFill>
          <p:spPr>
            <a:xfrm>
              <a:off x="6801597" y="5171594"/>
              <a:ext cx="602560" cy="602560"/>
            </a:xfrm>
            <a:prstGeom prst="rect">
              <a:avLst/>
            </a:prstGeom>
            <a:noFill/>
            <a:ln>
              <a:noFill/>
            </a:ln>
          </p:spPr>
        </p:pic>
        <p:sp>
          <p:nvSpPr>
            <p:cNvPr id="28" name="Google Shape;117;p5">
              <a:extLst>
                <a:ext uri="{FF2B5EF4-FFF2-40B4-BE49-F238E27FC236}">
                  <a16:creationId xmlns:a16="http://schemas.microsoft.com/office/drawing/2014/main" id="{9F83E14B-E169-ECD0-5CF7-A7C2D66C136A}"/>
                </a:ext>
              </a:extLst>
            </p:cNvPr>
            <p:cNvSpPr/>
            <p:nvPr/>
          </p:nvSpPr>
          <p:spPr>
            <a:xfrm>
              <a:off x="7045023" y="5114474"/>
              <a:ext cx="2306508" cy="716801"/>
            </a:xfrm>
            <a:prstGeom prst="ellipse">
              <a:avLst/>
            </a:prstGeom>
            <a:noFill/>
            <a:ln w="28575" cap="flat" cmpd="sng">
              <a:solidFill>
                <a:schemeClr val="accent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36000" tIns="18000" rIns="36000" bIns="18000" anchor="ctr" anchorCtr="0">
              <a:noAutofit/>
            </a:bodyPr>
            <a:lstStyle/>
            <a:p>
              <a:pPr marL="0" marR="0" lvl="0" indent="0" algn="ctr" rtl="0">
                <a:spcBef>
                  <a:spcPts val="0"/>
                </a:spcBef>
                <a:spcAft>
                  <a:spcPts val="0"/>
                </a:spcAft>
                <a:buNone/>
              </a:pPr>
              <a:endParaRPr sz="1600">
                <a:solidFill>
                  <a:schemeClr val="dk1"/>
                </a:solidFill>
                <a:latin typeface="Calibri"/>
                <a:ea typeface="Calibri"/>
                <a:cs typeface="Calibri"/>
                <a:sym typeface="Calibri"/>
              </a:endParaRPr>
            </a:p>
          </p:txBody>
        </p:sp>
        <p:cxnSp>
          <p:nvCxnSpPr>
            <p:cNvPr id="29" name="Google Shape;118;p5">
              <a:extLst>
                <a:ext uri="{FF2B5EF4-FFF2-40B4-BE49-F238E27FC236}">
                  <a16:creationId xmlns:a16="http://schemas.microsoft.com/office/drawing/2014/main" id="{24A746CC-7360-54B5-6485-788A01D7CA36}"/>
                </a:ext>
              </a:extLst>
            </p:cNvPr>
            <p:cNvCxnSpPr/>
            <p:nvPr/>
          </p:nvCxnSpPr>
          <p:spPr>
            <a:xfrm rot="10800000">
              <a:off x="8813473" y="5774154"/>
              <a:ext cx="413010" cy="716801"/>
            </a:xfrm>
            <a:prstGeom prst="straightConnector1">
              <a:avLst/>
            </a:prstGeom>
            <a:gradFill>
              <a:gsLst>
                <a:gs pos="0">
                  <a:srgbClr val="9FC3FF"/>
                </a:gs>
                <a:gs pos="35000">
                  <a:srgbClr val="BDD5FF"/>
                </a:gs>
                <a:gs pos="100000">
                  <a:srgbClr val="E4EEFF"/>
                </a:gs>
              </a:gsLst>
              <a:lin ang="16200000" scaled="0"/>
            </a:gradFill>
            <a:ln w="9525" cap="flat" cmpd="sng">
              <a:solidFill>
                <a:srgbClr val="4A7DBA"/>
              </a:solidFill>
              <a:prstDash val="solid"/>
              <a:round/>
              <a:headEnd type="none" w="med" len="med"/>
              <a:tailEnd type="none" w="med" len="med"/>
            </a:ln>
            <a:effectLst>
              <a:outerShdw blurRad="40000" dist="20000" dir="5400000" rotWithShape="0">
                <a:srgbClr val="000000">
                  <a:alpha val="37647"/>
                </a:srgbClr>
              </a:outerShdw>
            </a:effectLst>
          </p:spPr>
        </p:cxnSp>
        <p:cxnSp>
          <p:nvCxnSpPr>
            <p:cNvPr id="30" name="Google Shape;119;p5">
              <a:extLst>
                <a:ext uri="{FF2B5EF4-FFF2-40B4-BE49-F238E27FC236}">
                  <a16:creationId xmlns:a16="http://schemas.microsoft.com/office/drawing/2014/main" id="{FA842DB3-7225-9991-E1C0-FA141F942289}"/>
                </a:ext>
              </a:extLst>
            </p:cNvPr>
            <p:cNvCxnSpPr>
              <a:endCxn id="28" idx="4"/>
            </p:cNvCxnSpPr>
            <p:nvPr/>
          </p:nvCxnSpPr>
          <p:spPr>
            <a:xfrm rot="10800000" flipH="1">
              <a:off x="8039277" y="5831275"/>
              <a:ext cx="159000" cy="965100"/>
            </a:xfrm>
            <a:prstGeom prst="straightConnector1">
              <a:avLst/>
            </a:prstGeom>
            <a:gradFill>
              <a:gsLst>
                <a:gs pos="0">
                  <a:srgbClr val="9FC3FF"/>
                </a:gs>
                <a:gs pos="35000">
                  <a:srgbClr val="BDD5FF"/>
                </a:gs>
                <a:gs pos="100000">
                  <a:srgbClr val="E4EEFF"/>
                </a:gs>
              </a:gsLst>
              <a:lin ang="16200000" scaled="0"/>
            </a:gradFill>
            <a:ln w="9525" cap="flat" cmpd="sng">
              <a:solidFill>
                <a:srgbClr val="4A7DBA"/>
              </a:solidFill>
              <a:prstDash val="solid"/>
              <a:round/>
              <a:headEnd type="none" w="med" len="med"/>
              <a:tailEnd type="none" w="med" len="med"/>
            </a:ln>
            <a:effectLst>
              <a:outerShdw blurRad="40000" dist="20000" dir="5400000" rotWithShape="0">
                <a:srgbClr val="000000">
                  <a:alpha val="37647"/>
                </a:srgbClr>
              </a:outerShdw>
            </a:effectLst>
          </p:spPr>
        </p:cxnSp>
        <p:cxnSp>
          <p:nvCxnSpPr>
            <p:cNvPr id="31" name="Google Shape;120;p5">
              <a:extLst>
                <a:ext uri="{FF2B5EF4-FFF2-40B4-BE49-F238E27FC236}">
                  <a16:creationId xmlns:a16="http://schemas.microsoft.com/office/drawing/2014/main" id="{07843A8C-4DA6-237D-9E90-1EAF93ACA7C1}"/>
                </a:ext>
              </a:extLst>
            </p:cNvPr>
            <p:cNvCxnSpPr>
              <a:stCxn id="17" idx="0"/>
            </p:cNvCxnSpPr>
            <p:nvPr/>
          </p:nvCxnSpPr>
          <p:spPr>
            <a:xfrm rot="10800000" flipH="1">
              <a:off x="7235136" y="5789509"/>
              <a:ext cx="684000" cy="1064100"/>
            </a:xfrm>
            <a:prstGeom prst="straightConnector1">
              <a:avLst/>
            </a:prstGeom>
            <a:gradFill>
              <a:gsLst>
                <a:gs pos="0">
                  <a:srgbClr val="9FC3FF"/>
                </a:gs>
                <a:gs pos="35000">
                  <a:srgbClr val="BDD5FF"/>
                </a:gs>
                <a:gs pos="100000">
                  <a:srgbClr val="E4EEFF"/>
                </a:gs>
              </a:gsLst>
              <a:lin ang="16200000" scaled="0"/>
            </a:gradFill>
            <a:ln w="9525" cap="flat" cmpd="sng">
              <a:solidFill>
                <a:srgbClr val="4A7DBA"/>
              </a:solidFill>
              <a:prstDash val="solid"/>
              <a:round/>
              <a:headEnd type="none" w="med" len="med"/>
              <a:tailEnd type="none" w="med" len="med"/>
            </a:ln>
            <a:effectLst>
              <a:outerShdw blurRad="40000" dist="20000" dir="5400000" rotWithShape="0">
                <a:srgbClr val="000000">
                  <a:alpha val="37647"/>
                </a:srgbClr>
              </a:outerShdw>
            </a:effectLst>
          </p:spPr>
        </p:cxnSp>
        <p:cxnSp>
          <p:nvCxnSpPr>
            <p:cNvPr id="32" name="Google Shape;121;p5">
              <a:extLst>
                <a:ext uri="{FF2B5EF4-FFF2-40B4-BE49-F238E27FC236}">
                  <a16:creationId xmlns:a16="http://schemas.microsoft.com/office/drawing/2014/main" id="{0606F228-F92A-F85B-2681-A71B06BE77B0}"/>
                </a:ext>
              </a:extLst>
            </p:cNvPr>
            <p:cNvCxnSpPr/>
            <p:nvPr/>
          </p:nvCxnSpPr>
          <p:spPr>
            <a:xfrm flipH="1">
              <a:off x="8510606" y="4714845"/>
              <a:ext cx="365970" cy="379816"/>
            </a:xfrm>
            <a:prstGeom prst="straightConnector1">
              <a:avLst/>
            </a:prstGeom>
            <a:gradFill>
              <a:gsLst>
                <a:gs pos="0">
                  <a:srgbClr val="9FC3FF"/>
                </a:gs>
                <a:gs pos="35000">
                  <a:srgbClr val="BDD5FF"/>
                </a:gs>
                <a:gs pos="100000">
                  <a:srgbClr val="E4EEFF"/>
                </a:gs>
              </a:gsLst>
              <a:lin ang="16200000" scaled="0"/>
            </a:gradFill>
            <a:ln w="9525" cap="flat" cmpd="sng">
              <a:solidFill>
                <a:srgbClr val="4A7DBA"/>
              </a:solidFill>
              <a:prstDash val="solid"/>
              <a:round/>
              <a:headEnd type="none" w="med" len="med"/>
              <a:tailEnd type="none" w="med" len="med"/>
            </a:ln>
            <a:effectLst>
              <a:outerShdw blurRad="40000" dist="20000" dir="5400000" rotWithShape="0">
                <a:srgbClr val="000000">
                  <a:alpha val="37647"/>
                </a:srgbClr>
              </a:outerShdw>
            </a:effectLst>
          </p:spPr>
        </p:cxnSp>
        <p:cxnSp>
          <p:nvCxnSpPr>
            <p:cNvPr id="33" name="Google Shape;122;p5">
              <a:extLst>
                <a:ext uri="{FF2B5EF4-FFF2-40B4-BE49-F238E27FC236}">
                  <a16:creationId xmlns:a16="http://schemas.microsoft.com/office/drawing/2014/main" id="{2A760E73-375C-7ACB-079A-4B9D8C71C288}"/>
                </a:ext>
              </a:extLst>
            </p:cNvPr>
            <p:cNvCxnSpPr/>
            <p:nvPr/>
          </p:nvCxnSpPr>
          <p:spPr>
            <a:xfrm rot="10800000" flipH="1">
              <a:off x="6650183" y="5677698"/>
              <a:ext cx="593521" cy="490814"/>
            </a:xfrm>
            <a:prstGeom prst="straightConnector1">
              <a:avLst/>
            </a:prstGeom>
            <a:gradFill>
              <a:gsLst>
                <a:gs pos="0">
                  <a:srgbClr val="9FC3FF"/>
                </a:gs>
                <a:gs pos="35000">
                  <a:srgbClr val="BDD5FF"/>
                </a:gs>
                <a:gs pos="100000">
                  <a:srgbClr val="E4EEFF"/>
                </a:gs>
              </a:gsLst>
              <a:lin ang="16200000" scaled="0"/>
            </a:gradFill>
            <a:ln w="9525" cap="flat" cmpd="sng">
              <a:solidFill>
                <a:srgbClr val="4A7DBA"/>
              </a:solidFill>
              <a:prstDash val="solid"/>
              <a:round/>
              <a:headEnd type="none" w="med" len="med"/>
              <a:tailEnd type="none" w="med" len="med"/>
            </a:ln>
            <a:effectLst>
              <a:outerShdw blurRad="40000" dist="20000" dir="5400000" rotWithShape="0">
                <a:srgbClr val="000000">
                  <a:alpha val="37647"/>
                </a:srgbClr>
              </a:outerShdw>
            </a:effectLst>
          </p:spPr>
        </p:cxnSp>
        <p:grpSp>
          <p:nvGrpSpPr>
            <p:cNvPr id="34" name="Google Shape;123;p5">
              <a:extLst>
                <a:ext uri="{FF2B5EF4-FFF2-40B4-BE49-F238E27FC236}">
                  <a16:creationId xmlns:a16="http://schemas.microsoft.com/office/drawing/2014/main" id="{835061C9-8BF7-CEF7-18D7-2A64C3A43553}"/>
                </a:ext>
              </a:extLst>
            </p:cNvPr>
            <p:cNvGrpSpPr/>
            <p:nvPr/>
          </p:nvGrpSpPr>
          <p:grpSpPr>
            <a:xfrm>
              <a:off x="6757073" y="6015518"/>
              <a:ext cx="518847" cy="518847"/>
              <a:chOff x="1927226" y="1825625"/>
              <a:chExt cx="1714500" cy="1714500"/>
            </a:xfrm>
          </p:grpSpPr>
          <p:pic>
            <p:nvPicPr>
              <p:cNvPr id="54" name="Google Shape;124;p5">
                <a:extLst>
                  <a:ext uri="{FF2B5EF4-FFF2-40B4-BE49-F238E27FC236}">
                    <a16:creationId xmlns:a16="http://schemas.microsoft.com/office/drawing/2014/main" id="{FD09AAED-6587-B248-A470-DA73D5E833FE}"/>
                  </a:ext>
                </a:extLst>
              </p:cNvPr>
              <p:cNvPicPr preferRelativeResize="0"/>
              <p:nvPr/>
            </p:nvPicPr>
            <p:blipFill rotWithShape="1">
              <a:blip r:embed="rId9">
                <a:alphaModFix/>
              </a:blip>
              <a:srcRect/>
              <a:stretch/>
            </p:blipFill>
            <p:spPr>
              <a:xfrm>
                <a:off x="1927226" y="1825625"/>
                <a:ext cx="1714500" cy="1714500"/>
              </a:xfrm>
              <a:prstGeom prst="rect">
                <a:avLst/>
              </a:prstGeom>
              <a:noFill/>
              <a:ln>
                <a:noFill/>
              </a:ln>
            </p:spPr>
          </p:pic>
          <p:sp>
            <p:nvSpPr>
              <p:cNvPr id="55" name="Google Shape;125;p5">
                <a:extLst>
                  <a:ext uri="{FF2B5EF4-FFF2-40B4-BE49-F238E27FC236}">
                    <a16:creationId xmlns:a16="http://schemas.microsoft.com/office/drawing/2014/main" id="{0880757D-37AF-B497-8549-E7882061443A}"/>
                  </a:ext>
                </a:extLst>
              </p:cNvPr>
              <p:cNvSpPr/>
              <p:nvPr/>
            </p:nvSpPr>
            <p:spPr>
              <a:xfrm rot="724100">
                <a:off x="2012636" y="2661829"/>
                <a:ext cx="921082" cy="469204"/>
              </a:xfrm>
              <a:prstGeom prst="rect">
                <a:avLst/>
              </a:prstGeom>
              <a:solidFill>
                <a:srgbClr val="4640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1" i="1">
                  <a:solidFill>
                    <a:schemeClr val="lt1"/>
                  </a:solidFill>
                  <a:latin typeface="Arial"/>
                  <a:ea typeface="Arial"/>
                  <a:cs typeface="Arial"/>
                  <a:sym typeface="Arial"/>
                </a:endParaRPr>
              </a:p>
            </p:txBody>
          </p:sp>
        </p:grpSp>
        <p:sp>
          <p:nvSpPr>
            <p:cNvPr id="35" name="Google Shape;126;p5">
              <a:extLst>
                <a:ext uri="{FF2B5EF4-FFF2-40B4-BE49-F238E27FC236}">
                  <a16:creationId xmlns:a16="http://schemas.microsoft.com/office/drawing/2014/main" id="{178FED1C-D8CB-5A44-8000-10DA8C1D5D82}"/>
                </a:ext>
              </a:extLst>
            </p:cNvPr>
            <p:cNvSpPr txBox="1"/>
            <p:nvPr/>
          </p:nvSpPr>
          <p:spPr>
            <a:xfrm>
              <a:off x="5926060" y="4946331"/>
              <a:ext cx="1162347" cy="315563"/>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F3F3F"/>
                </a:buClr>
                <a:buSzPts val="1100"/>
                <a:buFont typeface="Arial"/>
                <a:buNone/>
              </a:pPr>
              <a:r>
                <a:rPr lang="en-US" sz="1100" b="0" i="0" u="none" strike="noStrike" cap="none">
                  <a:solidFill>
                    <a:srgbClr val="3F3F3F"/>
                  </a:solidFill>
                  <a:latin typeface="Arial"/>
                  <a:ea typeface="Arial"/>
                  <a:cs typeface="Arial"/>
                  <a:sym typeface="Arial"/>
                </a:rPr>
                <a:t>Solar</a:t>
              </a:r>
              <a:r>
                <a:rPr lang="en-US" sz="1100">
                  <a:solidFill>
                    <a:srgbClr val="3F3F3F"/>
                  </a:solidFill>
                  <a:latin typeface="Arial"/>
                  <a:ea typeface="Arial"/>
                  <a:cs typeface="Arial"/>
                  <a:sym typeface="Arial"/>
                </a:rPr>
                <a:t> Power Plant</a:t>
              </a:r>
              <a:endParaRPr sz="1100" b="0" i="0" u="none" strike="noStrike" cap="none">
                <a:solidFill>
                  <a:srgbClr val="3F3F3F"/>
                </a:solidFill>
                <a:latin typeface="Arial"/>
                <a:ea typeface="Arial"/>
                <a:cs typeface="Arial"/>
                <a:sym typeface="Arial"/>
              </a:endParaRPr>
            </a:p>
          </p:txBody>
        </p:sp>
        <p:cxnSp>
          <p:nvCxnSpPr>
            <p:cNvPr id="36" name="Google Shape;127;p5">
              <a:extLst>
                <a:ext uri="{FF2B5EF4-FFF2-40B4-BE49-F238E27FC236}">
                  <a16:creationId xmlns:a16="http://schemas.microsoft.com/office/drawing/2014/main" id="{535A1C2A-DD9E-B378-A691-00373686C5B1}"/>
                </a:ext>
              </a:extLst>
            </p:cNvPr>
            <p:cNvCxnSpPr>
              <a:endCxn id="28" idx="1"/>
            </p:cNvCxnSpPr>
            <p:nvPr/>
          </p:nvCxnSpPr>
          <p:spPr>
            <a:xfrm>
              <a:off x="7045003" y="4803947"/>
              <a:ext cx="337800" cy="415500"/>
            </a:xfrm>
            <a:prstGeom prst="straightConnector1">
              <a:avLst/>
            </a:prstGeom>
            <a:gradFill>
              <a:gsLst>
                <a:gs pos="0">
                  <a:srgbClr val="9FC3FF"/>
                </a:gs>
                <a:gs pos="35000">
                  <a:srgbClr val="BDD5FF"/>
                </a:gs>
                <a:gs pos="100000">
                  <a:srgbClr val="E4EEFF"/>
                </a:gs>
              </a:gsLst>
              <a:lin ang="16200000" scaled="0"/>
            </a:gradFill>
            <a:ln w="9525" cap="flat" cmpd="sng">
              <a:solidFill>
                <a:srgbClr val="4A7DBA"/>
              </a:solidFill>
              <a:prstDash val="solid"/>
              <a:round/>
              <a:headEnd type="none" w="med" len="med"/>
              <a:tailEnd type="none" w="med" len="med"/>
            </a:ln>
            <a:effectLst>
              <a:outerShdw blurRad="40000" dist="20000" dir="5400000" rotWithShape="0">
                <a:srgbClr val="000000">
                  <a:alpha val="37647"/>
                </a:srgbClr>
              </a:outerShdw>
            </a:effectLst>
          </p:spPr>
        </p:cxnSp>
        <p:cxnSp>
          <p:nvCxnSpPr>
            <p:cNvPr id="38" name="Google Shape;140;p5">
              <a:extLst>
                <a:ext uri="{FF2B5EF4-FFF2-40B4-BE49-F238E27FC236}">
                  <a16:creationId xmlns:a16="http://schemas.microsoft.com/office/drawing/2014/main" id="{6513E344-1B31-C437-6544-038588D43482}"/>
                </a:ext>
              </a:extLst>
            </p:cNvPr>
            <p:cNvCxnSpPr/>
            <p:nvPr/>
          </p:nvCxnSpPr>
          <p:spPr>
            <a:xfrm flipH="1">
              <a:off x="6712739" y="5658567"/>
              <a:ext cx="374202" cy="309431"/>
            </a:xfrm>
            <a:prstGeom prst="straightConnector1">
              <a:avLst/>
            </a:prstGeom>
            <a:gradFill>
              <a:gsLst>
                <a:gs pos="0">
                  <a:srgbClr val="9FC3FF"/>
                </a:gs>
                <a:gs pos="35000">
                  <a:srgbClr val="BDD5FF"/>
                </a:gs>
                <a:gs pos="100000">
                  <a:srgbClr val="E4EEFF"/>
                </a:gs>
              </a:gsLst>
              <a:lin ang="16200000" scaled="0"/>
            </a:gradFill>
            <a:ln w="9525" cap="flat" cmpd="sng">
              <a:solidFill>
                <a:srgbClr val="FF0000"/>
              </a:solidFill>
              <a:prstDash val="solid"/>
              <a:round/>
              <a:headEnd type="triangle" w="med" len="med"/>
              <a:tailEnd type="triangle" w="med" len="med"/>
            </a:ln>
            <a:effectLst>
              <a:outerShdw blurRad="40000" dist="20000" dir="5400000" rotWithShape="0">
                <a:srgbClr val="000000">
                  <a:alpha val="37647"/>
                </a:srgbClr>
              </a:outerShdw>
            </a:effectLst>
          </p:spPr>
        </p:cxnSp>
        <p:cxnSp>
          <p:nvCxnSpPr>
            <p:cNvPr id="39" name="Google Shape;141;p5">
              <a:extLst>
                <a:ext uri="{FF2B5EF4-FFF2-40B4-BE49-F238E27FC236}">
                  <a16:creationId xmlns:a16="http://schemas.microsoft.com/office/drawing/2014/main" id="{131E379A-41A5-2AF2-0ECD-332E323EBFE2}"/>
                </a:ext>
              </a:extLst>
            </p:cNvPr>
            <p:cNvCxnSpPr/>
            <p:nvPr/>
          </p:nvCxnSpPr>
          <p:spPr>
            <a:xfrm>
              <a:off x="8784860" y="5901062"/>
              <a:ext cx="318513" cy="587916"/>
            </a:xfrm>
            <a:prstGeom prst="straightConnector1">
              <a:avLst/>
            </a:prstGeom>
            <a:gradFill>
              <a:gsLst>
                <a:gs pos="0">
                  <a:srgbClr val="9FC3FF"/>
                </a:gs>
                <a:gs pos="35000">
                  <a:srgbClr val="BDD5FF"/>
                </a:gs>
                <a:gs pos="100000">
                  <a:srgbClr val="E4EEFF"/>
                </a:gs>
              </a:gsLst>
              <a:lin ang="16200000" scaled="0"/>
            </a:gradFill>
            <a:ln w="9525" cap="flat" cmpd="sng">
              <a:solidFill>
                <a:srgbClr val="FF0000"/>
              </a:solidFill>
              <a:prstDash val="solid"/>
              <a:round/>
              <a:headEnd type="triangle" w="med" len="med"/>
              <a:tailEnd type="triangle" w="med" len="med"/>
            </a:ln>
            <a:effectLst>
              <a:outerShdw blurRad="40000" dist="20000" dir="5400000" rotWithShape="0">
                <a:srgbClr val="000000">
                  <a:alpha val="37647"/>
                </a:srgbClr>
              </a:outerShdw>
            </a:effectLst>
          </p:spPr>
        </p:cxnSp>
        <p:cxnSp>
          <p:nvCxnSpPr>
            <p:cNvPr id="40" name="Google Shape;142;p5">
              <a:extLst>
                <a:ext uri="{FF2B5EF4-FFF2-40B4-BE49-F238E27FC236}">
                  <a16:creationId xmlns:a16="http://schemas.microsoft.com/office/drawing/2014/main" id="{05C650C5-C12E-4D42-2F70-AC57466F73BC}"/>
                </a:ext>
              </a:extLst>
            </p:cNvPr>
            <p:cNvCxnSpPr/>
            <p:nvPr/>
          </p:nvCxnSpPr>
          <p:spPr>
            <a:xfrm flipH="1">
              <a:off x="8178420" y="5900192"/>
              <a:ext cx="59450" cy="681062"/>
            </a:xfrm>
            <a:prstGeom prst="straightConnector1">
              <a:avLst/>
            </a:prstGeom>
            <a:gradFill>
              <a:gsLst>
                <a:gs pos="0">
                  <a:srgbClr val="9FC3FF"/>
                </a:gs>
                <a:gs pos="35000">
                  <a:srgbClr val="BDD5FF"/>
                </a:gs>
                <a:gs pos="100000">
                  <a:srgbClr val="E4EEFF"/>
                </a:gs>
              </a:gsLst>
              <a:lin ang="16200000" scaled="0"/>
            </a:gradFill>
            <a:ln w="9525" cap="flat" cmpd="sng">
              <a:solidFill>
                <a:srgbClr val="FF0000"/>
              </a:solidFill>
              <a:prstDash val="solid"/>
              <a:round/>
              <a:headEnd type="triangle" w="med" len="med"/>
              <a:tailEnd type="triangle" w="med" len="med"/>
            </a:ln>
            <a:effectLst>
              <a:outerShdw blurRad="40000" dist="20000" dir="5400000" rotWithShape="0">
                <a:srgbClr val="000000">
                  <a:alpha val="37647"/>
                </a:srgbClr>
              </a:outerShdw>
            </a:effectLst>
          </p:spPr>
        </p:cxnSp>
        <p:cxnSp>
          <p:nvCxnSpPr>
            <p:cNvPr id="41" name="Google Shape;143;p5">
              <a:extLst>
                <a:ext uri="{FF2B5EF4-FFF2-40B4-BE49-F238E27FC236}">
                  <a16:creationId xmlns:a16="http://schemas.microsoft.com/office/drawing/2014/main" id="{CB434E72-4FAE-9893-EDC7-981966E1DA62}"/>
                </a:ext>
              </a:extLst>
            </p:cNvPr>
            <p:cNvCxnSpPr/>
            <p:nvPr/>
          </p:nvCxnSpPr>
          <p:spPr>
            <a:xfrm>
              <a:off x="7210305" y="4817447"/>
              <a:ext cx="237188" cy="307258"/>
            </a:xfrm>
            <a:prstGeom prst="straightConnector1">
              <a:avLst/>
            </a:prstGeom>
            <a:gradFill>
              <a:gsLst>
                <a:gs pos="0">
                  <a:srgbClr val="9FC3FF"/>
                </a:gs>
                <a:gs pos="35000">
                  <a:srgbClr val="BDD5FF"/>
                </a:gs>
                <a:gs pos="100000">
                  <a:srgbClr val="E4EEFF"/>
                </a:gs>
              </a:gsLst>
              <a:lin ang="16200000" scaled="0"/>
            </a:gradFill>
            <a:ln w="9525" cap="flat" cmpd="sng">
              <a:solidFill>
                <a:srgbClr val="FF0000"/>
              </a:solidFill>
              <a:prstDash val="solid"/>
              <a:round/>
              <a:headEnd type="none" w="med" len="med"/>
              <a:tailEnd type="triangle" w="med" len="med"/>
            </a:ln>
            <a:effectLst>
              <a:outerShdw blurRad="40000" dist="20000" dir="5400000" rotWithShape="0">
                <a:srgbClr val="000000">
                  <a:alpha val="37647"/>
                </a:srgbClr>
              </a:outerShdw>
            </a:effectLst>
          </p:spPr>
        </p:cxnSp>
        <p:cxnSp>
          <p:nvCxnSpPr>
            <p:cNvPr id="42" name="Google Shape;144;p5">
              <a:extLst>
                <a:ext uri="{FF2B5EF4-FFF2-40B4-BE49-F238E27FC236}">
                  <a16:creationId xmlns:a16="http://schemas.microsoft.com/office/drawing/2014/main" id="{35BF2393-1AAA-1FA5-AF25-3E7970AFFC86}"/>
                </a:ext>
              </a:extLst>
            </p:cNvPr>
            <p:cNvCxnSpPr/>
            <p:nvPr/>
          </p:nvCxnSpPr>
          <p:spPr>
            <a:xfrm flipH="1">
              <a:off x="8433942" y="4679512"/>
              <a:ext cx="322203" cy="342622"/>
            </a:xfrm>
            <a:prstGeom prst="straightConnector1">
              <a:avLst/>
            </a:prstGeom>
            <a:gradFill>
              <a:gsLst>
                <a:gs pos="0">
                  <a:srgbClr val="9FC3FF"/>
                </a:gs>
                <a:gs pos="35000">
                  <a:srgbClr val="BDD5FF"/>
                </a:gs>
                <a:gs pos="100000">
                  <a:srgbClr val="E4EEFF"/>
                </a:gs>
              </a:gsLst>
              <a:lin ang="16200000" scaled="0"/>
            </a:gradFill>
            <a:ln w="9525" cap="flat" cmpd="sng">
              <a:solidFill>
                <a:srgbClr val="FF0000"/>
              </a:solidFill>
              <a:prstDash val="solid"/>
              <a:round/>
              <a:headEnd type="none" w="med" len="med"/>
              <a:tailEnd type="triangle" w="med" len="med"/>
            </a:ln>
            <a:effectLst>
              <a:outerShdw blurRad="40000" dist="20000" dir="5400000" rotWithShape="0">
                <a:srgbClr val="000000">
                  <a:alpha val="37647"/>
                </a:srgbClr>
              </a:outerShdw>
            </a:effectLst>
          </p:spPr>
        </p:cxnSp>
        <p:pic>
          <p:nvPicPr>
            <p:cNvPr id="43" name="Google Shape;145;p5">
              <a:extLst>
                <a:ext uri="{FF2B5EF4-FFF2-40B4-BE49-F238E27FC236}">
                  <a16:creationId xmlns:a16="http://schemas.microsoft.com/office/drawing/2014/main" id="{2B9F46FA-C69A-EF93-78AF-3FB543FF881B}"/>
                </a:ext>
              </a:extLst>
            </p:cNvPr>
            <p:cNvPicPr preferRelativeResize="0"/>
            <p:nvPr/>
          </p:nvPicPr>
          <p:blipFill rotWithShape="1">
            <a:blip r:embed="rId8">
              <a:alphaModFix/>
            </a:blip>
            <a:srcRect/>
            <a:stretch/>
          </p:blipFill>
          <p:spPr>
            <a:xfrm>
              <a:off x="9491754" y="5471991"/>
              <a:ext cx="713691" cy="713691"/>
            </a:xfrm>
            <a:prstGeom prst="rect">
              <a:avLst/>
            </a:prstGeom>
            <a:noFill/>
            <a:ln>
              <a:noFill/>
            </a:ln>
          </p:spPr>
        </p:pic>
        <p:cxnSp>
          <p:nvCxnSpPr>
            <p:cNvPr id="44" name="Google Shape;146;p5">
              <a:extLst>
                <a:ext uri="{FF2B5EF4-FFF2-40B4-BE49-F238E27FC236}">
                  <a16:creationId xmlns:a16="http://schemas.microsoft.com/office/drawing/2014/main" id="{C2478B01-B3D2-F4A6-F70E-5F646070E9F2}"/>
                </a:ext>
              </a:extLst>
            </p:cNvPr>
            <p:cNvCxnSpPr/>
            <p:nvPr/>
          </p:nvCxnSpPr>
          <p:spPr>
            <a:xfrm rot="10800000">
              <a:off x="9159444" y="5681275"/>
              <a:ext cx="490919" cy="294503"/>
            </a:xfrm>
            <a:prstGeom prst="straightConnector1">
              <a:avLst/>
            </a:prstGeom>
            <a:gradFill>
              <a:gsLst>
                <a:gs pos="0">
                  <a:srgbClr val="9FC3FF"/>
                </a:gs>
                <a:gs pos="35000">
                  <a:srgbClr val="BDD5FF"/>
                </a:gs>
                <a:gs pos="100000">
                  <a:srgbClr val="E4EEFF"/>
                </a:gs>
              </a:gsLst>
              <a:lin ang="16200000" scaled="0"/>
            </a:gradFill>
            <a:ln w="9525" cap="flat" cmpd="sng">
              <a:solidFill>
                <a:srgbClr val="4A7DBA"/>
              </a:solidFill>
              <a:prstDash val="solid"/>
              <a:round/>
              <a:headEnd type="none" w="med" len="med"/>
              <a:tailEnd type="none" w="med" len="med"/>
            </a:ln>
            <a:effectLst>
              <a:outerShdw blurRad="40000" dist="20000" dir="5400000" rotWithShape="0">
                <a:srgbClr val="000000">
                  <a:alpha val="37647"/>
                </a:srgbClr>
              </a:outerShdw>
            </a:effectLst>
          </p:spPr>
        </p:cxnSp>
        <p:cxnSp>
          <p:nvCxnSpPr>
            <p:cNvPr id="45" name="Google Shape;147;p5">
              <a:extLst>
                <a:ext uri="{FF2B5EF4-FFF2-40B4-BE49-F238E27FC236}">
                  <a16:creationId xmlns:a16="http://schemas.microsoft.com/office/drawing/2014/main" id="{34EF99D9-B2AE-1181-BE2E-FE1B11DF0B90}"/>
                </a:ext>
              </a:extLst>
            </p:cNvPr>
            <p:cNvCxnSpPr/>
            <p:nvPr/>
          </p:nvCxnSpPr>
          <p:spPr>
            <a:xfrm>
              <a:off x="9146990" y="5757733"/>
              <a:ext cx="417151" cy="257785"/>
            </a:xfrm>
            <a:prstGeom prst="straightConnector1">
              <a:avLst/>
            </a:prstGeom>
            <a:gradFill>
              <a:gsLst>
                <a:gs pos="0">
                  <a:srgbClr val="9FC3FF"/>
                </a:gs>
                <a:gs pos="35000">
                  <a:srgbClr val="BDD5FF"/>
                </a:gs>
                <a:gs pos="100000">
                  <a:srgbClr val="E4EEFF"/>
                </a:gs>
              </a:gsLst>
              <a:lin ang="16200000" scaled="0"/>
            </a:gradFill>
            <a:ln w="9525" cap="flat" cmpd="sng">
              <a:solidFill>
                <a:srgbClr val="FF0000"/>
              </a:solidFill>
              <a:prstDash val="solid"/>
              <a:round/>
              <a:headEnd type="none" w="med" len="med"/>
              <a:tailEnd type="triangle" w="med" len="med"/>
            </a:ln>
            <a:effectLst>
              <a:outerShdw blurRad="40000" dist="20000" dir="5400000" rotWithShape="0">
                <a:srgbClr val="000000">
                  <a:alpha val="37647"/>
                </a:srgbClr>
              </a:outerShdw>
            </a:effectLst>
          </p:spPr>
        </p:cxnSp>
        <p:pic>
          <p:nvPicPr>
            <p:cNvPr id="46" name="Google Shape;148;p5">
              <a:extLst>
                <a:ext uri="{FF2B5EF4-FFF2-40B4-BE49-F238E27FC236}">
                  <a16:creationId xmlns:a16="http://schemas.microsoft.com/office/drawing/2014/main" id="{D7FA93B1-6FE0-3BF4-3632-AD5A0916794F}"/>
                </a:ext>
              </a:extLst>
            </p:cNvPr>
            <p:cNvPicPr preferRelativeResize="0"/>
            <p:nvPr/>
          </p:nvPicPr>
          <p:blipFill rotWithShape="1">
            <a:blip r:embed="rId10">
              <a:alphaModFix/>
            </a:blip>
            <a:srcRect/>
            <a:stretch/>
          </p:blipFill>
          <p:spPr>
            <a:xfrm>
              <a:off x="8936985" y="6457544"/>
              <a:ext cx="646042" cy="438173"/>
            </a:xfrm>
            <a:prstGeom prst="rect">
              <a:avLst/>
            </a:prstGeom>
            <a:noFill/>
            <a:ln>
              <a:noFill/>
            </a:ln>
          </p:spPr>
        </p:pic>
        <p:pic>
          <p:nvPicPr>
            <p:cNvPr id="47" name="Google Shape;149;p5">
              <a:extLst>
                <a:ext uri="{FF2B5EF4-FFF2-40B4-BE49-F238E27FC236}">
                  <a16:creationId xmlns:a16="http://schemas.microsoft.com/office/drawing/2014/main" id="{B18B2EF5-A88A-9A08-1A33-608A8448568F}"/>
                </a:ext>
              </a:extLst>
            </p:cNvPr>
            <p:cNvPicPr preferRelativeResize="0"/>
            <p:nvPr/>
          </p:nvPicPr>
          <p:blipFill rotWithShape="1">
            <a:blip r:embed="rId10">
              <a:alphaModFix/>
            </a:blip>
            <a:srcRect/>
            <a:stretch/>
          </p:blipFill>
          <p:spPr>
            <a:xfrm>
              <a:off x="7751299" y="6466093"/>
              <a:ext cx="646042" cy="438173"/>
            </a:xfrm>
            <a:prstGeom prst="rect">
              <a:avLst/>
            </a:prstGeom>
            <a:noFill/>
            <a:ln>
              <a:noFill/>
            </a:ln>
          </p:spPr>
        </p:pic>
        <p:pic>
          <p:nvPicPr>
            <p:cNvPr id="48" name="Google Shape;150;p5">
              <a:extLst>
                <a:ext uri="{FF2B5EF4-FFF2-40B4-BE49-F238E27FC236}">
                  <a16:creationId xmlns:a16="http://schemas.microsoft.com/office/drawing/2014/main" id="{995FFC27-E73C-CAB2-1E1E-47038C578C29}"/>
                </a:ext>
              </a:extLst>
            </p:cNvPr>
            <p:cNvPicPr preferRelativeResize="0"/>
            <p:nvPr/>
          </p:nvPicPr>
          <p:blipFill rotWithShape="1">
            <a:blip r:embed="rId10">
              <a:alphaModFix/>
            </a:blip>
            <a:srcRect/>
            <a:stretch/>
          </p:blipFill>
          <p:spPr>
            <a:xfrm>
              <a:off x="6884349" y="6662418"/>
              <a:ext cx="646042" cy="438173"/>
            </a:xfrm>
            <a:prstGeom prst="rect">
              <a:avLst/>
            </a:prstGeom>
            <a:noFill/>
            <a:ln>
              <a:noFill/>
            </a:ln>
          </p:spPr>
        </p:pic>
        <p:cxnSp>
          <p:nvCxnSpPr>
            <p:cNvPr id="49" name="Google Shape;151;p5">
              <a:extLst>
                <a:ext uri="{FF2B5EF4-FFF2-40B4-BE49-F238E27FC236}">
                  <a16:creationId xmlns:a16="http://schemas.microsoft.com/office/drawing/2014/main" id="{58C5200F-EE3A-C63D-93F8-06D27915BFA4}"/>
                </a:ext>
              </a:extLst>
            </p:cNvPr>
            <p:cNvCxnSpPr/>
            <p:nvPr/>
          </p:nvCxnSpPr>
          <p:spPr>
            <a:xfrm flipH="1">
              <a:off x="7299278" y="5923105"/>
              <a:ext cx="405519" cy="629530"/>
            </a:xfrm>
            <a:prstGeom prst="straightConnector1">
              <a:avLst/>
            </a:prstGeom>
            <a:gradFill>
              <a:gsLst>
                <a:gs pos="0">
                  <a:srgbClr val="9FC3FF"/>
                </a:gs>
                <a:gs pos="35000">
                  <a:srgbClr val="BDD5FF"/>
                </a:gs>
                <a:gs pos="100000">
                  <a:srgbClr val="E4EEFF"/>
                </a:gs>
              </a:gsLst>
              <a:lin ang="16200000" scaled="0"/>
            </a:gradFill>
            <a:ln w="9525" cap="flat" cmpd="sng">
              <a:solidFill>
                <a:srgbClr val="FF0000"/>
              </a:solidFill>
              <a:prstDash val="solid"/>
              <a:round/>
              <a:headEnd type="triangle" w="med" len="med"/>
              <a:tailEnd type="triangle" w="med" len="med"/>
            </a:ln>
            <a:effectLst>
              <a:outerShdw blurRad="40000" dist="20000" dir="5400000" rotWithShape="0">
                <a:srgbClr val="000000">
                  <a:alpha val="37647"/>
                </a:srgbClr>
              </a:outerShdw>
            </a:effectLst>
          </p:spPr>
        </p:cxnSp>
        <p:sp>
          <p:nvSpPr>
            <p:cNvPr id="50" name="Google Shape;152;p5">
              <a:extLst>
                <a:ext uri="{FF2B5EF4-FFF2-40B4-BE49-F238E27FC236}">
                  <a16:creationId xmlns:a16="http://schemas.microsoft.com/office/drawing/2014/main" id="{088033F4-5CDB-D0FB-D918-09D1B6EE1CB5}"/>
                </a:ext>
              </a:extLst>
            </p:cNvPr>
            <p:cNvSpPr txBox="1"/>
            <p:nvPr/>
          </p:nvSpPr>
          <p:spPr>
            <a:xfrm>
              <a:off x="8706007" y="6257326"/>
              <a:ext cx="1162347" cy="315563"/>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F3F3F"/>
                </a:buClr>
                <a:buSzPts val="1100"/>
                <a:buFont typeface="Arial"/>
                <a:buNone/>
              </a:pPr>
              <a:r>
                <a:rPr lang="en-US" sz="1100" b="0" i="0" u="none" strike="noStrike" cap="none">
                  <a:solidFill>
                    <a:srgbClr val="3F3F3F"/>
                  </a:solidFill>
                  <a:latin typeface="Arial"/>
                  <a:ea typeface="Arial"/>
                  <a:cs typeface="Arial"/>
                  <a:sym typeface="Arial"/>
                </a:rPr>
                <a:t>Roof-top solar</a:t>
              </a:r>
              <a:endParaRPr sz="1100" b="0" i="0" u="none" strike="noStrike" cap="none">
                <a:solidFill>
                  <a:srgbClr val="3F3F3F"/>
                </a:solidFill>
                <a:latin typeface="Arial"/>
                <a:ea typeface="Arial"/>
                <a:cs typeface="Arial"/>
                <a:sym typeface="Arial"/>
              </a:endParaRPr>
            </a:p>
          </p:txBody>
        </p:sp>
        <p:sp>
          <p:nvSpPr>
            <p:cNvPr id="51" name="Google Shape;153;p5">
              <a:extLst>
                <a:ext uri="{FF2B5EF4-FFF2-40B4-BE49-F238E27FC236}">
                  <a16:creationId xmlns:a16="http://schemas.microsoft.com/office/drawing/2014/main" id="{7D0F1E27-24A8-9664-02D3-F46202CA89ED}"/>
                </a:ext>
              </a:extLst>
            </p:cNvPr>
            <p:cNvSpPr txBox="1"/>
            <p:nvPr/>
          </p:nvSpPr>
          <p:spPr>
            <a:xfrm>
              <a:off x="6591417" y="3803482"/>
              <a:ext cx="1972234" cy="315563"/>
            </a:xfrm>
            <a:prstGeom prst="rect">
              <a:avLst/>
            </a:prstGeom>
            <a:noFill/>
            <a:ln>
              <a:noFill/>
            </a:ln>
          </p:spPr>
          <p:txBody>
            <a:bodyPr spcFirstLastPara="1" wrap="square" lIns="0" tIns="0" rIns="0" bIns="0" anchor="ctr" anchorCtr="0">
              <a:noAutofit/>
            </a:bodyPr>
            <a:lstStyle/>
            <a:p>
              <a:pPr marL="0" marR="0" lvl="0" indent="0" algn="ctr" rtl="0">
                <a:lnSpc>
                  <a:spcPct val="125000"/>
                </a:lnSpc>
                <a:spcBef>
                  <a:spcPts val="0"/>
                </a:spcBef>
                <a:spcAft>
                  <a:spcPts val="0"/>
                </a:spcAft>
                <a:buClr>
                  <a:srgbClr val="3F3F3F"/>
                </a:buClr>
                <a:buSzPts val="1100"/>
                <a:buFont typeface="Arial"/>
                <a:buNone/>
              </a:pPr>
              <a:r>
                <a:rPr lang="en-US" sz="1100" b="0" i="0" u="none" strike="noStrike" cap="none">
                  <a:solidFill>
                    <a:srgbClr val="3F3F3F"/>
                  </a:solidFill>
                  <a:latin typeface="Arial"/>
                  <a:ea typeface="Arial"/>
                  <a:cs typeface="Arial"/>
                  <a:sym typeface="Arial"/>
                </a:rPr>
                <a:t>Reduced fuel consumption</a:t>
              </a:r>
              <a:endParaRPr sz="1100" b="0" i="0" u="none" strike="noStrike" cap="none">
                <a:solidFill>
                  <a:srgbClr val="3F3F3F"/>
                </a:solidFill>
                <a:latin typeface="Arial"/>
                <a:ea typeface="Arial"/>
                <a:cs typeface="Arial"/>
                <a:sym typeface="Arial"/>
              </a:endParaRPr>
            </a:p>
          </p:txBody>
        </p:sp>
        <p:sp>
          <p:nvSpPr>
            <p:cNvPr id="52" name="Google Shape;154;p5">
              <a:extLst>
                <a:ext uri="{FF2B5EF4-FFF2-40B4-BE49-F238E27FC236}">
                  <a16:creationId xmlns:a16="http://schemas.microsoft.com/office/drawing/2014/main" id="{8177962C-145A-0AE5-ACA1-F834C09EE523}"/>
                </a:ext>
              </a:extLst>
            </p:cNvPr>
            <p:cNvSpPr txBox="1"/>
            <p:nvPr/>
          </p:nvSpPr>
          <p:spPr>
            <a:xfrm>
              <a:off x="9623092" y="6132554"/>
              <a:ext cx="947148" cy="315563"/>
            </a:xfrm>
            <a:prstGeom prst="rect">
              <a:avLst/>
            </a:prstGeom>
            <a:noFill/>
            <a:ln>
              <a:noFill/>
            </a:ln>
          </p:spPr>
          <p:txBody>
            <a:bodyPr spcFirstLastPara="1" wrap="square" lIns="0" tIns="0" rIns="0" bIns="0" anchor="ctr" anchorCtr="0">
              <a:noAutofit/>
            </a:bodyPr>
            <a:lstStyle/>
            <a:p>
              <a:pPr marL="0" marR="0" lvl="0" indent="0" algn="ctr" rtl="0">
                <a:lnSpc>
                  <a:spcPct val="125000"/>
                </a:lnSpc>
                <a:spcBef>
                  <a:spcPts val="0"/>
                </a:spcBef>
                <a:spcAft>
                  <a:spcPts val="0"/>
                </a:spcAft>
                <a:buClr>
                  <a:srgbClr val="3F3F3F"/>
                </a:buClr>
                <a:buSzPts val="1100"/>
                <a:buFont typeface="Arial"/>
                <a:buNone/>
              </a:pPr>
              <a:r>
                <a:rPr lang="en-US" sz="1100" dirty="0">
                  <a:solidFill>
                    <a:srgbClr val="3F3F3F"/>
                  </a:solidFill>
                  <a:latin typeface="Arial"/>
                  <a:ea typeface="Arial"/>
                  <a:cs typeface="Arial"/>
                  <a:sym typeface="Arial"/>
                </a:rPr>
                <a:t>Resort hotel</a:t>
              </a:r>
              <a:endParaRPr sz="1100" b="0" i="0" u="none" strike="noStrike" cap="none" dirty="0">
                <a:solidFill>
                  <a:srgbClr val="3F3F3F"/>
                </a:solidFill>
                <a:latin typeface="Arial"/>
                <a:ea typeface="Arial"/>
                <a:cs typeface="Arial"/>
                <a:sym typeface="Arial"/>
              </a:endParaRPr>
            </a:p>
          </p:txBody>
        </p:sp>
        <p:sp>
          <p:nvSpPr>
            <p:cNvPr id="53" name="Google Shape;155;p5">
              <a:extLst>
                <a:ext uri="{FF2B5EF4-FFF2-40B4-BE49-F238E27FC236}">
                  <a16:creationId xmlns:a16="http://schemas.microsoft.com/office/drawing/2014/main" id="{83786403-1003-348C-492C-9A548FBDCEC1}"/>
                </a:ext>
              </a:extLst>
            </p:cNvPr>
            <p:cNvSpPr txBox="1"/>
            <p:nvPr/>
          </p:nvSpPr>
          <p:spPr>
            <a:xfrm>
              <a:off x="8433942" y="4559285"/>
              <a:ext cx="1234643" cy="315563"/>
            </a:xfrm>
            <a:prstGeom prst="rect">
              <a:avLst/>
            </a:prstGeom>
            <a:noFill/>
            <a:ln>
              <a:noFill/>
            </a:ln>
          </p:spPr>
          <p:txBody>
            <a:bodyPr spcFirstLastPara="1" wrap="square" lIns="0" tIns="0" rIns="0" bIns="0" anchor="ctr" anchorCtr="0">
              <a:noAutofit/>
            </a:bodyPr>
            <a:lstStyle/>
            <a:p>
              <a:pPr marL="0" marR="0" lvl="0" indent="0" algn="ctr" rtl="0">
                <a:lnSpc>
                  <a:spcPct val="125000"/>
                </a:lnSpc>
                <a:spcBef>
                  <a:spcPts val="0"/>
                </a:spcBef>
                <a:spcAft>
                  <a:spcPts val="0"/>
                </a:spcAft>
                <a:buClr>
                  <a:srgbClr val="3F3F3F"/>
                </a:buClr>
                <a:buSzPts val="1100"/>
                <a:buFont typeface="Arial"/>
                <a:buNone/>
              </a:pPr>
              <a:r>
                <a:rPr lang="en-US" sz="1100" dirty="0">
                  <a:solidFill>
                    <a:srgbClr val="3F3F3F"/>
                  </a:solidFill>
                  <a:latin typeface="Arial"/>
                  <a:ea typeface="Arial"/>
                  <a:cs typeface="Arial"/>
                  <a:sym typeface="Arial"/>
                </a:rPr>
                <a:t>Diesel Generation </a:t>
              </a:r>
              <a:endParaRPr sz="1100" b="0" i="0" u="none" strike="noStrike" cap="none" dirty="0">
                <a:solidFill>
                  <a:srgbClr val="3F3F3F"/>
                </a:solidFill>
                <a:latin typeface="Arial"/>
                <a:ea typeface="Arial"/>
                <a:cs typeface="Arial"/>
                <a:sym typeface="Arial"/>
              </a:endParaRPr>
            </a:p>
          </p:txBody>
        </p:sp>
      </p:grpSp>
      <p:pic>
        <p:nvPicPr>
          <p:cNvPr id="60" name="Google Shape;241;p11">
            <a:extLst>
              <a:ext uri="{FF2B5EF4-FFF2-40B4-BE49-F238E27FC236}">
                <a16:creationId xmlns:a16="http://schemas.microsoft.com/office/drawing/2014/main" id="{37ED1453-DE96-3F5A-5FDC-91C4C6F77501}"/>
              </a:ext>
            </a:extLst>
          </p:cNvPr>
          <p:cNvPicPr preferRelativeResize="0">
            <a:picLocks/>
          </p:cNvPicPr>
          <p:nvPr/>
        </p:nvPicPr>
        <p:blipFill rotWithShape="1">
          <a:blip r:embed="rId11">
            <a:alphaModFix/>
          </a:blip>
          <a:srcRect l="72615" t="53174" r="6496" b="19983"/>
          <a:stretch>
            <a:fillRect/>
          </a:stretch>
        </p:blipFill>
        <p:spPr>
          <a:xfrm>
            <a:off x="9205978" y="4224988"/>
            <a:ext cx="1346857" cy="1106866"/>
          </a:xfrm>
          <a:prstGeom prst="rect">
            <a:avLst/>
          </a:prstGeom>
          <a:noFill/>
          <a:ln>
            <a:noFill/>
          </a:ln>
        </p:spPr>
      </p:pic>
    </p:spTree>
    <p:extLst>
      <p:ext uri="{BB962C8B-B14F-4D97-AF65-F5344CB8AC3E}">
        <p14:creationId xmlns:p14="http://schemas.microsoft.com/office/powerpoint/2010/main" val="16698305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A8B6610-2A07-974C-77ED-088300FB9677}"/>
              </a:ext>
            </a:extLst>
          </p:cNvPr>
          <p:cNvSpPr>
            <a:spLocks noGrp="1"/>
          </p:cNvSpPr>
          <p:nvPr>
            <p:ph type="title"/>
          </p:nvPr>
        </p:nvSpPr>
        <p:spPr/>
        <p:txBody>
          <a:bodyPr/>
          <a:lstStyle/>
          <a:p>
            <a:r>
              <a:rPr lang="ja-JP" altLang="ja-JP" dirty="0"/>
              <a:t>モデルの定式化</a:t>
            </a:r>
            <a:endParaRPr kumimoji="1" lang="ja-JP" altLang="en-US" dirty="0"/>
          </a:p>
        </p:txBody>
      </p:sp>
      <mc:AlternateContent xmlns:mc="http://schemas.openxmlformats.org/markup-compatibility/2006" xmlns:a14="http://schemas.microsoft.com/office/drawing/2010/main">
        <mc:Choice Requires="a14">
          <p:sp>
            <p:nvSpPr>
              <p:cNvPr id="3" name="テキスト プレースホルダー 2">
                <a:extLst>
                  <a:ext uri="{FF2B5EF4-FFF2-40B4-BE49-F238E27FC236}">
                    <a16:creationId xmlns:a16="http://schemas.microsoft.com/office/drawing/2014/main" id="{A59936CF-8CD3-BFD4-9A88-54C75EC45DBC}"/>
                  </a:ext>
                </a:extLst>
              </p:cNvPr>
              <p:cNvSpPr>
                <a:spLocks noGrp="1"/>
              </p:cNvSpPr>
              <p:nvPr>
                <p:ph type="body" sz="quarter" idx="12"/>
              </p:nvPr>
            </p:nvSpPr>
            <p:spPr/>
            <p:txBody>
              <a:bodyPr/>
              <a:lstStyle/>
              <a:p>
                <a:r>
                  <a:rPr lang="ja-JP" altLang="ja-JP" dirty="0"/>
                  <a:t>目的関数は、各技術 </a:t>
                </a:r>
                <a14:m>
                  <m:oMath xmlns:m="http://schemas.openxmlformats.org/officeDocument/2006/math">
                    <m:r>
                      <a:rPr lang="ja-JP" altLang="ja-JP" i="1" dirty="0" smtClean="0">
                        <a:latin typeface="Cambria Math" panose="02040503050406030204" pitchFamily="18" charset="0"/>
                      </a:rPr>
                      <m:t>𝑡</m:t>
                    </m:r>
                  </m:oMath>
                </a14:m>
                <a:r>
                  <a:rPr lang="ja-JP" altLang="ja-JP" dirty="0"/>
                  <a:t> の設備容量 </a:t>
                </a:r>
                <a14:m>
                  <m:oMath xmlns:m="http://schemas.openxmlformats.org/officeDocument/2006/math">
                    <m:r>
                      <a:rPr lang="ja-JP" altLang="ja-JP" i="1" dirty="0" smtClean="0">
                        <a:latin typeface="Cambria Math" panose="02040503050406030204" pitchFamily="18" charset="0"/>
                      </a:rPr>
                      <m:t>𝐶𝑎𝑝</m:t>
                    </m:r>
                  </m:oMath>
                </a14:m>
                <a:r>
                  <a:rPr lang="ja-JP" altLang="ja-JP" dirty="0"/>
                  <a:t> に伴う年経費と、各時刻 </a:t>
                </a:r>
                <a14:m>
                  <m:oMath xmlns:m="http://schemas.openxmlformats.org/officeDocument/2006/math">
                    <m:r>
                      <a:rPr lang="ja-JP" altLang="ja-JP" i="1" dirty="0" smtClean="0">
                        <a:latin typeface="Cambria Math" panose="02040503050406030204" pitchFamily="18" charset="0"/>
                      </a:rPr>
                      <m:t>𝑝</m:t>
                    </m:r>
                  </m:oMath>
                </a14:m>
                <a:r>
                  <a:rPr lang="ja-JP" altLang="ja-JP" dirty="0"/>
                  <a:t> における発電活動 </a:t>
                </a:r>
                <a14:m>
                  <m:oMath xmlns:m="http://schemas.openxmlformats.org/officeDocument/2006/math">
                    <m:r>
                      <a:rPr lang="ja-JP" altLang="ja-JP" i="1" dirty="0" smtClean="0">
                        <a:latin typeface="Cambria Math" panose="02040503050406030204" pitchFamily="18" charset="0"/>
                      </a:rPr>
                      <m:t>𝐴𝑐𝑡</m:t>
                    </m:r>
                  </m:oMath>
                </a14:m>
                <a:r>
                  <a:rPr lang="ja-JP" altLang="ja-JP" dirty="0"/>
                  <a:t> に伴う変動費の総和を最小化するものである。</a:t>
                </a:r>
                <a:endParaRPr lang="en-US" altLang="ja-JP" dirty="0"/>
              </a:p>
              <a:p>
                <a:endParaRPr lang="ja-JP" altLang="ja-JP" dirty="0"/>
              </a:p>
              <a:p>
                <a:endParaRPr lang="ja-JP" altLang="ja-JP" dirty="0"/>
              </a:p>
              <a:p>
                <a:r>
                  <a:rPr lang="ja-JP" altLang="ja-JP" dirty="0"/>
                  <a:t>ここで、需給バランス制約の双対変数（Dual Variable）として得られる影の価格</a:t>
                </a:r>
                <a:endParaRPr lang="en-US" altLang="ja-JP" dirty="0"/>
              </a:p>
              <a:p>
                <a:endParaRPr lang="en-US" altLang="ja-JP" dirty="0"/>
              </a:p>
              <a:p>
                <a:endParaRPr lang="en-US" altLang="ja-JP" dirty="0"/>
              </a:p>
              <a:p>
                <a14:m>
                  <m:oMath xmlns:m="http://schemas.openxmlformats.org/officeDocument/2006/math">
                    <m:sSub>
                      <m:sSubPr>
                        <m:ctrlPr>
                          <a:rPr lang="ja-JP" altLang="en-US" i="1">
                            <a:latin typeface="Cambria Math" panose="02040503050406030204" pitchFamily="18" charset="0"/>
                          </a:rPr>
                        </m:ctrlPr>
                      </m:sSubPr>
                      <m:e>
                        <m:r>
                          <a:rPr lang="ja-JP" altLang="en-US" i="1">
                            <a:latin typeface="Cambria Math" panose="02040503050406030204" pitchFamily="18" charset="0"/>
                          </a:rPr>
                          <m:t>𝜆</m:t>
                        </m:r>
                      </m:e>
                      <m:sub>
                        <m:r>
                          <a:rPr lang="ja-JP" altLang="en-US" i="1">
                            <a:latin typeface="Cambria Math" panose="02040503050406030204" pitchFamily="18" charset="0"/>
                          </a:rPr>
                          <m:t>𝑛</m:t>
                        </m:r>
                      </m:sub>
                    </m:sSub>
                    <m:d>
                      <m:dPr>
                        <m:ctrlPr>
                          <a:rPr lang="ja-JP" altLang="en-US" i="1">
                            <a:latin typeface="Cambria Math" panose="02040503050406030204" pitchFamily="18" charset="0"/>
                          </a:rPr>
                        </m:ctrlPr>
                      </m:dPr>
                      <m:e>
                        <m:r>
                          <a:rPr lang="ja-JP" altLang="en-US" i="1">
                            <a:latin typeface="Cambria Math" panose="02040503050406030204" pitchFamily="18" charset="0"/>
                          </a:rPr>
                          <m:t>𝑡</m:t>
                        </m:r>
                      </m:e>
                    </m:d>
                  </m:oMath>
                </a14:m>
                <a:r>
                  <a:rPr lang="ja-JP" altLang="ja-JP" dirty="0"/>
                  <a:t>は、ノード </a:t>
                </a:r>
                <a14:m>
                  <m:oMath xmlns:m="http://schemas.openxmlformats.org/officeDocument/2006/math">
                    <m:r>
                      <a:rPr lang="ja-JP" altLang="ja-JP" i="1" dirty="0" smtClean="0">
                        <a:latin typeface="Cambria Math" panose="02040503050406030204" pitchFamily="18" charset="0"/>
                      </a:rPr>
                      <m:t>𝑛</m:t>
                    </m:r>
                  </m:oMath>
                </a14:m>
                <a:r>
                  <a:rPr lang="ja-JP" altLang="ja-JP" dirty="0"/>
                  <a:t> における電力のシステム限界価値を意味</a:t>
                </a:r>
                <a:r>
                  <a:rPr lang="ja-JP" altLang="en-US" dirty="0"/>
                  <a:t>する</a:t>
                </a:r>
                <a:r>
                  <a:rPr lang="ja-JP" altLang="ja-JP" dirty="0"/>
                  <a:t>。</a:t>
                </a:r>
                <a:endParaRPr lang="en-US" altLang="ja-JP" dirty="0"/>
              </a:p>
              <a:p>
                <a:endParaRPr lang="en-US" altLang="ja-JP" dirty="0"/>
              </a:p>
            </p:txBody>
          </p:sp>
        </mc:Choice>
        <mc:Fallback xmlns="">
          <p:sp>
            <p:nvSpPr>
              <p:cNvPr id="3" name="テキスト プレースホルダー 2">
                <a:extLst>
                  <a:ext uri="{FF2B5EF4-FFF2-40B4-BE49-F238E27FC236}">
                    <a16:creationId xmlns:a16="http://schemas.microsoft.com/office/drawing/2014/main" id="{A59936CF-8CD3-BFD4-9A88-54C75EC45DBC}"/>
                  </a:ext>
                </a:extLst>
              </p:cNvPr>
              <p:cNvSpPr>
                <a:spLocks noGrp="1" noRot="1" noChangeAspect="1" noMove="1" noResize="1" noEditPoints="1" noAdjustHandles="1" noChangeArrowheads="1" noChangeShapeType="1" noTextEdit="1"/>
              </p:cNvSpPr>
              <p:nvPr>
                <p:ph type="body" sz="quarter" idx="12"/>
              </p:nvPr>
            </p:nvSpPr>
            <p:spPr>
              <a:blipFill>
                <a:blip r:embed="rId2"/>
                <a:stretch>
                  <a:fillRect l="-365" t="-107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C36F1233-8E3F-3599-62FF-D049D9BAD5DA}"/>
                  </a:ext>
                </a:extLst>
              </p:cNvPr>
              <p:cNvSpPr txBox="1"/>
              <p:nvPr/>
            </p:nvSpPr>
            <p:spPr>
              <a:xfrm>
                <a:off x="2665620" y="1534872"/>
                <a:ext cx="5362160" cy="774058"/>
              </a:xfrm>
              <a:prstGeom prst="rect">
                <a:avLst/>
              </a:prstGeom>
              <a:noFill/>
            </p:spPr>
            <p:txBody>
              <a:bodyPr wrap="square">
                <a:spAutoFit/>
              </a:bodyPr>
              <a:lstStyle/>
              <a:p>
                <a:pPr/>
                <a14:m>
                  <m:oMathPara xmlns:m="http://schemas.openxmlformats.org/officeDocument/2006/math">
                    <m:oMath>
                      <m:func>
                        <m:funcPr>
                          <m:ctrlPr>
                            <a:rPr lang="ja-JP" altLang="en-US" sz="1600" i="0">
                              <a:latin typeface="Cambria Math" panose="02040503050406030204" pitchFamily="18" charset="0"/>
                            </a:rPr>
                          </m:ctrlPr>
                        </m:funcPr>
                        <m:fName>
                          <m:r>
                            <m:rPr>
                              <m:sty m:val="p"/>
                            </m:rPr>
                            <a:rPr lang="ja-JP" altLang="en-US" sz="1600" i="0">
                              <a:latin typeface="Cambria Math" panose="02040503050406030204" pitchFamily="18" charset="0"/>
                            </a:rPr>
                            <m:t>min</m:t>
                          </m:r>
                        </m:fName>
                        <m:e>
                          <m:nary>
                            <m:naryPr>
                              <m:chr m:val="∑"/>
                              <m:limLoc m:val="undOvr"/>
                              <m:supHide m:val="on"/>
                              <m:ctrlPr>
                                <a:rPr lang="ja-JP" altLang="en-US" sz="1600" i="1">
                                  <a:latin typeface="Cambria Math" panose="02040503050406030204" pitchFamily="18" charset="0"/>
                                </a:rPr>
                              </m:ctrlPr>
                            </m:naryPr>
                            <m:sub>
                              <m:r>
                                <a:rPr lang="ja-JP" altLang="en-US" sz="1600" i="1">
                                  <a:latin typeface="Cambria Math" panose="02040503050406030204" pitchFamily="18" charset="0"/>
                                </a:rPr>
                                <m:t>𝑝</m:t>
                              </m:r>
                              <m:r>
                                <a:rPr lang="ja-JP" altLang="en-US" sz="1600" i="0">
                                  <a:latin typeface="Cambria Math" panose="02040503050406030204" pitchFamily="18" charset="0"/>
                                </a:rPr>
                                <m:t>∈</m:t>
                              </m:r>
                              <m:r>
                                <a:rPr lang="ja-JP" altLang="en-US" sz="1600" i="1">
                                  <a:latin typeface="Cambria Math" panose="02040503050406030204" pitchFamily="18" charset="0"/>
                                </a:rPr>
                                <m:t>𝑃</m:t>
                              </m:r>
                            </m:sub>
                            <m:sup/>
                            <m:e>
                              <m:f>
                                <m:fPr>
                                  <m:ctrlPr>
                                    <a:rPr lang="ja-JP" altLang="en-US" sz="1600" i="0">
                                      <a:latin typeface="Cambria Math" panose="02040503050406030204" pitchFamily="18" charset="0"/>
                                    </a:rPr>
                                  </m:ctrlPr>
                                </m:fPr>
                                <m:num>
                                  <m:r>
                                    <a:rPr lang="ja-JP" altLang="en-US" sz="1600" i="0">
                                      <a:latin typeface="Cambria Math" panose="02040503050406030204" pitchFamily="18" charset="0"/>
                                    </a:rPr>
                                    <m:t>1</m:t>
                                  </m:r>
                                </m:num>
                                <m:den>
                                  <m:sSup>
                                    <m:sSupPr>
                                      <m:ctrlPr>
                                        <a:rPr lang="ja-JP" altLang="en-US" sz="1600" i="1">
                                          <a:latin typeface="Cambria Math" panose="02040503050406030204" pitchFamily="18" charset="0"/>
                                        </a:rPr>
                                      </m:ctrlPr>
                                    </m:sSupPr>
                                    <m:e>
                                      <m:d>
                                        <m:dPr>
                                          <m:ctrlPr>
                                            <a:rPr lang="ja-JP" altLang="en-US" sz="1600" i="0">
                                              <a:latin typeface="Cambria Math" panose="02040503050406030204" pitchFamily="18" charset="0"/>
                                            </a:rPr>
                                          </m:ctrlPr>
                                        </m:dPr>
                                        <m:e>
                                          <m:r>
                                            <a:rPr lang="ja-JP" altLang="en-US" sz="1600" i="0">
                                              <a:latin typeface="Cambria Math" panose="02040503050406030204" pitchFamily="18" charset="0"/>
                                            </a:rPr>
                                            <m:t>1+</m:t>
                                          </m:r>
                                          <m:r>
                                            <a:rPr lang="ja-JP" altLang="en-US" sz="1600" i="1">
                                              <a:latin typeface="Cambria Math" panose="02040503050406030204" pitchFamily="18" charset="0"/>
                                            </a:rPr>
                                            <m:t>𝑟</m:t>
                                          </m:r>
                                        </m:e>
                                      </m:d>
                                    </m:e>
                                    <m:sup>
                                      <m:r>
                                        <a:rPr lang="ja-JP" altLang="en-US" sz="1600" i="1">
                                          <a:latin typeface="Cambria Math" panose="02040503050406030204" pitchFamily="18" charset="0"/>
                                        </a:rPr>
                                        <m:t>𝑝</m:t>
                                      </m:r>
                                    </m:sup>
                                  </m:sSup>
                                </m:den>
                              </m:f>
                            </m:e>
                          </m:nary>
                        </m:e>
                      </m:func>
                      <m:d>
                        <m:dPr>
                          <m:ctrlPr>
                            <a:rPr lang="ja-JP" altLang="en-US" sz="1600" i="1">
                              <a:latin typeface="Cambria Math" panose="02040503050406030204" pitchFamily="18" charset="0"/>
                            </a:rPr>
                          </m:ctrlPr>
                        </m:dPr>
                        <m:e>
                          <m:nary>
                            <m:naryPr>
                              <m:chr m:val="∑"/>
                              <m:limLoc m:val="undOvr"/>
                              <m:supHide m:val="on"/>
                              <m:ctrlPr>
                                <a:rPr lang="ja-JP" altLang="en-US" sz="1600" i="1">
                                  <a:latin typeface="Cambria Math" panose="02040503050406030204" pitchFamily="18" charset="0"/>
                                </a:rPr>
                              </m:ctrlPr>
                            </m:naryPr>
                            <m:sub>
                              <m:r>
                                <a:rPr lang="ja-JP" altLang="en-US" sz="1600" i="1">
                                  <a:latin typeface="Cambria Math" panose="02040503050406030204" pitchFamily="18" charset="0"/>
                                </a:rPr>
                                <m:t>𝑡</m:t>
                              </m:r>
                              <m:r>
                                <a:rPr lang="ja-JP" altLang="en-US" sz="1600" i="0">
                                  <a:latin typeface="Cambria Math" panose="02040503050406030204" pitchFamily="18" charset="0"/>
                                </a:rPr>
                                <m:t>∈</m:t>
                              </m:r>
                              <m:r>
                                <a:rPr lang="ja-JP" altLang="en-US" sz="1600" i="1">
                                  <a:latin typeface="Cambria Math" panose="02040503050406030204" pitchFamily="18" charset="0"/>
                                </a:rPr>
                                <m:t>𝑇</m:t>
                              </m:r>
                            </m:sub>
                            <m:sup/>
                            <m:e>
                              <m:sSub>
                                <m:sSubPr>
                                  <m:ctrlPr>
                                    <a:rPr lang="ja-JP" altLang="en-US" sz="1600" i="1">
                                      <a:latin typeface="Cambria Math" panose="02040503050406030204" pitchFamily="18" charset="0"/>
                                    </a:rPr>
                                  </m:ctrlPr>
                                </m:sSubPr>
                                <m:e>
                                  <m:r>
                                    <a:rPr lang="ja-JP" altLang="en-US" sz="1600" i="1">
                                      <a:latin typeface="Cambria Math" panose="02040503050406030204" pitchFamily="18" charset="0"/>
                                    </a:rPr>
                                    <m:t>𝐶</m:t>
                                  </m:r>
                                </m:e>
                                <m:sub>
                                  <m:r>
                                    <a:rPr lang="ja-JP" altLang="en-US" sz="1600" i="1">
                                      <a:latin typeface="Cambria Math" panose="02040503050406030204" pitchFamily="18" charset="0"/>
                                    </a:rPr>
                                    <m:t>𝑖𝑛𝑣</m:t>
                                  </m:r>
                                  <m:r>
                                    <a:rPr lang="ja-JP" altLang="en-US" sz="1600" i="0">
                                      <a:latin typeface="Cambria Math" panose="02040503050406030204" pitchFamily="18" charset="0"/>
                                    </a:rPr>
                                    <m:t>,</m:t>
                                  </m:r>
                                  <m:r>
                                    <a:rPr lang="ja-JP" altLang="en-US" sz="1600" i="1">
                                      <a:latin typeface="Cambria Math" panose="02040503050406030204" pitchFamily="18" charset="0"/>
                                    </a:rPr>
                                    <m:t>𝑡</m:t>
                                  </m:r>
                                  <m:r>
                                    <a:rPr lang="ja-JP" altLang="en-US" sz="1600" i="0">
                                      <a:latin typeface="Cambria Math" panose="02040503050406030204" pitchFamily="18" charset="0"/>
                                    </a:rPr>
                                    <m:t>,</m:t>
                                  </m:r>
                                  <m:r>
                                    <a:rPr lang="ja-JP" altLang="en-US" sz="1600" i="1">
                                      <a:latin typeface="Cambria Math" panose="02040503050406030204" pitchFamily="18" charset="0"/>
                                    </a:rPr>
                                    <m:t>𝑝</m:t>
                                  </m:r>
                                </m:sub>
                              </m:sSub>
                            </m:e>
                          </m:nary>
                          <m:r>
                            <a:rPr lang="ja-JP" altLang="en-US" sz="1600" i="0">
                              <a:latin typeface="Cambria Math" panose="02040503050406030204" pitchFamily="18" charset="0"/>
                            </a:rPr>
                            <m:t>⋅</m:t>
                          </m:r>
                          <m:r>
                            <a:rPr lang="ja-JP" altLang="en-US" sz="1600" i="1">
                              <a:latin typeface="Cambria Math" panose="02040503050406030204" pitchFamily="18" charset="0"/>
                            </a:rPr>
                            <m:t>𝐶𝑎</m:t>
                          </m:r>
                          <m:sSub>
                            <m:sSubPr>
                              <m:ctrlPr>
                                <a:rPr lang="ja-JP" altLang="en-US" sz="1600" i="1">
                                  <a:latin typeface="Cambria Math" panose="02040503050406030204" pitchFamily="18" charset="0"/>
                                </a:rPr>
                              </m:ctrlPr>
                            </m:sSubPr>
                            <m:e>
                              <m:r>
                                <a:rPr lang="ja-JP" altLang="en-US" sz="1600" i="1">
                                  <a:latin typeface="Cambria Math" panose="02040503050406030204" pitchFamily="18" charset="0"/>
                                </a:rPr>
                                <m:t>𝑝</m:t>
                              </m:r>
                            </m:e>
                            <m:sub>
                              <m:r>
                                <a:rPr lang="ja-JP" altLang="en-US" sz="1600" i="1">
                                  <a:latin typeface="Cambria Math" panose="02040503050406030204" pitchFamily="18" charset="0"/>
                                </a:rPr>
                                <m:t>𝑡</m:t>
                              </m:r>
                              <m:r>
                                <a:rPr lang="ja-JP" altLang="en-US" sz="1600" i="0">
                                  <a:latin typeface="Cambria Math" panose="02040503050406030204" pitchFamily="18" charset="0"/>
                                </a:rPr>
                                <m:t>,</m:t>
                              </m:r>
                              <m:r>
                                <a:rPr lang="ja-JP" altLang="en-US" sz="1600" i="1">
                                  <a:latin typeface="Cambria Math" panose="02040503050406030204" pitchFamily="18" charset="0"/>
                                </a:rPr>
                                <m:t>𝑝</m:t>
                              </m:r>
                            </m:sub>
                          </m:sSub>
                          <m:r>
                            <a:rPr lang="ja-JP" altLang="en-US" sz="1600" i="0">
                              <a:latin typeface="Cambria Math" panose="02040503050406030204" pitchFamily="18" charset="0"/>
                            </a:rPr>
                            <m:t>+</m:t>
                          </m:r>
                          <m:nary>
                            <m:naryPr>
                              <m:chr m:val="∑"/>
                              <m:limLoc m:val="undOvr"/>
                              <m:supHide m:val="on"/>
                              <m:ctrlPr>
                                <a:rPr lang="ja-JP" altLang="en-US" sz="1600" i="1">
                                  <a:latin typeface="Cambria Math" panose="02040503050406030204" pitchFamily="18" charset="0"/>
                                </a:rPr>
                              </m:ctrlPr>
                            </m:naryPr>
                            <m:sub>
                              <m:r>
                                <a:rPr lang="ja-JP" altLang="en-US" sz="1600" i="1">
                                  <a:latin typeface="Cambria Math" panose="02040503050406030204" pitchFamily="18" charset="0"/>
                                </a:rPr>
                                <m:t>𝑡</m:t>
                              </m:r>
                              <m:r>
                                <a:rPr lang="ja-JP" altLang="en-US" sz="1600" i="0">
                                  <a:latin typeface="Cambria Math" panose="02040503050406030204" pitchFamily="18" charset="0"/>
                                </a:rPr>
                                <m:t>∈</m:t>
                              </m:r>
                              <m:r>
                                <a:rPr lang="ja-JP" altLang="en-US" sz="1600" i="1">
                                  <a:latin typeface="Cambria Math" panose="02040503050406030204" pitchFamily="18" charset="0"/>
                                </a:rPr>
                                <m:t>𝑇</m:t>
                              </m:r>
                            </m:sub>
                            <m:sup/>
                            <m:e>
                              <m:sSub>
                                <m:sSubPr>
                                  <m:ctrlPr>
                                    <a:rPr lang="ja-JP" altLang="en-US" sz="1600" i="1">
                                      <a:latin typeface="Cambria Math" panose="02040503050406030204" pitchFamily="18" charset="0"/>
                                    </a:rPr>
                                  </m:ctrlPr>
                                </m:sSubPr>
                                <m:e>
                                  <m:r>
                                    <a:rPr lang="ja-JP" altLang="en-US" sz="1600" i="1">
                                      <a:latin typeface="Cambria Math" panose="02040503050406030204" pitchFamily="18" charset="0"/>
                                    </a:rPr>
                                    <m:t>𝐶</m:t>
                                  </m:r>
                                </m:e>
                                <m:sub>
                                  <m:r>
                                    <a:rPr lang="ja-JP" altLang="en-US" sz="1600" i="1">
                                      <a:latin typeface="Cambria Math" panose="02040503050406030204" pitchFamily="18" charset="0"/>
                                    </a:rPr>
                                    <m:t>𝑣𝑎𝑟</m:t>
                                  </m:r>
                                  <m:r>
                                    <a:rPr lang="ja-JP" altLang="en-US" sz="1600" i="0">
                                      <a:latin typeface="Cambria Math" panose="02040503050406030204" pitchFamily="18" charset="0"/>
                                    </a:rPr>
                                    <m:t>,</m:t>
                                  </m:r>
                                  <m:r>
                                    <a:rPr lang="ja-JP" altLang="en-US" sz="1600" i="1">
                                      <a:latin typeface="Cambria Math" panose="02040503050406030204" pitchFamily="18" charset="0"/>
                                    </a:rPr>
                                    <m:t>𝑡</m:t>
                                  </m:r>
                                  <m:r>
                                    <a:rPr lang="ja-JP" altLang="en-US" sz="1600" i="0">
                                      <a:latin typeface="Cambria Math" panose="02040503050406030204" pitchFamily="18" charset="0"/>
                                    </a:rPr>
                                    <m:t>,</m:t>
                                  </m:r>
                                  <m:r>
                                    <a:rPr lang="ja-JP" altLang="en-US" sz="1600" i="1">
                                      <a:latin typeface="Cambria Math" panose="02040503050406030204" pitchFamily="18" charset="0"/>
                                    </a:rPr>
                                    <m:t>𝑝</m:t>
                                  </m:r>
                                </m:sub>
                              </m:sSub>
                            </m:e>
                          </m:nary>
                          <m:r>
                            <a:rPr lang="ja-JP" altLang="en-US" sz="1600" i="0">
                              <a:latin typeface="Cambria Math" panose="02040503050406030204" pitchFamily="18" charset="0"/>
                            </a:rPr>
                            <m:t>⋅</m:t>
                          </m:r>
                          <m:r>
                            <a:rPr lang="ja-JP" altLang="en-US" sz="1600" i="1">
                              <a:latin typeface="Cambria Math" panose="02040503050406030204" pitchFamily="18" charset="0"/>
                            </a:rPr>
                            <m:t>𝐴𝑐</m:t>
                          </m:r>
                          <m:sSub>
                            <m:sSubPr>
                              <m:ctrlPr>
                                <a:rPr lang="ja-JP" altLang="en-US" sz="1600" i="1">
                                  <a:latin typeface="Cambria Math" panose="02040503050406030204" pitchFamily="18" charset="0"/>
                                </a:rPr>
                              </m:ctrlPr>
                            </m:sSubPr>
                            <m:e>
                              <m:r>
                                <a:rPr lang="ja-JP" altLang="en-US" sz="1600" i="1">
                                  <a:latin typeface="Cambria Math" panose="02040503050406030204" pitchFamily="18" charset="0"/>
                                </a:rPr>
                                <m:t>𝑡</m:t>
                              </m:r>
                            </m:e>
                            <m:sub>
                              <m:r>
                                <a:rPr lang="ja-JP" altLang="en-US" sz="1600" i="1">
                                  <a:latin typeface="Cambria Math" panose="02040503050406030204" pitchFamily="18" charset="0"/>
                                </a:rPr>
                                <m:t>𝑡</m:t>
                              </m:r>
                              <m:r>
                                <a:rPr lang="ja-JP" altLang="en-US" sz="1600" i="0">
                                  <a:latin typeface="Cambria Math" panose="02040503050406030204" pitchFamily="18" charset="0"/>
                                </a:rPr>
                                <m:t>,</m:t>
                              </m:r>
                              <m:r>
                                <a:rPr lang="ja-JP" altLang="en-US" sz="1600" i="1">
                                  <a:latin typeface="Cambria Math" panose="02040503050406030204" pitchFamily="18" charset="0"/>
                                </a:rPr>
                                <m:t>𝑝</m:t>
                              </m:r>
                            </m:sub>
                          </m:sSub>
                        </m:e>
                      </m:d>
                    </m:oMath>
                  </m:oMathPara>
                </a14:m>
                <a:endParaRPr lang="ja-JP" altLang="en-US" sz="1600" dirty="0"/>
              </a:p>
            </p:txBody>
          </p:sp>
        </mc:Choice>
        <mc:Fallback xmlns="">
          <p:sp>
            <p:nvSpPr>
              <p:cNvPr id="5" name="テキスト ボックス 4">
                <a:extLst>
                  <a:ext uri="{FF2B5EF4-FFF2-40B4-BE49-F238E27FC236}">
                    <a16:creationId xmlns:a16="http://schemas.microsoft.com/office/drawing/2014/main" id="{C36F1233-8E3F-3599-62FF-D049D9BAD5DA}"/>
                  </a:ext>
                </a:extLst>
              </p:cNvPr>
              <p:cNvSpPr txBox="1">
                <a:spLocks noRot="1" noChangeAspect="1" noMove="1" noResize="1" noEditPoints="1" noAdjustHandles="1" noChangeArrowheads="1" noChangeShapeType="1" noTextEdit="1"/>
              </p:cNvSpPr>
              <p:nvPr/>
            </p:nvSpPr>
            <p:spPr>
              <a:xfrm>
                <a:off x="2665620" y="1534872"/>
                <a:ext cx="5362160" cy="774058"/>
              </a:xfrm>
              <a:prstGeom prst="rect">
                <a:avLst/>
              </a:prstGeom>
              <a:blipFill>
                <a:blip r:embed="rId3"/>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0EB48A9F-C773-ABF2-D3F4-289A1F20B3C8}"/>
                  </a:ext>
                </a:extLst>
              </p:cNvPr>
              <p:cNvSpPr txBox="1"/>
              <p:nvPr/>
            </p:nvSpPr>
            <p:spPr>
              <a:xfrm>
                <a:off x="2502177" y="2893828"/>
                <a:ext cx="5362160" cy="349326"/>
              </a:xfrm>
              <a:prstGeom prst="rect">
                <a:avLst/>
              </a:prstGeom>
              <a:noFill/>
            </p:spPr>
            <p:txBody>
              <a:bodyPr wrap="square">
                <a:spAutoFit/>
              </a:bodyPr>
              <a:lstStyle/>
              <a:p>
                <a:pPr/>
                <a14:m>
                  <m:oMathPara xmlns:m="http://schemas.openxmlformats.org/officeDocument/2006/math">
                    <m:oMath>
                      <m:sSub>
                        <m:sSubPr>
                          <m:ctrlPr>
                            <a:rPr lang="ja-JP" altLang="en-US" sz="1600" i="1">
                              <a:latin typeface="Cambria Math" panose="02040503050406030204" pitchFamily="18" charset="0"/>
                            </a:rPr>
                          </m:ctrlPr>
                        </m:sSubPr>
                        <m:e>
                          <m:r>
                            <a:rPr lang="ja-JP" altLang="en-US" sz="1600" i="1">
                              <a:latin typeface="Cambria Math" panose="02040503050406030204" pitchFamily="18" charset="0"/>
                            </a:rPr>
                            <m:t>𝜆</m:t>
                          </m:r>
                        </m:e>
                        <m:sub>
                          <m:r>
                            <a:rPr lang="ja-JP" altLang="en-US" sz="1600" i="1">
                              <a:latin typeface="Cambria Math" panose="02040503050406030204" pitchFamily="18" charset="0"/>
                            </a:rPr>
                            <m:t>𝑛</m:t>
                          </m:r>
                        </m:sub>
                      </m:sSub>
                      <m:d>
                        <m:dPr>
                          <m:ctrlPr>
                            <a:rPr lang="ja-JP" altLang="en-US" sz="1600" i="1">
                              <a:latin typeface="Cambria Math" panose="02040503050406030204" pitchFamily="18" charset="0"/>
                            </a:rPr>
                          </m:ctrlPr>
                        </m:dPr>
                        <m:e>
                          <m:r>
                            <a:rPr lang="ja-JP" altLang="en-US" sz="1600" i="1">
                              <a:latin typeface="Cambria Math" panose="02040503050406030204" pitchFamily="18" charset="0"/>
                            </a:rPr>
                            <m:t>𝑡</m:t>
                          </m:r>
                        </m:e>
                      </m:d>
                      <m:r>
                        <a:rPr lang="ja-JP" altLang="en-US" sz="1600" i="0">
                          <a:latin typeface="Cambria Math" panose="02040503050406030204" pitchFamily="18" charset="0"/>
                        </a:rPr>
                        <m:t>=</m:t>
                      </m:r>
                      <m:r>
                        <a:rPr lang="ja-JP" altLang="en-US" sz="1600" i="1">
                          <a:latin typeface="Cambria Math" panose="02040503050406030204" pitchFamily="18" charset="0"/>
                        </a:rPr>
                        <m:t>𝜕</m:t>
                      </m:r>
                      <m:sSup>
                        <m:sSupPr>
                          <m:ctrlPr>
                            <a:rPr lang="ja-JP" altLang="en-US" sz="1600" i="1">
                              <a:latin typeface="Cambria Math" panose="02040503050406030204" pitchFamily="18" charset="0"/>
                            </a:rPr>
                          </m:ctrlPr>
                        </m:sSupPr>
                        <m:e>
                          <m:r>
                            <a:rPr lang="ja-JP" altLang="en-US" sz="1600" i="1">
                              <a:latin typeface="Cambria Math" panose="02040503050406030204" pitchFamily="18" charset="0"/>
                            </a:rPr>
                            <m:t>𝐶</m:t>
                          </m:r>
                        </m:e>
                        <m:sup>
                          <m:r>
                            <a:rPr lang="ja-JP" altLang="en-US" sz="1600" i="0">
                              <a:latin typeface="Cambria Math" panose="02040503050406030204" pitchFamily="18" charset="0"/>
                            </a:rPr>
                            <m:t>∗</m:t>
                          </m:r>
                        </m:sup>
                      </m:sSup>
                      <m:r>
                        <a:rPr lang="ja-JP" altLang="en-US" sz="1600" i="0">
                          <a:latin typeface="Cambria Math" panose="02040503050406030204" pitchFamily="18" charset="0"/>
                        </a:rPr>
                        <m:t>/</m:t>
                      </m:r>
                      <m:r>
                        <a:rPr lang="ja-JP" altLang="en-US" sz="1600" i="1">
                          <a:latin typeface="Cambria Math" panose="02040503050406030204" pitchFamily="18" charset="0"/>
                        </a:rPr>
                        <m:t>𝜕</m:t>
                      </m:r>
                      <m:sSub>
                        <m:sSubPr>
                          <m:ctrlPr>
                            <a:rPr lang="ja-JP" altLang="en-US" sz="1600" i="1">
                              <a:latin typeface="Cambria Math" panose="02040503050406030204" pitchFamily="18" charset="0"/>
                            </a:rPr>
                          </m:ctrlPr>
                        </m:sSubPr>
                        <m:e>
                          <m:r>
                            <a:rPr lang="ja-JP" altLang="en-US" sz="1600" i="1">
                              <a:latin typeface="Cambria Math" panose="02040503050406030204" pitchFamily="18" charset="0"/>
                            </a:rPr>
                            <m:t>𝑑</m:t>
                          </m:r>
                        </m:e>
                        <m:sub>
                          <m:r>
                            <a:rPr lang="ja-JP" altLang="en-US" sz="1600" i="1">
                              <a:latin typeface="Cambria Math" panose="02040503050406030204" pitchFamily="18" charset="0"/>
                            </a:rPr>
                            <m:t>𝑛</m:t>
                          </m:r>
                          <m:r>
                            <a:rPr lang="ja-JP" altLang="en-US" sz="1600" i="0">
                              <a:latin typeface="Cambria Math" panose="02040503050406030204" pitchFamily="18" charset="0"/>
                            </a:rPr>
                            <m:t>,</m:t>
                          </m:r>
                          <m:r>
                            <a:rPr lang="ja-JP" altLang="en-US" sz="1600" i="1">
                              <a:latin typeface="Cambria Math" panose="02040503050406030204" pitchFamily="18" charset="0"/>
                            </a:rPr>
                            <m:t>𝑡</m:t>
                          </m:r>
                        </m:sub>
                      </m:sSub>
                    </m:oMath>
                  </m:oMathPara>
                </a14:m>
                <a:endParaRPr lang="ja-JP" altLang="en-US" sz="1600" dirty="0"/>
              </a:p>
            </p:txBody>
          </p:sp>
        </mc:Choice>
        <mc:Fallback xmlns="">
          <p:sp>
            <p:nvSpPr>
              <p:cNvPr id="9" name="テキスト ボックス 8">
                <a:extLst>
                  <a:ext uri="{FF2B5EF4-FFF2-40B4-BE49-F238E27FC236}">
                    <a16:creationId xmlns:a16="http://schemas.microsoft.com/office/drawing/2014/main" id="{0EB48A9F-C773-ABF2-D3F4-289A1F20B3C8}"/>
                  </a:ext>
                </a:extLst>
              </p:cNvPr>
              <p:cNvSpPr txBox="1">
                <a:spLocks noRot="1" noChangeAspect="1" noMove="1" noResize="1" noEditPoints="1" noAdjustHandles="1" noChangeArrowheads="1" noChangeShapeType="1" noTextEdit="1"/>
              </p:cNvSpPr>
              <p:nvPr/>
            </p:nvSpPr>
            <p:spPr>
              <a:xfrm>
                <a:off x="2502177" y="2893828"/>
                <a:ext cx="5362160" cy="349326"/>
              </a:xfrm>
              <a:prstGeom prst="rect">
                <a:avLst/>
              </a:prstGeom>
              <a:blipFill>
                <a:blip r:embed="rId4"/>
                <a:stretch>
                  <a:fillRect b="-8772"/>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5555779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A0B9C1EB-CE5F-7CBA-E05D-EEB6CE6AD389}"/>
              </a:ext>
            </a:extLst>
          </p:cNvPr>
          <p:cNvSpPr>
            <a:spLocks noGrp="1"/>
          </p:cNvSpPr>
          <p:nvPr>
            <p:ph type="title"/>
          </p:nvPr>
        </p:nvSpPr>
        <p:spPr/>
        <p:txBody>
          <a:bodyPr/>
          <a:lstStyle/>
          <a:p>
            <a:r>
              <a:rPr lang="ja-JP" altLang="en-US" dirty="0"/>
              <a:t>各技術のコストと不確実性の設定</a:t>
            </a:r>
          </a:p>
        </p:txBody>
      </p:sp>
      <p:sp>
        <p:nvSpPr>
          <p:cNvPr id="8" name="テキスト プレースホルダー 7">
            <a:extLst>
              <a:ext uri="{FF2B5EF4-FFF2-40B4-BE49-F238E27FC236}">
                <a16:creationId xmlns:a16="http://schemas.microsoft.com/office/drawing/2014/main" id="{82BB78E2-6CF7-FA6A-733E-174150FC1351}"/>
              </a:ext>
            </a:extLst>
          </p:cNvPr>
          <p:cNvSpPr>
            <a:spLocks noGrp="1"/>
          </p:cNvSpPr>
          <p:nvPr>
            <p:ph type="body" sz="quarter" idx="12"/>
          </p:nvPr>
        </p:nvSpPr>
        <p:spPr/>
        <p:txBody>
          <a:bodyPr/>
          <a:lstStyle/>
          <a:p>
            <a:r>
              <a:rPr lang="ja-JP" altLang="en-US" b="1" dirty="0"/>
              <a:t>各技術のコストの入力値</a:t>
            </a:r>
            <a:r>
              <a:rPr lang="ja-JP" altLang="ja-JP" dirty="0"/>
              <a:t>:</a:t>
            </a:r>
            <a:endParaRPr lang="en-US" altLang="ja-JP" dirty="0"/>
          </a:p>
          <a:p>
            <a:r>
              <a:rPr lang="ja-JP" altLang="en-US" dirty="0"/>
              <a:t>一般的なコストをベースケースとした。</a:t>
            </a:r>
            <a:endParaRPr lang="en-US" altLang="ja-JP" dirty="0"/>
          </a:p>
          <a:p>
            <a:endParaRPr lang="en-US" altLang="ja-JP" dirty="0"/>
          </a:p>
          <a:p>
            <a:endParaRPr lang="en-US" altLang="ja-JP" dirty="0"/>
          </a:p>
          <a:p>
            <a:endParaRPr lang="en-US" altLang="ja-JP" dirty="0"/>
          </a:p>
          <a:p>
            <a:endParaRPr lang="en-US" altLang="ja-JP" dirty="0"/>
          </a:p>
          <a:p>
            <a:endParaRPr lang="en-US" altLang="ja-JP" dirty="0"/>
          </a:p>
          <a:p>
            <a:r>
              <a:rPr lang="ja-JP" altLang="en-US" b="1" dirty="0"/>
              <a:t>不確実性の設定：</a:t>
            </a:r>
            <a:endParaRPr lang="en-US" altLang="ja-JP" b="1" dirty="0"/>
          </a:p>
          <a:p>
            <a:r>
              <a:rPr lang="ja-JP" altLang="en-US" dirty="0"/>
              <a:t>不確実性として、太陽光・風力・蓄電池の</a:t>
            </a:r>
            <a:r>
              <a:rPr lang="en-US" altLang="ja-JP" dirty="0"/>
              <a:t>CAPEX</a:t>
            </a:r>
            <a:r>
              <a:rPr lang="ja-JP" altLang="en-US" dirty="0"/>
              <a:t>、および、ディーゼル発電の</a:t>
            </a:r>
            <a:r>
              <a:rPr lang="en-US" altLang="ja-JP" dirty="0"/>
              <a:t>OPEX</a:t>
            </a:r>
            <a:r>
              <a:rPr lang="ja-JP" altLang="en-US" dirty="0"/>
              <a:t>を設定した。</a:t>
            </a:r>
            <a:endParaRPr lang="en-US" altLang="ja-JP" dirty="0"/>
          </a:p>
          <a:p>
            <a:endParaRPr lang="ja-JP" altLang="en-US" dirty="0"/>
          </a:p>
        </p:txBody>
      </p:sp>
      <p:graphicFrame>
        <p:nvGraphicFramePr>
          <p:cNvPr id="6" name="表 5">
            <a:extLst>
              <a:ext uri="{FF2B5EF4-FFF2-40B4-BE49-F238E27FC236}">
                <a16:creationId xmlns:a16="http://schemas.microsoft.com/office/drawing/2014/main" id="{05B682C4-B777-23E1-AE0C-A3B0282E3DB1}"/>
              </a:ext>
            </a:extLst>
          </p:cNvPr>
          <p:cNvGraphicFramePr>
            <a:graphicFrameLocks noGrp="1"/>
          </p:cNvGraphicFramePr>
          <p:nvPr>
            <p:extLst>
              <p:ext uri="{D42A27DB-BD31-4B8C-83A1-F6EECF244321}">
                <p14:modId xmlns:p14="http://schemas.microsoft.com/office/powerpoint/2010/main" val="1699217429"/>
              </p:ext>
            </p:extLst>
          </p:nvPr>
        </p:nvGraphicFramePr>
        <p:xfrm>
          <a:off x="392863" y="4399415"/>
          <a:ext cx="9907673" cy="1314450"/>
        </p:xfrm>
        <a:graphic>
          <a:graphicData uri="http://schemas.openxmlformats.org/drawingml/2006/table">
            <a:tbl>
              <a:tblPr firstRow="1" firstCol="1" bandRow="1">
                <a:tableStyleId>{854B67C7-B280-42D8-B184-0A409CBFCAF9}</a:tableStyleId>
              </a:tblPr>
              <a:tblGrid>
                <a:gridCol w="1706001">
                  <a:extLst>
                    <a:ext uri="{9D8B030D-6E8A-4147-A177-3AD203B41FA5}">
                      <a16:colId xmlns:a16="http://schemas.microsoft.com/office/drawing/2014/main" val="1204599960"/>
                    </a:ext>
                  </a:extLst>
                </a:gridCol>
                <a:gridCol w="3565946">
                  <a:extLst>
                    <a:ext uri="{9D8B030D-6E8A-4147-A177-3AD203B41FA5}">
                      <a16:colId xmlns:a16="http://schemas.microsoft.com/office/drawing/2014/main" val="3188947399"/>
                    </a:ext>
                  </a:extLst>
                </a:gridCol>
                <a:gridCol w="1804583">
                  <a:extLst>
                    <a:ext uri="{9D8B030D-6E8A-4147-A177-3AD203B41FA5}">
                      <a16:colId xmlns:a16="http://schemas.microsoft.com/office/drawing/2014/main" val="1293916709"/>
                    </a:ext>
                  </a:extLst>
                </a:gridCol>
                <a:gridCol w="1325475">
                  <a:extLst>
                    <a:ext uri="{9D8B030D-6E8A-4147-A177-3AD203B41FA5}">
                      <a16:colId xmlns:a16="http://schemas.microsoft.com/office/drawing/2014/main" val="2294938888"/>
                    </a:ext>
                  </a:extLst>
                </a:gridCol>
                <a:gridCol w="1505668">
                  <a:extLst>
                    <a:ext uri="{9D8B030D-6E8A-4147-A177-3AD203B41FA5}">
                      <a16:colId xmlns:a16="http://schemas.microsoft.com/office/drawing/2014/main" val="620693798"/>
                    </a:ext>
                  </a:extLst>
                </a:gridCol>
              </a:tblGrid>
              <a:tr h="211803">
                <a:tc>
                  <a:txBody>
                    <a:bodyPr/>
                    <a:lstStyle/>
                    <a:p>
                      <a:pPr marL="0" algn="ctr" defTabSz="914400" rtl="0" eaLnBrk="1" latinLnBrk="0" hangingPunct="1">
                        <a:buNone/>
                      </a:pPr>
                      <a:r>
                        <a:rPr kumimoji="1" lang="ja-JP" altLang="en-US" sz="1600" b="0" kern="1200" dirty="0">
                          <a:solidFill>
                            <a:schemeClr val="lt1"/>
                          </a:solidFill>
                          <a:effectLst/>
                          <a:latin typeface="+mn-ea"/>
                          <a:ea typeface="+mn-ea"/>
                        </a:rPr>
                        <a:t>電源</a:t>
                      </a:r>
                      <a:endParaRPr kumimoji="1" lang="ja-JP" altLang="en-US" sz="1600" b="0" i="0" kern="1200" dirty="0">
                        <a:solidFill>
                          <a:schemeClr val="lt1"/>
                        </a:solidFill>
                        <a:effectLst/>
                        <a:latin typeface="+mn-ea"/>
                        <a:ea typeface="+mn-ea"/>
                        <a:cs typeface="Times New Roman"/>
                      </a:endParaRPr>
                    </a:p>
                  </a:txBody>
                  <a:tcPr marL="9525" marR="9525" marT="9525" marB="9525" anchor="ctr"/>
                </a:tc>
                <a:tc>
                  <a:txBody>
                    <a:bodyPr/>
                    <a:lstStyle/>
                    <a:p>
                      <a:pPr marL="0" algn="ctr" defTabSz="914400" rtl="0" eaLnBrk="1" latinLnBrk="0" hangingPunct="1">
                        <a:buNone/>
                      </a:pPr>
                      <a:r>
                        <a:rPr kumimoji="1" lang="en-US" altLang="ja-JP" sz="1600" b="0" kern="1200" dirty="0">
                          <a:solidFill>
                            <a:schemeClr val="lt1"/>
                          </a:solidFill>
                          <a:effectLst/>
                          <a:latin typeface="+mn-ea"/>
                          <a:ea typeface="+mn-ea"/>
                        </a:rPr>
                        <a:t>CAPEX [$/MW]</a:t>
                      </a:r>
                      <a:endParaRPr kumimoji="1" lang="ja-JP" altLang="en-US" sz="1600" b="0" i="0" kern="1200" dirty="0">
                        <a:solidFill>
                          <a:schemeClr val="lt1"/>
                        </a:solidFill>
                        <a:effectLst/>
                        <a:latin typeface="+mn-ea"/>
                        <a:ea typeface="+mn-ea"/>
                        <a:cs typeface="Times New Roman"/>
                      </a:endParaRPr>
                    </a:p>
                  </a:txBody>
                  <a:tcPr marL="9525" marR="9525" marT="9525" marB="9525" anchor="ctr"/>
                </a:tc>
                <a:tc>
                  <a:txBody>
                    <a:bodyPr/>
                    <a:lstStyle/>
                    <a:p>
                      <a:pPr marL="0" algn="ctr" defTabSz="914400" rtl="0" eaLnBrk="1" latinLnBrk="0" hangingPunct="1">
                        <a:buNone/>
                      </a:pPr>
                      <a:r>
                        <a:rPr kumimoji="1" lang="en-US" altLang="ja-JP" sz="1600" b="0" kern="1200" dirty="0">
                          <a:solidFill>
                            <a:schemeClr val="lt1"/>
                          </a:solidFill>
                          <a:effectLst/>
                          <a:latin typeface="+mn-ea"/>
                          <a:ea typeface="+mn-ea"/>
                        </a:rPr>
                        <a:t>(OPEX) [$/MWh]</a:t>
                      </a:r>
                      <a:endParaRPr kumimoji="1" lang="ja-JP" altLang="en-US" sz="1600" b="0" i="0" kern="1200" dirty="0">
                        <a:solidFill>
                          <a:schemeClr val="lt1"/>
                        </a:solidFill>
                        <a:effectLst/>
                        <a:latin typeface="+mn-ea"/>
                        <a:ea typeface="+mn-ea"/>
                        <a:cs typeface="Times New Roman"/>
                      </a:endParaRPr>
                    </a:p>
                  </a:txBody>
                  <a:tcPr marL="9525" marR="9525" marT="9525" marB="9525" anchor="ctr"/>
                </a:tc>
                <a:tc>
                  <a:txBody>
                    <a:bodyPr/>
                    <a:lstStyle/>
                    <a:p>
                      <a:pPr marL="0" algn="ctr" defTabSz="914400" rtl="0" eaLnBrk="1" latinLnBrk="0" hangingPunct="1">
                        <a:buNone/>
                      </a:pPr>
                      <a:r>
                        <a:rPr kumimoji="1" lang="ja-JP" altLang="en-US" sz="1600" b="0" kern="1200" dirty="0">
                          <a:solidFill>
                            <a:schemeClr val="lt1"/>
                          </a:solidFill>
                          <a:effectLst/>
                          <a:latin typeface="+mn-ea"/>
                          <a:ea typeface="+mn-ea"/>
                        </a:rPr>
                        <a:t>耐用年数 </a:t>
                      </a:r>
                      <a:r>
                        <a:rPr kumimoji="1" lang="en-US" altLang="ja-JP" sz="1600" b="0" kern="1200" dirty="0">
                          <a:solidFill>
                            <a:schemeClr val="lt1"/>
                          </a:solidFill>
                          <a:effectLst/>
                          <a:latin typeface="+mn-ea"/>
                          <a:ea typeface="+mn-ea"/>
                        </a:rPr>
                        <a:t>[</a:t>
                      </a:r>
                      <a:r>
                        <a:rPr kumimoji="1" lang="ja-JP" altLang="en-US" sz="1600" b="0" kern="1200" dirty="0">
                          <a:solidFill>
                            <a:schemeClr val="lt1"/>
                          </a:solidFill>
                          <a:effectLst/>
                          <a:latin typeface="+mn-ea"/>
                          <a:ea typeface="+mn-ea"/>
                        </a:rPr>
                        <a:t>年</a:t>
                      </a:r>
                      <a:r>
                        <a:rPr kumimoji="1" lang="en-US" altLang="ja-JP" sz="1600" b="0" kern="1200" dirty="0">
                          <a:solidFill>
                            <a:schemeClr val="lt1"/>
                          </a:solidFill>
                          <a:effectLst/>
                          <a:latin typeface="+mn-ea"/>
                          <a:ea typeface="+mn-ea"/>
                        </a:rPr>
                        <a:t>]</a:t>
                      </a:r>
                      <a:endParaRPr kumimoji="1" lang="ja-JP" altLang="en-US" sz="1600" b="0" i="0" kern="1200" dirty="0">
                        <a:solidFill>
                          <a:schemeClr val="lt1"/>
                        </a:solidFill>
                        <a:effectLst/>
                        <a:latin typeface="+mn-ea"/>
                        <a:ea typeface="+mn-ea"/>
                        <a:cs typeface="Times New Roman"/>
                      </a:endParaRPr>
                    </a:p>
                  </a:txBody>
                  <a:tcPr marL="9525" marR="9525" marT="9525" marB="9525" anchor="ctr"/>
                </a:tc>
                <a:tc>
                  <a:txBody>
                    <a:bodyPr/>
                    <a:lstStyle/>
                    <a:p>
                      <a:pPr marL="0" algn="ctr" defTabSz="914400" rtl="0" eaLnBrk="1" latinLnBrk="0" hangingPunct="1">
                        <a:buNone/>
                      </a:pPr>
                      <a:endParaRPr kumimoji="1" lang="ja-JP" altLang="en-US" sz="1600" b="0" i="0" kern="1200" dirty="0">
                        <a:solidFill>
                          <a:schemeClr val="lt1"/>
                        </a:solidFill>
                        <a:effectLst/>
                        <a:latin typeface="+mn-ea"/>
                        <a:ea typeface="+mn-ea"/>
                        <a:cs typeface="Times New Roman"/>
                      </a:endParaRPr>
                    </a:p>
                  </a:txBody>
                  <a:tcPr marL="9525" marR="9525" marT="9525" marB="9525" anchor="ctr"/>
                </a:tc>
                <a:extLst>
                  <a:ext uri="{0D108BD9-81ED-4DB2-BD59-A6C34878D82A}">
                    <a16:rowId xmlns:a16="http://schemas.microsoft.com/office/drawing/2014/main" val="266913123"/>
                  </a:ext>
                </a:extLst>
              </a:tr>
              <a:tr h="167640">
                <a:tc>
                  <a:txBody>
                    <a:bodyPr/>
                    <a:lstStyle/>
                    <a:p>
                      <a:pPr marL="0" algn="ctr" defTabSz="914400" rtl="0" eaLnBrk="1" latinLnBrk="0" hangingPunct="1">
                        <a:buNone/>
                      </a:pPr>
                      <a:r>
                        <a:rPr kumimoji="1" lang="en-US" altLang="ja-JP" sz="1600" b="0" kern="1200" dirty="0">
                          <a:solidFill>
                            <a:schemeClr val="lt1"/>
                          </a:solidFill>
                          <a:effectLst/>
                          <a:latin typeface="+mn-ea"/>
                          <a:ea typeface="+mn-ea"/>
                        </a:rPr>
                        <a:t>Solar</a:t>
                      </a:r>
                      <a:endParaRPr kumimoji="1" lang="ja-JP" altLang="en-US" sz="1600" b="0" i="0" kern="1200" dirty="0">
                        <a:solidFill>
                          <a:schemeClr val="lt1"/>
                        </a:solidFill>
                        <a:effectLst/>
                        <a:latin typeface="+mn-ea"/>
                        <a:ea typeface="+mn-ea"/>
                        <a:cs typeface="Times New Roman"/>
                      </a:endParaRPr>
                    </a:p>
                  </a:txBody>
                  <a:tcPr marL="9525" marR="9525" marT="9525" marB="9525"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0" kern="1200" dirty="0">
                          <a:solidFill>
                            <a:schemeClr val="tx1"/>
                          </a:solidFill>
                          <a:effectLst/>
                          <a:latin typeface="+mn-ea"/>
                          <a:ea typeface="+mn-ea"/>
                        </a:rPr>
                        <a:t>700,000 </a:t>
                      </a:r>
                      <a:r>
                        <a:rPr kumimoji="1" lang="en-US" altLang="ja-JP" sz="1600" b="0" kern="1200" dirty="0">
                          <a:solidFill>
                            <a:srgbClr val="FF0000"/>
                          </a:solidFill>
                          <a:effectLst/>
                          <a:latin typeface="+mn-ea"/>
                          <a:ea typeface="+mn-ea"/>
                        </a:rPr>
                        <a:t>(</a:t>
                      </a:r>
                      <a:r>
                        <a:rPr kumimoji="1" lang="ja-JP" altLang="ja-JP" sz="1600" b="0" i="0" kern="1200" dirty="0">
                          <a:solidFill>
                            <a:srgbClr val="FF0000"/>
                          </a:solidFill>
                          <a:effectLst/>
                          <a:latin typeface="+mn-ea"/>
                          <a:ea typeface="Times New Roman"/>
                          <a:cs typeface="Times New Roman"/>
                        </a:rPr>
                        <a:t>500,000 – 900,000</a:t>
                      </a:r>
                      <a:r>
                        <a:rPr kumimoji="1" lang="en-US" altLang="ja-JP" sz="1600" b="0" kern="1200" dirty="0">
                          <a:solidFill>
                            <a:srgbClr val="FF0000"/>
                          </a:solidFill>
                          <a:effectLst/>
                          <a:latin typeface="+mn-ea"/>
                          <a:ea typeface="+mn-ea"/>
                        </a:rPr>
                        <a:t>)</a:t>
                      </a:r>
                      <a:endParaRPr kumimoji="1" lang="ja-JP" altLang="en-US" sz="1600" b="0" i="0" kern="1200" dirty="0">
                        <a:solidFill>
                          <a:srgbClr val="FF0000"/>
                        </a:solidFill>
                        <a:effectLst/>
                        <a:latin typeface="+mn-ea"/>
                        <a:ea typeface="+mn-ea"/>
                        <a:cs typeface="Times New Roman"/>
                      </a:endParaRPr>
                    </a:p>
                  </a:txBody>
                  <a:tcPr marL="9525" marR="9525" marT="9525" marB="9525" anchor="ctr"/>
                </a:tc>
                <a:tc>
                  <a:txBody>
                    <a:bodyPr/>
                    <a:lstStyle/>
                    <a:p>
                      <a:pPr marL="0" algn="ctr" defTabSz="914400" rtl="0" eaLnBrk="1" latinLnBrk="0" hangingPunct="1">
                        <a:buNone/>
                      </a:pPr>
                      <a:r>
                        <a:rPr kumimoji="1" lang="en-US" altLang="ja-JP" sz="1600" b="0" kern="1200" dirty="0">
                          <a:solidFill>
                            <a:schemeClr val="tx1"/>
                          </a:solidFill>
                          <a:effectLst/>
                          <a:latin typeface="+mn-ea"/>
                          <a:ea typeface="+mn-ea"/>
                        </a:rPr>
                        <a:t>0</a:t>
                      </a:r>
                      <a:endParaRPr kumimoji="1" lang="ja-JP" altLang="en-US" sz="1600" b="0" i="0" kern="1200" dirty="0">
                        <a:solidFill>
                          <a:schemeClr val="tx1"/>
                        </a:solidFill>
                        <a:effectLst/>
                        <a:latin typeface="+mn-ea"/>
                        <a:ea typeface="+mn-ea"/>
                        <a:cs typeface="Times New Roman"/>
                      </a:endParaRPr>
                    </a:p>
                  </a:txBody>
                  <a:tcPr marL="9525" marR="9525" marT="9525" marB="9525" anchor="ctr"/>
                </a:tc>
                <a:tc>
                  <a:txBody>
                    <a:bodyPr/>
                    <a:lstStyle/>
                    <a:p>
                      <a:pPr marL="0" algn="ctr" defTabSz="914400" rtl="0" eaLnBrk="1" latinLnBrk="0" hangingPunct="1">
                        <a:buNone/>
                      </a:pPr>
                      <a:r>
                        <a:rPr kumimoji="1" lang="en-US" altLang="ja-JP" sz="1600" b="0" kern="1200" dirty="0">
                          <a:solidFill>
                            <a:schemeClr val="tx1"/>
                          </a:solidFill>
                          <a:effectLst/>
                          <a:latin typeface="+mn-ea"/>
                          <a:ea typeface="+mn-ea"/>
                        </a:rPr>
                        <a:t>25</a:t>
                      </a:r>
                      <a:endParaRPr kumimoji="1" lang="ja-JP" altLang="en-US" sz="1600" b="0" i="0" kern="1200" dirty="0">
                        <a:solidFill>
                          <a:schemeClr val="tx1"/>
                        </a:solidFill>
                        <a:effectLst/>
                        <a:latin typeface="+mn-ea"/>
                        <a:ea typeface="+mn-ea"/>
                        <a:cs typeface="Times New Roman"/>
                      </a:endParaRPr>
                    </a:p>
                  </a:txBody>
                  <a:tcPr marL="9525" marR="9525" marT="9525" marB="9525" anchor="ctr"/>
                </a:tc>
                <a:tc>
                  <a:txBody>
                    <a:bodyPr/>
                    <a:lstStyle/>
                    <a:p>
                      <a:pPr marL="0" algn="ctr" defTabSz="914400" rtl="0" eaLnBrk="1" latinLnBrk="0" hangingPunct="1">
                        <a:buNone/>
                      </a:pPr>
                      <a:endParaRPr kumimoji="1" lang="ja-JP" altLang="en-US" sz="1600" b="0" i="0" kern="1200" dirty="0">
                        <a:solidFill>
                          <a:schemeClr val="tx1"/>
                        </a:solidFill>
                        <a:effectLst/>
                        <a:latin typeface="+mn-ea"/>
                        <a:ea typeface="+mn-ea"/>
                        <a:cs typeface="Times New Roman"/>
                      </a:endParaRPr>
                    </a:p>
                  </a:txBody>
                  <a:tcPr marL="9525" marR="9525" marT="9525" marB="9525" anchor="ctr"/>
                </a:tc>
                <a:extLst>
                  <a:ext uri="{0D108BD9-81ED-4DB2-BD59-A6C34878D82A}">
                    <a16:rowId xmlns:a16="http://schemas.microsoft.com/office/drawing/2014/main" val="450180208"/>
                  </a:ext>
                </a:extLst>
              </a:tr>
              <a:tr h="167640">
                <a:tc>
                  <a:txBody>
                    <a:bodyPr/>
                    <a:lstStyle/>
                    <a:p>
                      <a:pPr marL="0" algn="ctr" defTabSz="914400" rtl="0" eaLnBrk="1" latinLnBrk="0" hangingPunct="1">
                        <a:buNone/>
                      </a:pPr>
                      <a:r>
                        <a:rPr kumimoji="1" lang="en-US" altLang="ja-JP" sz="1600" b="0" kern="1200" dirty="0">
                          <a:solidFill>
                            <a:schemeClr val="lt1"/>
                          </a:solidFill>
                          <a:effectLst/>
                          <a:latin typeface="+mn-ea"/>
                          <a:ea typeface="+mn-ea"/>
                        </a:rPr>
                        <a:t>Wind</a:t>
                      </a:r>
                      <a:endParaRPr kumimoji="1" lang="ja-JP" altLang="en-US" sz="1600" b="0" i="0" kern="1200" dirty="0">
                        <a:solidFill>
                          <a:schemeClr val="lt1"/>
                        </a:solidFill>
                        <a:effectLst/>
                        <a:latin typeface="+mn-ea"/>
                        <a:ea typeface="+mn-ea"/>
                        <a:cs typeface="Times New Roman"/>
                      </a:endParaRPr>
                    </a:p>
                  </a:txBody>
                  <a:tcPr marL="9525" marR="9525" marT="9525" marB="9525"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0" kern="1200" dirty="0">
                          <a:solidFill>
                            <a:schemeClr val="tx1"/>
                          </a:solidFill>
                          <a:effectLst/>
                          <a:latin typeface="+mn-ea"/>
                          <a:ea typeface="+mn-ea"/>
                        </a:rPr>
                        <a:t>1,100,000 </a:t>
                      </a:r>
                      <a:r>
                        <a:rPr kumimoji="1" lang="en-US" altLang="ja-JP" sz="1600" b="0" kern="1200" dirty="0">
                          <a:solidFill>
                            <a:srgbClr val="FF0000"/>
                          </a:solidFill>
                          <a:effectLst/>
                          <a:latin typeface="+mn-ea"/>
                          <a:ea typeface="+mn-ea"/>
                        </a:rPr>
                        <a:t>(</a:t>
                      </a:r>
                      <a:r>
                        <a:rPr kumimoji="1" lang="ja-JP" altLang="ja-JP" sz="1600" b="0" i="0" kern="1200" dirty="0">
                          <a:solidFill>
                            <a:srgbClr val="FF0000"/>
                          </a:solidFill>
                          <a:effectLst/>
                          <a:latin typeface="+mn-ea"/>
                          <a:ea typeface="Times New Roman"/>
                          <a:cs typeface="Times New Roman"/>
                        </a:rPr>
                        <a:t>800,000 – 1,450,000</a:t>
                      </a:r>
                      <a:r>
                        <a:rPr kumimoji="1" lang="en-US" altLang="ja-JP" sz="1600" b="0" i="0" kern="1200" dirty="0">
                          <a:solidFill>
                            <a:srgbClr val="FF0000"/>
                          </a:solidFill>
                          <a:effectLst/>
                          <a:latin typeface="+mn-ea"/>
                          <a:ea typeface="+mn-ea"/>
                          <a:cs typeface="Times New Roman"/>
                        </a:rPr>
                        <a:t>)</a:t>
                      </a:r>
                      <a:endParaRPr kumimoji="1" lang="ja-JP" altLang="ja-JP" sz="1600" b="0" i="0" kern="1200" dirty="0">
                        <a:solidFill>
                          <a:srgbClr val="FF0000"/>
                        </a:solidFill>
                        <a:effectLst/>
                        <a:latin typeface="+mn-ea"/>
                        <a:ea typeface="Times New Roman"/>
                        <a:cs typeface="Times New Roman"/>
                      </a:endParaRPr>
                    </a:p>
                  </a:txBody>
                  <a:tcPr marL="9525" marR="9525" marT="9525" marB="9525" anchor="ctr"/>
                </a:tc>
                <a:tc>
                  <a:txBody>
                    <a:bodyPr/>
                    <a:lstStyle/>
                    <a:p>
                      <a:pPr marL="0" algn="ctr" defTabSz="914400" rtl="0" eaLnBrk="1" latinLnBrk="0" hangingPunct="1">
                        <a:buNone/>
                      </a:pPr>
                      <a:r>
                        <a:rPr kumimoji="1" lang="en-US" altLang="ja-JP" sz="1600" b="0" kern="1200" dirty="0">
                          <a:solidFill>
                            <a:schemeClr val="tx1"/>
                          </a:solidFill>
                          <a:effectLst/>
                          <a:latin typeface="+mn-ea"/>
                          <a:ea typeface="+mn-ea"/>
                        </a:rPr>
                        <a:t>0</a:t>
                      </a:r>
                      <a:endParaRPr kumimoji="1" lang="ja-JP" altLang="en-US" sz="1600" b="0" i="0" kern="1200" dirty="0">
                        <a:solidFill>
                          <a:schemeClr val="tx1"/>
                        </a:solidFill>
                        <a:effectLst/>
                        <a:latin typeface="+mn-ea"/>
                        <a:ea typeface="+mn-ea"/>
                        <a:cs typeface="Times New Roman"/>
                      </a:endParaRPr>
                    </a:p>
                  </a:txBody>
                  <a:tcPr marL="9525" marR="9525" marT="9525" marB="9525" anchor="ctr"/>
                </a:tc>
                <a:tc>
                  <a:txBody>
                    <a:bodyPr/>
                    <a:lstStyle/>
                    <a:p>
                      <a:pPr marL="0" algn="ctr" defTabSz="914400" rtl="0" eaLnBrk="1" latinLnBrk="0" hangingPunct="1">
                        <a:buNone/>
                      </a:pPr>
                      <a:r>
                        <a:rPr kumimoji="1" lang="en-US" altLang="ja-JP" sz="1600" b="0" kern="1200" dirty="0">
                          <a:solidFill>
                            <a:schemeClr val="tx1"/>
                          </a:solidFill>
                          <a:effectLst/>
                          <a:latin typeface="+mn-ea"/>
                          <a:ea typeface="+mn-ea"/>
                        </a:rPr>
                        <a:t>25</a:t>
                      </a:r>
                      <a:endParaRPr kumimoji="1" lang="ja-JP" altLang="en-US" sz="1600" b="0" i="0" kern="1200" dirty="0">
                        <a:solidFill>
                          <a:schemeClr val="tx1"/>
                        </a:solidFill>
                        <a:effectLst/>
                        <a:latin typeface="+mn-ea"/>
                        <a:ea typeface="+mn-ea"/>
                        <a:cs typeface="Times New Roman"/>
                      </a:endParaRPr>
                    </a:p>
                  </a:txBody>
                  <a:tcPr marL="9525" marR="9525" marT="9525" marB="9525" anchor="ctr"/>
                </a:tc>
                <a:tc>
                  <a:txBody>
                    <a:bodyPr/>
                    <a:lstStyle/>
                    <a:p>
                      <a:pPr marL="0" algn="ctr" defTabSz="914400" rtl="0" eaLnBrk="1" latinLnBrk="0" hangingPunct="1">
                        <a:buNone/>
                      </a:pPr>
                      <a:endParaRPr kumimoji="1" lang="ja-JP" altLang="en-US" sz="1600" b="0" i="0" kern="1200" dirty="0">
                        <a:solidFill>
                          <a:schemeClr val="tx1"/>
                        </a:solidFill>
                        <a:effectLst/>
                        <a:latin typeface="+mn-ea"/>
                        <a:ea typeface="+mn-ea"/>
                        <a:cs typeface="Times New Roman"/>
                      </a:endParaRPr>
                    </a:p>
                  </a:txBody>
                  <a:tcPr marL="9525" marR="9525" marT="9525" marB="9525" anchor="ctr"/>
                </a:tc>
                <a:extLst>
                  <a:ext uri="{0D108BD9-81ED-4DB2-BD59-A6C34878D82A}">
                    <a16:rowId xmlns:a16="http://schemas.microsoft.com/office/drawing/2014/main" val="781214321"/>
                  </a:ext>
                </a:extLst>
              </a:tr>
              <a:tr h="167640">
                <a:tc>
                  <a:txBody>
                    <a:bodyPr/>
                    <a:lstStyle/>
                    <a:p>
                      <a:pPr marL="0" algn="ctr" defTabSz="914400" rtl="0" eaLnBrk="1" latinLnBrk="0" hangingPunct="1">
                        <a:buNone/>
                      </a:pPr>
                      <a:r>
                        <a:rPr kumimoji="1" lang="en-US" altLang="ja-JP" sz="1600" b="0" kern="1200" dirty="0">
                          <a:solidFill>
                            <a:schemeClr val="lt1"/>
                          </a:solidFill>
                          <a:effectLst/>
                          <a:latin typeface="+mn-ea"/>
                          <a:ea typeface="+mn-ea"/>
                        </a:rPr>
                        <a:t>Diesel</a:t>
                      </a:r>
                      <a:endParaRPr kumimoji="1" lang="ja-JP" altLang="en-US" sz="1600" b="0" i="0" kern="1200" dirty="0">
                        <a:solidFill>
                          <a:schemeClr val="lt1"/>
                        </a:solidFill>
                        <a:effectLst/>
                        <a:latin typeface="+mn-ea"/>
                        <a:ea typeface="+mn-ea"/>
                        <a:cs typeface="Times New Roman"/>
                      </a:endParaRPr>
                    </a:p>
                  </a:txBody>
                  <a:tcPr marL="9525" marR="9525" marT="9525" marB="9525" anchor="ctr"/>
                </a:tc>
                <a:tc>
                  <a:txBody>
                    <a:bodyPr/>
                    <a:lstStyle/>
                    <a:p>
                      <a:pPr marL="0" algn="ctr" defTabSz="914400" rtl="0" eaLnBrk="1" latinLnBrk="0" hangingPunct="1">
                        <a:buNone/>
                      </a:pPr>
                      <a:r>
                        <a:rPr kumimoji="1" lang="en-US" altLang="ja-JP" sz="1600" b="0" kern="1200" dirty="0">
                          <a:solidFill>
                            <a:schemeClr val="tx1"/>
                          </a:solidFill>
                          <a:effectLst/>
                          <a:latin typeface="+mn-ea"/>
                          <a:ea typeface="+mn-ea"/>
                        </a:rPr>
                        <a:t>800,000</a:t>
                      </a:r>
                      <a:endParaRPr kumimoji="1" lang="ja-JP" altLang="en-US" sz="1600" b="0" i="0" kern="1200" dirty="0">
                        <a:solidFill>
                          <a:schemeClr val="tx1"/>
                        </a:solidFill>
                        <a:effectLst/>
                        <a:latin typeface="+mn-ea"/>
                        <a:ea typeface="+mn-ea"/>
                        <a:cs typeface="Times New Roman"/>
                      </a:endParaRPr>
                    </a:p>
                  </a:txBody>
                  <a:tcPr marL="9525" marR="9525" marT="9525" marB="9525"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0" kern="1200" dirty="0">
                          <a:solidFill>
                            <a:schemeClr val="tx1"/>
                          </a:solidFill>
                          <a:effectLst/>
                          <a:latin typeface="+mn-ea"/>
                          <a:ea typeface="+mn-ea"/>
                        </a:rPr>
                        <a:t>250 </a:t>
                      </a:r>
                      <a:r>
                        <a:rPr kumimoji="1" lang="en-US" altLang="ja-JP" sz="1600" b="0" kern="1200" dirty="0">
                          <a:solidFill>
                            <a:srgbClr val="FF0000"/>
                          </a:solidFill>
                          <a:effectLst/>
                          <a:latin typeface="+mn-ea"/>
                          <a:ea typeface="+mn-ea"/>
                        </a:rPr>
                        <a:t>(</a:t>
                      </a:r>
                      <a:r>
                        <a:rPr kumimoji="1" lang="ja-JP" altLang="ja-JP" sz="1600" b="0" i="0" kern="1200" dirty="0">
                          <a:solidFill>
                            <a:srgbClr val="FF0000"/>
                          </a:solidFill>
                          <a:effectLst/>
                          <a:latin typeface="+mn-ea"/>
                          <a:ea typeface="Times New Roman"/>
                          <a:cs typeface="Times New Roman"/>
                        </a:rPr>
                        <a:t>200 – 300</a:t>
                      </a:r>
                      <a:r>
                        <a:rPr kumimoji="1" lang="en-US" altLang="ja-JP" sz="1600" b="0" kern="1200" dirty="0">
                          <a:solidFill>
                            <a:srgbClr val="FF0000"/>
                          </a:solidFill>
                          <a:effectLst/>
                          <a:latin typeface="+mn-ea"/>
                          <a:ea typeface="+mn-ea"/>
                        </a:rPr>
                        <a:t>)</a:t>
                      </a:r>
                      <a:endParaRPr kumimoji="1" lang="ja-JP" altLang="en-US" sz="1600" b="0" i="0" kern="1200" dirty="0">
                        <a:solidFill>
                          <a:srgbClr val="FF0000"/>
                        </a:solidFill>
                        <a:effectLst/>
                        <a:latin typeface="+mn-ea"/>
                        <a:ea typeface="+mn-ea"/>
                        <a:cs typeface="Times New Roman"/>
                      </a:endParaRPr>
                    </a:p>
                  </a:txBody>
                  <a:tcPr marL="9525" marR="9525" marT="9525" marB="9525" anchor="ctr"/>
                </a:tc>
                <a:tc>
                  <a:txBody>
                    <a:bodyPr/>
                    <a:lstStyle/>
                    <a:p>
                      <a:pPr marL="0" algn="ctr" defTabSz="914400" rtl="0" eaLnBrk="1" latinLnBrk="0" hangingPunct="1">
                        <a:buNone/>
                      </a:pPr>
                      <a:r>
                        <a:rPr kumimoji="1" lang="en-US" altLang="ja-JP" sz="1600" b="0" kern="1200" dirty="0">
                          <a:solidFill>
                            <a:schemeClr val="tx1"/>
                          </a:solidFill>
                          <a:effectLst/>
                          <a:latin typeface="+mn-ea"/>
                          <a:ea typeface="+mn-ea"/>
                        </a:rPr>
                        <a:t>20</a:t>
                      </a:r>
                      <a:endParaRPr kumimoji="1" lang="ja-JP" altLang="en-US" sz="1600" b="0" i="0" kern="1200" dirty="0">
                        <a:solidFill>
                          <a:schemeClr val="tx1"/>
                        </a:solidFill>
                        <a:effectLst/>
                        <a:latin typeface="+mn-ea"/>
                        <a:ea typeface="+mn-ea"/>
                        <a:cs typeface="Times New Roman"/>
                      </a:endParaRPr>
                    </a:p>
                  </a:txBody>
                  <a:tcPr marL="9525" marR="9525" marT="9525" marB="9525" anchor="ctr"/>
                </a:tc>
                <a:tc>
                  <a:txBody>
                    <a:bodyPr/>
                    <a:lstStyle/>
                    <a:p>
                      <a:pPr marL="0" algn="ctr" defTabSz="914400" rtl="0" eaLnBrk="1" latinLnBrk="0" hangingPunct="1">
                        <a:buNone/>
                      </a:pPr>
                      <a:endParaRPr kumimoji="1" lang="ja-JP" altLang="en-US" sz="1600" b="0" i="0" kern="1200" dirty="0">
                        <a:solidFill>
                          <a:schemeClr val="tx1"/>
                        </a:solidFill>
                        <a:effectLst/>
                        <a:latin typeface="+mn-ea"/>
                        <a:ea typeface="+mn-ea"/>
                        <a:cs typeface="Times New Roman"/>
                      </a:endParaRPr>
                    </a:p>
                  </a:txBody>
                  <a:tcPr marL="9525" marR="9525" marT="9525" marB="9525" anchor="ctr"/>
                </a:tc>
                <a:extLst>
                  <a:ext uri="{0D108BD9-81ED-4DB2-BD59-A6C34878D82A}">
                    <a16:rowId xmlns:a16="http://schemas.microsoft.com/office/drawing/2014/main" val="3829162887"/>
                  </a:ext>
                </a:extLst>
              </a:tr>
              <a:tr h="0">
                <a:tc>
                  <a:txBody>
                    <a:bodyPr/>
                    <a:lstStyle/>
                    <a:p>
                      <a:pPr marL="0" algn="ctr" defTabSz="914400" rtl="0" eaLnBrk="1" latinLnBrk="0" hangingPunct="1">
                        <a:buNone/>
                      </a:pPr>
                      <a:r>
                        <a:rPr kumimoji="1" lang="en-US" altLang="ja-JP" sz="1600" b="0" kern="1200" dirty="0">
                          <a:solidFill>
                            <a:schemeClr val="lt1"/>
                          </a:solidFill>
                          <a:effectLst/>
                          <a:latin typeface="+mn-ea"/>
                          <a:ea typeface="+mn-ea"/>
                        </a:rPr>
                        <a:t>Battery</a:t>
                      </a:r>
                      <a:endParaRPr kumimoji="1" lang="ja-JP" altLang="en-US" sz="1600" b="0" i="0" kern="1200" dirty="0">
                        <a:solidFill>
                          <a:schemeClr val="lt1"/>
                        </a:solidFill>
                        <a:effectLst/>
                        <a:latin typeface="+mn-ea"/>
                        <a:ea typeface="+mn-ea"/>
                        <a:cs typeface="Times New Roman"/>
                      </a:endParaRPr>
                    </a:p>
                  </a:txBody>
                  <a:tcPr marL="9525" marR="9525" marT="9525" marB="9525"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0" kern="1200" dirty="0">
                          <a:solidFill>
                            <a:schemeClr val="tx1"/>
                          </a:solidFill>
                          <a:effectLst/>
                          <a:latin typeface="+mn-ea"/>
                          <a:ea typeface="+mn-ea"/>
                        </a:rPr>
                        <a:t>600,000 </a:t>
                      </a:r>
                      <a:r>
                        <a:rPr kumimoji="1" lang="en-US" altLang="ja-JP" sz="1600" b="0" kern="1200" dirty="0">
                          <a:solidFill>
                            <a:srgbClr val="FF0000"/>
                          </a:solidFill>
                          <a:effectLst/>
                          <a:latin typeface="+mn-ea"/>
                          <a:ea typeface="+mn-ea"/>
                        </a:rPr>
                        <a:t>(</a:t>
                      </a:r>
                      <a:r>
                        <a:rPr kumimoji="1" lang="ja-JP" altLang="ja-JP" sz="1600" b="0" i="0" kern="1200" dirty="0">
                          <a:solidFill>
                            <a:srgbClr val="FF0000"/>
                          </a:solidFill>
                          <a:effectLst/>
                          <a:latin typeface="+mn-ea"/>
                          <a:ea typeface="Times New Roman"/>
                          <a:cs typeface="Times New Roman"/>
                        </a:rPr>
                        <a:t>300,000 – 900,000</a:t>
                      </a:r>
                      <a:r>
                        <a:rPr kumimoji="1" lang="en-US" altLang="ja-JP" sz="1600" b="0" kern="1200" dirty="0">
                          <a:solidFill>
                            <a:srgbClr val="FF0000"/>
                          </a:solidFill>
                          <a:effectLst/>
                          <a:latin typeface="+mn-ea"/>
                          <a:ea typeface="+mn-ea"/>
                        </a:rPr>
                        <a:t>)</a:t>
                      </a:r>
                      <a:endParaRPr kumimoji="1" lang="ja-JP" altLang="en-US" sz="1600" b="0" i="0" kern="1200" dirty="0">
                        <a:solidFill>
                          <a:srgbClr val="FF0000"/>
                        </a:solidFill>
                        <a:effectLst/>
                        <a:latin typeface="+mn-ea"/>
                        <a:ea typeface="+mn-ea"/>
                        <a:cs typeface="Times New Roman"/>
                      </a:endParaRPr>
                    </a:p>
                  </a:txBody>
                  <a:tcPr marL="9525" marR="9525" marT="9525" marB="9525" anchor="ctr"/>
                </a:tc>
                <a:tc>
                  <a:txBody>
                    <a:bodyPr/>
                    <a:lstStyle/>
                    <a:p>
                      <a:pPr marL="0" algn="ctr" defTabSz="914400" rtl="0" eaLnBrk="1" latinLnBrk="0" hangingPunct="1">
                        <a:buNone/>
                      </a:pPr>
                      <a:r>
                        <a:rPr kumimoji="1" lang="en-US" altLang="ja-JP" sz="1600" b="0" i="0" kern="1200" dirty="0">
                          <a:solidFill>
                            <a:schemeClr val="tx1"/>
                          </a:solidFill>
                          <a:effectLst/>
                          <a:latin typeface="+mn-ea"/>
                          <a:ea typeface="+mn-ea"/>
                          <a:cs typeface="Times New Roman"/>
                        </a:rPr>
                        <a:t>0</a:t>
                      </a:r>
                      <a:endParaRPr kumimoji="1" lang="ja-JP" altLang="en-US" sz="1600" b="0" i="0" kern="1200" dirty="0">
                        <a:solidFill>
                          <a:schemeClr val="tx1"/>
                        </a:solidFill>
                        <a:effectLst/>
                        <a:latin typeface="+mn-ea"/>
                        <a:ea typeface="+mn-ea"/>
                        <a:cs typeface="Times New Roman"/>
                      </a:endParaRPr>
                    </a:p>
                  </a:txBody>
                  <a:tcPr marL="9525" marR="9525" marT="9525" marB="9525" anchor="ctr"/>
                </a:tc>
                <a:tc>
                  <a:txBody>
                    <a:bodyPr/>
                    <a:lstStyle/>
                    <a:p>
                      <a:pPr marL="0" algn="ctr" defTabSz="914400" rtl="0" eaLnBrk="1" latinLnBrk="0" hangingPunct="1">
                        <a:buNone/>
                      </a:pPr>
                      <a:r>
                        <a:rPr kumimoji="1" lang="en-US" altLang="ja-JP" sz="1600" b="0" kern="1200" dirty="0">
                          <a:solidFill>
                            <a:schemeClr val="tx1"/>
                          </a:solidFill>
                          <a:effectLst/>
                          <a:latin typeface="+mn-ea"/>
                          <a:ea typeface="+mn-ea"/>
                        </a:rPr>
                        <a:t>12</a:t>
                      </a:r>
                      <a:endParaRPr kumimoji="1" lang="ja-JP" altLang="en-US" sz="1600" b="0" i="0" kern="1200" dirty="0">
                        <a:solidFill>
                          <a:schemeClr val="tx1"/>
                        </a:solidFill>
                        <a:effectLst/>
                        <a:latin typeface="+mn-ea"/>
                        <a:ea typeface="+mn-ea"/>
                        <a:cs typeface="Times New Roman"/>
                      </a:endParaRPr>
                    </a:p>
                  </a:txBody>
                  <a:tcPr marL="9525" marR="9525" marT="9525" marB="9525" anchor="ctr"/>
                </a:tc>
                <a:tc>
                  <a:txBody>
                    <a:bodyPr/>
                    <a:lstStyle/>
                    <a:p>
                      <a:pPr marL="0" algn="ctr" defTabSz="914400" rtl="0" eaLnBrk="1" latinLnBrk="0" hangingPunct="1">
                        <a:buNone/>
                      </a:pPr>
                      <a:r>
                        <a:rPr kumimoji="1" lang="en-US" altLang="ja-JP" sz="1600" b="0" i="0" kern="1200" dirty="0">
                          <a:solidFill>
                            <a:schemeClr val="tx1"/>
                          </a:solidFill>
                          <a:effectLst/>
                          <a:latin typeface="+mn-ea"/>
                          <a:ea typeface="+mn-ea"/>
                          <a:cs typeface="Times New Roman"/>
                        </a:rPr>
                        <a:t>6</a:t>
                      </a:r>
                      <a:r>
                        <a:rPr kumimoji="1" lang="ja-JP" altLang="en-US" sz="1600" b="0" i="0" kern="1200" dirty="0">
                          <a:solidFill>
                            <a:schemeClr val="tx1"/>
                          </a:solidFill>
                          <a:effectLst/>
                          <a:latin typeface="+mn-ea"/>
                          <a:ea typeface="+mn-ea"/>
                          <a:cs typeface="Times New Roman"/>
                        </a:rPr>
                        <a:t>時間容量</a:t>
                      </a:r>
                    </a:p>
                  </a:txBody>
                  <a:tcPr marL="9525" marR="9525" marT="9525" marB="9525" anchor="ctr"/>
                </a:tc>
                <a:extLst>
                  <a:ext uri="{0D108BD9-81ED-4DB2-BD59-A6C34878D82A}">
                    <a16:rowId xmlns:a16="http://schemas.microsoft.com/office/drawing/2014/main" val="725016267"/>
                  </a:ext>
                </a:extLst>
              </a:tr>
            </a:tbl>
          </a:graphicData>
        </a:graphic>
      </p:graphicFrame>
      <p:graphicFrame>
        <p:nvGraphicFramePr>
          <p:cNvPr id="3" name="表 2">
            <a:extLst>
              <a:ext uri="{FF2B5EF4-FFF2-40B4-BE49-F238E27FC236}">
                <a16:creationId xmlns:a16="http://schemas.microsoft.com/office/drawing/2014/main" id="{7491FBE9-4E7B-A77F-97F4-9CF81D45682F}"/>
              </a:ext>
            </a:extLst>
          </p:cNvPr>
          <p:cNvGraphicFramePr>
            <a:graphicFrameLocks noGrp="1"/>
          </p:cNvGraphicFramePr>
          <p:nvPr>
            <p:extLst>
              <p:ext uri="{D42A27DB-BD31-4B8C-83A1-F6EECF244321}">
                <p14:modId xmlns:p14="http://schemas.microsoft.com/office/powerpoint/2010/main" val="2520730273"/>
              </p:ext>
            </p:extLst>
          </p:nvPr>
        </p:nvGraphicFramePr>
        <p:xfrm>
          <a:off x="392863" y="1726193"/>
          <a:ext cx="9907674" cy="1314450"/>
        </p:xfrm>
        <a:graphic>
          <a:graphicData uri="http://schemas.openxmlformats.org/drawingml/2006/table">
            <a:tbl>
              <a:tblPr firstRow="1" firstCol="1" bandRow="1">
                <a:tableStyleId>{854B67C7-B280-42D8-B184-0A409CBFCAF9}</a:tableStyleId>
              </a:tblPr>
              <a:tblGrid>
                <a:gridCol w="1706001">
                  <a:extLst>
                    <a:ext uri="{9D8B030D-6E8A-4147-A177-3AD203B41FA5}">
                      <a16:colId xmlns:a16="http://schemas.microsoft.com/office/drawing/2014/main" val="1204599960"/>
                    </a:ext>
                  </a:extLst>
                </a:gridCol>
                <a:gridCol w="3565946">
                  <a:extLst>
                    <a:ext uri="{9D8B030D-6E8A-4147-A177-3AD203B41FA5}">
                      <a16:colId xmlns:a16="http://schemas.microsoft.com/office/drawing/2014/main" val="3188947399"/>
                    </a:ext>
                  </a:extLst>
                </a:gridCol>
                <a:gridCol w="1804584">
                  <a:extLst>
                    <a:ext uri="{9D8B030D-6E8A-4147-A177-3AD203B41FA5}">
                      <a16:colId xmlns:a16="http://schemas.microsoft.com/office/drawing/2014/main" val="1293916709"/>
                    </a:ext>
                  </a:extLst>
                </a:gridCol>
                <a:gridCol w="1325475">
                  <a:extLst>
                    <a:ext uri="{9D8B030D-6E8A-4147-A177-3AD203B41FA5}">
                      <a16:colId xmlns:a16="http://schemas.microsoft.com/office/drawing/2014/main" val="2294938888"/>
                    </a:ext>
                  </a:extLst>
                </a:gridCol>
                <a:gridCol w="1505668">
                  <a:extLst>
                    <a:ext uri="{9D8B030D-6E8A-4147-A177-3AD203B41FA5}">
                      <a16:colId xmlns:a16="http://schemas.microsoft.com/office/drawing/2014/main" val="620693798"/>
                    </a:ext>
                  </a:extLst>
                </a:gridCol>
              </a:tblGrid>
              <a:tr h="211803">
                <a:tc>
                  <a:txBody>
                    <a:bodyPr/>
                    <a:lstStyle/>
                    <a:p>
                      <a:pPr marL="0" algn="ctr" defTabSz="914400" rtl="0" eaLnBrk="1" latinLnBrk="0" hangingPunct="1">
                        <a:buNone/>
                      </a:pPr>
                      <a:r>
                        <a:rPr kumimoji="1" lang="ja-JP" altLang="en-US" sz="1600" b="0" kern="1200" dirty="0">
                          <a:solidFill>
                            <a:schemeClr val="lt1"/>
                          </a:solidFill>
                          <a:effectLst/>
                          <a:latin typeface="+mn-ea"/>
                          <a:ea typeface="+mn-ea"/>
                        </a:rPr>
                        <a:t>電源</a:t>
                      </a:r>
                      <a:endParaRPr kumimoji="1" lang="ja-JP" altLang="en-US" sz="1600" b="0" i="0" kern="1200" dirty="0">
                        <a:solidFill>
                          <a:schemeClr val="lt1"/>
                        </a:solidFill>
                        <a:effectLst/>
                        <a:latin typeface="+mn-ea"/>
                        <a:ea typeface="+mn-ea"/>
                        <a:cs typeface="Times New Roman"/>
                      </a:endParaRPr>
                    </a:p>
                  </a:txBody>
                  <a:tcPr marL="9525" marR="9525" marT="9525" marB="9525" anchor="ctr"/>
                </a:tc>
                <a:tc>
                  <a:txBody>
                    <a:bodyPr/>
                    <a:lstStyle/>
                    <a:p>
                      <a:pPr marL="0" algn="ctr" defTabSz="914400" rtl="0" eaLnBrk="1" latinLnBrk="0" hangingPunct="1">
                        <a:buNone/>
                      </a:pPr>
                      <a:r>
                        <a:rPr kumimoji="1" lang="en-US" altLang="ja-JP" sz="1600" b="0" kern="1200" dirty="0">
                          <a:solidFill>
                            <a:schemeClr val="lt1"/>
                          </a:solidFill>
                          <a:effectLst/>
                          <a:latin typeface="+mn-ea"/>
                          <a:ea typeface="+mn-ea"/>
                        </a:rPr>
                        <a:t>CAPEX [$/MW]</a:t>
                      </a:r>
                      <a:endParaRPr kumimoji="1" lang="ja-JP" altLang="en-US" sz="1600" b="0" i="0" kern="1200" dirty="0">
                        <a:solidFill>
                          <a:schemeClr val="lt1"/>
                        </a:solidFill>
                        <a:effectLst/>
                        <a:latin typeface="+mn-ea"/>
                        <a:ea typeface="+mn-ea"/>
                        <a:cs typeface="Times New Roman"/>
                      </a:endParaRPr>
                    </a:p>
                  </a:txBody>
                  <a:tcPr marL="9525" marR="9525" marT="9525" marB="9525" anchor="ctr"/>
                </a:tc>
                <a:tc>
                  <a:txBody>
                    <a:bodyPr/>
                    <a:lstStyle/>
                    <a:p>
                      <a:pPr marL="0" algn="ctr" defTabSz="914400" rtl="0" eaLnBrk="1" latinLnBrk="0" hangingPunct="1">
                        <a:buNone/>
                      </a:pPr>
                      <a:r>
                        <a:rPr kumimoji="1" lang="en-US" altLang="ja-JP" sz="1600" b="0" kern="1200" dirty="0">
                          <a:solidFill>
                            <a:schemeClr val="lt1"/>
                          </a:solidFill>
                          <a:effectLst/>
                          <a:latin typeface="+mn-ea"/>
                          <a:ea typeface="+mn-ea"/>
                        </a:rPr>
                        <a:t>(OPEX) [$/MWh]</a:t>
                      </a:r>
                      <a:endParaRPr kumimoji="1" lang="ja-JP" altLang="en-US" sz="1600" b="0" i="0" kern="1200" dirty="0">
                        <a:solidFill>
                          <a:schemeClr val="lt1"/>
                        </a:solidFill>
                        <a:effectLst/>
                        <a:latin typeface="+mn-ea"/>
                        <a:ea typeface="+mn-ea"/>
                        <a:cs typeface="Times New Roman"/>
                      </a:endParaRPr>
                    </a:p>
                  </a:txBody>
                  <a:tcPr marL="9525" marR="9525" marT="9525" marB="9525" anchor="ctr"/>
                </a:tc>
                <a:tc>
                  <a:txBody>
                    <a:bodyPr/>
                    <a:lstStyle/>
                    <a:p>
                      <a:pPr marL="0" algn="ctr" defTabSz="914400" rtl="0" eaLnBrk="1" latinLnBrk="0" hangingPunct="1">
                        <a:buNone/>
                      </a:pPr>
                      <a:r>
                        <a:rPr kumimoji="1" lang="ja-JP" altLang="en-US" sz="1600" b="0" kern="1200" dirty="0">
                          <a:solidFill>
                            <a:schemeClr val="lt1"/>
                          </a:solidFill>
                          <a:effectLst/>
                          <a:latin typeface="+mn-ea"/>
                          <a:ea typeface="+mn-ea"/>
                        </a:rPr>
                        <a:t>耐用年数 </a:t>
                      </a:r>
                      <a:r>
                        <a:rPr kumimoji="1" lang="en-US" altLang="ja-JP" sz="1600" b="0" kern="1200" dirty="0">
                          <a:solidFill>
                            <a:schemeClr val="lt1"/>
                          </a:solidFill>
                          <a:effectLst/>
                          <a:latin typeface="+mn-ea"/>
                          <a:ea typeface="+mn-ea"/>
                        </a:rPr>
                        <a:t>[</a:t>
                      </a:r>
                      <a:r>
                        <a:rPr kumimoji="1" lang="ja-JP" altLang="en-US" sz="1600" b="0" kern="1200" dirty="0">
                          <a:solidFill>
                            <a:schemeClr val="lt1"/>
                          </a:solidFill>
                          <a:effectLst/>
                          <a:latin typeface="+mn-ea"/>
                          <a:ea typeface="+mn-ea"/>
                        </a:rPr>
                        <a:t>年</a:t>
                      </a:r>
                      <a:r>
                        <a:rPr kumimoji="1" lang="en-US" altLang="ja-JP" sz="1600" b="0" kern="1200" dirty="0">
                          <a:solidFill>
                            <a:schemeClr val="lt1"/>
                          </a:solidFill>
                          <a:effectLst/>
                          <a:latin typeface="+mn-ea"/>
                          <a:ea typeface="+mn-ea"/>
                        </a:rPr>
                        <a:t>]</a:t>
                      </a:r>
                      <a:endParaRPr kumimoji="1" lang="ja-JP" altLang="en-US" sz="1600" b="0" i="0" kern="1200" dirty="0">
                        <a:solidFill>
                          <a:schemeClr val="lt1"/>
                        </a:solidFill>
                        <a:effectLst/>
                        <a:latin typeface="+mn-ea"/>
                        <a:ea typeface="+mn-ea"/>
                        <a:cs typeface="Times New Roman"/>
                      </a:endParaRPr>
                    </a:p>
                  </a:txBody>
                  <a:tcPr marL="9525" marR="9525" marT="9525" marB="9525" anchor="ctr"/>
                </a:tc>
                <a:tc>
                  <a:txBody>
                    <a:bodyPr/>
                    <a:lstStyle/>
                    <a:p>
                      <a:pPr marL="0" algn="ctr" defTabSz="914400" rtl="0" eaLnBrk="1" latinLnBrk="0" hangingPunct="1">
                        <a:buNone/>
                      </a:pPr>
                      <a:endParaRPr kumimoji="1" lang="ja-JP" altLang="en-US" sz="1600" b="0" i="0" kern="1200" dirty="0">
                        <a:solidFill>
                          <a:schemeClr val="lt1"/>
                        </a:solidFill>
                        <a:effectLst/>
                        <a:latin typeface="+mn-ea"/>
                        <a:ea typeface="+mn-ea"/>
                        <a:cs typeface="Times New Roman"/>
                      </a:endParaRPr>
                    </a:p>
                  </a:txBody>
                  <a:tcPr marL="9525" marR="9525" marT="9525" marB="9525" anchor="ctr"/>
                </a:tc>
                <a:extLst>
                  <a:ext uri="{0D108BD9-81ED-4DB2-BD59-A6C34878D82A}">
                    <a16:rowId xmlns:a16="http://schemas.microsoft.com/office/drawing/2014/main" val="266913123"/>
                  </a:ext>
                </a:extLst>
              </a:tr>
              <a:tr h="167640">
                <a:tc>
                  <a:txBody>
                    <a:bodyPr/>
                    <a:lstStyle/>
                    <a:p>
                      <a:pPr marL="0" algn="ctr" defTabSz="914400" rtl="0" eaLnBrk="1" latinLnBrk="0" hangingPunct="1">
                        <a:buNone/>
                      </a:pPr>
                      <a:r>
                        <a:rPr kumimoji="1" lang="en-US" altLang="ja-JP" sz="1600" b="0" kern="1200" dirty="0">
                          <a:solidFill>
                            <a:schemeClr val="lt1"/>
                          </a:solidFill>
                          <a:effectLst/>
                          <a:latin typeface="+mn-ea"/>
                          <a:ea typeface="+mn-ea"/>
                        </a:rPr>
                        <a:t>Solar</a:t>
                      </a:r>
                      <a:endParaRPr kumimoji="1" lang="ja-JP" altLang="en-US" sz="1600" b="0" i="0" kern="1200" dirty="0">
                        <a:solidFill>
                          <a:schemeClr val="lt1"/>
                        </a:solidFill>
                        <a:effectLst/>
                        <a:latin typeface="+mn-ea"/>
                        <a:ea typeface="+mn-ea"/>
                        <a:cs typeface="Times New Roman"/>
                      </a:endParaRPr>
                    </a:p>
                  </a:txBody>
                  <a:tcPr marL="9525" marR="9525" marT="9525" marB="9525"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0" kern="1200" dirty="0">
                          <a:solidFill>
                            <a:schemeClr val="tx1"/>
                          </a:solidFill>
                          <a:effectLst/>
                          <a:latin typeface="+mn-ea"/>
                          <a:ea typeface="+mn-ea"/>
                        </a:rPr>
                        <a:t>700,000</a:t>
                      </a:r>
                      <a:endParaRPr kumimoji="1" lang="ja-JP" altLang="en-US" sz="1600" b="0" i="0" kern="1200" dirty="0">
                        <a:solidFill>
                          <a:srgbClr val="FF0000"/>
                        </a:solidFill>
                        <a:effectLst/>
                        <a:latin typeface="+mn-ea"/>
                        <a:ea typeface="+mn-ea"/>
                        <a:cs typeface="Times New Roman"/>
                      </a:endParaRPr>
                    </a:p>
                  </a:txBody>
                  <a:tcPr marL="9525" marR="9525" marT="9525" marB="9525" anchor="ctr"/>
                </a:tc>
                <a:tc>
                  <a:txBody>
                    <a:bodyPr/>
                    <a:lstStyle/>
                    <a:p>
                      <a:pPr marL="0" algn="ctr" defTabSz="914400" rtl="0" eaLnBrk="1" latinLnBrk="0" hangingPunct="1">
                        <a:buNone/>
                      </a:pPr>
                      <a:r>
                        <a:rPr kumimoji="1" lang="en-US" altLang="ja-JP" sz="1600" b="0" kern="1200" dirty="0">
                          <a:solidFill>
                            <a:schemeClr val="tx1"/>
                          </a:solidFill>
                          <a:effectLst/>
                          <a:latin typeface="+mn-ea"/>
                          <a:ea typeface="+mn-ea"/>
                        </a:rPr>
                        <a:t>0</a:t>
                      </a:r>
                      <a:endParaRPr kumimoji="1" lang="ja-JP" altLang="en-US" sz="1600" b="0" i="0" kern="1200" dirty="0">
                        <a:solidFill>
                          <a:schemeClr val="tx1"/>
                        </a:solidFill>
                        <a:effectLst/>
                        <a:latin typeface="+mn-ea"/>
                        <a:ea typeface="+mn-ea"/>
                        <a:cs typeface="Times New Roman"/>
                      </a:endParaRPr>
                    </a:p>
                  </a:txBody>
                  <a:tcPr marL="9525" marR="9525" marT="9525" marB="9525" anchor="ctr"/>
                </a:tc>
                <a:tc>
                  <a:txBody>
                    <a:bodyPr/>
                    <a:lstStyle/>
                    <a:p>
                      <a:pPr marL="0" algn="ctr" defTabSz="914400" rtl="0" eaLnBrk="1" latinLnBrk="0" hangingPunct="1">
                        <a:buNone/>
                      </a:pPr>
                      <a:r>
                        <a:rPr kumimoji="1" lang="en-US" altLang="ja-JP" sz="1600" b="0" kern="1200" dirty="0">
                          <a:solidFill>
                            <a:schemeClr val="tx1"/>
                          </a:solidFill>
                          <a:effectLst/>
                          <a:latin typeface="+mn-ea"/>
                          <a:ea typeface="+mn-ea"/>
                        </a:rPr>
                        <a:t>25</a:t>
                      </a:r>
                      <a:endParaRPr kumimoji="1" lang="ja-JP" altLang="en-US" sz="1600" b="0" i="0" kern="1200" dirty="0">
                        <a:solidFill>
                          <a:schemeClr val="tx1"/>
                        </a:solidFill>
                        <a:effectLst/>
                        <a:latin typeface="+mn-ea"/>
                        <a:ea typeface="+mn-ea"/>
                        <a:cs typeface="Times New Roman"/>
                      </a:endParaRPr>
                    </a:p>
                  </a:txBody>
                  <a:tcPr marL="9525" marR="9525" marT="9525" marB="9525" anchor="ctr"/>
                </a:tc>
                <a:tc>
                  <a:txBody>
                    <a:bodyPr/>
                    <a:lstStyle/>
                    <a:p>
                      <a:pPr marL="0" algn="ctr" defTabSz="914400" rtl="0" eaLnBrk="1" latinLnBrk="0" hangingPunct="1">
                        <a:buNone/>
                      </a:pPr>
                      <a:endParaRPr kumimoji="1" lang="ja-JP" altLang="en-US" sz="1600" b="0" i="0" kern="1200" dirty="0">
                        <a:solidFill>
                          <a:schemeClr val="tx1"/>
                        </a:solidFill>
                        <a:effectLst/>
                        <a:latin typeface="+mn-ea"/>
                        <a:ea typeface="+mn-ea"/>
                        <a:cs typeface="Times New Roman"/>
                      </a:endParaRPr>
                    </a:p>
                  </a:txBody>
                  <a:tcPr marL="9525" marR="9525" marT="9525" marB="9525" anchor="ctr"/>
                </a:tc>
                <a:extLst>
                  <a:ext uri="{0D108BD9-81ED-4DB2-BD59-A6C34878D82A}">
                    <a16:rowId xmlns:a16="http://schemas.microsoft.com/office/drawing/2014/main" val="450180208"/>
                  </a:ext>
                </a:extLst>
              </a:tr>
              <a:tr h="167640">
                <a:tc>
                  <a:txBody>
                    <a:bodyPr/>
                    <a:lstStyle/>
                    <a:p>
                      <a:pPr marL="0" algn="ctr" defTabSz="914400" rtl="0" eaLnBrk="1" latinLnBrk="0" hangingPunct="1">
                        <a:buNone/>
                      </a:pPr>
                      <a:r>
                        <a:rPr kumimoji="1" lang="en-US" altLang="ja-JP" sz="1600" b="0" kern="1200" dirty="0">
                          <a:solidFill>
                            <a:schemeClr val="lt1"/>
                          </a:solidFill>
                          <a:effectLst/>
                          <a:latin typeface="+mn-ea"/>
                          <a:ea typeface="+mn-ea"/>
                        </a:rPr>
                        <a:t>Wind</a:t>
                      </a:r>
                      <a:endParaRPr kumimoji="1" lang="ja-JP" altLang="en-US" sz="1600" b="0" i="0" kern="1200" dirty="0">
                        <a:solidFill>
                          <a:schemeClr val="lt1"/>
                        </a:solidFill>
                        <a:effectLst/>
                        <a:latin typeface="+mn-ea"/>
                        <a:ea typeface="+mn-ea"/>
                        <a:cs typeface="Times New Roman"/>
                      </a:endParaRPr>
                    </a:p>
                  </a:txBody>
                  <a:tcPr marL="9525" marR="9525" marT="9525" marB="9525"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0" kern="1200" dirty="0">
                          <a:solidFill>
                            <a:schemeClr val="tx1"/>
                          </a:solidFill>
                          <a:effectLst/>
                          <a:latin typeface="+mn-ea"/>
                          <a:ea typeface="+mn-ea"/>
                        </a:rPr>
                        <a:t>1,100,000</a:t>
                      </a:r>
                      <a:endParaRPr kumimoji="1" lang="ja-JP" altLang="ja-JP" sz="1600" b="0" i="0" kern="1200" dirty="0">
                        <a:solidFill>
                          <a:srgbClr val="FF0000"/>
                        </a:solidFill>
                        <a:effectLst/>
                        <a:latin typeface="+mn-ea"/>
                        <a:ea typeface="Times New Roman"/>
                        <a:cs typeface="Times New Roman"/>
                      </a:endParaRPr>
                    </a:p>
                  </a:txBody>
                  <a:tcPr marL="9525" marR="9525" marT="9525" marB="9525" anchor="ctr"/>
                </a:tc>
                <a:tc>
                  <a:txBody>
                    <a:bodyPr/>
                    <a:lstStyle/>
                    <a:p>
                      <a:pPr marL="0" algn="ctr" defTabSz="914400" rtl="0" eaLnBrk="1" latinLnBrk="0" hangingPunct="1">
                        <a:buNone/>
                      </a:pPr>
                      <a:r>
                        <a:rPr kumimoji="1" lang="en-US" altLang="ja-JP" sz="1600" b="0" kern="1200" dirty="0">
                          <a:solidFill>
                            <a:schemeClr val="tx1"/>
                          </a:solidFill>
                          <a:effectLst/>
                          <a:latin typeface="+mn-ea"/>
                          <a:ea typeface="+mn-ea"/>
                        </a:rPr>
                        <a:t>0</a:t>
                      </a:r>
                      <a:endParaRPr kumimoji="1" lang="ja-JP" altLang="en-US" sz="1600" b="0" i="0" kern="1200" dirty="0">
                        <a:solidFill>
                          <a:schemeClr val="tx1"/>
                        </a:solidFill>
                        <a:effectLst/>
                        <a:latin typeface="+mn-ea"/>
                        <a:ea typeface="+mn-ea"/>
                        <a:cs typeface="Times New Roman"/>
                      </a:endParaRPr>
                    </a:p>
                  </a:txBody>
                  <a:tcPr marL="9525" marR="9525" marT="9525" marB="9525" anchor="ctr"/>
                </a:tc>
                <a:tc>
                  <a:txBody>
                    <a:bodyPr/>
                    <a:lstStyle/>
                    <a:p>
                      <a:pPr marL="0" algn="ctr" defTabSz="914400" rtl="0" eaLnBrk="1" latinLnBrk="0" hangingPunct="1">
                        <a:buNone/>
                      </a:pPr>
                      <a:r>
                        <a:rPr kumimoji="1" lang="en-US" altLang="ja-JP" sz="1600" b="0" kern="1200" dirty="0">
                          <a:solidFill>
                            <a:schemeClr val="tx1"/>
                          </a:solidFill>
                          <a:effectLst/>
                          <a:latin typeface="+mn-ea"/>
                          <a:ea typeface="+mn-ea"/>
                        </a:rPr>
                        <a:t>25</a:t>
                      </a:r>
                      <a:endParaRPr kumimoji="1" lang="ja-JP" altLang="en-US" sz="1600" b="0" i="0" kern="1200" dirty="0">
                        <a:solidFill>
                          <a:schemeClr val="tx1"/>
                        </a:solidFill>
                        <a:effectLst/>
                        <a:latin typeface="+mn-ea"/>
                        <a:ea typeface="+mn-ea"/>
                        <a:cs typeface="Times New Roman"/>
                      </a:endParaRPr>
                    </a:p>
                  </a:txBody>
                  <a:tcPr marL="9525" marR="9525" marT="9525" marB="9525" anchor="ctr"/>
                </a:tc>
                <a:tc>
                  <a:txBody>
                    <a:bodyPr/>
                    <a:lstStyle/>
                    <a:p>
                      <a:pPr marL="0" algn="ctr" defTabSz="914400" rtl="0" eaLnBrk="1" latinLnBrk="0" hangingPunct="1">
                        <a:buNone/>
                      </a:pPr>
                      <a:endParaRPr kumimoji="1" lang="ja-JP" altLang="en-US" sz="1600" b="0" i="0" kern="1200" dirty="0">
                        <a:solidFill>
                          <a:schemeClr val="tx1"/>
                        </a:solidFill>
                        <a:effectLst/>
                        <a:latin typeface="+mn-ea"/>
                        <a:ea typeface="+mn-ea"/>
                        <a:cs typeface="Times New Roman"/>
                      </a:endParaRPr>
                    </a:p>
                  </a:txBody>
                  <a:tcPr marL="9525" marR="9525" marT="9525" marB="9525" anchor="ctr"/>
                </a:tc>
                <a:extLst>
                  <a:ext uri="{0D108BD9-81ED-4DB2-BD59-A6C34878D82A}">
                    <a16:rowId xmlns:a16="http://schemas.microsoft.com/office/drawing/2014/main" val="781214321"/>
                  </a:ext>
                </a:extLst>
              </a:tr>
              <a:tr h="167640">
                <a:tc>
                  <a:txBody>
                    <a:bodyPr/>
                    <a:lstStyle/>
                    <a:p>
                      <a:pPr marL="0" algn="ctr" defTabSz="914400" rtl="0" eaLnBrk="1" latinLnBrk="0" hangingPunct="1">
                        <a:buNone/>
                      </a:pPr>
                      <a:r>
                        <a:rPr kumimoji="1" lang="en-US" altLang="ja-JP" sz="1600" b="0" kern="1200" dirty="0">
                          <a:solidFill>
                            <a:schemeClr val="lt1"/>
                          </a:solidFill>
                          <a:effectLst/>
                          <a:latin typeface="+mn-ea"/>
                          <a:ea typeface="+mn-ea"/>
                        </a:rPr>
                        <a:t>Diesel</a:t>
                      </a:r>
                      <a:endParaRPr kumimoji="1" lang="ja-JP" altLang="en-US" sz="1600" b="0" i="0" kern="1200" dirty="0">
                        <a:solidFill>
                          <a:schemeClr val="lt1"/>
                        </a:solidFill>
                        <a:effectLst/>
                        <a:latin typeface="+mn-ea"/>
                        <a:ea typeface="+mn-ea"/>
                        <a:cs typeface="Times New Roman"/>
                      </a:endParaRPr>
                    </a:p>
                  </a:txBody>
                  <a:tcPr marL="9525" marR="9525" marT="9525" marB="9525" anchor="ctr"/>
                </a:tc>
                <a:tc>
                  <a:txBody>
                    <a:bodyPr/>
                    <a:lstStyle/>
                    <a:p>
                      <a:pPr marL="0" algn="ctr" defTabSz="914400" rtl="0" eaLnBrk="1" latinLnBrk="0" hangingPunct="1">
                        <a:buNone/>
                      </a:pPr>
                      <a:r>
                        <a:rPr kumimoji="1" lang="en-US" altLang="ja-JP" sz="1600" b="0" kern="1200" dirty="0">
                          <a:solidFill>
                            <a:schemeClr val="tx1"/>
                          </a:solidFill>
                          <a:effectLst/>
                          <a:latin typeface="+mn-ea"/>
                          <a:ea typeface="+mn-ea"/>
                        </a:rPr>
                        <a:t>800,000</a:t>
                      </a:r>
                      <a:endParaRPr kumimoji="1" lang="ja-JP" altLang="en-US" sz="1600" b="0" i="0" kern="1200" dirty="0">
                        <a:solidFill>
                          <a:schemeClr val="tx1"/>
                        </a:solidFill>
                        <a:effectLst/>
                        <a:latin typeface="+mn-ea"/>
                        <a:ea typeface="+mn-ea"/>
                        <a:cs typeface="Times New Roman"/>
                      </a:endParaRPr>
                    </a:p>
                  </a:txBody>
                  <a:tcPr marL="9525" marR="9525" marT="9525" marB="9525"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0" kern="1200" dirty="0">
                          <a:solidFill>
                            <a:schemeClr val="tx1"/>
                          </a:solidFill>
                          <a:effectLst/>
                          <a:latin typeface="+mn-ea"/>
                          <a:ea typeface="+mn-ea"/>
                        </a:rPr>
                        <a:t>250</a:t>
                      </a:r>
                      <a:endParaRPr kumimoji="1" lang="ja-JP" altLang="en-US" sz="1600" b="0" i="0" kern="1200" dirty="0">
                        <a:solidFill>
                          <a:srgbClr val="FF0000"/>
                        </a:solidFill>
                        <a:effectLst/>
                        <a:latin typeface="+mn-ea"/>
                        <a:ea typeface="+mn-ea"/>
                        <a:cs typeface="Times New Roman"/>
                      </a:endParaRPr>
                    </a:p>
                  </a:txBody>
                  <a:tcPr marL="9525" marR="9525" marT="9525" marB="9525" anchor="ctr"/>
                </a:tc>
                <a:tc>
                  <a:txBody>
                    <a:bodyPr/>
                    <a:lstStyle/>
                    <a:p>
                      <a:pPr marL="0" algn="ctr" defTabSz="914400" rtl="0" eaLnBrk="1" latinLnBrk="0" hangingPunct="1">
                        <a:buNone/>
                      </a:pPr>
                      <a:r>
                        <a:rPr kumimoji="1" lang="en-US" altLang="ja-JP" sz="1600" b="0" kern="1200" dirty="0">
                          <a:solidFill>
                            <a:schemeClr val="tx1"/>
                          </a:solidFill>
                          <a:effectLst/>
                          <a:latin typeface="+mn-ea"/>
                          <a:ea typeface="+mn-ea"/>
                        </a:rPr>
                        <a:t>20</a:t>
                      </a:r>
                      <a:endParaRPr kumimoji="1" lang="ja-JP" altLang="en-US" sz="1600" b="0" i="0" kern="1200" dirty="0">
                        <a:solidFill>
                          <a:schemeClr val="tx1"/>
                        </a:solidFill>
                        <a:effectLst/>
                        <a:latin typeface="+mn-ea"/>
                        <a:ea typeface="+mn-ea"/>
                        <a:cs typeface="Times New Roman"/>
                      </a:endParaRPr>
                    </a:p>
                  </a:txBody>
                  <a:tcPr marL="9525" marR="9525" marT="9525" marB="9525" anchor="ctr"/>
                </a:tc>
                <a:tc>
                  <a:txBody>
                    <a:bodyPr/>
                    <a:lstStyle/>
                    <a:p>
                      <a:pPr marL="0" algn="ctr" defTabSz="914400" rtl="0" eaLnBrk="1" latinLnBrk="0" hangingPunct="1">
                        <a:buNone/>
                      </a:pPr>
                      <a:endParaRPr kumimoji="1" lang="ja-JP" altLang="en-US" sz="1600" b="0" i="0" kern="1200" dirty="0">
                        <a:solidFill>
                          <a:schemeClr val="tx1"/>
                        </a:solidFill>
                        <a:effectLst/>
                        <a:latin typeface="+mn-ea"/>
                        <a:ea typeface="+mn-ea"/>
                        <a:cs typeface="Times New Roman"/>
                      </a:endParaRPr>
                    </a:p>
                  </a:txBody>
                  <a:tcPr marL="9525" marR="9525" marT="9525" marB="9525" anchor="ctr"/>
                </a:tc>
                <a:extLst>
                  <a:ext uri="{0D108BD9-81ED-4DB2-BD59-A6C34878D82A}">
                    <a16:rowId xmlns:a16="http://schemas.microsoft.com/office/drawing/2014/main" val="3829162887"/>
                  </a:ext>
                </a:extLst>
              </a:tr>
              <a:tr h="0">
                <a:tc>
                  <a:txBody>
                    <a:bodyPr/>
                    <a:lstStyle/>
                    <a:p>
                      <a:pPr marL="0" algn="ctr" defTabSz="914400" rtl="0" eaLnBrk="1" latinLnBrk="0" hangingPunct="1">
                        <a:buNone/>
                      </a:pPr>
                      <a:r>
                        <a:rPr kumimoji="1" lang="en-US" altLang="ja-JP" sz="1600" b="0" kern="1200" dirty="0">
                          <a:solidFill>
                            <a:schemeClr val="lt1"/>
                          </a:solidFill>
                          <a:effectLst/>
                          <a:latin typeface="+mn-ea"/>
                          <a:ea typeface="+mn-ea"/>
                        </a:rPr>
                        <a:t>Battery</a:t>
                      </a:r>
                      <a:endParaRPr kumimoji="1" lang="ja-JP" altLang="en-US" sz="1600" b="0" i="0" kern="1200" dirty="0">
                        <a:solidFill>
                          <a:schemeClr val="lt1"/>
                        </a:solidFill>
                        <a:effectLst/>
                        <a:latin typeface="+mn-ea"/>
                        <a:ea typeface="+mn-ea"/>
                        <a:cs typeface="Times New Roman"/>
                      </a:endParaRPr>
                    </a:p>
                  </a:txBody>
                  <a:tcPr marL="9525" marR="9525" marT="9525" marB="9525"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0" kern="1200" dirty="0">
                          <a:solidFill>
                            <a:schemeClr val="tx1"/>
                          </a:solidFill>
                          <a:effectLst/>
                          <a:latin typeface="+mn-ea"/>
                          <a:ea typeface="+mn-ea"/>
                        </a:rPr>
                        <a:t>600,000</a:t>
                      </a:r>
                      <a:endParaRPr kumimoji="1" lang="ja-JP" altLang="en-US" sz="1600" b="0" i="0" kern="1200" dirty="0">
                        <a:solidFill>
                          <a:srgbClr val="FF0000"/>
                        </a:solidFill>
                        <a:effectLst/>
                        <a:latin typeface="+mn-ea"/>
                        <a:ea typeface="+mn-ea"/>
                        <a:cs typeface="Times New Roman"/>
                      </a:endParaRPr>
                    </a:p>
                  </a:txBody>
                  <a:tcPr marL="9525" marR="9525" marT="9525" marB="9525" anchor="ctr"/>
                </a:tc>
                <a:tc>
                  <a:txBody>
                    <a:bodyPr/>
                    <a:lstStyle/>
                    <a:p>
                      <a:pPr marL="0" algn="ctr" defTabSz="914400" rtl="0" eaLnBrk="1" latinLnBrk="0" hangingPunct="1">
                        <a:buNone/>
                      </a:pPr>
                      <a:r>
                        <a:rPr kumimoji="1" lang="en-US" altLang="ja-JP" sz="1600" b="0" i="0" kern="1200" dirty="0">
                          <a:solidFill>
                            <a:schemeClr val="tx1"/>
                          </a:solidFill>
                          <a:effectLst/>
                          <a:latin typeface="+mn-ea"/>
                          <a:ea typeface="+mn-ea"/>
                          <a:cs typeface="Times New Roman"/>
                        </a:rPr>
                        <a:t>0</a:t>
                      </a:r>
                      <a:endParaRPr kumimoji="1" lang="ja-JP" altLang="en-US" sz="1600" b="0" i="0" kern="1200" dirty="0">
                        <a:solidFill>
                          <a:schemeClr val="tx1"/>
                        </a:solidFill>
                        <a:effectLst/>
                        <a:latin typeface="+mn-ea"/>
                        <a:ea typeface="+mn-ea"/>
                        <a:cs typeface="Times New Roman"/>
                      </a:endParaRPr>
                    </a:p>
                  </a:txBody>
                  <a:tcPr marL="9525" marR="9525" marT="9525" marB="9525" anchor="ctr"/>
                </a:tc>
                <a:tc>
                  <a:txBody>
                    <a:bodyPr/>
                    <a:lstStyle/>
                    <a:p>
                      <a:pPr marL="0" algn="ctr" defTabSz="914400" rtl="0" eaLnBrk="1" latinLnBrk="0" hangingPunct="1">
                        <a:buNone/>
                      </a:pPr>
                      <a:r>
                        <a:rPr kumimoji="1" lang="en-US" altLang="ja-JP" sz="1600" b="0" kern="1200" dirty="0">
                          <a:solidFill>
                            <a:schemeClr val="tx1"/>
                          </a:solidFill>
                          <a:effectLst/>
                          <a:latin typeface="+mn-ea"/>
                          <a:ea typeface="+mn-ea"/>
                        </a:rPr>
                        <a:t>12</a:t>
                      </a:r>
                      <a:endParaRPr kumimoji="1" lang="ja-JP" altLang="en-US" sz="1600" b="0" i="0" kern="1200" dirty="0">
                        <a:solidFill>
                          <a:schemeClr val="tx1"/>
                        </a:solidFill>
                        <a:effectLst/>
                        <a:latin typeface="+mn-ea"/>
                        <a:ea typeface="+mn-ea"/>
                        <a:cs typeface="Times New Roman"/>
                      </a:endParaRPr>
                    </a:p>
                  </a:txBody>
                  <a:tcPr marL="9525" marR="9525" marT="9525" marB="9525" anchor="ctr"/>
                </a:tc>
                <a:tc>
                  <a:txBody>
                    <a:bodyPr/>
                    <a:lstStyle/>
                    <a:p>
                      <a:pPr marL="0" algn="ctr" defTabSz="914400" rtl="0" eaLnBrk="1" latinLnBrk="0" hangingPunct="1">
                        <a:buNone/>
                      </a:pPr>
                      <a:r>
                        <a:rPr kumimoji="1" lang="en-US" altLang="ja-JP" sz="1600" b="0" i="0" kern="1200" dirty="0">
                          <a:solidFill>
                            <a:schemeClr val="tx1"/>
                          </a:solidFill>
                          <a:effectLst/>
                          <a:latin typeface="+mn-ea"/>
                          <a:ea typeface="+mn-ea"/>
                          <a:cs typeface="Times New Roman"/>
                        </a:rPr>
                        <a:t>6</a:t>
                      </a:r>
                      <a:r>
                        <a:rPr kumimoji="1" lang="ja-JP" altLang="en-US" sz="1600" b="0" i="0" kern="1200" dirty="0">
                          <a:solidFill>
                            <a:schemeClr val="tx1"/>
                          </a:solidFill>
                          <a:effectLst/>
                          <a:latin typeface="+mn-ea"/>
                          <a:ea typeface="+mn-ea"/>
                          <a:cs typeface="Times New Roman"/>
                        </a:rPr>
                        <a:t>時間容量</a:t>
                      </a:r>
                    </a:p>
                  </a:txBody>
                  <a:tcPr marL="9525" marR="9525" marT="9525" marB="9525" anchor="ctr"/>
                </a:tc>
                <a:extLst>
                  <a:ext uri="{0D108BD9-81ED-4DB2-BD59-A6C34878D82A}">
                    <a16:rowId xmlns:a16="http://schemas.microsoft.com/office/drawing/2014/main" val="725016267"/>
                  </a:ext>
                </a:extLst>
              </a:tr>
            </a:tbl>
          </a:graphicData>
        </a:graphic>
      </p:graphicFrame>
      <p:sp>
        <p:nvSpPr>
          <p:cNvPr id="7" name="テキスト ボックス 6">
            <a:extLst>
              <a:ext uri="{FF2B5EF4-FFF2-40B4-BE49-F238E27FC236}">
                <a16:creationId xmlns:a16="http://schemas.microsoft.com/office/drawing/2014/main" id="{9AE8F96F-A731-C54C-C75C-D62E518F300E}"/>
              </a:ext>
            </a:extLst>
          </p:cNvPr>
          <p:cNvSpPr txBox="1"/>
          <p:nvPr/>
        </p:nvSpPr>
        <p:spPr>
          <a:xfrm>
            <a:off x="5260632" y="3114259"/>
            <a:ext cx="5246253" cy="307777"/>
          </a:xfrm>
          <a:prstGeom prst="rect">
            <a:avLst/>
          </a:prstGeom>
          <a:noFill/>
        </p:spPr>
        <p:txBody>
          <a:bodyPr wrap="square" rtlCol="0">
            <a:spAutoFit/>
          </a:bodyPr>
          <a:lstStyle/>
          <a:p>
            <a:r>
              <a:rPr kumimoji="1" lang="en-US" altLang="ja-JP" dirty="0">
                <a:latin typeface="+mn-ea"/>
                <a:ea typeface="+mn-ea"/>
              </a:rPr>
              <a:t>※</a:t>
            </a:r>
            <a:r>
              <a:rPr kumimoji="1" lang="ja-JP" altLang="en-US" dirty="0">
                <a:latin typeface="+mn-ea"/>
                <a:ea typeface="+mn-ea"/>
              </a:rPr>
              <a:t>蓄電池は離島・マイクログリッドで主流となっている</a:t>
            </a:r>
            <a:r>
              <a:rPr kumimoji="1" lang="en-US" altLang="ja-JP" dirty="0">
                <a:latin typeface="+mn-ea"/>
                <a:ea typeface="+mn-ea"/>
              </a:rPr>
              <a:t>6</a:t>
            </a:r>
            <a:r>
              <a:rPr kumimoji="1" lang="ja-JP" altLang="en-US" dirty="0">
                <a:latin typeface="+mn-ea"/>
                <a:ea typeface="+mn-ea"/>
              </a:rPr>
              <a:t>時間容量で想定</a:t>
            </a:r>
          </a:p>
        </p:txBody>
      </p:sp>
    </p:spTree>
    <p:extLst>
      <p:ext uri="{BB962C8B-B14F-4D97-AF65-F5344CB8AC3E}">
        <p14:creationId xmlns:p14="http://schemas.microsoft.com/office/powerpoint/2010/main" val="35015891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71AA819-47BA-F284-1B53-0841207DE30A}"/>
              </a:ext>
            </a:extLst>
          </p:cNvPr>
          <p:cNvSpPr>
            <a:spLocks noGrp="1"/>
          </p:cNvSpPr>
          <p:nvPr>
            <p:ph type="title"/>
          </p:nvPr>
        </p:nvSpPr>
        <p:spPr/>
        <p:txBody>
          <a:bodyPr/>
          <a:lstStyle/>
          <a:p>
            <a:r>
              <a:rPr kumimoji="1" lang="ja-JP" altLang="en-US" dirty="0"/>
              <a:t>不確実性パラメータと</a:t>
            </a:r>
            <a:r>
              <a:rPr kumimoji="1" lang="en-US" altLang="ja-JP" dirty="0"/>
              <a:t>LHS</a:t>
            </a:r>
            <a:r>
              <a:rPr kumimoji="1" lang="ja-JP" altLang="en-US" dirty="0"/>
              <a:t>サンプリング</a:t>
            </a:r>
          </a:p>
        </p:txBody>
      </p:sp>
      <mc:AlternateContent xmlns:mc="http://schemas.openxmlformats.org/markup-compatibility/2006" xmlns:a14="http://schemas.microsoft.com/office/drawing/2010/main">
        <mc:Choice Requires="a14">
          <p:sp>
            <p:nvSpPr>
              <p:cNvPr id="3" name="テキスト プレースホルダー 2">
                <a:extLst>
                  <a:ext uri="{FF2B5EF4-FFF2-40B4-BE49-F238E27FC236}">
                    <a16:creationId xmlns:a16="http://schemas.microsoft.com/office/drawing/2014/main" id="{622722DC-642B-DD10-F4DD-D1BD5A44DF42}"/>
                  </a:ext>
                </a:extLst>
              </p:cNvPr>
              <p:cNvSpPr>
                <a:spLocks noGrp="1"/>
              </p:cNvSpPr>
              <p:nvPr>
                <p:ph type="body" sz="quarter" idx="12"/>
              </p:nvPr>
            </p:nvSpPr>
            <p:spPr/>
            <p:txBody>
              <a:bodyPr/>
              <a:lstStyle/>
              <a:p>
                <a:r>
                  <a:rPr kumimoji="1" lang="ja-JP" altLang="en-US" dirty="0"/>
                  <a:t>評価対象とする不確実性パラメータは以下の</a:t>
                </a:r>
                <a:r>
                  <a:rPr kumimoji="1" lang="en-US" altLang="ja-JP" dirty="0"/>
                  <a:t>4</a:t>
                </a:r>
                <a:r>
                  <a:rPr kumimoji="1" lang="ja-JP" altLang="en-US" dirty="0"/>
                  <a:t>つである。</a:t>
                </a:r>
              </a:p>
              <a:p>
                <a:r>
                  <a:rPr kumimoji="1" lang="en-US" altLang="ja-JP" dirty="0" err="1"/>
                  <a:t>solar_capex</a:t>
                </a:r>
                <a:r>
                  <a:rPr kumimoji="1" lang="en-US" altLang="ja-JP" dirty="0"/>
                  <a:t>, </a:t>
                </a:r>
                <a:r>
                  <a:rPr kumimoji="1" lang="en-US" altLang="ja-JP" dirty="0" err="1"/>
                  <a:t>wind_capex</a:t>
                </a:r>
                <a:r>
                  <a:rPr kumimoji="1" lang="en-US" altLang="ja-JP" dirty="0"/>
                  <a:t>, </a:t>
                </a:r>
                <a:r>
                  <a:rPr kumimoji="1" lang="en-US" altLang="ja-JP" dirty="0" err="1"/>
                  <a:t>battery_capex</a:t>
                </a:r>
                <a:r>
                  <a:rPr kumimoji="1" lang="en-US" altLang="ja-JP" dirty="0"/>
                  <a:t>, </a:t>
                </a:r>
                <a:r>
                  <a:rPr kumimoji="1" lang="en-US" altLang="ja-JP" dirty="0" err="1"/>
                  <a:t>diesel_opex</a:t>
                </a:r>
                <a:r>
                  <a:rPr kumimoji="1" lang="en-US" altLang="ja-JP" dirty="0"/>
                  <a:t> </a:t>
                </a:r>
                <a:r>
                  <a:rPr kumimoji="1" lang="ja-JP" altLang="en-US" dirty="0"/>
                  <a:t>これらの空間を偏りなくカバーするため，</a:t>
                </a:r>
                <a:r>
                  <a:rPr kumimoji="1" lang="en-US" altLang="ja-JP" dirty="0"/>
                  <a:t>LHS</a:t>
                </a:r>
                <a:r>
                  <a:rPr kumimoji="1" lang="ja-JP" altLang="en-US" dirty="0"/>
                  <a:t>を用いて </a:t>
                </a:r>
                <a:r>
                  <a:rPr kumimoji="1" lang="en-US" altLang="ja-JP" dirty="0"/>
                  <a:t>N=320 </a:t>
                </a:r>
                <a:r>
                  <a:rPr kumimoji="1" lang="ja-JP" altLang="en-US" dirty="0"/>
                  <a:t>のサンプルを生成した。各点は後述するサロゲートモデル学習の基礎データとなる。</a:t>
                </a:r>
                <a:endParaRPr kumimoji="1" lang="en-US" altLang="ja-JP" dirty="0"/>
              </a:p>
              <a:p>
                <a:r>
                  <a:rPr lang="ja-JP" altLang="en-US" dirty="0"/>
                  <a:t>サンプル数の決め方：</a:t>
                </a:r>
                <a:r>
                  <a:rPr kumimoji="1" lang="en-US" altLang="ja-JP" dirty="0"/>
                  <a:t>PCE</a:t>
                </a:r>
                <a:r>
                  <a:rPr kumimoji="1" lang="ja-JP" altLang="en-US" dirty="0"/>
                  <a:t>サロゲートモデルの基底数</a:t>
                </a:r>
                <a:r>
                  <a:rPr kumimoji="1" lang="en-US" altLang="ja-JP" dirty="0"/>
                  <a:t>: </a:t>
                </a:r>
                <a:r>
                  <a:rPr kumimoji="1" lang="ja-JP" altLang="en-US" dirty="0"/>
                  <a:t>不確実性パラメータの次元数 </a:t>
                </a:r>
                <a:r>
                  <a:rPr kumimoji="1" lang="en-US" altLang="ja-JP" dirty="0"/>
                  <a:t>n </a:t>
                </a:r>
                <a:r>
                  <a:rPr kumimoji="1" lang="ja-JP" altLang="en-US" dirty="0"/>
                  <a:t>に対し、</a:t>
                </a:r>
                <a:r>
                  <a:rPr kumimoji="1" lang="en-US" altLang="ja-JP" dirty="0"/>
                  <a:t>2</a:t>
                </a:r>
                <a:r>
                  <a:rPr kumimoji="1" lang="ja-JP" altLang="en-US" dirty="0"/>
                  <a:t>次</a:t>
                </a:r>
                <a:r>
                  <a:rPr kumimoji="1" lang="en-US" altLang="ja-JP" dirty="0"/>
                  <a:t>PCE</a:t>
                </a:r>
                <a:r>
                  <a:rPr kumimoji="1" lang="ja-JP" altLang="en-US" dirty="0"/>
                  <a:t>（多項式展開）の基底数は </a:t>
                </a:r>
                <a14:m>
                  <m:oMath xmlns:m="http://schemas.openxmlformats.org/officeDocument/2006/math">
                    <m:r>
                      <a:rPr kumimoji="1" lang="en-US" altLang="ja-JP" i="1" dirty="0" smtClean="0">
                        <a:latin typeface="Cambria Math" panose="02040503050406030204" pitchFamily="18" charset="0"/>
                      </a:rPr>
                      <m:t>𝐶</m:t>
                    </m:r>
                    <m:r>
                      <a:rPr kumimoji="1" lang="en-US" altLang="ja-JP" i="1" dirty="0" smtClean="0">
                        <a:latin typeface="Cambria Math" panose="02040503050406030204" pitchFamily="18" charset="0"/>
                      </a:rPr>
                      <m:t>(</m:t>
                    </m:r>
                    <m:r>
                      <a:rPr kumimoji="1" lang="en-US" altLang="ja-JP" i="1" dirty="0" smtClean="0">
                        <a:latin typeface="Cambria Math" panose="02040503050406030204" pitchFamily="18" charset="0"/>
                      </a:rPr>
                      <m:t>𝑛</m:t>
                    </m:r>
                    <m:r>
                      <a:rPr kumimoji="1" lang="en-US" altLang="ja-JP" i="1" dirty="0" smtClean="0">
                        <a:latin typeface="Cambria Math" panose="02040503050406030204" pitchFamily="18" charset="0"/>
                      </a:rPr>
                      <m:t>+2, 2) =</m:t>
                    </m:r>
                    <m:f>
                      <m:fPr>
                        <m:ctrlPr>
                          <a:rPr kumimoji="1" lang="en-US" altLang="ja-JP" b="0" i="1" dirty="0" smtClean="0">
                            <a:latin typeface="Cambria Math" panose="02040503050406030204" pitchFamily="18" charset="0"/>
                          </a:rPr>
                        </m:ctrlPr>
                      </m:fPr>
                      <m:num>
                        <m:r>
                          <a:rPr kumimoji="1" lang="en-US" altLang="ja-JP" b="0" i="1" dirty="0" smtClean="0">
                            <a:latin typeface="Cambria Math" panose="02040503050406030204" pitchFamily="18" charset="0"/>
                          </a:rPr>
                          <m:t>(</m:t>
                        </m:r>
                        <m:r>
                          <a:rPr kumimoji="1" lang="en-US" altLang="ja-JP" b="0" i="1" dirty="0" smtClean="0">
                            <a:latin typeface="Cambria Math" panose="02040503050406030204" pitchFamily="18" charset="0"/>
                          </a:rPr>
                          <m:t>𝑛</m:t>
                        </m:r>
                        <m:r>
                          <a:rPr kumimoji="1" lang="en-US" altLang="ja-JP" b="0" i="1" dirty="0" smtClean="0">
                            <a:latin typeface="Cambria Math" panose="02040503050406030204" pitchFamily="18" charset="0"/>
                          </a:rPr>
                          <m:t>+1)(</m:t>
                        </m:r>
                        <m:r>
                          <a:rPr kumimoji="1" lang="en-US" altLang="ja-JP" b="0" i="1" dirty="0" smtClean="0">
                            <a:latin typeface="Cambria Math" panose="02040503050406030204" pitchFamily="18" charset="0"/>
                          </a:rPr>
                          <m:t>𝑛</m:t>
                        </m:r>
                        <m:r>
                          <a:rPr kumimoji="1" lang="en-US" altLang="ja-JP" b="0" i="1" dirty="0" smtClean="0">
                            <a:latin typeface="Cambria Math" panose="02040503050406030204" pitchFamily="18" charset="0"/>
                          </a:rPr>
                          <m:t>+2)</m:t>
                        </m:r>
                      </m:num>
                      <m:den>
                        <m:r>
                          <a:rPr kumimoji="1" lang="en-US" altLang="ja-JP" b="0" i="1" dirty="0" smtClean="0">
                            <a:latin typeface="Cambria Math" panose="02040503050406030204" pitchFamily="18" charset="0"/>
                          </a:rPr>
                          <m:t>2</m:t>
                        </m:r>
                      </m:den>
                    </m:f>
                  </m:oMath>
                </a14:m>
                <a:r>
                  <a:rPr kumimoji="1" lang="ja-JP" altLang="en-US" dirty="0"/>
                  <a:t>個となる。既定の</a:t>
                </a:r>
                <a:r>
                  <a:rPr kumimoji="1" lang="en-US" altLang="ja-JP" dirty="0"/>
                  <a:t>4</a:t>
                </a:r>
                <a:r>
                  <a:rPr kumimoji="1" lang="ja-JP" altLang="en-US" dirty="0"/>
                  <a:t>次元モデルの場合、基底数は</a:t>
                </a:r>
                <a:r>
                  <a:rPr kumimoji="1" lang="en-US" altLang="ja-JP" dirty="0"/>
                  <a:t>15</a:t>
                </a:r>
                <a:r>
                  <a:rPr kumimoji="1" lang="ja-JP" altLang="en-US" dirty="0"/>
                  <a:t>個。回帰モデル（</a:t>
                </a:r>
                <a:r>
                  <a:rPr kumimoji="1" lang="en-US" altLang="ja-JP" dirty="0" err="1"/>
                  <a:t>RidgeCV</a:t>
                </a:r>
                <a:r>
                  <a:rPr kumimoji="1" lang="ja-JP" altLang="en-US" dirty="0"/>
                  <a:t>）の学習を安定させるため、基底数の数倍</a:t>
                </a:r>
                <a:r>
                  <a:rPr kumimoji="1" lang="en-US" altLang="ja-JP" dirty="0"/>
                  <a:t>〜</a:t>
                </a:r>
                <a:r>
                  <a:rPr kumimoji="1" lang="ja-JP" altLang="en-US" dirty="0"/>
                  <a:t>数十倍の十分なサンプル数を割り当てる必要がある。</a:t>
                </a:r>
                <a:r>
                  <a:rPr kumimoji="1" lang="en-US" altLang="ja-JP" dirty="0"/>
                  <a:t>30</a:t>
                </a:r>
                <a:r>
                  <a:rPr kumimoji="1" lang="ja-JP" altLang="en-US" dirty="0"/>
                  <a:t>分程度での計算を完了さ</a:t>
                </a:r>
                <a:r>
                  <a:rPr lang="ja-JP" altLang="en-US" dirty="0"/>
                  <a:t>せるために、サンプル数を</a:t>
                </a:r>
                <a:r>
                  <a:rPr lang="en-US" altLang="ja-JP" dirty="0"/>
                  <a:t>320</a:t>
                </a:r>
                <a:r>
                  <a:rPr lang="ja-JP" altLang="en-US" dirty="0"/>
                  <a:t>とした。</a:t>
                </a:r>
                <a:endParaRPr kumimoji="1" lang="ja-JP" altLang="en-US" dirty="0"/>
              </a:p>
              <a:p>
                <a:endParaRPr kumimoji="1" lang="ja-JP" altLang="en-US" dirty="0"/>
              </a:p>
            </p:txBody>
          </p:sp>
        </mc:Choice>
        <mc:Fallback xmlns="">
          <p:sp>
            <p:nvSpPr>
              <p:cNvPr id="3" name="テキスト プレースホルダー 2">
                <a:extLst>
                  <a:ext uri="{FF2B5EF4-FFF2-40B4-BE49-F238E27FC236}">
                    <a16:creationId xmlns:a16="http://schemas.microsoft.com/office/drawing/2014/main" id="{622722DC-642B-DD10-F4DD-D1BD5A44DF42}"/>
                  </a:ext>
                </a:extLst>
              </p:cNvPr>
              <p:cNvSpPr>
                <a:spLocks noGrp="1" noRot="1" noChangeAspect="1" noMove="1" noResize="1" noEditPoints="1" noAdjustHandles="1" noChangeArrowheads="1" noChangeShapeType="1" noTextEdit="1"/>
              </p:cNvSpPr>
              <p:nvPr>
                <p:ph type="body" sz="quarter" idx="12"/>
              </p:nvPr>
            </p:nvSpPr>
            <p:spPr>
              <a:blipFill>
                <a:blip r:embed="rId2"/>
                <a:stretch>
                  <a:fillRect l="-365" t="-976" r="-914"/>
                </a:stretch>
              </a:blipFill>
            </p:spPr>
            <p:txBody>
              <a:bodyPr/>
              <a:lstStyle/>
              <a:p>
                <a:r>
                  <a:rPr lang="ja-JP" altLang="en-US">
                    <a:noFill/>
                  </a:rPr>
                  <a:t> </a:t>
                </a:r>
              </a:p>
            </p:txBody>
          </p:sp>
        </mc:Fallback>
      </mc:AlternateContent>
      <p:pic>
        <p:nvPicPr>
          <p:cNvPr id="5" name="図 4">
            <a:extLst>
              <a:ext uri="{FF2B5EF4-FFF2-40B4-BE49-F238E27FC236}">
                <a16:creationId xmlns:a16="http://schemas.microsoft.com/office/drawing/2014/main" id="{B9DCB40F-D6B3-9592-AEEC-E57FA0F97BE2}"/>
              </a:ext>
            </a:extLst>
          </p:cNvPr>
          <p:cNvPicPr>
            <a:picLocks noChangeAspect="1"/>
          </p:cNvPicPr>
          <p:nvPr/>
        </p:nvPicPr>
        <p:blipFill>
          <a:blip r:embed="rId3"/>
          <a:stretch>
            <a:fillRect/>
          </a:stretch>
        </p:blipFill>
        <p:spPr>
          <a:xfrm>
            <a:off x="1506734" y="3571081"/>
            <a:ext cx="7739978" cy="3560390"/>
          </a:xfrm>
          <a:prstGeom prst="rect">
            <a:avLst/>
          </a:prstGeom>
        </p:spPr>
      </p:pic>
    </p:spTree>
    <p:extLst>
      <p:ext uri="{BB962C8B-B14F-4D97-AF65-F5344CB8AC3E}">
        <p14:creationId xmlns:p14="http://schemas.microsoft.com/office/powerpoint/2010/main" val="27182026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B61E4A-2D0C-9787-C847-9392D65F1071}"/>
              </a:ext>
            </a:extLst>
          </p:cNvPr>
          <p:cNvSpPr>
            <a:spLocks noGrp="1"/>
          </p:cNvSpPr>
          <p:nvPr>
            <p:ph type="title"/>
          </p:nvPr>
        </p:nvSpPr>
        <p:spPr/>
        <p:txBody>
          <a:bodyPr/>
          <a:lstStyle/>
          <a:p>
            <a:r>
              <a:rPr lang="ja-JP" altLang="ja-JP" dirty="0"/>
              <a:t>4. PCEサロゲートモデルの構築と精度検証</a:t>
            </a:r>
            <a:endParaRPr kumimoji="1" lang="ja-JP" altLang="en-US" dirty="0"/>
          </a:p>
        </p:txBody>
      </p:sp>
      <mc:AlternateContent xmlns:mc="http://schemas.openxmlformats.org/markup-compatibility/2006">
        <mc:Choice xmlns:a14="http://schemas.microsoft.com/office/drawing/2010/main" Requires="a14">
          <p:sp>
            <p:nvSpPr>
              <p:cNvPr id="3" name="テキスト プレースホルダー 2">
                <a:extLst>
                  <a:ext uri="{FF2B5EF4-FFF2-40B4-BE49-F238E27FC236}">
                    <a16:creationId xmlns:a16="http://schemas.microsoft.com/office/drawing/2014/main" id="{F93D4793-8916-9E21-FE81-0E7965595249}"/>
                  </a:ext>
                </a:extLst>
              </p:cNvPr>
              <p:cNvSpPr>
                <a:spLocks noGrp="1"/>
              </p:cNvSpPr>
              <p:nvPr>
                <p:ph type="body" sz="quarter" idx="12"/>
              </p:nvPr>
            </p:nvSpPr>
            <p:spPr/>
            <p:txBody>
              <a:bodyPr>
                <a:normAutofit lnSpcReduction="10000"/>
              </a:bodyPr>
              <a:lstStyle/>
              <a:p>
                <a:r>
                  <a:rPr lang="ja-JP" altLang="ja-JP" dirty="0"/>
                  <a:t>ESOMs（エネルギーシステム最適化モデル）は線形計画法に基づいているが、容量投資の離散性や応答表面の特性から、不確実性下では「準非線形的（Quasi-nonlinear）」な挙動を示す。この応答を近似するため、4次元の入力に対し2次多項式（1</a:t>
                </a:r>
                <a:r>
                  <a:rPr lang="en-US" altLang="ja-JP" dirty="0"/>
                  <a:t>5</a:t>
                </a:r>
                <a:r>
                  <a:rPr lang="ja-JP" altLang="ja-JP" dirty="0"/>
                  <a:t>基底）を用いたPCEモデルを構築した。</a:t>
                </a:r>
                <a:endParaRPr lang="en-US" altLang="ja-JP" dirty="0"/>
              </a:p>
              <a:p>
                <a:endParaRPr lang="en-US" altLang="ja-JP" dirty="0"/>
              </a:p>
              <a:p>
                <a:r>
                  <a:rPr lang="ja-JP" altLang="ja-JP" dirty="0"/>
                  <a:t>4.1 PCEによる定式化</a:t>
                </a:r>
              </a:p>
              <a:p>
                <a:pPr lvl="1"/>
                <a:r>
                  <a:rPr lang="ja-JP" altLang="ja-JP" dirty="0"/>
                  <a:t>構築したサロゲートモデルは，入力 </a:t>
                </a:r>
                <a14:m>
                  <m:oMath xmlns:m="http://schemas.openxmlformats.org/officeDocument/2006/math">
                    <m:r>
                      <a:rPr lang="en-US" altLang="ja-JP" b="0" i="1" dirty="0" smtClean="0">
                        <a:latin typeface="Cambria Math" panose="02040503050406030204" pitchFamily="18" charset="0"/>
                      </a:rPr>
                      <m:t>𝑋</m:t>
                    </m:r>
                  </m:oMath>
                </a14:m>
                <a:r>
                  <a:rPr lang="ja-JP" altLang="ja-JP" dirty="0"/>
                  <a:t> に対する出力 </a:t>
                </a:r>
                <a14:m>
                  <m:oMath xmlns:m="http://schemas.openxmlformats.org/officeDocument/2006/math">
                    <m:r>
                      <a:rPr lang="en-US" altLang="ja-JP" b="0" i="1" dirty="0" smtClean="0">
                        <a:latin typeface="Cambria Math" panose="02040503050406030204" pitchFamily="18" charset="0"/>
                      </a:rPr>
                      <m:t>𝑌</m:t>
                    </m:r>
                    <m:r>
                      <a:rPr lang="en-US" altLang="ja-JP" b="0" i="0" dirty="0" smtClean="0">
                        <a:latin typeface="Cambria Math" panose="02040503050406030204" pitchFamily="18" charset="0"/>
                      </a:rPr>
                      <m:t> </m:t>
                    </m:r>
                  </m:oMath>
                </a14:m>
                <a:r>
                  <a:rPr lang="ja-JP" altLang="ja-JP" dirty="0"/>
                  <a:t>を直交多項式で展開する多項式カオス展開（PCE）に基づく。</a:t>
                </a:r>
                <a:endParaRPr lang="en-US" altLang="ja-JP" dirty="0"/>
              </a:p>
              <a:p>
                <a:endParaRPr lang="en-US" altLang="ja-JP" dirty="0"/>
              </a:p>
              <a:p>
                <a:endParaRPr lang="en-US" altLang="ja-JP" dirty="0"/>
              </a:p>
              <a:p>
                <a:endParaRPr lang="ja-JP" altLang="ja-JP" dirty="0"/>
              </a:p>
              <a:p>
                <a:pPr lvl="1"/>
                <a:r>
                  <a:rPr lang="ja-JP" altLang="ja-JP" dirty="0"/>
                  <a:t>基底関数 </a:t>
                </a:r>
                <a14:m>
                  <m:oMath xmlns:m="http://schemas.openxmlformats.org/officeDocument/2006/math">
                    <m:sSub>
                      <m:sSubPr>
                        <m:ctrlPr>
                          <a:rPr lang="en-US" altLang="ja-JP" b="0" i="0" smtClean="0">
                            <a:latin typeface="Cambria Math" panose="02040503050406030204" pitchFamily="18" charset="0"/>
                          </a:rPr>
                        </m:ctrlPr>
                      </m:sSubPr>
                      <m:e>
                        <m:r>
                          <m:rPr>
                            <m:sty m:val="p"/>
                          </m:rPr>
                          <a:rPr lang="en-US" altLang="ja-JP" b="0" i="0" smtClean="0">
                            <a:latin typeface="Cambria Math" panose="02040503050406030204" pitchFamily="18" charset="0"/>
                          </a:rPr>
                          <m:t>Ψ</m:t>
                        </m:r>
                      </m:e>
                      <m:sub>
                        <m:r>
                          <a:rPr lang="en-US" altLang="ja-JP" b="1" i="1" smtClean="0">
                            <a:latin typeface="Cambria Math" panose="02040503050406030204" pitchFamily="18" charset="0"/>
                          </a:rPr>
                          <m:t>𝜶</m:t>
                        </m:r>
                      </m:sub>
                    </m:sSub>
                  </m:oMath>
                </a14:m>
                <a:r>
                  <a:rPr lang="ja-JP" altLang="ja-JP" dirty="0"/>
                  <a:t>にはルジャンドル多項式を用い</a:t>
                </a:r>
                <a:r>
                  <a:rPr lang="ja-JP" altLang="en-US" dirty="0"/>
                  <a:t>た。</a:t>
                </a:r>
                <a:endParaRPr lang="en-US" altLang="ja-JP" dirty="0"/>
              </a:p>
              <a:p>
                <a:pPr lvl="1"/>
                <a:r>
                  <a:rPr lang="ja-JP" altLang="ja-JP" dirty="0"/>
                  <a:t>係数</a:t>
                </a:r>
                <a:r>
                  <a:rPr lang="en-US" altLang="ja-JP" dirty="0"/>
                  <a:t> </a:t>
                </a:r>
                <a14:m>
                  <m:oMath xmlns:m="http://schemas.openxmlformats.org/officeDocument/2006/math">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𝑐</m:t>
                        </m:r>
                      </m:e>
                      <m:sub>
                        <m:r>
                          <a:rPr lang="en-US" altLang="ja-JP" b="1" i="1">
                            <a:latin typeface="Cambria Math" panose="02040503050406030204" pitchFamily="18" charset="0"/>
                          </a:rPr>
                          <m:t>𝜶</m:t>
                        </m:r>
                      </m:sub>
                    </m:sSub>
                  </m:oMath>
                </a14:m>
                <a:r>
                  <a:rPr lang="ja-JP" altLang="ja-JP" dirty="0"/>
                  <a:t> の同定には</a:t>
                </a:r>
                <a:r>
                  <a:rPr lang="en-US" altLang="ja-JP" dirty="0" err="1"/>
                  <a:t>RidgeCV</a:t>
                </a:r>
                <a:r>
                  <a:rPr lang="ja-JP" altLang="ja-JP" dirty="0"/>
                  <a:t>アルゴリズム</a:t>
                </a:r>
                <a:r>
                  <a:rPr lang="ja-JP" altLang="en-US" dirty="0"/>
                  <a:t>を用いた。</a:t>
                </a:r>
                <a:endParaRPr lang="en-US" altLang="ja-JP" dirty="0"/>
              </a:p>
              <a:p>
                <a:pPr lvl="1"/>
                <a:endParaRPr lang="ja-JP" altLang="ja-JP" dirty="0"/>
              </a:p>
              <a:p>
                <a:r>
                  <a:rPr lang="ja-JP" altLang="ja-JP" b="1" dirty="0"/>
                  <a:t>ルジャンドル多項式（Legendre Polynomials）</a:t>
                </a:r>
                <a:r>
                  <a:rPr lang="ja-JP" altLang="en-US" dirty="0"/>
                  <a:t>：</a:t>
                </a:r>
                <a:r>
                  <a:rPr lang="ja-JP" altLang="ja-JP" dirty="0"/>
                  <a:t>区間 [-1, 1] において直交性（互いに干渉・重複しない性質）を持つ一連の多項式群。物理学や応用数学をはじめ、本フレームワークで採用されているPCE（多項式展開サロゲートモデル）などの不確実性定量化手法において</a:t>
                </a:r>
                <a:r>
                  <a:rPr lang="ja-JP" altLang="en-US" dirty="0"/>
                  <a:t>使用される</a:t>
                </a:r>
                <a:r>
                  <a:rPr lang="ja-JP" altLang="ja-JP" dirty="0"/>
                  <a:t>。</a:t>
                </a:r>
                <a:endParaRPr lang="en-US" altLang="ja-JP" dirty="0"/>
              </a:p>
              <a:p>
                <a:r>
                  <a:rPr lang="ja-JP" altLang="ja-JP" b="1" dirty="0"/>
                  <a:t>RidgeCV（交差検証付きリッジ回帰）</a:t>
                </a:r>
                <a:r>
                  <a:rPr lang="ja-JP" altLang="ja-JP" dirty="0"/>
                  <a:t>：係数の2乗和に罰則を加えるL2正則化回帰であり、基底間の多重共線性を抑えて係数を安定的に推定する。正則化の強さαは10分割交差検証により自動選択し（α = 0.1374）、過学習を抑制しつつ高精度な近似を可能にする。</a:t>
                </a:r>
                <a:br>
                  <a:rPr lang="en-US" altLang="ja-JP" dirty="0"/>
                </a:br>
                <a:r>
                  <a:rPr lang="ja-JP" altLang="ja-JP" dirty="0"/>
                  <a:t>不確実変数や多項式次数を増やして基底数が増加した場合は、不要な基底を自動的に除外できるLAR等の疎回帰への切替えを検討する。</a:t>
                </a:r>
                <a:endParaRPr kumimoji="1" lang="ja-JP" altLang="en-US" dirty="0"/>
              </a:p>
            </p:txBody>
          </p:sp>
        </mc:Choice>
        <mc:Fallback>
          <p:sp>
            <p:nvSpPr>
              <p:cNvPr id="3" name="テキスト プレースホルダー 2">
                <a:extLst>
                  <a:ext uri="{FF2B5EF4-FFF2-40B4-BE49-F238E27FC236}">
                    <a16:creationId xmlns:a16="http://schemas.microsoft.com/office/drawing/2014/main" id="{F93D4793-8916-9E21-FE81-0E7965595249}"/>
                  </a:ext>
                </a:extLst>
              </p:cNvPr>
              <p:cNvSpPr>
                <a:spLocks noGrp="1" noRot="1" noChangeAspect="1" noMove="1" noResize="1" noEditPoints="1" noAdjustHandles="1" noChangeArrowheads="1" noChangeShapeType="1" noTextEdit="1"/>
              </p:cNvSpPr>
              <p:nvPr>
                <p:ph type="body" sz="quarter" idx="12"/>
              </p:nvPr>
            </p:nvSpPr>
            <p:spPr>
              <a:blipFill>
                <a:blip r:embed="rId2"/>
                <a:stretch>
                  <a:fillRect l="-365" t="-1366" r="-1096"/>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4" name="テキスト ボックス 3">
                <a:extLst>
                  <a:ext uri="{FF2B5EF4-FFF2-40B4-BE49-F238E27FC236}">
                    <a16:creationId xmlns:a16="http://schemas.microsoft.com/office/drawing/2014/main" id="{F986DEDA-8554-6FCC-7EAB-C54FE71D099A}"/>
                  </a:ext>
                </a:extLst>
              </p:cNvPr>
              <p:cNvSpPr txBox="1"/>
              <p:nvPr/>
            </p:nvSpPr>
            <p:spPr>
              <a:xfrm>
                <a:off x="4495488" y="2978512"/>
                <a:ext cx="1762470" cy="522707"/>
              </a:xfrm>
              <a:prstGeom prst="rect">
                <a:avLst/>
              </a:prstGeom>
              <a:noFill/>
            </p:spPr>
            <p:txBody>
              <a:bodyPr wrap="none" lIns="0" tIns="0" rIns="0" bIns="0" rtlCol="0">
                <a:spAutoFit/>
              </a:bodyPr>
              <a:lstStyle/>
              <a:p>
                <a:pPr/>
                <a14:m>
                  <m:oMathPara xmlns:m="http://schemas.openxmlformats.org/officeDocument/2006/math">
                    <m:oMath>
                      <m:r>
                        <m:rPr>
                          <m:nor/>
                        </m:rPr>
                        <a:rPr lang="ja-JP" altLang="ja-JP" i="0" dirty="0"/>
                        <m:t>Y</m:t>
                      </m:r>
                      <m:r>
                        <a:rPr lang="ja-JP" altLang="ja-JP" i="1" dirty="0" smtClean="0">
                          <a:latin typeface="Cambria Math" panose="02040503050406030204" pitchFamily="18" charset="0"/>
                        </a:rPr>
                        <m:t>≈</m:t>
                      </m:r>
                      <m:nary>
                        <m:naryPr>
                          <m:chr m:val="∑"/>
                          <m:supHide m:val="on"/>
                          <m:ctrlPr>
                            <a:rPr lang="en-US" altLang="ja-JP" b="1" i="1" dirty="0" smtClean="0">
                              <a:latin typeface="Cambria Math" panose="02040503050406030204" pitchFamily="18" charset="0"/>
                            </a:rPr>
                          </m:ctrlPr>
                        </m:naryPr>
                        <m:sub>
                          <m:r>
                            <a:rPr lang="en-US" altLang="ja-JP" b="1" i="1" dirty="0" smtClean="0">
                              <a:latin typeface="Cambria Math" panose="02040503050406030204" pitchFamily="18" charset="0"/>
                            </a:rPr>
                            <m:t>𝜶</m:t>
                          </m:r>
                          <m:r>
                            <a:rPr lang="en-US" altLang="ja-JP" b="0" i="1" dirty="0" smtClean="0">
                              <a:latin typeface="Cambria Math" panose="02040503050406030204" pitchFamily="18" charset="0"/>
                            </a:rPr>
                            <m:t>∈</m:t>
                          </m:r>
                          <m:r>
                            <a:rPr lang="en-US" altLang="ja-JP" b="0" i="1" dirty="0" smtClean="0">
                              <a:latin typeface="Cambria Math" panose="02040503050406030204" pitchFamily="18" charset="0"/>
                            </a:rPr>
                            <m:t>𝒜</m:t>
                          </m:r>
                          <m:r>
                            <a:rPr lang="en-US" altLang="ja-JP" b="0" i="1" dirty="0" smtClean="0">
                              <a:latin typeface="Cambria Math" panose="02040503050406030204" pitchFamily="18" charset="0"/>
                            </a:rPr>
                            <m:t> </m:t>
                          </m:r>
                        </m:sub>
                        <m:sup/>
                        <m:e>
                          <m:sSub>
                            <m:sSubPr>
                              <m:ctrlPr>
                                <a:rPr lang="en-US" altLang="ja-JP" b="0" i="1" dirty="0" smtClean="0">
                                  <a:latin typeface="Cambria Math" panose="02040503050406030204" pitchFamily="18" charset="0"/>
                                </a:rPr>
                              </m:ctrlPr>
                            </m:sSubPr>
                            <m:e>
                              <m:r>
                                <a:rPr lang="en-US" altLang="ja-JP" b="0" i="1" dirty="0" smtClean="0">
                                  <a:latin typeface="Cambria Math" panose="02040503050406030204" pitchFamily="18" charset="0"/>
                                </a:rPr>
                                <m:t>𝐶</m:t>
                              </m:r>
                            </m:e>
                            <m:sub>
                              <m:r>
                                <a:rPr lang="en-US" altLang="ja-JP" b="0" i="1" dirty="0" smtClean="0">
                                  <a:latin typeface="Cambria Math" panose="02040503050406030204" pitchFamily="18" charset="0"/>
                                </a:rPr>
                                <m:t>𝛼</m:t>
                              </m:r>
                            </m:sub>
                          </m:sSub>
                          <m:sSub>
                            <m:sSubPr>
                              <m:ctrlPr>
                                <a:rPr lang="en-US" altLang="ja-JP" b="0" i="0" dirty="0" smtClean="0">
                                  <a:latin typeface="Cambria Math" panose="02040503050406030204" pitchFamily="18" charset="0"/>
                                </a:rPr>
                              </m:ctrlPr>
                            </m:sSubPr>
                            <m:e>
                              <m:r>
                                <m:rPr>
                                  <m:sty m:val="p"/>
                                </m:rPr>
                                <a:rPr lang="en-US" altLang="ja-JP" b="0" i="0" dirty="0" smtClean="0">
                                  <a:latin typeface="Cambria Math" panose="02040503050406030204" pitchFamily="18" charset="0"/>
                                </a:rPr>
                                <m:t>Ψ</m:t>
                              </m:r>
                            </m:e>
                            <m:sub>
                              <m:r>
                                <a:rPr lang="en-US" altLang="ja-JP" b="0" i="1" dirty="0" smtClean="0">
                                  <a:latin typeface="Cambria Math" panose="02040503050406030204" pitchFamily="18" charset="0"/>
                                </a:rPr>
                                <m:t>𝛼</m:t>
                              </m:r>
                            </m:sub>
                          </m:sSub>
                        </m:e>
                      </m:nary>
                      <m:d>
                        <m:dPr>
                          <m:ctrlPr>
                            <a:rPr lang="en-US" altLang="ja-JP" b="1" i="1" dirty="0" smtClean="0">
                              <a:latin typeface="Cambria Math" panose="02040503050406030204" pitchFamily="18" charset="0"/>
                            </a:rPr>
                          </m:ctrlPr>
                        </m:dPr>
                        <m:e>
                          <m:r>
                            <a:rPr lang="en-US" altLang="ja-JP" b="1" i="1" dirty="0" smtClean="0">
                              <a:latin typeface="Cambria Math" panose="02040503050406030204" pitchFamily="18" charset="0"/>
                            </a:rPr>
                            <m:t>𝑿</m:t>
                          </m:r>
                        </m:e>
                      </m:d>
                      <m:r>
                        <a:rPr lang="en-US" altLang="ja-JP" b="1" i="1" dirty="0" smtClean="0">
                          <a:latin typeface="Cambria Math" panose="02040503050406030204" pitchFamily="18" charset="0"/>
                        </a:rPr>
                        <m:t> </m:t>
                      </m:r>
                      <m:r>
                        <a:rPr lang="en-US" altLang="ja-JP" b="0" i="1" dirty="0" smtClean="0">
                          <a:latin typeface="Cambria Math" panose="02040503050406030204" pitchFamily="18" charset="0"/>
                        </a:rPr>
                        <m:t>(3)</m:t>
                      </m:r>
                    </m:oMath>
                  </m:oMathPara>
                </a14:m>
                <a:endParaRPr kumimoji="1" lang="ja-JP" altLang="en-US" b="1" dirty="0"/>
              </a:p>
            </p:txBody>
          </p:sp>
        </mc:Choice>
        <mc:Fallback>
          <p:sp>
            <p:nvSpPr>
              <p:cNvPr id="4" name="テキスト ボックス 3">
                <a:extLst>
                  <a:ext uri="{FF2B5EF4-FFF2-40B4-BE49-F238E27FC236}">
                    <a16:creationId xmlns:a16="http://schemas.microsoft.com/office/drawing/2014/main" id="{F986DEDA-8554-6FCC-7EAB-C54FE71D099A}"/>
                  </a:ext>
                </a:extLst>
              </p:cNvPr>
              <p:cNvSpPr txBox="1">
                <a:spLocks noRot="1" noChangeAspect="1" noMove="1" noResize="1" noEditPoints="1" noAdjustHandles="1" noChangeArrowheads="1" noChangeShapeType="1" noTextEdit="1"/>
              </p:cNvSpPr>
              <p:nvPr/>
            </p:nvSpPr>
            <p:spPr>
              <a:xfrm>
                <a:off x="4495488" y="2978512"/>
                <a:ext cx="1762470" cy="522707"/>
              </a:xfrm>
              <a:prstGeom prst="rect">
                <a:avLst/>
              </a:prstGeom>
              <a:blipFill>
                <a:blip r:embed="rId3"/>
                <a:stretch>
                  <a:fillRect l="-13793" t="-147059" r="-12069" b="-207059"/>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1321880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EFFD0-1B21-2D4D-53ED-FB85AA8AF002}"/>
            </a:ext>
          </a:extLst>
        </p:cNvPr>
        <p:cNvGrpSpPr/>
        <p:nvPr/>
      </p:nvGrpSpPr>
      <p:grpSpPr>
        <a:xfrm>
          <a:off x="0" y="0"/>
          <a:ext cx="0" cy="0"/>
          <a:chOff x="0" y="0"/>
          <a:chExt cx="0" cy="0"/>
        </a:xfrm>
      </p:grpSpPr>
      <p:sp>
        <p:nvSpPr>
          <p:cNvPr id="18" name="タイトル 17">
            <a:extLst>
              <a:ext uri="{FF2B5EF4-FFF2-40B4-BE49-F238E27FC236}">
                <a16:creationId xmlns:a16="http://schemas.microsoft.com/office/drawing/2014/main" id="{30A50B93-330F-C72E-2E97-450589ACA27A}"/>
              </a:ext>
            </a:extLst>
          </p:cNvPr>
          <p:cNvSpPr>
            <a:spLocks noGrp="1"/>
          </p:cNvSpPr>
          <p:nvPr>
            <p:ph type="title"/>
          </p:nvPr>
        </p:nvSpPr>
        <p:spPr>
          <a:xfrm>
            <a:off x="374904" y="61259"/>
            <a:ext cx="10003638" cy="706210"/>
          </a:xfrm>
        </p:spPr>
        <p:txBody>
          <a:bodyPr/>
          <a:lstStyle/>
          <a:p>
            <a:r>
              <a:rPr lang="en-US" altLang="zh-TW" dirty="0"/>
              <a:t>SOBOL</a:t>
            </a:r>
            <a:r>
              <a:rPr lang="zh-TW" altLang="en-US" dirty="0"/>
              <a:t>感度分析</a:t>
            </a:r>
            <a:r>
              <a:rPr lang="ja-JP" altLang="en-US" dirty="0"/>
              <a:t>計算手法</a:t>
            </a:r>
          </a:p>
        </p:txBody>
      </p:sp>
      <p:sp>
        <p:nvSpPr>
          <p:cNvPr id="27" name="テキスト プレースホルダー 26">
            <a:extLst>
              <a:ext uri="{FF2B5EF4-FFF2-40B4-BE49-F238E27FC236}">
                <a16:creationId xmlns:a16="http://schemas.microsoft.com/office/drawing/2014/main" id="{25D4D024-D4E9-A612-F867-96056266A076}"/>
              </a:ext>
            </a:extLst>
          </p:cNvPr>
          <p:cNvSpPr>
            <a:spLocks noGrp="1"/>
          </p:cNvSpPr>
          <p:nvPr>
            <p:ph type="body" sz="quarter" idx="12"/>
          </p:nvPr>
        </p:nvSpPr>
        <p:spPr>
          <a:xfrm>
            <a:off x="374650" y="949973"/>
            <a:ext cx="10004425" cy="6250928"/>
          </a:xfrm>
        </p:spPr>
        <p:txBody>
          <a:bodyPr>
            <a:normAutofit/>
          </a:bodyPr>
          <a:lstStyle/>
          <a:p>
            <a:r>
              <a:rPr lang="ja-JP" altLang="en-US" b="1" dirty="0"/>
              <a:t>最初のステップとして、</a:t>
            </a:r>
            <a:r>
              <a:rPr lang="en-US" altLang="ja-JP" b="1" dirty="0"/>
              <a:t>Sobol</a:t>
            </a:r>
            <a:r>
              <a:rPr lang="ja-JP" altLang="en-US" b="1" dirty="0"/>
              <a:t>指数導出までの手法の確認をする。</a:t>
            </a:r>
            <a:endParaRPr lang="en-US" altLang="ja-JP" b="1" dirty="0"/>
          </a:p>
          <a:p>
            <a:r>
              <a:rPr lang="ja-JP" altLang="en-US" b="1" u="sng" dirty="0"/>
              <a:t>帯域分解への拡張は今回の検証が成功してから行う→次のステップ</a:t>
            </a:r>
          </a:p>
          <a:p>
            <a:endParaRPr lang="ja-JP" altLang="en-US" dirty="0"/>
          </a:p>
          <a:p>
            <a:endParaRPr lang="ja-JP" altLang="en-US" dirty="0"/>
          </a:p>
          <a:p>
            <a:endParaRPr lang="ja-JP" altLang="en-US" dirty="0"/>
          </a:p>
        </p:txBody>
      </p:sp>
      <p:graphicFrame>
        <p:nvGraphicFramePr>
          <p:cNvPr id="5" name="図表 4">
            <a:extLst>
              <a:ext uri="{FF2B5EF4-FFF2-40B4-BE49-F238E27FC236}">
                <a16:creationId xmlns:a16="http://schemas.microsoft.com/office/drawing/2014/main" id="{C368CA15-6A91-1DA8-D096-CDC5FBB9401A}"/>
              </a:ext>
            </a:extLst>
          </p:cNvPr>
          <p:cNvGraphicFramePr/>
          <p:nvPr>
            <p:extLst>
              <p:ext uri="{D42A27DB-BD31-4B8C-83A1-F6EECF244321}">
                <p14:modId xmlns:p14="http://schemas.microsoft.com/office/powerpoint/2010/main" val="1888104501"/>
              </p:ext>
            </p:extLst>
          </p:nvPr>
        </p:nvGraphicFramePr>
        <p:xfrm>
          <a:off x="30024" y="1638891"/>
          <a:ext cx="10663376" cy="45794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427787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CACCD00F-B9E4-6B61-2DC5-EE96F687F72B}"/>
              </a:ext>
            </a:extLst>
          </p:cNvPr>
          <p:cNvSpPr>
            <a:spLocks noGrp="1"/>
          </p:cNvSpPr>
          <p:nvPr>
            <p:ph type="title"/>
          </p:nvPr>
        </p:nvSpPr>
        <p:spPr/>
        <p:txBody>
          <a:bodyPr/>
          <a:lstStyle/>
          <a:p>
            <a:r>
              <a:rPr lang="ja-JP" altLang="en-US" dirty="0"/>
              <a:t>計算結果（代表値による計算）</a:t>
            </a:r>
          </a:p>
        </p:txBody>
      </p:sp>
    </p:spTree>
    <p:extLst>
      <p:ext uri="{BB962C8B-B14F-4D97-AF65-F5344CB8AC3E}">
        <p14:creationId xmlns:p14="http://schemas.microsoft.com/office/powerpoint/2010/main" val="37205016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6135658-418C-CB15-0BD1-51C3BDD961BC}"/>
              </a:ext>
            </a:extLst>
          </p:cNvPr>
          <p:cNvSpPr>
            <a:spLocks noGrp="1"/>
          </p:cNvSpPr>
          <p:nvPr>
            <p:ph type="title"/>
          </p:nvPr>
        </p:nvSpPr>
        <p:spPr/>
        <p:txBody>
          <a:bodyPr/>
          <a:lstStyle/>
          <a:p>
            <a:r>
              <a:rPr lang="en-US" altLang="ja-JP" dirty="0"/>
              <a:t>Monthly Energy Dispatch</a:t>
            </a:r>
            <a:endParaRPr kumimoji="1" lang="ja-JP" altLang="en-US" dirty="0"/>
          </a:p>
        </p:txBody>
      </p:sp>
      <p:graphicFrame>
        <p:nvGraphicFramePr>
          <p:cNvPr id="4" name="Chart 3">
            <a:extLst>
              <a:ext uri="{FF2B5EF4-FFF2-40B4-BE49-F238E27FC236}">
                <a16:creationId xmlns:a16="http://schemas.microsoft.com/office/drawing/2014/main" id="{6C18B8AE-C507-D02A-FF99-893D7A0C4E98}"/>
              </a:ext>
            </a:extLst>
          </p:cNvPr>
          <p:cNvGraphicFramePr>
            <a:graphicFrameLocks noGrp="1"/>
          </p:cNvGraphicFramePr>
          <p:nvPr>
            <p:extLst>
              <p:ext uri="{D42A27DB-BD31-4B8C-83A1-F6EECF244321}">
                <p14:modId xmlns:p14="http://schemas.microsoft.com/office/powerpoint/2010/main" val="2290573375"/>
              </p:ext>
            </p:extLst>
          </p:nvPr>
        </p:nvGraphicFramePr>
        <p:xfrm>
          <a:off x="344881" y="1099288"/>
          <a:ext cx="5898264" cy="4929721"/>
        </p:xfrm>
        <a:graphic>
          <a:graphicData uri="http://schemas.openxmlformats.org/drawingml/2006/chart">
            <c:chart xmlns:c="http://schemas.openxmlformats.org/drawingml/2006/chart" xmlns:r="http://schemas.openxmlformats.org/officeDocument/2006/relationships" r:id="rId2"/>
          </a:graphicData>
        </a:graphic>
      </p:graphicFrame>
      <p:sp>
        <p:nvSpPr>
          <p:cNvPr id="5" name="Shape 2">
            <a:extLst>
              <a:ext uri="{FF2B5EF4-FFF2-40B4-BE49-F238E27FC236}">
                <a16:creationId xmlns:a16="http://schemas.microsoft.com/office/drawing/2014/main" id="{9CB99813-6918-B5DC-79BF-61B19199C7F1}"/>
              </a:ext>
            </a:extLst>
          </p:cNvPr>
          <p:cNvSpPr/>
          <p:nvPr/>
        </p:nvSpPr>
        <p:spPr>
          <a:xfrm>
            <a:off x="6381655" y="1500723"/>
            <a:ext cx="4210050" cy="1032470"/>
          </a:xfrm>
          <a:prstGeom prst="roundRect">
            <a:avLst>
              <a:gd name="adj" fmla="val 8303"/>
            </a:avLst>
          </a:prstGeom>
          <a:solidFill>
            <a:srgbClr val="FFFFFF"/>
          </a:solidFill>
          <a:ln w="6350">
            <a:solidFill>
              <a:srgbClr val="E3E3DC"/>
            </a:solidFill>
            <a:prstDash val="solid"/>
          </a:ln>
        </p:spPr>
        <p:txBody>
          <a:bodyPr/>
          <a:lstStyle/>
          <a:p>
            <a:endParaRPr lang="ja-JP" altLang="en-US"/>
          </a:p>
        </p:txBody>
      </p:sp>
      <p:sp>
        <p:nvSpPr>
          <p:cNvPr id="7" name="Text 3">
            <a:extLst>
              <a:ext uri="{FF2B5EF4-FFF2-40B4-BE49-F238E27FC236}">
                <a16:creationId xmlns:a16="http://schemas.microsoft.com/office/drawing/2014/main" id="{191BFDF2-2CBC-E92F-A484-7B6993632655}"/>
              </a:ext>
            </a:extLst>
          </p:cNvPr>
          <p:cNvSpPr/>
          <p:nvPr/>
        </p:nvSpPr>
        <p:spPr>
          <a:xfrm>
            <a:off x="6562630" y="1656298"/>
            <a:ext cx="396354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Noto Sans JP" pitchFamily="34" charset="0"/>
                <a:ea typeface="Noto Sans JP" pitchFamily="34" charset="-122"/>
                <a:cs typeface="Noto Sans JP" pitchFamily="34" charset="-120"/>
              </a:rPr>
              <a:t>乾季（12〜3月）：</a:t>
            </a:r>
            <a:r>
              <a:rPr lang="ja-JP" altLang="en-US" sz="1500" b="1" dirty="0">
                <a:solidFill>
                  <a:srgbClr val="14213D"/>
                </a:solidFill>
                <a:latin typeface="Noto Sans JP" pitchFamily="34" charset="0"/>
                <a:ea typeface="Noto Sans JP" pitchFamily="34" charset="-122"/>
                <a:cs typeface="Noto Sans JP" pitchFamily="34" charset="-120"/>
              </a:rPr>
              <a:t>ほぼ</a:t>
            </a:r>
            <a:r>
              <a:rPr lang="en-US" altLang="ja-JP" sz="1500" b="1" dirty="0">
                <a:solidFill>
                  <a:srgbClr val="14213D"/>
                </a:solidFill>
                <a:latin typeface="Noto Sans JP" pitchFamily="34" charset="0"/>
                <a:ea typeface="Noto Sans JP" pitchFamily="34" charset="-122"/>
                <a:cs typeface="Noto Sans JP" pitchFamily="34" charset="-120"/>
              </a:rPr>
              <a:t>RE</a:t>
            </a:r>
            <a:r>
              <a:rPr lang="ja-JP" altLang="en-US" sz="1500" b="1" dirty="0">
                <a:solidFill>
                  <a:srgbClr val="14213D"/>
                </a:solidFill>
                <a:latin typeface="Noto Sans JP" pitchFamily="34" charset="0"/>
                <a:ea typeface="Noto Sans JP" pitchFamily="34" charset="-122"/>
                <a:cs typeface="Noto Sans JP" pitchFamily="34" charset="-120"/>
              </a:rPr>
              <a:t>のみ</a:t>
            </a:r>
            <a:endParaRPr lang="en-US" sz="1500" dirty="0"/>
          </a:p>
        </p:txBody>
      </p:sp>
      <p:sp>
        <p:nvSpPr>
          <p:cNvPr id="9" name="Text 4">
            <a:extLst>
              <a:ext uri="{FF2B5EF4-FFF2-40B4-BE49-F238E27FC236}">
                <a16:creationId xmlns:a16="http://schemas.microsoft.com/office/drawing/2014/main" id="{4CB80063-2F83-6904-EBB8-8862093AE111}"/>
              </a:ext>
            </a:extLst>
          </p:cNvPr>
          <p:cNvSpPr/>
          <p:nvPr/>
        </p:nvSpPr>
        <p:spPr>
          <a:xfrm>
            <a:off x="6562630" y="1935698"/>
            <a:ext cx="3963543"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Noto Sans JP" pitchFamily="34" charset="0"/>
                <a:ea typeface="Noto Sans JP" pitchFamily="34" charset="-122"/>
                <a:cs typeface="Noto Sans JP" pitchFamily="34" charset="-120"/>
              </a:rPr>
              <a:t>太陽光ピーク約510 kWで出力上限に張り付く日が多い。ディーゼルは発電量の0.2%のみ。</a:t>
            </a:r>
            <a:endParaRPr lang="en-US" sz="1200" dirty="0"/>
          </a:p>
        </p:txBody>
      </p:sp>
      <p:sp>
        <p:nvSpPr>
          <p:cNvPr id="11" name="Shape 5">
            <a:extLst>
              <a:ext uri="{FF2B5EF4-FFF2-40B4-BE49-F238E27FC236}">
                <a16:creationId xmlns:a16="http://schemas.microsoft.com/office/drawing/2014/main" id="{7D91F953-6D67-7823-F471-3578E9DDC57C}"/>
              </a:ext>
            </a:extLst>
          </p:cNvPr>
          <p:cNvSpPr/>
          <p:nvPr/>
        </p:nvSpPr>
        <p:spPr>
          <a:xfrm>
            <a:off x="6384830" y="2827277"/>
            <a:ext cx="4203700" cy="1259780"/>
          </a:xfrm>
          <a:prstGeom prst="roundRect">
            <a:avLst>
              <a:gd name="adj" fmla="val 6553"/>
            </a:avLst>
          </a:prstGeom>
          <a:solidFill>
            <a:srgbClr val="FDEEE6"/>
          </a:solidFill>
          <a:ln w="12700">
            <a:solidFill>
              <a:srgbClr val="EB6834"/>
            </a:solidFill>
            <a:prstDash val="solid"/>
          </a:ln>
        </p:spPr>
        <p:txBody>
          <a:bodyPr/>
          <a:lstStyle/>
          <a:p>
            <a:endParaRPr lang="ja-JP" altLang="en-US"/>
          </a:p>
        </p:txBody>
      </p:sp>
      <p:sp>
        <p:nvSpPr>
          <p:cNvPr id="14" name="Text 6">
            <a:extLst>
              <a:ext uri="{FF2B5EF4-FFF2-40B4-BE49-F238E27FC236}">
                <a16:creationId xmlns:a16="http://schemas.microsoft.com/office/drawing/2014/main" id="{D594A818-0776-69BF-C656-8FAF7BB70821}"/>
              </a:ext>
            </a:extLst>
          </p:cNvPr>
          <p:cNvSpPr/>
          <p:nvPr/>
        </p:nvSpPr>
        <p:spPr>
          <a:xfrm>
            <a:off x="6568980" y="2986027"/>
            <a:ext cx="395046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9A3A14"/>
                </a:solidFill>
                <a:latin typeface="Noto Sans JP" pitchFamily="34" charset="0"/>
                <a:ea typeface="Noto Sans JP" pitchFamily="34" charset="-122"/>
                <a:cs typeface="Noto Sans JP" pitchFamily="34" charset="-120"/>
              </a:rPr>
              <a:t>雨季入り（4〜6月）：</a:t>
            </a:r>
            <a:r>
              <a:rPr lang="ja-JP" altLang="en-US" sz="1500" b="1" dirty="0">
                <a:solidFill>
                  <a:srgbClr val="9A3A14"/>
                </a:solidFill>
                <a:latin typeface="Noto Sans JP" pitchFamily="34" charset="0"/>
                <a:ea typeface="Noto Sans JP" pitchFamily="34" charset="-122"/>
                <a:cs typeface="Noto Sans JP" pitchFamily="34" charset="-120"/>
              </a:rPr>
              <a:t>ディーゼルが稼働</a:t>
            </a:r>
            <a:endParaRPr lang="en-US" sz="1500" dirty="0"/>
          </a:p>
        </p:txBody>
      </p:sp>
      <p:sp>
        <p:nvSpPr>
          <p:cNvPr id="16" name="Text 7">
            <a:extLst>
              <a:ext uri="{FF2B5EF4-FFF2-40B4-BE49-F238E27FC236}">
                <a16:creationId xmlns:a16="http://schemas.microsoft.com/office/drawing/2014/main" id="{2213226A-E24A-8A17-B5C6-6A7BD664CC1B}"/>
              </a:ext>
            </a:extLst>
          </p:cNvPr>
          <p:cNvSpPr/>
          <p:nvPr/>
        </p:nvSpPr>
        <p:spPr>
          <a:xfrm>
            <a:off x="6568980" y="3265427"/>
            <a:ext cx="3950462" cy="68828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D2A22"/>
                </a:solidFill>
                <a:latin typeface="Noto Sans JP" pitchFamily="34" charset="0"/>
                <a:ea typeface="Noto Sans JP" pitchFamily="34" charset="-122"/>
                <a:cs typeface="Noto Sans JP" pitchFamily="34" charset="-120"/>
              </a:rPr>
              <a:t>酷暑で需要が年間最大級なのに日射が落ち始め、風はまだ弱い。夜間に蓄電池が尽き、年間ディーゼル量の約7割がこの3か月に集中。</a:t>
            </a:r>
            <a:endParaRPr lang="en-US" sz="1200" dirty="0"/>
          </a:p>
        </p:txBody>
      </p:sp>
      <p:sp>
        <p:nvSpPr>
          <p:cNvPr id="18" name="Shape 8">
            <a:extLst>
              <a:ext uri="{FF2B5EF4-FFF2-40B4-BE49-F238E27FC236}">
                <a16:creationId xmlns:a16="http://schemas.microsoft.com/office/drawing/2014/main" id="{7EB27DF9-524E-D4DB-7153-C511D7FF91E4}"/>
              </a:ext>
            </a:extLst>
          </p:cNvPr>
          <p:cNvSpPr/>
          <p:nvPr/>
        </p:nvSpPr>
        <p:spPr>
          <a:xfrm>
            <a:off x="6381655" y="4381142"/>
            <a:ext cx="4210050" cy="1253430"/>
          </a:xfrm>
          <a:prstGeom prst="roundRect">
            <a:avLst>
              <a:gd name="adj" fmla="val 6839"/>
            </a:avLst>
          </a:prstGeom>
          <a:solidFill>
            <a:srgbClr val="FFFFFF"/>
          </a:solidFill>
          <a:ln w="6350">
            <a:solidFill>
              <a:srgbClr val="E3E3DC"/>
            </a:solidFill>
            <a:prstDash val="solid"/>
          </a:ln>
        </p:spPr>
        <p:txBody>
          <a:bodyPr/>
          <a:lstStyle/>
          <a:p>
            <a:endParaRPr lang="ja-JP" altLang="en-US"/>
          </a:p>
        </p:txBody>
      </p:sp>
      <p:sp>
        <p:nvSpPr>
          <p:cNvPr id="20" name="Text 9">
            <a:extLst>
              <a:ext uri="{FF2B5EF4-FFF2-40B4-BE49-F238E27FC236}">
                <a16:creationId xmlns:a16="http://schemas.microsoft.com/office/drawing/2014/main" id="{ECBC073E-096B-8D64-2DBF-2BBB40C18FD8}"/>
              </a:ext>
            </a:extLst>
          </p:cNvPr>
          <p:cNvSpPr/>
          <p:nvPr/>
        </p:nvSpPr>
        <p:spPr>
          <a:xfrm>
            <a:off x="6562630" y="4536717"/>
            <a:ext cx="396354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Noto Sans JP" pitchFamily="34" charset="0"/>
                <a:ea typeface="Noto Sans JP" pitchFamily="34" charset="-122"/>
                <a:cs typeface="Noto Sans JP" pitchFamily="34" charset="-120"/>
              </a:rPr>
              <a:t>雨季（6〜10月）：風力が補完</a:t>
            </a:r>
            <a:endParaRPr lang="en-US" sz="1500" dirty="0"/>
          </a:p>
        </p:txBody>
      </p:sp>
      <p:sp>
        <p:nvSpPr>
          <p:cNvPr id="22" name="Text 10">
            <a:extLst>
              <a:ext uri="{FF2B5EF4-FFF2-40B4-BE49-F238E27FC236}">
                <a16:creationId xmlns:a16="http://schemas.microsoft.com/office/drawing/2014/main" id="{385FFB5A-C071-0785-FCD9-A65303AB07CE}"/>
              </a:ext>
            </a:extLst>
          </p:cNvPr>
          <p:cNvSpPr/>
          <p:nvPr/>
        </p:nvSpPr>
        <p:spPr>
          <a:xfrm>
            <a:off x="6562630" y="4816117"/>
            <a:ext cx="3963543" cy="68828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Noto Sans JP" pitchFamily="34" charset="0"/>
                <a:ea typeface="Noto Sans JP" pitchFamily="34" charset="-122"/>
                <a:cs typeface="Noto Sans JP" pitchFamily="34" charset="-120"/>
              </a:rPr>
              <a:t>太陽光ピークは約3割低下（日照時間と r=0.90）。南西モンスーンで風力が最大となり夜間を支え、7月以降ディーゼルは減少。</a:t>
            </a:r>
            <a:endParaRPr lang="en-US" sz="1200" dirty="0"/>
          </a:p>
        </p:txBody>
      </p:sp>
    </p:spTree>
    <p:extLst>
      <p:ext uri="{BB962C8B-B14F-4D97-AF65-F5344CB8AC3E}">
        <p14:creationId xmlns:p14="http://schemas.microsoft.com/office/powerpoint/2010/main" val="5912476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1C627EC6-D2EB-CCDC-31AF-9728AD279F59}"/>
              </a:ext>
            </a:extLst>
          </p:cNvPr>
          <p:cNvSpPr>
            <a:spLocks noGrp="1"/>
          </p:cNvSpPr>
          <p:nvPr>
            <p:ph type="title"/>
          </p:nvPr>
        </p:nvSpPr>
        <p:spPr/>
        <p:txBody>
          <a:bodyPr/>
          <a:lstStyle/>
          <a:p>
            <a:r>
              <a:rPr lang="en-US" altLang="ja-JP" dirty="0"/>
              <a:t>Weekly</a:t>
            </a:r>
            <a:r>
              <a:rPr lang="ja-JP" altLang="en-US" dirty="0"/>
              <a:t> </a:t>
            </a:r>
            <a:r>
              <a:rPr lang="en-US" altLang="ja-JP" dirty="0"/>
              <a:t>Supply-Demand</a:t>
            </a:r>
            <a:r>
              <a:rPr lang="ja-JP" altLang="en-US" dirty="0"/>
              <a:t> </a:t>
            </a:r>
            <a:r>
              <a:rPr lang="en-US" altLang="ja-JP" dirty="0"/>
              <a:t>Balance</a:t>
            </a:r>
            <a:endParaRPr lang="ja-JP" altLang="en-US" dirty="0"/>
          </a:p>
        </p:txBody>
      </p:sp>
      <p:pic>
        <p:nvPicPr>
          <p:cNvPr id="44" name="図 43">
            <a:extLst>
              <a:ext uri="{FF2B5EF4-FFF2-40B4-BE49-F238E27FC236}">
                <a16:creationId xmlns:a16="http://schemas.microsoft.com/office/drawing/2014/main" id="{CB53A15A-74B4-ABF2-EB93-C2D9F6D5853E}"/>
              </a:ext>
            </a:extLst>
          </p:cNvPr>
          <p:cNvPicPr>
            <a:picLocks noChangeAspect="1"/>
          </p:cNvPicPr>
          <p:nvPr/>
        </p:nvPicPr>
        <p:blipFill>
          <a:blip r:embed="rId2"/>
          <a:stretch>
            <a:fillRect/>
          </a:stretch>
        </p:blipFill>
        <p:spPr>
          <a:xfrm>
            <a:off x="0" y="851434"/>
            <a:ext cx="10693400" cy="2095691"/>
          </a:xfrm>
          <a:prstGeom prst="rect">
            <a:avLst/>
          </a:prstGeom>
        </p:spPr>
      </p:pic>
      <p:pic>
        <p:nvPicPr>
          <p:cNvPr id="46" name="図 45">
            <a:extLst>
              <a:ext uri="{FF2B5EF4-FFF2-40B4-BE49-F238E27FC236}">
                <a16:creationId xmlns:a16="http://schemas.microsoft.com/office/drawing/2014/main" id="{46E9A232-D2D5-492C-B603-950F3DA2B9BD}"/>
              </a:ext>
            </a:extLst>
          </p:cNvPr>
          <p:cNvPicPr>
            <a:picLocks noChangeAspect="1"/>
          </p:cNvPicPr>
          <p:nvPr/>
        </p:nvPicPr>
        <p:blipFill>
          <a:blip r:embed="rId3"/>
          <a:stretch>
            <a:fillRect/>
          </a:stretch>
        </p:blipFill>
        <p:spPr>
          <a:xfrm>
            <a:off x="0" y="2947125"/>
            <a:ext cx="10693400" cy="2095691"/>
          </a:xfrm>
          <a:prstGeom prst="rect">
            <a:avLst/>
          </a:prstGeom>
        </p:spPr>
      </p:pic>
      <p:pic>
        <p:nvPicPr>
          <p:cNvPr id="48" name="図 47">
            <a:extLst>
              <a:ext uri="{FF2B5EF4-FFF2-40B4-BE49-F238E27FC236}">
                <a16:creationId xmlns:a16="http://schemas.microsoft.com/office/drawing/2014/main" id="{52B9DDAB-898D-35BF-8BAF-E161D388D990}"/>
              </a:ext>
            </a:extLst>
          </p:cNvPr>
          <p:cNvPicPr>
            <a:picLocks noChangeAspect="1"/>
          </p:cNvPicPr>
          <p:nvPr/>
        </p:nvPicPr>
        <p:blipFill>
          <a:blip r:embed="rId4"/>
          <a:stretch>
            <a:fillRect/>
          </a:stretch>
        </p:blipFill>
        <p:spPr>
          <a:xfrm>
            <a:off x="0" y="5042816"/>
            <a:ext cx="10693400" cy="2095691"/>
          </a:xfrm>
          <a:prstGeom prst="rect">
            <a:avLst/>
          </a:prstGeom>
        </p:spPr>
      </p:pic>
    </p:spTree>
    <p:extLst>
      <p:ext uri="{BB962C8B-B14F-4D97-AF65-F5344CB8AC3E}">
        <p14:creationId xmlns:p14="http://schemas.microsoft.com/office/powerpoint/2010/main" val="15607872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BB7A6A8-2CBF-1FD7-1A68-438363901A8F}"/>
              </a:ext>
            </a:extLst>
          </p:cNvPr>
          <p:cNvSpPr>
            <a:spLocks noGrp="1"/>
          </p:cNvSpPr>
          <p:nvPr>
            <p:ph type="title"/>
          </p:nvPr>
        </p:nvSpPr>
        <p:spPr/>
        <p:txBody>
          <a:bodyPr/>
          <a:lstStyle/>
          <a:p>
            <a:r>
              <a:rPr kumimoji="1" lang="ja-JP" altLang="en-US" dirty="0"/>
              <a:t>最適電源構成と年間発電量</a:t>
            </a:r>
          </a:p>
        </p:txBody>
      </p:sp>
      <p:pic>
        <p:nvPicPr>
          <p:cNvPr id="6" name="図 5">
            <a:extLst>
              <a:ext uri="{FF2B5EF4-FFF2-40B4-BE49-F238E27FC236}">
                <a16:creationId xmlns:a16="http://schemas.microsoft.com/office/drawing/2014/main" id="{C53DE6E9-6620-13EC-0EEB-A0B3A79A4B09}"/>
              </a:ext>
            </a:extLst>
          </p:cNvPr>
          <p:cNvPicPr>
            <a:picLocks noChangeAspect="1"/>
          </p:cNvPicPr>
          <p:nvPr/>
        </p:nvPicPr>
        <p:blipFill>
          <a:blip r:embed="rId2"/>
          <a:stretch>
            <a:fillRect/>
          </a:stretch>
        </p:blipFill>
        <p:spPr>
          <a:xfrm>
            <a:off x="5838550" y="1229610"/>
            <a:ext cx="3968327" cy="3969988"/>
          </a:xfrm>
          <a:prstGeom prst="rect">
            <a:avLst/>
          </a:prstGeom>
        </p:spPr>
      </p:pic>
      <p:pic>
        <p:nvPicPr>
          <p:cNvPr id="8" name="図 7">
            <a:extLst>
              <a:ext uri="{FF2B5EF4-FFF2-40B4-BE49-F238E27FC236}">
                <a16:creationId xmlns:a16="http://schemas.microsoft.com/office/drawing/2014/main" id="{F830AACA-E3CA-AA1C-F040-49A3EC3ECF1B}"/>
              </a:ext>
            </a:extLst>
          </p:cNvPr>
          <p:cNvPicPr>
            <a:picLocks noChangeAspect="1"/>
          </p:cNvPicPr>
          <p:nvPr/>
        </p:nvPicPr>
        <p:blipFill>
          <a:blip r:embed="rId3"/>
          <a:stretch>
            <a:fillRect/>
          </a:stretch>
        </p:blipFill>
        <p:spPr>
          <a:xfrm>
            <a:off x="972033" y="1229609"/>
            <a:ext cx="3968326" cy="3969988"/>
          </a:xfrm>
          <a:prstGeom prst="rect">
            <a:avLst/>
          </a:prstGeom>
        </p:spPr>
      </p:pic>
      <p:sp>
        <p:nvSpPr>
          <p:cNvPr id="4" name="テキスト ボックス 3">
            <a:extLst>
              <a:ext uri="{FF2B5EF4-FFF2-40B4-BE49-F238E27FC236}">
                <a16:creationId xmlns:a16="http://schemas.microsoft.com/office/drawing/2014/main" id="{0FE2BB93-0B74-2E4F-ABB1-6AC66E45ACDC}"/>
              </a:ext>
            </a:extLst>
          </p:cNvPr>
          <p:cNvSpPr txBox="1"/>
          <p:nvPr/>
        </p:nvSpPr>
        <p:spPr>
          <a:xfrm>
            <a:off x="374650" y="5858216"/>
            <a:ext cx="10229850" cy="830997"/>
          </a:xfrm>
          <a:prstGeom prst="rect">
            <a:avLst/>
          </a:prstGeom>
          <a:solidFill>
            <a:schemeClr val="accent5">
              <a:lumMod val="75000"/>
            </a:schemeClr>
          </a:solidFill>
        </p:spPr>
        <p:txBody>
          <a:bodyPr wrap="square">
            <a:spAutoFit/>
          </a:bodyPr>
          <a:lstStyle>
            <a:defPPr marR="0" lvl="0" algn="l" rtl="0">
              <a:lnSpc>
                <a:spcPct val="100000"/>
              </a:lnSpc>
              <a:spcBef>
                <a:spcPts val="0"/>
              </a:spcBef>
              <a:spcAft>
                <a:spcPts val="0"/>
              </a:spcAft>
              <a:defRPr/>
            </a:defPPr>
            <a:lvl1pPr>
              <a:defRPr b="1">
                <a:solidFill>
                  <a:schemeClr val="bg1"/>
                </a:solidFill>
                <a:latin typeface="+mn-ea"/>
                <a:ea typeface="+mn-ea"/>
              </a:defRPr>
            </a:lvl1pPr>
          </a:lstStyle>
          <a:p>
            <a:r>
              <a:rPr lang="ja-JP" altLang="ja-JP" sz="1600" dirty="0"/>
              <a:t>太陽光が設備容量・年間発電量ともに約88%を占め、風力（約8%）が雨季の夜間を補完する。ディーゼルは容量40 kW・発電量の3.5%にとどまり、主にバックアップとして機能している。</a:t>
            </a:r>
            <a:br>
              <a:rPr lang="ja-JP" altLang="ja-JP" sz="1600" dirty="0"/>
            </a:br>
            <a:r>
              <a:rPr lang="ja-JP" altLang="ja-JP" sz="1600" dirty="0"/>
              <a:t>※蓄電池（440 kW／2.64 MWh、6時間容量）は発電設備ではないため、円グラフには含まない。</a:t>
            </a:r>
            <a:endParaRPr lang="ja-JP" altLang="ja-JP" sz="1600" dirty="0">
              <a:solidFill>
                <a:schemeClr val="bg1"/>
              </a:solidFill>
            </a:endParaRPr>
          </a:p>
        </p:txBody>
      </p:sp>
    </p:spTree>
    <p:extLst>
      <p:ext uri="{BB962C8B-B14F-4D97-AF65-F5344CB8AC3E}">
        <p14:creationId xmlns:p14="http://schemas.microsoft.com/office/powerpoint/2010/main" val="9290522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45906-00AE-B5AE-8E12-5118372B2C5D}"/>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AEFBDE34-87F1-C58C-4354-B6A9883148C5}"/>
              </a:ext>
            </a:extLst>
          </p:cNvPr>
          <p:cNvSpPr>
            <a:spLocks noGrp="1"/>
          </p:cNvSpPr>
          <p:nvPr>
            <p:ph type="title"/>
          </p:nvPr>
        </p:nvSpPr>
        <p:spPr/>
        <p:txBody>
          <a:bodyPr/>
          <a:lstStyle/>
          <a:p>
            <a:r>
              <a:rPr lang="en-US" altLang="ja-JP" dirty="0"/>
              <a:t>PCE</a:t>
            </a:r>
            <a:r>
              <a:rPr lang="ja-JP" altLang="en-US" dirty="0"/>
              <a:t>サロゲートモデルによる</a:t>
            </a:r>
            <a:r>
              <a:rPr lang="en-US" altLang="ja-JP" dirty="0"/>
              <a:t>Sobol</a:t>
            </a:r>
            <a:r>
              <a:rPr lang="ja-JP" altLang="en-US" dirty="0"/>
              <a:t>感度分析</a:t>
            </a:r>
          </a:p>
        </p:txBody>
      </p:sp>
    </p:spTree>
    <p:extLst>
      <p:ext uri="{BB962C8B-B14F-4D97-AF65-F5344CB8AC3E}">
        <p14:creationId xmlns:p14="http://schemas.microsoft.com/office/powerpoint/2010/main" val="28090011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99158A5-B388-5C17-BB2C-7F2FF582DE1D}"/>
              </a:ext>
            </a:extLst>
          </p:cNvPr>
          <p:cNvSpPr>
            <a:spLocks noGrp="1"/>
          </p:cNvSpPr>
          <p:nvPr>
            <p:ph type="title"/>
          </p:nvPr>
        </p:nvSpPr>
        <p:spPr/>
        <p:txBody>
          <a:bodyPr/>
          <a:lstStyle/>
          <a:p>
            <a:r>
              <a:rPr lang="ja-JP" altLang="ja-JP" b="1" dirty="0"/>
              <a:t>Sobol感度指標比較</a:t>
            </a:r>
            <a:r>
              <a:rPr lang="ja-JP" altLang="ja-JP" dirty="0"/>
              <a:t>:</a:t>
            </a:r>
            <a:endParaRPr kumimoji="1" lang="ja-JP" altLang="en-US" dirty="0"/>
          </a:p>
        </p:txBody>
      </p:sp>
      <mc:AlternateContent xmlns:mc="http://schemas.openxmlformats.org/markup-compatibility/2006" xmlns:a14="http://schemas.microsoft.com/office/drawing/2010/main">
        <mc:Choice Requires="a14">
          <p:sp>
            <p:nvSpPr>
              <p:cNvPr id="3" name="テキスト プレースホルダー 2">
                <a:extLst>
                  <a:ext uri="{FF2B5EF4-FFF2-40B4-BE49-F238E27FC236}">
                    <a16:creationId xmlns:a16="http://schemas.microsoft.com/office/drawing/2014/main" id="{902A6884-04F5-E57C-3B2D-7A861F154924}"/>
                  </a:ext>
                </a:extLst>
              </p:cNvPr>
              <p:cNvSpPr>
                <a:spLocks noGrp="1"/>
              </p:cNvSpPr>
              <p:nvPr>
                <p:ph type="body" sz="quarter" idx="12"/>
              </p:nvPr>
            </p:nvSpPr>
            <p:spPr/>
            <p:txBody>
              <a:bodyPr/>
              <a:lstStyle/>
              <a:p>
                <a:pPr lvl="0"/>
                <a:r>
                  <a:rPr lang="ja-JP" altLang="ja-JP" dirty="0"/>
                  <a:t>PCEサロゲートモデル（10,240サンプル、</a:t>
                </a:r>
                <a14:m>
                  <m:oMath xmlns:m="http://schemas.openxmlformats.org/officeDocument/2006/math">
                    <m:sSup>
                      <m:sSupPr>
                        <m:ctrlPr>
                          <a:rPr lang="ja-JP" altLang="ja-JP" i="1" dirty="0" smtClean="0">
                            <a:latin typeface="Cambria Math" panose="02040503050406030204" pitchFamily="18" charset="0"/>
                          </a:rPr>
                        </m:ctrlPr>
                      </m:sSupPr>
                      <m:e>
                        <m:r>
                          <a:rPr lang="ja-JP" altLang="ja-JP" i="1" dirty="0" smtClean="0">
                            <a:latin typeface="Cambria Math" panose="02040503050406030204" pitchFamily="18" charset="0"/>
                          </a:rPr>
                          <m:t>𝑅</m:t>
                        </m:r>
                      </m:e>
                      <m:sup>
                        <m:r>
                          <a:rPr lang="ja-JP" altLang="ja-JP" i="1" dirty="0" smtClean="0">
                            <a:latin typeface="Cambria Math" panose="02040503050406030204" pitchFamily="18" charset="0"/>
                          </a:rPr>
                          <m:t>2</m:t>
                        </m:r>
                      </m:sup>
                    </m:sSup>
                    <m:r>
                      <a:rPr lang="ja-JP" altLang="ja-JP" i="1" dirty="0" smtClean="0">
                        <a:latin typeface="Cambria Math" panose="02040503050406030204" pitchFamily="18" charset="0"/>
                      </a:rPr>
                      <m:t> = 0.999</m:t>
                    </m:r>
                    <m:r>
                      <a:rPr lang="en-US" altLang="ja-JP" b="0" i="1" dirty="0" smtClean="0">
                        <a:latin typeface="Cambria Math" panose="02040503050406030204" pitchFamily="18" charset="0"/>
                      </a:rPr>
                      <m:t>3</m:t>
                    </m:r>
                  </m:oMath>
                </a14:m>
                <a:r>
                  <a:rPr lang="ja-JP" altLang="ja-JP" dirty="0"/>
                  <a:t>）における単独影響度（</a:t>
                </a:r>
                <a14:m>
                  <m:oMath xmlns:m="http://schemas.openxmlformats.org/officeDocument/2006/math">
                    <m:sSub>
                      <m:sSubPr>
                        <m:ctrlPr>
                          <a:rPr lang="ja-JP" altLang="ja-JP" i="1" dirty="0" smtClean="0">
                            <a:latin typeface="Cambria Math" panose="02040503050406030204" pitchFamily="18" charset="0"/>
                          </a:rPr>
                        </m:ctrlPr>
                      </m:sSubPr>
                      <m:e>
                        <m:r>
                          <a:rPr lang="ja-JP" altLang="ja-JP" i="1" dirty="0" smtClean="0">
                            <a:latin typeface="Cambria Math" panose="02040503050406030204" pitchFamily="18" charset="0"/>
                          </a:rPr>
                          <m:t>𝑆</m:t>
                        </m:r>
                      </m:e>
                      <m:sub>
                        <m:r>
                          <a:rPr lang="en-US" altLang="ja-JP" b="0" i="1" dirty="0" smtClean="0">
                            <a:latin typeface="Cambria Math" panose="02040503050406030204" pitchFamily="18" charset="0"/>
                          </a:rPr>
                          <m:t>1</m:t>
                        </m:r>
                      </m:sub>
                    </m:sSub>
                  </m:oMath>
                </a14:m>
                <a:r>
                  <a:rPr lang="ja-JP" altLang="ja-JP" dirty="0"/>
                  <a:t>）および総合影響度（</a:t>
                </a:r>
                <a14:m>
                  <m:oMath xmlns:m="http://schemas.openxmlformats.org/officeDocument/2006/math">
                    <m:sSub>
                      <m:sSubPr>
                        <m:ctrlPr>
                          <a:rPr lang="ja-JP" altLang="ja-JP" i="1" dirty="0" smtClean="0">
                            <a:latin typeface="Cambria Math" panose="02040503050406030204" pitchFamily="18" charset="0"/>
                          </a:rPr>
                        </m:ctrlPr>
                      </m:sSubPr>
                      <m:e>
                        <m:r>
                          <a:rPr lang="ja-JP" altLang="ja-JP" i="1" dirty="0" smtClean="0">
                            <a:latin typeface="Cambria Math" panose="02040503050406030204" pitchFamily="18" charset="0"/>
                          </a:rPr>
                          <m:t>𝑆</m:t>
                        </m:r>
                      </m:e>
                      <m:sub>
                        <m:r>
                          <a:rPr lang="ja-JP" altLang="ja-JP" i="1" dirty="0" smtClean="0">
                            <a:latin typeface="Cambria Math" panose="02040503050406030204" pitchFamily="18" charset="0"/>
                          </a:rPr>
                          <m:t>𝑇</m:t>
                        </m:r>
                      </m:sub>
                    </m:sSub>
                  </m:oMath>
                </a14:m>
                <a:r>
                  <a:rPr lang="ja-JP" altLang="ja-JP" dirty="0"/>
                  <a:t>）の定量的対比。</a:t>
                </a:r>
              </a:p>
              <a:p>
                <a:pPr marL="0" indent="0">
                  <a:buNone/>
                </a:pPr>
                <a:endParaRPr kumimoji="1" lang="ja-JP" altLang="en-US" dirty="0"/>
              </a:p>
            </p:txBody>
          </p:sp>
        </mc:Choice>
        <mc:Fallback xmlns="">
          <p:sp>
            <p:nvSpPr>
              <p:cNvPr id="3" name="テキスト プレースホルダー 2">
                <a:extLst>
                  <a:ext uri="{FF2B5EF4-FFF2-40B4-BE49-F238E27FC236}">
                    <a16:creationId xmlns:a16="http://schemas.microsoft.com/office/drawing/2014/main" id="{902A6884-04F5-E57C-3B2D-7A861F154924}"/>
                  </a:ext>
                </a:extLst>
              </p:cNvPr>
              <p:cNvSpPr>
                <a:spLocks noGrp="1" noRot="1" noChangeAspect="1" noMove="1" noResize="1" noEditPoints="1" noAdjustHandles="1" noChangeArrowheads="1" noChangeShapeType="1" noTextEdit="1"/>
              </p:cNvSpPr>
              <p:nvPr>
                <p:ph type="body" sz="quarter" idx="12"/>
              </p:nvPr>
            </p:nvSpPr>
            <p:spPr>
              <a:blipFill>
                <a:blip r:embed="rId2"/>
                <a:stretch>
                  <a:fillRect l="-365" t="-1073" r="-365"/>
                </a:stretch>
              </a:blipFill>
            </p:spPr>
            <p:txBody>
              <a:bodyPr/>
              <a:lstStyle/>
              <a:p>
                <a:r>
                  <a:rPr lang="ja-JP" altLang="en-US">
                    <a:noFill/>
                  </a:rPr>
                  <a:t> </a:t>
                </a:r>
              </a:p>
            </p:txBody>
          </p:sp>
        </mc:Fallback>
      </mc:AlternateContent>
      <p:pic>
        <p:nvPicPr>
          <p:cNvPr id="8" name="図 7">
            <a:extLst>
              <a:ext uri="{FF2B5EF4-FFF2-40B4-BE49-F238E27FC236}">
                <a16:creationId xmlns:a16="http://schemas.microsoft.com/office/drawing/2014/main" id="{4D3FF490-D0C6-99C2-F05E-87C7F3614FAE}"/>
              </a:ext>
            </a:extLst>
          </p:cNvPr>
          <p:cNvPicPr>
            <a:picLocks noChangeAspect="1"/>
          </p:cNvPicPr>
          <p:nvPr/>
        </p:nvPicPr>
        <p:blipFill>
          <a:blip r:embed="rId3"/>
          <a:srcRect r="50000"/>
          <a:stretch>
            <a:fillRect/>
          </a:stretch>
        </p:blipFill>
        <p:spPr>
          <a:xfrm>
            <a:off x="3324402" y="1616520"/>
            <a:ext cx="4330344" cy="3307902"/>
          </a:xfrm>
          <a:prstGeom prst="rect">
            <a:avLst/>
          </a:prstGeom>
        </p:spPr>
      </p:pic>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530D3B90-657E-8CE5-86E5-6E5B2F742D72}"/>
                  </a:ext>
                </a:extLst>
              </p:cNvPr>
              <p:cNvSpPr txBox="1"/>
              <p:nvPr/>
            </p:nvSpPr>
            <p:spPr>
              <a:xfrm>
                <a:off x="374650" y="6059966"/>
                <a:ext cx="10229850" cy="1323439"/>
              </a:xfrm>
              <a:prstGeom prst="rect">
                <a:avLst/>
              </a:prstGeom>
              <a:solidFill>
                <a:schemeClr val="accent5">
                  <a:lumMod val="75000"/>
                </a:schemeClr>
              </a:solidFill>
            </p:spPr>
            <p:txBody>
              <a:bodyPr wrap="square">
                <a:spAutoFit/>
              </a:bodyPr>
              <a:lstStyle>
                <a:defPPr marR="0" lvl="0" algn="l" rtl="0">
                  <a:lnSpc>
                    <a:spcPct val="100000"/>
                  </a:lnSpc>
                  <a:spcBef>
                    <a:spcPts val="0"/>
                  </a:spcBef>
                  <a:spcAft>
                    <a:spcPts val="0"/>
                  </a:spcAft>
                  <a:defRPr/>
                </a:defPPr>
                <a:lvl1pPr>
                  <a:defRPr b="1">
                    <a:solidFill>
                      <a:schemeClr val="bg1"/>
                    </a:solidFill>
                    <a:latin typeface="+mn-ea"/>
                    <a:ea typeface="+mn-ea"/>
                  </a:defRPr>
                </a:lvl1pPr>
              </a:lstStyle>
              <a:p>
                <a:r>
                  <a:rPr lang="ja-JP" altLang="ja-JP" sz="1600" dirty="0">
                    <a:solidFill>
                      <a:schemeClr val="bg1"/>
                    </a:solidFill>
                  </a:rPr>
                  <a:t>2大支配因子（全体の約98%の分散を説明）:</a:t>
                </a:r>
              </a:p>
              <a:p>
                <a:pPr lvl="1"/>
                <a:r>
                  <a:rPr lang="ja-JP" altLang="ja-JP" sz="1600" b="1" dirty="0">
                    <a:solidFill>
                      <a:schemeClr val="bg1"/>
                    </a:solidFill>
                    <a:latin typeface="+mn-ea"/>
                    <a:ea typeface="+mn-ea"/>
                  </a:rPr>
                  <a:t>battery_capex: </a:t>
                </a:r>
                <a14:m>
                  <m:oMath xmlns:m="http://schemas.openxmlformats.org/officeDocument/2006/math">
                    <m:sSub>
                      <m:sSubPr>
                        <m:ctrlPr>
                          <a:rPr lang="ja-JP" altLang="ja-JP" sz="1600" b="1" i="1" dirty="0" smtClean="0">
                            <a:solidFill>
                              <a:schemeClr val="bg1"/>
                            </a:solidFill>
                            <a:latin typeface="Cambria Math" panose="02040503050406030204" pitchFamily="18" charset="0"/>
                            <a:ea typeface="+mn-ea"/>
                          </a:rPr>
                        </m:ctrlPr>
                      </m:sSubPr>
                      <m:e>
                        <m:r>
                          <a:rPr lang="ja-JP" altLang="ja-JP" sz="1600" b="1" i="1" dirty="0" smtClean="0">
                            <a:solidFill>
                              <a:schemeClr val="bg1"/>
                            </a:solidFill>
                            <a:latin typeface="Cambria Math" panose="02040503050406030204" pitchFamily="18" charset="0"/>
                            <a:ea typeface="+mn-ea"/>
                          </a:rPr>
                          <m:t>𝑺</m:t>
                        </m:r>
                      </m:e>
                      <m:sub>
                        <m:r>
                          <a:rPr lang="ja-JP" altLang="ja-JP" sz="1600" b="1" i="1" dirty="0" smtClean="0">
                            <a:solidFill>
                              <a:schemeClr val="bg1"/>
                            </a:solidFill>
                            <a:latin typeface="Cambria Math" panose="02040503050406030204" pitchFamily="18" charset="0"/>
                            <a:ea typeface="+mn-ea"/>
                          </a:rPr>
                          <m:t>𝟏</m:t>
                        </m:r>
                      </m:sub>
                    </m:sSub>
                    <m:r>
                      <a:rPr lang="ja-JP" altLang="ja-JP" sz="1600" b="1" dirty="0" smtClean="0">
                        <a:solidFill>
                          <a:schemeClr val="bg1"/>
                        </a:solidFill>
                        <a:latin typeface="Cambria Math" panose="02040503050406030204" pitchFamily="18" charset="0"/>
                        <a:ea typeface="+mn-ea"/>
                      </a:rPr>
                      <m:t>=</m:t>
                    </m:r>
                    <m:r>
                      <a:rPr lang="ja-JP" altLang="ja-JP" sz="1600" b="1" i="1" dirty="0" smtClean="0">
                        <a:solidFill>
                          <a:schemeClr val="bg1"/>
                        </a:solidFill>
                        <a:latin typeface="Cambria Math" panose="02040503050406030204" pitchFamily="18" charset="0"/>
                        <a:ea typeface="+mn-ea"/>
                      </a:rPr>
                      <m:t>𝟎</m:t>
                    </m:r>
                    <m:r>
                      <a:rPr lang="ja-JP" altLang="ja-JP" sz="1600" b="1" dirty="0" smtClean="0">
                        <a:solidFill>
                          <a:schemeClr val="bg1"/>
                        </a:solidFill>
                        <a:latin typeface="Cambria Math" panose="02040503050406030204" pitchFamily="18" charset="0"/>
                        <a:ea typeface="+mn-ea"/>
                      </a:rPr>
                      <m:t>.</m:t>
                    </m:r>
                    <m:r>
                      <a:rPr lang="ja-JP" altLang="ja-JP" sz="1600" b="1" i="1" dirty="0" smtClean="0">
                        <a:solidFill>
                          <a:schemeClr val="bg1"/>
                        </a:solidFill>
                        <a:latin typeface="Cambria Math" panose="02040503050406030204" pitchFamily="18" charset="0"/>
                        <a:ea typeface="+mn-ea"/>
                      </a:rPr>
                      <m:t>𝟓𝟑𝟒𝟓</m:t>
                    </m:r>
                  </m:oMath>
                </a14:m>
                <a:r>
                  <a:rPr lang="ja-JP" altLang="ja-JP" sz="1600" b="1" dirty="0">
                    <a:solidFill>
                      <a:schemeClr val="bg1"/>
                    </a:solidFill>
                    <a:latin typeface="+mn-ea"/>
                    <a:ea typeface="+mn-ea"/>
                  </a:rPr>
                  <a:t>（</a:t>
                </a:r>
                <a14:m>
                  <m:oMath xmlns:m="http://schemas.openxmlformats.org/officeDocument/2006/math">
                    <m:sSub>
                      <m:sSubPr>
                        <m:ctrlPr>
                          <a:rPr lang="ja-JP" altLang="ja-JP" sz="1600" b="1" i="1" dirty="0" smtClean="0">
                            <a:solidFill>
                              <a:schemeClr val="bg1"/>
                            </a:solidFill>
                            <a:latin typeface="Cambria Math" panose="02040503050406030204" pitchFamily="18" charset="0"/>
                            <a:ea typeface="+mn-ea"/>
                          </a:rPr>
                        </m:ctrlPr>
                      </m:sSubPr>
                      <m:e>
                        <m:r>
                          <a:rPr lang="ja-JP" altLang="ja-JP" sz="1600" b="1" i="1" dirty="0" smtClean="0">
                            <a:solidFill>
                              <a:schemeClr val="bg1"/>
                            </a:solidFill>
                            <a:latin typeface="Cambria Math" panose="02040503050406030204" pitchFamily="18" charset="0"/>
                            <a:ea typeface="+mn-ea"/>
                          </a:rPr>
                          <m:t>𝑺</m:t>
                        </m:r>
                      </m:e>
                      <m:sub>
                        <m:r>
                          <a:rPr lang="ja-JP" altLang="ja-JP" sz="1600" b="1" i="1" dirty="0" smtClean="0">
                            <a:solidFill>
                              <a:schemeClr val="bg1"/>
                            </a:solidFill>
                            <a:latin typeface="Cambria Math" panose="02040503050406030204" pitchFamily="18" charset="0"/>
                            <a:ea typeface="+mn-ea"/>
                          </a:rPr>
                          <m:t>𝑻</m:t>
                        </m:r>
                      </m:sub>
                    </m:sSub>
                    <m:r>
                      <a:rPr lang="ja-JP" altLang="ja-JP" sz="1600" b="1" dirty="0" smtClean="0">
                        <a:solidFill>
                          <a:schemeClr val="bg1"/>
                        </a:solidFill>
                        <a:latin typeface="Cambria Math" panose="02040503050406030204" pitchFamily="18" charset="0"/>
                        <a:ea typeface="+mn-ea"/>
                      </a:rPr>
                      <m:t>=</m:t>
                    </m:r>
                    <m:r>
                      <a:rPr lang="ja-JP" altLang="ja-JP" sz="1600" b="1" i="1" dirty="0" smtClean="0">
                        <a:solidFill>
                          <a:schemeClr val="bg1"/>
                        </a:solidFill>
                        <a:latin typeface="Cambria Math" panose="02040503050406030204" pitchFamily="18" charset="0"/>
                        <a:ea typeface="+mn-ea"/>
                      </a:rPr>
                      <m:t>𝟎</m:t>
                    </m:r>
                    <m:r>
                      <a:rPr lang="ja-JP" altLang="ja-JP" sz="1600" b="1" dirty="0" smtClean="0">
                        <a:solidFill>
                          <a:schemeClr val="bg1"/>
                        </a:solidFill>
                        <a:latin typeface="Cambria Math" panose="02040503050406030204" pitchFamily="18" charset="0"/>
                        <a:ea typeface="+mn-ea"/>
                      </a:rPr>
                      <m:t>.</m:t>
                    </m:r>
                    <m:r>
                      <a:rPr lang="ja-JP" altLang="ja-JP" sz="1600" b="1" i="1" dirty="0" smtClean="0">
                        <a:solidFill>
                          <a:schemeClr val="bg1"/>
                        </a:solidFill>
                        <a:latin typeface="Cambria Math" panose="02040503050406030204" pitchFamily="18" charset="0"/>
                        <a:ea typeface="+mn-ea"/>
                      </a:rPr>
                      <m:t>𝟓𝟑𝟒𝟕</m:t>
                    </m:r>
                  </m:oMath>
                </a14:m>
                <a:r>
                  <a:rPr lang="ja-JP" altLang="ja-JP" sz="1600" b="1" dirty="0">
                    <a:solidFill>
                      <a:schemeClr val="bg1"/>
                    </a:solidFill>
                    <a:latin typeface="+mn-ea"/>
                    <a:ea typeface="+mn-ea"/>
                  </a:rPr>
                  <a:t>） — 最大影響要因（不確実性の約53.5%）</a:t>
                </a:r>
              </a:p>
              <a:p>
                <a:pPr lvl="1"/>
                <a:r>
                  <a:rPr lang="ja-JP" altLang="ja-JP" sz="1600" b="1" dirty="0">
                    <a:solidFill>
                      <a:schemeClr val="bg1"/>
                    </a:solidFill>
                    <a:latin typeface="+mn-ea"/>
                    <a:ea typeface="+mn-ea"/>
                  </a:rPr>
                  <a:t>solar_capex: </a:t>
                </a:r>
                <a14:m>
                  <m:oMath xmlns:m="http://schemas.openxmlformats.org/officeDocument/2006/math">
                    <m:sSub>
                      <m:sSubPr>
                        <m:ctrlPr>
                          <a:rPr lang="ja-JP" altLang="ja-JP" sz="1600" b="1" i="1" dirty="0" smtClean="0">
                            <a:solidFill>
                              <a:schemeClr val="bg1"/>
                            </a:solidFill>
                            <a:latin typeface="Cambria Math" panose="02040503050406030204" pitchFamily="18" charset="0"/>
                            <a:ea typeface="+mn-ea"/>
                          </a:rPr>
                        </m:ctrlPr>
                      </m:sSubPr>
                      <m:e>
                        <m:r>
                          <a:rPr lang="ja-JP" altLang="ja-JP" sz="1600" b="1" i="1" dirty="0" smtClean="0">
                            <a:solidFill>
                              <a:schemeClr val="bg1"/>
                            </a:solidFill>
                            <a:latin typeface="Cambria Math" panose="02040503050406030204" pitchFamily="18" charset="0"/>
                            <a:ea typeface="+mn-ea"/>
                          </a:rPr>
                          <m:t>𝑺</m:t>
                        </m:r>
                      </m:e>
                      <m:sub>
                        <m:r>
                          <a:rPr lang="ja-JP" altLang="ja-JP" sz="1600" b="1" i="1" dirty="0" smtClean="0">
                            <a:solidFill>
                              <a:schemeClr val="bg1"/>
                            </a:solidFill>
                            <a:latin typeface="Cambria Math" panose="02040503050406030204" pitchFamily="18" charset="0"/>
                            <a:ea typeface="+mn-ea"/>
                          </a:rPr>
                          <m:t>𝟏</m:t>
                        </m:r>
                      </m:sub>
                    </m:sSub>
                    <m:r>
                      <a:rPr lang="ja-JP" altLang="ja-JP" sz="1600" b="1" dirty="0" smtClean="0">
                        <a:solidFill>
                          <a:schemeClr val="bg1"/>
                        </a:solidFill>
                        <a:latin typeface="Cambria Math" panose="02040503050406030204" pitchFamily="18" charset="0"/>
                        <a:ea typeface="+mn-ea"/>
                      </a:rPr>
                      <m:t>=</m:t>
                    </m:r>
                    <m:r>
                      <a:rPr lang="ja-JP" altLang="ja-JP" sz="1600" b="1" i="1" dirty="0" smtClean="0">
                        <a:solidFill>
                          <a:schemeClr val="bg1"/>
                        </a:solidFill>
                        <a:latin typeface="Cambria Math" panose="02040503050406030204" pitchFamily="18" charset="0"/>
                        <a:ea typeface="+mn-ea"/>
                      </a:rPr>
                      <m:t>𝟎</m:t>
                    </m:r>
                    <m:r>
                      <a:rPr lang="ja-JP" altLang="ja-JP" sz="1600" b="1" dirty="0" smtClean="0">
                        <a:solidFill>
                          <a:schemeClr val="bg1"/>
                        </a:solidFill>
                        <a:latin typeface="Cambria Math" panose="02040503050406030204" pitchFamily="18" charset="0"/>
                        <a:ea typeface="+mn-ea"/>
                      </a:rPr>
                      <m:t>.</m:t>
                    </m:r>
                    <m:r>
                      <a:rPr lang="ja-JP" altLang="ja-JP" sz="1600" b="1" i="1" dirty="0" smtClean="0">
                        <a:solidFill>
                          <a:schemeClr val="bg1"/>
                        </a:solidFill>
                        <a:latin typeface="Cambria Math" panose="02040503050406030204" pitchFamily="18" charset="0"/>
                        <a:ea typeface="+mn-ea"/>
                      </a:rPr>
                      <m:t>𝟒𝟒𝟏𝟕</m:t>
                    </m:r>
                  </m:oMath>
                </a14:m>
                <a:r>
                  <a:rPr lang="ja-JP" altLang="ja-JP" sz="1600" b="1" dirty="0">
                    <a:solidFill>
                      <a:schemeClr val="bg1"/>
                    </a:solidFill>
                    <a:latin typeface="+mn-ea"/>
                    <a:ea typeface="+mn-ea"/>
                  </a:rPr>
                  <a:t>（</a:t>
                </a:r>
                <a14:m>
                  <m:oMath xmlns:m="http://schemas.openxmlformats.org/officeDocument/2006/math">
                    <m:sSub>
                      <m:sSubPr>
                        <m:ctrlPr>
                          <a:rPr lang="ja-JP" altLang="ja-JP" sz="1600" b="1" i="1" dirty="0" smtClean="0">
                            <a:solidFill>
                              <a:schemeClr val="bg1"/>
                            </a:solidFill>
                            <a:latin typeface="Cambria Math" panose="02040503050406030204" pitchFamily="18" charset="0"/>
                            <a:ea typeface="+mn-ea"/>
                          </a:rPr>
                        </m:ctrlPr>
                      </m:sSubPr>
                      <m:e>
                        <m:r>
                          <a:rPr lang="ja-JP" altLang="ja-JP" sz="1600" b="1" i="1" dirty="0" smtClean="0">
                            <a:solidFill>
                              <a:schemeClr val="bg1"/>
                            </a:solidFill>
                            <a:latin typeface="Cambria Math" panose="02040503050406030204" pitchFamily="18" charset="0"/>
                            <a:ea typeface="+mn-ea"/>
                          </a:rPr>
                          <m:t>𝑺</m:t>
                        </m:r>
                      </m:e>
                      <m:sub>
                        <m:r>
                          <a:rPr lang="ja-JP" altLang="ja-JP" sz="1600" b="1" i="1" dirty="0" smtClean="0">
                            <a:solidFill>
                              <a:schemeClr val="bg1"/>
                            </a:solidFill>
                            <a:latin typeface="Cambria Math" panose="02040503050406030204" pitchFamily="18" charset="0"/>
                            <a:ea typeface="+mn-ea"/>
                          </a:rPr>
                          <m:t>𝑻</m:t>
                        </m:r>
                      </m:sub>
                    </m:sSub>
                    <m:r>
                      <a:rPr lang="ja-JP" altLang="ja-JP" sz="1600" b="1" dirty="0" smtClean="0">
                        <a:solidFill>
                          <a:schemeClr val="bg1"/>
                        </a:solidFill>
                        <a:latin typeface="Cambria Math" panose="02040503050406030204" pitchFamily="18" charset="0"/>
                        <a:ea typeface="+mn-ea"/>
                      </a:rPr>
                      <m:t>=</m:t>
                    </m:r>
                    <m:r>
                      <a:rPr lang="ja-JP" altLang="ja-JP" sz="1600" b="1" i="1" dirty="0" smtClean="0">
                        <a:solidFill>
                          <a:schemeClr val="bg1"/>
                        </a:solidFill>
                        <a:latin typeface="Cambria Math" panose="02040503050406030204" pitchFamily="18" charset="0"/>
                        <a:ea typeface="+mn-ea"/>
                      </a:rPr>
                      <m:t>𝟎</m:t>
                    </m:r>
                    <m:r>
                      <a:rPr lang="ja-JP" altLang="ja-JP" sz="1600" b="1" dirty="0" smtClean="0">
                        <a:solidFill>
                          <a:schemeClr val="bg1"/>
                        </a:solidFill>
                        <a:latin typeface="Cambria Math" panose="02040503050406030204" pitchFamily="18" charset="0"/>
                        <a:ea typeface="+mn-ea"/>
                      </a:rPr>
                      <m:t>.</m:t>
                    </m:r>
                    <m:r>
                      <a:rPr lang="ja-JP" altLang="ja-JP" sz="1600" b="1" i="1" dirty="0" smtClean="0">
                        <a:solidFill>
                          <a:schemeClr val="bg1"/>
                        </a:solidFill>
                        <a:latin typeface="Cambria Math" panose="02040503050406030204" pitchFamily="18" charset="0"/>
                        <a:ea typeface="+mn-ea"/>
                      </a:rPr>
                      <m:t>𝟒𝟒𝟐𝟗</m:t>
                    </m:r>
                  </m:oMath>
                </a14:m>
                <a:r>
                  <a:rPr lang="ja-JP" altLang="ja-JP" sz="1600" b="1" dirty="0">
                    <a:solidFill>
                      <a:schemeClr val="bg1"/>
                    </a:solidFill>
                    <a:latin typeface="+mn-ea"/>
                    <a:ea typeface="+mn-ea"/>
                  </a:rPr>
                  <a:t>） — 第2の影響要因（不確実性の約44.2%）</a:t>
                </a:r>
              </a:p>
              <a:p>
                <a:r>
                  <a:rPr lang="ja-JP" altLang="ja-JP" sz="1600" dirty="0">
                    <a:solidFill>
                      <a:schemeClr val="bg1"/>
                    </a:solidFill>
                  </a:rPr>
                  <a:t>影響軽微な因子: wind_capex（約1.2%）、diesel_opex（約1.1%）</a:t>
                </a:r>
              </a:p>
              <a:p>
                <a:r>
                  <a:rPr lang="ja-JP" altLang="ja-JP" sz="1600" dirty="0">
                    <a:solidFill>
                      <a:schemeClr val="bg1"/>
                    </a:solidFill>
                  </a:rPr>
                  <a:t>システム全体の年間総コスト変動は、太陽光と蓄電池の設備容量コスト（CAPEX）の不確実性</a:t>
                </a:r>
                <a:r>
                  <a:rPr lang="ja-JP" altLang="en-US" sz="1600" dirty="0">
                    <a:solidFill>
                      <a:schemeClr val="bg1"/>
                    </a:solidFill>
                  </a:rPr>
                  <a:t>が影響する</a:t>
                </a:r>
                <a:endParaRPr lang="ja-JP" altLang="ja-JP" sz="1600" dirty="0">
                  <a:solidFill>
                    <a:schemeClr val="bg1"/>
                  </a:solidFill>
                </a:endParaRPr>
              </a:p>
            </p:txBody>
          </p:sp>
        </mc:Choice>
        <mc:Fallback xmlns="">
          <p:sp>
            <p:nvSpPr>
              <p:cNvPr id="5" name="テキスト ボックス 4">
                <a:extLst>
                  <a:ext uri="{FF2B5EF4-FFF2-40B4-BE49-F238E27FC236}">
                    <a16:creationId xmlns:a16="http://schemas.microsoft.com/office/drawing/2014/main" id="{530D3B90-657E-8CE5-86E5-6E5B2F742D72}"/>
                  </a:ext>
                </a:extLst>
              </p:cNvPr>
              <p:cNvSpPr txBox="1">
                <a:spLocks noRot="1" noChangeAspect="1" noMove="1" noResize="1" noEditPoints="1" noAdjustHandles="1" noChangeArrowheads="1" noChangeShapeType="1" noTextEdit="1"/>
              </p:cNvSpPr>
              <p:nvPr/>
            </p:nvSpPr>
            <p:spPr>
              <a:xfrm>
                <a:off x="374650" y="6059966"/>
                <a:ext cx="10229850" cy="1323439"/>
              </a:xfrm>
              <a:prstGeom prst="rect">
                <a:avLst/>
              </a:prstGeom>
              <a:blipFill>
                <a:blip r:embed="rId4"/>
                <a:stretch>
                  <a:fillRect l="-298" t="-1382" b="-5069"/>
                </a:stretch>
              </a:blipFill>
            </p:spPr>
            <p:txBody>
              <a:bodyPr/>
              <a:lstStyle/>
              <a:p>
                <a:r>
                  <a:rPr lang="ja-JP" altLang="en-US">
                    <a:noFill/>
                  </a:rPr>
                  <a:t> </a:t>
                </a:r>
              </a:p>
            </p:txBody>
          </p:sp>
        </mc:Fallback>
      </mc:AlternateContent>
      <p:graphicFrame>
        <p:nvGraphicFramePr>
          <p:cNvPr id="7" name="表 6">
            <a:extLst>
              <a:ext uri="{FF2B5EF4-FFF2-40B4-BE49-F238E27FC236}">
                <a16:creationId xmlns:a16="http://schemas.microsoft.com/office/drawing/2014/main" id="{EFD83BA3-C05D-93C6-4FA1-C53B08712ED0}"/>
              </a:ext>
            </a:extLst>
          </p:cNvPr>
          <p:cNvGraphicFramePr>
            <a:graphicFrameLocks noGrp="1"/>
          </p:cNvGraphicFramePr>
          <p:nvPr>
            <p:extLst>
              <p:ext uri="{D42A27DB-BD31-4B8C-83A1-F6EECF244321}">
                <p14:modId xmlns:p14="http://schemas.microsoft.com/office/powerpoint/2010/main" val="2916165204"/>
              </p:ext>
            </p:extLst>
          </p:nvPr>
        </p:nvGraphicFramePr>
        <p:xfrm>
          <a:off x="2891959" y="5056837"/>
          <a:ext cx="5195231" cy="820625"/>
        </p:xfrm>
        <a:graphic>
          <a:graphicData uri="http://schemas.openxmlformats.org/drawingml/2006/table">
            <a:tbl>
              <a:tblPr>
                <a:tableStyleId>{64D624F7-45F6-4965-A375-3286DDFBF814}</a:tableStyleId>
              </a:tblPr>
              <a:tblGrid>
                <a:gridCol w="959988">
                  <a:extLst>
                    <a:ext uri="{9D8B030D-6E8A-4147-A177-3AD203B41FA5}">
                      <a16:colId xmlns:a16="http://schemas.microsoft.com/office/drawing/2014/main" val="332554867"/>
                    </a:ext>
                  </a:extLst>
                </a:gridCol>
                <a:gridCol w="1129397">
                  <a:extLst>
                    <a:ext uri="{9D8B030D-6E8A-4147-A177-3AD203B41FA5}">
                      <a16:colId xmlns:a16="http://schemas.microsoft.com/office/drawing/2014/main" val="949961776"/>
                    </a:ext>
                  </a:extLst>
                </a:gridCol>
                <a:gridCol w="1016459">
                  <a:extLst>
                    <a:ext uri="{9D8B030D-6E8A-4147-A177-3AD203B41FA5}">
                      <a16:colId xmlns:a16="http://schemas.microsoft.com/office/drawing/2014/main" val="3482486693"/>
                    </a:ext>
                  </a:extLst>
                </a:gridCol>
                <a:gridCol w="1072928">
                  <a:extLst>
                    <a:ext uri="{9D8B030D-6E8A-4147-A177-3AD203B41FA5}">
                      <a16:colId xmlns:a16="http://schemas.microsoft.com/office/drawing/2014/main" val="3341934540"/>
                    </a:ext>
                  </a:extLst>
                </a:gridCol>
                <a:gridCol w="1016459">
                  <a:extLst>
                    <a:ext uri="{9D8B030D-6E8A-4147-A177-3AD203B41FA5}">
                      <a16:colId xmlns:a16="http://schemas.microsoft.com/office/drawing/2014/main" val="2340397809"/>
                    </a:ext>
                  </a:extLst>
                </a:gridCol>
              </a:tblGrid>
              <a:tr h="164125">
                <a:tc>
                  <a:txBody>
                    <a:bodyPr/>
                    <a:lstStyle/>
                    <a:p>
                      <a:pPr algn="ctr" fontAlgn="ctr">
                        <a:buNone/>
                      </a:pPr>
                      <a:r>
                        <a:rPr lang="ja-JP" sz="1000" u="none" strike="noStrike">
                          <a:effectLst/>
                        </a:rPr>
                        <a:t>パラメータ</a:t>
                      </a:r>
                      <a:endParaRPr lang="ja-JP" sz="1000" b="1" i="0" u="none" strike="noStrike">
                        <a:solidFill>
                          <a:srgbClr val="FFFFFF"/>
                        </a:solidFill>
                        <a:effectLst/>
                        <a:latin typeface="Calibri" panose="020F0502020204030204" pitchFamily="34" charset="0"/>
                        <a:ea typeface="ＭＳ Ｐゴシック" panose="020B0600070205080204" pitchFamily="50" charset="-128"/>
                      </a:endParaRPr>
                    </a:p>
                  </a:txBody>
                  <a:tcPr marL="9118" marR="9118" marT="9118" marB="0" anchor="ctr"/>
                </a:tc>
                <a:tc>
                  <a:txBody>
                    <a:bodyPr/>
                    <a:lstStyle/>
                    <a:p>
                      <a:pPr algn="ctr" fontAlgn="ctr">
                        <a:buNone/>
                      </a:pPr>
                      <a:r>
                        <a:rPr lang="ja-JP" sz="1000" u="none" strike="noStrike">
                          <a:effectLst/>
                        </a:rPr>
                        <a:t>1次感度指標 (S1)</a:t>
                      </a:r>
                      <a:endParaRPr lang="ja-JP" sz="1000" b="1" i="0" u="none" strike="noStrike">
                        <a:solidFill>
                          <a:srgbClr val="FFFFFF"/>
                        </a:solidFill>
                        <a:effectLst/>
                        <a:latin typeface="Calibri" panose="020F0502020204030204" pitchFamily="34" charset="0"/>
                        <a:ea typeface="ＭＳ Ｐゴシック" panose="020B0600070205080204" pitchFamily="50" charset="-128"/>
                      </a:endParaRPr>
                    </a:p>
                  </a:txBody>
                  <a:tcPr marL="9118" marR="9118" marT="9118" marB="0" anchor="ctr"/>
                </a:tc>
                <a:tc>
                  <a:txBody>
                    <a:bodyPr/>
                    <a:lstStyle/>
                    <a:p>
                      <a:pPr algn="ctr" fontAlgn="ctr">
                        <a:buNone/>
                      </a:pPr>
                      <a:r>
                        <a:rPr lang="ja-JP" sz="1000" u="none" strike="noStrike">
                          <a:effectLst/>
                        </a:rPr>
                        <a:t>S1 95%信頼区間</a:t>
                      </a:r>
                      <a:endParaRPr lang="ja-JP" sz="1000" b="1" i="0" u="none" strike="noStrike">
                        <a:solidFill>
                          <a:srgbClr val="FFFFFF"/>
                        </a:solidFill>
                        <a:effectLst/>
                        <a:latin typeface="Calibri" panose="020F0502020204030204" pitchFamily="34" charset="0"/>
                        <a:ea typeface="ＭＳ Ｐゴシック" panose="020B0600070205080204" pitchFamily="50" charset="-128"/>
                      </a:endParaRPr>
                    </a:p>
                  </a:txBody>
                  <a:tcPr marL="9118" marR="9118" marT="9118" marB="0" anchor="ctr"/>
                </a:tc>
                <a:tc>
                  <a:txBody>
                    <a:bodyPr/>
                    <a:lstStyle/>
                    <a:p>
                      <a:pPr algn="ctr" fontAlgn="ctr">
                        <a:buNone/>
                      </a:pPr>
                      <a:r>
                        <a:rPr lang="ja-JP" sz="1000" u="none" strike="noStrike">
                          <a:effectLst/>
                        </a:rPr>
                        <a:t>総感度指標 (ST)</a:t>
                      </a:r>
                      <a:endParaRPr lang="ja-JP" sz="1000" b="1" i="0" u="none" strike="noStrike">
                        <a:solidFill>
                          <a:srgbClr val="FFFFFF"/>
                        </a:solidFill>
                        <a:effectLst/>
                        <a:latin typeface="Calibri" panose="020F0502020204030204" pitchFamily="34" charset="0"/>
                        <a:ea typeface="ＭＳ Ｐゴシック" panose="020B0600070205080204" pitchFamily="50" charset="-128"/>
                      </a:endParaRPr>
                    </a:p>
                  </a:txBody>
                  <a:tcPr marL="9118" marR="9118" marT="9118" marB="0" anchor="ctr"/>
                </a:tc>
                <a:tc>
                  <a:txBody>
                    <a:bodyPr/>
                    <a:lstStyle/>
                    <a:p>
                      <a:pPr algn="ctr" fontAlgn="ctr">
                        <a:buNone/>
                      </a:pPr>
                      <a:r>
                        <a:rPr lang="ja-JP" sz="1000" u="none" strike="noStrike">
                          <a:effectLst/>
                        </a:rPr>
                        <a:t>ST 95%信頼区間</a:t>
                      </a:r>
                      <a:endParaRPr lang="ja-JP" sz="1000" b="1" i="0" u="none" strike="noStrike">
                        <a:solidFill>
                          <a:srgbClr val="FFFFFF"/>
                        </a:solidFill>
                        <a:effectLst/>
                        <a:latin typeface="Calibri" panose="020F0502020204030204" pitchFamily="34" charset="0"/>
                        <a:ea typeface="ＭＳ Ｐゴシック" panose="020B0600070205080204" pitchFamily="50" charset="-128"/>
                      </a:endParaRPr>
                    </a:p>
                  </a:txBody>
                  <a:tcPr marL="9118" marR="9118" marT="9118" marB="0" anchor="ctr"/>
                </a:tc>
                <a:extLst>
                  <a:ext uri="{0D108BD9-81ED-4DB2-BD59-A6C34878D82A}">
                    <a16:rowId xmlns:a16="http://schemas.microsoft.com/office/drawing/2014/main" val="2365939233"/>
                  </a:ext>
                </a:extLst>
              </a:tr>
              <a:tr h="164125">
                <a:tc>
                  <a:txBody>
                    <a:bodyPr/>
                    <a:lstStyle/>
                    <a:p>
                      <a:pPr algn="l" fontAlgn="ctr">
                        <a:buNone/>
                      </a:pPr>
                      <a:r>
                        <a:rPr lang="ja-JP" sz="1000" u="none" strike="noStrike">
                          <a:effectLst/>
                        </a:rPr>
                        <a:t>solar_capex</a:t>
                      </a:r>
                      <a:endParaRPr lang="ja-JP" sz="1000" b="1" i="0" u="none" strike="noStrike">
                        <a:solidFill>
                          <a:srgbClr val="000000"/>
                        </a:solidFill>
                        <a:effectLst/>
                        <a:latin typeface="Calibri" panose="020F0502020204030204" pitchFamily="34" charset="0"/>
                        <a:ea typeface="ＭＳ Ｐゴシック" panose="020B0600070205080204" pitchFamily="50" charset="-128"/>
                      </a:endParaRPr>
                    </a:p>
                  </a:txBody>
                  <a:tcPr marL="9118" marR="9118" marT="9118" marB="0" anchor="ctr"/>
                </a:tc>
                <a:tc>
                  <a:txBody>
                    <a:bodyPr/>
                    <a:lstStyle/>
                    <a:p>
                      <a:pPr algn="r" fontAlgn="ctr">
                        <a:buNone/>
                      </a:pPr>
                      <a:r>
                        <a:rPr lang="ja-JP" sz="1000" u="none" strike="noStrike">
                          <a:effectLst/>
                        </a:rPr>
                        <a:t>0.4417</a:t>
                      </a:r>
                      <a:endParaRPr lang="ja-JP" sz="1000" b="0" i="0" u="none" strike="noStrike">
                        <a:solidFill>
                          <a:srgbClr val="000000"/>
                        </a:solidFill>
                        <a:effectLst/>
                        <a:latin typeface="Calibri" panose="020F0502020204030204" pitchFamily="34" charset="0"/>
                        <a:ea typeface="ＭＳ Ｐゴシック" panose="020B0600070205080204" pitchFamily="50" charset="-128"/>
                      </a:endParaRPr>
                    </a:p>
                  </a:txBody>
                  <a:tcPr marL="9118" marR="9118" marT="9118" marB="0" anchor="ctr"/>
                </a:tc>
                <a:tc>
                  <a:txBody>
                    <a:bodyPr/>
                    <a:lstStyle/>
                    <a:p>
                      <a:pPr algn="r" fontAlgn="ctr">
                        <a:buNone/>
                      </a:pPr>
                      <a:r>
                        <a:rPr lang="ja-JP" sz="1000" u="none" strike="noStrike">
                          <a:effectLst/>
                        </a:rPr>
                        <a:t>0.0480</a:t>
                      </a:r>
                      <a:endParaRPr lang="ja-JP" sz="1000" b="0" i="0" u="none" strike="noStrike">
                        <a:solidFill>
                          <a:srgbClr val="000000"/>
                        </a:solidFill>
                        <a:effectLst/>
                        <a:latin typeface="Calibri" panose="020F0502020204030204" pitchFamily="34" charset="0"/>
                        <a:ea typeface="ＭＳ Ｐゴシック" panose="020B0600070205080204" pitchFamily="50" charset="-128"/>
                      </a:endParaRPr>
                    </a:p>
                  </a:txBody>
                  <a:tcPr marL="9118" marR="9118" marT="9118" marB="0" anchor="ctr"/>
                </a:tc>
                <a:tc>
                  <a:txBody>
                    <a:bodyPr/>
                    <a:lstStyle/>
                    <a:p>
                      <a:pPr algn="r" fontAlgn="ctr">
                        <a:buNone/>
                      </a:pPr>
                      <a:r>
                        <a:rPr lang="ja-JP" sz="1000" u="none" strike="noStrike">
                          <a:effectLst/>
                        </a:rPr>
                        <a:t>0.4429</a:t>
                      </a:r>
                      <a:endParaRPr lang="ja-JP" sz="1000" b="0" i="0" u="none" strike="noStrike">
                        <a:solidFill>
                          <a:srgbClr val="000000"/>
                        </a:solidFill>
                        <a:effectLst/>
                        <a:latin typeface="Calibri" panose="020F0502020204030204" pitchFamily="34" charset="0"/>
                        <a:ea typeface="ＭＳ Ｐゴシック" panose="020B0600070205080204" pitchFamily="50" charset="-128"/>
                      </a:endParaRPr>
                    </a:p>
                  </a:txBody>
                  <a:tcPr marL="9118" marR="9118" marT="9118" marB="0" anchor="ctr"/>
                </a:tc>
                <a:tc>
                  <a:txBody>
                    <a:bodyPr/>
                    <a:lstStyle/>
                    <a:p>
                      <a:pPr algn="r" fontAlgn="ctr">
                        <a:buNone/>
                      </a:pPr>
                      <a:r>
                        <a:rPr lang="ja-JP" sz="1000" u="none" strike="noStrike" dirty="0">
                          <a:effectLst/>
                        </a:rPr>
                        <a:t>0.0350</a:t>
                      </a:r>
                      <a:endParaRPr lang="ja-JP" sz="1000" b="0" i="0" u="none" strike="noStrike" dirty="0">
                        <a:solidFill>
                          <a:srgbClr val="000000"/>
                        </a:solidFill>
                        <a:effectLst/>
                        <a:latin typeface="Calibri" panose="020F0502020204030204" pitchFamily="34" charset="0"/>
                        <a:ea typeface="ＭＳ Ｐゴシック" panose="020B0600070205080204" pitchFamily="50" charset="-128"/>
                      </a:endParaRPr>
                    </a:p>
                  </a:txBody>
                  <a:tcPr marL="9118" marR="9118" marT="9118" marB="0" anchor="ctr"/>
                </a:tc>
                <a:extLst>
                  <a:ext uri="{0D108BD9-81ED-4DB2-BD59-A6C34878D82A}">
                    <a16:rowId xmlns:a16="http://schemas.microsoft.com/office/drawing/2014/main" val="3130651496"/>
                  </a:ext>
                </a:extLst>
              </a:tr>
              <a:tr h="164125">
                <a:tc>
                  <a:txBody>
                    <a:bodyPr/>
                    <a:lstStyle/>
                    <a:p>
                      <a:pPr algn="l" fontAlgn="ctr">
                        <a:buNone/>
                      </a:pPr>
                      <a:r>
                        <a:rPr lang="ja-JP" sz="1000" u="none" strike="noStrike">
                          <a:effectLst/>
                        </a:rPr>
                        <a:t>wind_capex</a:t>
                      </a:r>
                      <a:endParaRPr lang="ja-JP" sz="1000" b="1" i="0" u="none" strike="noStrike">
                        <a:solidFill>
                          <a:srgbClr val="000000"/>
                        </a:solidFill>
                        <a:effectLst/>
                        <a:latin typeface="Calibri" panose="020F0502020204030204" pitchFamily="34" charset="0"/>
                        <a:ea typeface="ＭＳ Ｐゴシック" panose="020B0600070205080204" pitchFamily="50" charset="-128"/>
                      </a:endParaRPr>
                    </a:p>
                  </a:txBody>
                  <a:tcPr marL="9118" marR="9118" marT="9118" marB="0" anchor="ctr"/>
                </a:tc>
                <a:tc>
                  <a:txBody>
                    <a:bodyPr/>
                    <a:lstStyle/>
                    <a:p>
                      <a:pPr algn="r" fontAlgn="ctr">
                        <a:buNone/>
                      </a:pPr>
                      <a:r>
                        <a:rPr lang="ja-JP" sz="1000" u="none" strike="noStrike">
                          <a:effectLst/>
                        </a:rPr>
                        <a:t>0.0115</a:t>
                      </a:r>
                      <a:endParaRPr lang="ja-JP" sz="1000" b="0" i="0" u="none" strike="noStrike">
                        <a:solidFill>
                          <a:srgbClr val="000000"/>
                        </a:solidFill>
                        <a:effectLst/>
                        <a:latin typeface="Calibri" panose="020F0502020204030204" pitchFamily="34" charset="0"/>
                        <a:ea typeface="ＭＳ Ｐゴシック" panose="020B0600070205080204" pitchFamily="50" charset="-128"/>
                      </a:endParaRPr>
                    </a:p>
                  </a:txBody>
                  <a:tcPr marL="9118" marR="9118" marT="9118" marB="0" anchor="ctr"/>
                </a:tc>
                <a:tc>
                  <a:txBody>
                    <a:bodyPr/>
                    <a:lstStyle/>
                    <a:p>
                      <a:pPr algn="r" fontAlgn="ctr">
                        <a:buNone/>
                      </a:pPr>
                      <a:r>
                        <a:rPr lang="ja-JP" sz="1000" u="none" strike="noStrike">
                          <a:effectLst/>
                        </a:rPr>
                        <a:t>0.0096</a:t>
                      </a:r>
                      <a:endParaRPr lang="ja-JP" sz="1000" b="0" i="0" u="none" strike="noStrike">
                        <a:solidFill>
                          <a:srgbClr val="000000"/>
                        </a:solidFill>
                        <a:effectLst/>
                        <a:latin typeface="Calibri" panose="020F0502020204030204" pitchFamily="34" charset="0"/>
                        <a:ea typeface="ＭＳ Ｐゴシック" panose="020B0600070205080204" pitchFamily="50" charset="-128"/>
                      </a:endParaRPr>
                    </a:p>
                  </a:txBody>
                  <a:tcPr marL="9118" marR="9118" marT="9118" marB="0" anchor="ctr"/>
                </a:tc>
                <a:tc>
                  <a:txBody>
                    <a:bodyPr/>
                    <a:lstStyle/>
                    <a:p>
                      <a:pPr algn="r" fontAlgn="ctr">
                        <a:buNone/>
                      </a:pPr>
                      <a:r>
                        <a:rPr lang="ja-JP" sz="1000" u="none" strike="noStrike">
                          <a:effectLst/>
                        </a:rPr>
                        <a:t>0.0133</a:t>
                      </a:r>
                      <a:endParaRPr lang="ja-JP" sz="1000" b="0" i="0" u="none" strike="noStrike">
                        <a:solidFill>
                          <a:srgbClr val="000000"/>
                        </a:solidFill>
                        <a:effectLst/>
                        <a:latin typeface="Calibri" panose="020F0502020204030204" pitchFamily="34" charset="0"/>
                        <a:ea typeface="ＭＳ Ｐゴシック" panose="020B0600070205080204" pitchFamily="50" charset="-128"/>
                      </a:endParaRPr>
                    </a:p>
                  </a:txBody>
                  <a:tcPr marL="9118" marR="9118" marT="9118" marB="0" anchor="ctr"/>
                </a:tc>
                <a:tc>
                  <a:txBody>
                    <a:bodyPr/>
                    <a:lstStyle/>
                    <a:p>
                      <a:pPr algn="r" fontAlgn="ctr">
                        <a:buNone/>
                      </a:pPr>
                      <a:r>
                        <a:rPr lang="ja-JP" sz="1000" u="none" strike="noStrike">
                          <a:effectLst/>
                        </a:rPr>
                        <a:t>0.0014</a:t>
                      </a:r>
                      <a:endParaRPr lang="ja-JP" sz="1000" b="0" i="0" u="none" strike="noStrike">
                        <a:solidFill>
                          <a:srgbClr val="000000"/>
                        </a:solidFill>
                        <a:effectLst/>
                        <a:latin typeface="Calibri" panose="020F0502020204030204" pitchFamily="34" charset="0"/>
                        <a:ea typeface="ＭＳ Ｐゴシック" panose="020B0600070205080204" pitchFamily="50" charset="-128"/>
                      </a:endParaRPr>
                    </a:p>
                  </a:txBody>
                  <a:tcPr marL="9118" marR="9118" marT="9118" marB="0" anchor="ctr"/>
                </a:tc>
                <a:extLst>
                  <a:ext uri="{0D108BD9-81ED-4DB2-BD59-A6C34878D82A}">
                    <a16:rowId xmlns:a16="http://schemas.microsoft.com/office/drawing/2014/main" val="2861658032"/>
                  </a:ext>
                </a:extLst>
              </a:tr>
              <a:tr h="164125">
                <a:tc>
                  <a:txBody>
                    <a:bodyPr/>
                    <a:lstStyle/>
                    <a:p>
                      <a:pPr algn="l" fontAlgn="ctr">
                        <a:buNone/>
                      </a:pPr>
                      <a:r>
                        <a:rPr lang="ja-JP" sz="1000" u="none" strike="noStrike">
                          <a:effectLst/>
                        </a:rPr>
                        <a:t>battery_capex</a:t>
                      </a:r>
                      <a:endParaRPr lang="ja-JP" sz="1000" b="1" i="0" u="none" strike="noStrike">
                        <a:solidFill>
                          <a:srgbClr val="000000"/>
                        </a:solidFill>
                        <a:effectLst/>
                        <a:latin typeface="Calibri" panose="020F0502020204030204" pitchFamily="34" charset="0"/>
                        <a:ea typeface="ＭＳ Ｐゴシック" panose="020B0600070205080204" pitchFamily="50" charset="-128"/>
                      </a:endParaRPr>
                    </a:p>
                  </a:txBody>
                  <a:tcPr marL="9118" marR="9118" marT="9118" marB="0" anchor="ctr"/>
                </a:tc>
                <a:tc>
                  <a:txBody>
                    <a:bodyPr/>
                    <a:lstStyle/>
                    <a:p>
                      <a:pPr algn="r" fontAlgn="ctr">
                        <a:buNone/>
                      </a:pPr>
                      <a:r>
                        <a:rPr lang="ja-JP" sz="1000" u="none" strike="noStrike">
                          <a:effectLst/>
                        </a:rPr>
                        <a:t>0.5345</a:t>
                      </a:r>
                      <a:endParaRPr lang="ja-JP" sz="1000" b="0" i="0" u="none" strike="noStrike">
                        <a:solidFill>
                          <a:srgbClr val="000000"/>
                        </a:solidFill>
                        <a:effectLst/>
                        <a:latin typeface="Calibri" panose="020F0502020204030204" pitchFamily="34" charset="0"/>
                        <a:ea typeface="ＭＳ Ｐゴシック" panose="020B0600070205080204" pitchFamily="50" charset="-128"/>
                      </a:endParaRPr>
                    </a:p>
                  </a:txBody>
                  <a:tcPr marL="9118" marR="9118" marT="9118" marB="0" anchor="ctr"/>
                </a:tc>
                <a:tc>
                  <a:txBody>
                    <a:bodyPr/>
                    <a:lstStyle/>
                    <a:p>
                      <a:pPr algn="r" fontAlgn="ctr">
                        <a:buNone/>
                      </a:pPr>
                      <a:r>
                        <a:rPr lang="ja-JP" sz="1000" u="none" strike="noStrike">
                          <a:effectLst/>
                        </a:rPr>
                        <a:t>0.0564</a:t>
                      </a:r>
                      <a:endParaRPr lang="ja-JP" sz="1000" b="0" i="0" u="none" strike="noStrike">
                        <a:solidFill>
                          <a:srgbClr val="000000"/>
                        </a:solidFill>
                        <a:effectLst/>
                        <a:latin typeface="Calibri" panose="020F0502020204030204" pitchFamily="34" charset="0"/>
                        <a:ea typeface="ＭＳ Ｐゴシック" panose="020B0600070205080204" pitchFamily="50" charset="-128"/>
                      </a:endParaRPr>
                    </a:p>
                  </a:txBody>
                  <a:tcPr marL="9118" marR="9118" marT="9118" marB="0" anchor="ctr"/>
                </a:tc>
                <a:tc>
                  <a:txBody>
                    <a:bodyPr/>
                    <a:lstStyle/>
                    <a:p>
                      <a:pPr algn="r" fontAlgn="ctr">
                        <a:buNone/>
                      </a:pPr>
                      <a:r>
                        <a:rPr lang="ja-JP" sz="1000" u="none" strike="noStrike">
                          <a:effectLst/>
                        </a:rPr>
                        <a:t>0.5347</a:t>
                      </a:r>
                      <a:endParaRPr lang="ja-JP" sz="1000" b="0" i="0" u="none" strike="noStrike">
                        <a:solidFill>
                          <a:srgbClr val="000000"/>
                        </a:solidFill>
                        <a:effectLst/>
                        <a:latin typeface="Calibri" panose="020F0502020204030204" pitchFamily="34" charset="0"/>
                        <a:ea typeface="ＭＳ Ｐゴシック" panose="020B0600070205080204" pitchFamily="50" charset="-128"/>
                      </a:endParaRPr>
                    </a:p>
                  </a:txBody>
                  <a:tcPr marL="9118" marR="9118" marT="9118" marB="0" anchor="ctr"/>
                </a:tc>
                <a:tc>
                  <a:txBody>
                    <a:bodyPr/>
                    <a:lstStyle/>
                    <a:p>
                      <a:pPr algn="r" fontAlgn="ctr">
                        <a:buNone/>
                      </a:pPr>
                      <a:r>
                        <a:rPr lang="ja-JP" sz="1000" u="none" strike="noStrike" dirty="0">
                          <a:effectLst/>
                        </a:rPr>
                        <a:t>0.0428</a:t>
                      </a:r>
                      <a:endParaRPr lang="ja-JP" sz="1000" b="0" i="0" u="none" strike="noStrike" dirty="0">
                        <a:solidFill>
                          <a:srgbClr val="000000"/>
                        </a:solidFill>
                        <a:effectLst/>
                        <a:latin typeface="Calibri" panose="020F0502020204030204" pitchFamily="34" charset="0"/>
                        <a:ea typeface="ＭＳ Ｐゴシック" panose="020B0600070205080204" pitchFamily="50" charset="-128"/>
                      </a:endParaRPr>
                    </a:p>
                  </a:txBody>
                  <a:tcPr marL="9118" marR="9118" marT="9118" marB="0" anchor="ctr"/>
                </a:tc>
                <a:extLst>
                  <a:ext uri="{0D108BD9-81ED-4DB2-BD59-A6C34878D82A}">
                    <a16:rowId xmlns:a16="http://schemas.microsoft.com/office/drawing/2014/main" val="3163435809"/>
                  </a:ext>
                </a:extLst>
              </a:tr>
              <a:tr h="164125">
                <a:tc>
                  <a:txBody>
                    <a:bodyPr/>
                    <a:lstStyle/>
                    <a:p>
                      <a:pPr algn="l" fontAlgn="ctr">
                        <a:buNone/>
                      </a:pPr>
                      <a:r>
                        <a:rPr lang="ja-JP" sz="1000" u="none" strike="noStrike">
                          <a:effectLst/>
                        </a:rPr>
                        <a:t>diesel_opex</a:t>
                      </a:r>
                      <a:endParaRPr lang="ja-JP" sz="1000" b="1" i="0" u="none" strike="noStrike">
                        <a:solidFill>
                          <a:srgbClr val="000000"/>
                        </a:solidFill>
                        <a:effectLst/>
                        <a:latin typeface="Calibri" panose="020F0502020204030204" pitchFamily="34" charset="0"/>
                        <a:ea typeface="ＭＳ Ｐゴシック" panose="020B0600070205080204" pitchFamily="50" charset="-128"/>
                      </a:endParaRPr>
                    </a:p>
                  </a:txBody>
                  <a:tcPr marL="9118" marR="9118" marT="9118" marB="0" anchor="ctr"/>
                </a:tc>
                <a:tc>
                  <a:txBody>
                    <a:bodyPr/>
                    <a:lstStyle/>
                    <a:p>
                      <a:pPr algn="r" fontAlgn="ctr">
                        <a:buNone/>
                      </a:pPr>
                      <a:r>
                        <a:rPr lang="ja-JP" sz="1000" u="none" strike="noStrike">
                          <a:effectLst/>
                        </a:rPr>
                        <a:t>0.0106</a:t>
                      </a:r>
                      <a:endParaRPr lang="ja-JP" sz="1000" b="0" i="0" u="none" strike="noStrike">
                        <a:solidFill>
                          <a:srgbClr val="000000"/>
                        </a:solidFill>
                        <a:effectLst/>
                        <a:latin typeface="Calibri" panose="020F0502020204030204" pitchFamily="34" charset="0"/>
                        <a:ea typeface="ＭＳ Ｐゴシック" panose="020B0600070205080204" pitchFamily="50" charset="-128"/>
                      </a:endParaRPr>
                    </a:p>
                  </a:txBody>
                  <a:tcPr marL="9118" marR="9118" marT="9118" marB="0" anchor="ctr"/>
                </a:tc>
                <a:tc>
                  <a:txBody>
                    <a:bodyPr/>
                    <a:lstStyle/>
                    <a:p>
                      <a:pPr algn="r" fontAlgn="ctr">
                        <a:buNone/>
                      </a:pPr>
                      <a:r>
                        <a:rPr lang="ja-JP" sz="1000" u="none" strike="noStrike">
                          <a:effectLst/>
                        </a:rPr>
                        <a:t>0.0093</a:t>
                      </a:r>
                      <a:endParaRPr lang="ja-JP" sz="1000" b="0" i="0" u="none" strike="noStrike">
                        <a:solidFill>
                          <a:srgbClr val="000000"/>
                        </a:solidFill>
                        <a:effectLst/>
                        <a:latin typeface="Calibri" panose="020F0502020204030204" pitchFamily="34" charset="0"/>
                        <a:ea typeface="ＭＳ Ｐゴシック" panose="020B0600070205080204" pitchFamily="50" charset="-128"/>
                      </a:endParaRPr>
                    </a:p>
                  </a:txBody>
                  <a:tcPr marL="9118" marR="9118" marT="9118" marB="0" anchor="ctr"/>
                </a:tc>
                <a:tc>
                  <a:txBody>
                    <a:bodyPr/>
                    <a:lstStyle/>
                    <a:p>
                      <a:pPr algn="r" fontAlgn="ctr">
                        <a:buNone/>
                      </a:pPr>
                      <a:r>
                        <a:rPr lang="ja-JP" sz="1000" u="none" strike="noStrike" dirty="0">
                          <a:effectLst/>
                        </a:rPr>
                        <a:t>0.0111</a:t>
                      </a:r>
                      <a:endParaRPr lang="ja-JP" sz="1000" b="0" i="0" u="none" strike="noStrike" dirty="0">
                        <a:solidFill>
                          <a:srgbClr val="000000"/>
                        </a:solidFill>
                        <a:effectLst/>
                        <a:latin typeface="Calibri" panose="020F0502020204030204" pitchFamily="34" charset="0"/>
                        <a:ea typeface="ＭＳ Ｐゴシック" panose="020B0600070205080204" pitchFamily="50" charset="-128"/>
                      </a:endParaRPr>
                    </a:p>
                  </a:txBody>
                  <a:tcPr marL="9118" marR="9118" marT="9118" marB="0" anchor="ctr"/>
                </a:tc>
                <a:tc>
                  <a:txBody>
                    <a:bodyPr/>
                    <a:lstStyle/>
                    <a:p>
                      <a:pPr algn="r" fontAlgn="ctr">
                        <a:buNone/>
                      </a:pPr>
                      <a:r>
                        <a:rPr lang="ja-JP" sz="1000" u="none" strike="noStrike" dirty="0">
                          <a:effectLst/>
                        </a:rPr>
                        <a:t>0.0011</a:t>
                      </a:r>
                      <a:endParaRPr lang="ja-JP" sz="1000" b="0" i="0" u="none" strike="noStrike" dirty="0">
                        <a:solidFill>
                          <a:srgbClr val="000000"/>
                        </a:solidFill>
                        <a:effectLst/>
                        <a:latin typeface="Calibri" panose="020F0502020204030204" pitchFamily="34" charset="0"/>
                        <a:ea typeface="ＭＳ Ｐゴシック" panose="020B0600070205080204" pitchFamily="50" charset="-128"/>
                      </a:endParaRPr>
                    </a:p>
                  </a:txBody>
                  <a:tcPr marL="9118" marR="9118" marT="9118" marB="0" anchor="ctr"/>
                </a:tc>
                <a:extLst>
                  <a:ext uri="{0D108BD9-81ED-4DB2-BD59-A6C34878D82A}">
                    <a16:rowId xmlns:a16="http://schemas.microsoft.com/office/drawing/2014/main" val="3653112193"/>
                  </a:ext>
                </a:extLst>
              </a:tr>
            </a:tbl>
          </a:graphicData>
        </a:graphic>
      </p:graphicFrame>
    </p:spTree>
    <p:extLst>
      <p:ext uri="{BB962C8B-B14F-4D97-AF65-F5344CB8AC3E}">
        <p14:creationId xmlns:p14="http://schemas.microsoft.com/office/powerpoint/2010/main" val="160488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224720-3271-DF57-8959-A370D4EB50CE}"/>
              </a:ext>
            </a:extLst>
          </p:cNvPr>
          <p:cNvSpPr>
            <a:spLocks noGrp="1"/>
          </p:cNvSpPr>
          <p:nvPr>
            <p:ph type="title"/>
          </p:nvPr>
        </p:nvSpPr>
        <p:spPr>
          <a:xfrm>
            <a:off x="374904" y="61259"/>
            <a:ext cx="10003638" cy="706210"/>
          </a:xfrm>
        </p:spPr>
        <p:txBody>
          <a:bodyPr/>
          <a:lstStyle/>
          <a:p>
            <a:r>
              <a:rPr lang="ja-JP" altLang="ja-JP" dirty="0"/>
              <a:t>PCE交差項符号解析（技術間の代替・補完判定）</a:t>
            </a:r>
            <a:endParaRPr lang="ja-JP" altLang="en-US" dirty="0"/>
          </a:p>
        </p:txBody>
      </p:sp>
      <mc:AlternateContent xmlns:mc="http://schemas.openxmlformats.org/markup-compatibility/2006">
        <mc:Choice xmlns:a14="http://schemas.microsoft.com/office/drawing/2010/main" Requires="a14">
          <p:sp>
            <p:nvSpPr>
              <p:cNvPr id="3" name="テキスト プレースホルダー 2">
                <a:extLst>
                  <a:ext uri="{FF2B5EF4-FFF2-40B4-BE49-F238E27FC236}">
                    <a16:creationId xmlns:a16="http://schemas.microsoft.com/office/drawing/2014/main" id="{110CEEF9-D18E-4597-F603-ADDAD29EA2BA}"/>
                  </a:ext>
                </a:extLst>
              </p:cNvPr>
              <p:cNvSpPr>
                <a:spLocks noGrp="1"/>
              </p:cNvSpPr>
              <p:nvPr>
                <p:ph type="body" sz="quarter" idx="12"/>
              </p:nvPr>
            </p:nvSpPr>
            <p:spPr>
              <a:xfrm>
                <a:off x="374650" y="949972"/>
                <a:ext cx="10004425" cy="6365227"/>
              </a:xfrm>
            </p:spPr>
            <p:txBody>
              <a:bodyPr>
                <a:normAutofit fontScale="92500"/>
              </a:bodyPr>
              <a:lstStyle/>
              <a:p>
                <a:r>
                  <a:rPr lang="en-US" altLang="ja-JP" dirty="0"/>
                  <a:t>PCE</a:t>
                </a:r>
                <a:r>
                  <a:rPr lang="ja-JP" altLang="en-US" dirty="0"/>
                  <a:t>交差項符号解析</a:t>
                </a:r>
                <a:endParaRPr lang="en-US" altLang="ja-JP" dirty="0"/>
              </a:p>
              <a:p>
                <a:r>
                  <a:rPr lang="ja-JP" altLang="ja-JP" dirty="0"/>
                  <a:t>包絡線定理によるメカニズム: </a:t>
                </a:r>
                <a14:m>
                  <m:oMath xmlns:m="http://schemas.openxmlformats.org/officeDocument/2006/math">
                    <m:sSub>
                      <m:sSubPr>
                        <m:ctrlPr>
                          <a:rPr lang="ja-JP" altLang="ja-JP" dirty="0">
                            <a:latin typeface="Cambria Math" panose="02040503050406030204" pitchFamily="18" charset="0"/>
                          </a:rPr>
                        </m:ctrlPr>
                      </m:sSubPr>
                      <m:e>
                        <m:r>
                          <a:rPr lang="ja-JP" altLang="ja-JP" dirty="0">
                            <a:latin typeface="Cambria Math" panose="02040503050406030204" pitchFamily="18" charset="0"/>
                          </a:rPr>
                          <m:t>𝐶</m:t>
                        </m:r>
                      </m:e>
                      <m:sub>
                        <m:r>
                          <a:rPr lang="ja-JP" altLang="ja-JP" dirty="0">
                            <a:latin typeface="Cambria Math" panose="02040503050406030204" pitchFamily="18" charset="0"/>
                          </a:rPr>
                          <m:t>𝑖𝑗</m:t>
                        </m:r>
                      </m:sub>
                    </m:sSub>
                    <m:r>
                      <a:rPr lang="ja-JP" altLang="ja-JP" dirty="0">
                        <a:latin typeface="Cambria Math" panose="02040503050406030204" pitchFamily="18" charset="0"/>
                      </a:rPr>
                      <m:t>=</m:t>
                    </m:r>
                    <m:f>
                      <m:fPr>
                        <m:ctrlPr>
                          <a:rPr lang="ja-JP" altLang="ja-JP" i="1" dirty="0">
                            <a:latin typeface="Cambria Math" panose="02040503050406030204" pitchFamily="18" charset="0"/>
                          </a:rPr>
                        </m:ctrlPr>
                      </m:fPr>
                      <m:num>
                        <m:sSup>
                          <m:sSupPr>
                            <m:ctrlPr>
                              <a:rPr lang="ja-JP" altLang="ja-JP" dirty="0">
                                <a:latin typeface="Cambria Math" panose="02040503050406030204" pitchFamily="18" charset="0"/>
                              </a:rPr>
                            </m:ctrlPr>
                          </m:sSupPr>
                          <m:e>
                            <m:r>
                              <a:rPr lang="ja-JP" altLang="ja-JP" dirty="0">
                                <a:latin typeface="Cambria Math" panose="02040503050406030204" pitchFamily="18" charset="0"/>
                              </a:rPr>
                              <m:t>𝜕</m:t>
                            </m:r>
                          </m:e>
                          <m:sup>
                            <m:r>
                              <a:rPr lang="ja-JP" altLang="ja-JP" dirty="0">
                                <a:latin typeface="Cambria Math" panose="02040503050406030204" pitchFamily="18" charset="0"/>
                              </a:rPr>
                              <m:t>2</m:t>
                            </m:r>
                          </m:sup>
                        </m:sSup>
                        <m:r>
                          <a:rPr lang="ja-JP" altLang="ja-JP" dirty="0">
                            <a:latin typeface="Cambria Math" panose="02040503050406030204" pitchFamily="18" charset="0"/>
                          </a:rPr>
                          <m:t>𝐶</m:t>
                        </m:r>
                      </m:num>
                      <m:den>
                        <m:r>
                          <a:rPr lang="ja-JP" altLang="ja-JP" dirty="0">
                            <a:latin typeface="Cambria Math" panose="02040503050406030204" pitchFamily="18" charset="0"/>
                          </a:rPr>
                          <m:t>𝜕</m:t>
                        </m:r>
                        <m:sSub>
                          <m:sSubPr>
                            <m:ctrlPr>
                              <a:rPr lang="ja-JP" altLang="ja-JP" dirty="0">
                                <a:latin typeface="Cambria Math" panose="02040503050406030204" pitchFamily="18" charset="0"/>
                              </a:rPr>
                            </m:ctrlPr>
                          </m:sSubPr>
                          <m:e>
                            <m:r>
                              <a:rPr lang="ja-JP" altLang="ja-JP" dirty="0">
                                <a:latin typeface="Cambria Math" panose="02040503050406030204" pitchFamily="18" charset="0"/>
                              </a:rPr>
                              <m:t>𝜃</m:t>
                            </m:r>
                          </m:e>
                          <m:sub>
                            <m:r>
                              <a:rPr lang="ja-JP" altLang="ja-JP" dirty="0">
                                <a:latin typeface="Cambria Math" panose="02040503050406030204" pitchFamily="18" charset="0"/>
                              </a:rPr>
                              <m:t>𝑖</m:t>
                            </m:r>
                          </m:sub>
                        </m:sSub>
                        <m:r>
                          <a:rPr lang="ja-JP" altLang="ja-JP" dirty="0">
                            <a:latin typeface="Cambria Math" panose="02040503050406030204" pitchFamily="18" charset="0"/>
                          </a:rPr>
                          <m:t>𝜕</m:t>
                        </m:r>
                        <m:sSub>
                          <m:sSubPr>
                            <m:ctrlPr>
                              <a:rPr lang="ja-JP" altLang="ja-JP" dirty="0">
                                <a:latin typeface="Cambria Math" panose="02040503050406030204" pitchFamily="18" charset="0"/>
                              </a:rPr>
                            </m:ctrlPr>
                          </m:sSubPr>
                          <m:e>
                            <m:r>
                              <a:rPr lang="ja-JP" altLang="ja-JP" dirty="0">
                                <a:latin typeface="Cambria Math" panose="02040503050406030204" pitchFamily="18" charset="0"/>
                              </a:rPr>
                              <m:t>𝜃</m:t>
                            </m:r>
                          </m:e>
                          <m:sub>
                            <m:r>
                              <a:rPr lang="ja-JP" altLang="ja-JP" dirty="0">
                                <a:latin typeface="Cambria Math" panose="02040503050406030204" pitchFamily="18" charset="0"/>
                              </a:rPr>
                              <m:t>𝑗</m:t>
                            </m:r>
                          </m:sub>
                        </m:sSub>
                      </m:den>
                    </m:f>
                    <m:r>
                      <a:rPr lang="ja-JP" altLang="ja-JP" dirty="0">
                        <a:latin typeface="Cambria Math" panose="02040503050406030204" pitchFamily="18" charset="0"/>
                      </a:rPr>
                      <m:t>=</m:t>
                    </m:r>
                    <m:f>
                      <m:fPr>
                        <m:ctrlPr>
                          <a:rPr lang="ja-JP" altLang="ja-JP" dirty="0">
                            <a:latin typeface="Cambria Math" panose="02040503050406030204" pitchFamily="18" charset="0"/>
                          </a:rPr>
                        </m:ctrlPr>
                      </m:fPr>
                      <m:num>
                        <m:r>
                          <a:rPr lang="ja-JP" altLang="ja-JP" dirty="0">
                            <a:latin typeface="Cambria Math" panose="02040503050406030204" pitchFamily="18" charset="0"/>
                          </a:rPr>
                          <m:t>𝜕</m:t>
                        </m:r>
                        <m:d>
                          <m:dPr>
                            <m:ctrlPr>
                              <a:rPr lang="ja-JP" altLang="ja-JP" i="1" dirty="0">
                                <a:latin typeface="Cambria Math" panose="02040503050406030204" pitchFamily="18" charset="0"/>
                              </a:rPr>
                            </m:ctrlPr>
                          </m:dPr>
                          <m:e>
                            <m:sSub>
                              <m:sSubPr>
                                <m:ctrlPr>
                                  <a:rPr lang="ja-JP" altLang="ja-JP" i="0" dirty="0"/>
                                </m:ctrlPr>
                              </m:sSubPr>
                              <m:e>
                                <m:r>
                                  <m:rPr>
                                    <m:nor/>
                                  </m:rPr>
                                  <a:rPr lang="ja-JP" altLang="ja-JP" i="0" dirty="0"/>
                                  <m:t>最適容量</m:t>
                                </m:r>
                              </m:e>
                              <m:sub>
                                <m:r>
                                  <a:rPr lang="ja-JP" altLang="ja-JP" dirty="0">
                                    <a:latin typeface="Cambria Math" panose="02040503050406030204" pitchFamily="18" charset="0"/>
                                  </a:rPr>
                                  <m:t>𝑖</m:t>
                                </m:r>
                              </m:sub>
                            </m:sSub>
                          </m:e>
                        </m:d>
                      </m:num>
                      <m:den>
                        <m:r>
                          <a:rPr lang="ja-JP" altLang="ja-JP" dirty="0">
                            <a:latin typeface="Cambria Math" panose="02040503050406030204" pitchFamily="18" charset="0"/>
                          </a:rPr>
                          <m:t>𝜕</m:t>
                        </m:r>
                        <m:sSub>
                          <m:sSubPr>
                            <m:ctrlPr>
                              <a:rPr lang="ja-JP" altLang="ja-JP" dirty="0">
                                <a:latin typeface="Cambria Math" panose="02040503050406030204" pitchFamily="18" charset="0"/>
                              </a:rPr>
                            </m:ctrlPr>
                          </m:sSubPr>
                          <m:e>
                            <m:r>
                              <a:rPr lang="ja-JP" altLang="ja-JP" dirty="0">
                                <a:latin typeface="Cambria Math" panose="02040503050406030204" pitchFamily="18" charset="0"/>
                              </a:rPr>
                              <m:t>𝜃</m:t>
                            </m:r>
                          </m:e>
                          <m:sub>
                            <m:r>
                              <a:rPr lang="ja-JP" altLang="ja-JP" dirty="0">
                                <a:latin typeface="Cambria Math" panose="02040503050406030204" pitchFamily="18" charset="0"/>
                              </a:rPr>
                              <m:t>𝑗</m:t>
                            </m:r>
                          </m:sub>
                        </m:sSub>
                      </m:den>
                    </m:f>
                  </m:oMath>
                </a14:m>
                <a:endParaRPr lang="en-US" altLang="ja-JP" dirty="0"/>
              </a:p>
              <a:p>
                <a:pPr marL="0" indent="0">
                  <a:buNone/>
                </a:pPr>
                <a:endParaRPr lang="en-US" altLang="ja-JP" b="1" dirty="0"/>
              </a:p>
              <a:p>
                <a:pPr marL="0" indent="0">
                  <a:buNone/>
                </a:pPr>
                <a:endParaRPr lang="en-US" altLang="ja-JP" b="1" dirty="0"/>
              </a:p>
              <a:p>
                <a:pPr marL="0" indent="0">
                  <a:buNone/>
                </a:pPr>
                <a:endParaRPr lang="en-US" altLang="ja-JP" b="1" dirty="0"/>
              </a:p>
              <a:p>
                <a:pPr marL="0" indent="0">
                  <a:buNone/>
                </a:pPr>
                <a:endParaRPr lang="en-US" altLang="ja-JP" b="1" dirty="0"/>
              </a:p>
              <a:p>
                <a:pPr marL="0" indent="0">
                  <a:buNone/>
                </a:pPr>
                <a:endParaRPr lang="en-US" altLang="ja-JP" b="1" dirty="0"/>
              </a:p>
              <a:p>
                <a:pPr marL="0" indent="0">
                  <a:buNone/>
                </a:pPr>
                <a:endParaRPr lang="en-US" altLang="ja-JP" b="1" dirty="0"/>
              </a:p>
              <a:p>
                <a:endParaRPr lang="en-US" altLang="ja-JP" dirty="0"/>
              </a:p>
              <a:p>
                <a:r>
                  <a:rPr lang="ja-JP" altLang="en-US" dirty="0"/>
                  <a:t>主要パラメータペアの定量評価</a:t>
                </a:r>
                <a:r>
                  <a:rPr lang="en-US" altLang="ja-JP" dirty="0"/>
                  <a:t>:</a:t>
                </a:r>
              </a:p>
              <a:p>
                <a:r>
                  <a:rPr lang="ja-JP" altLang="ja-JP" dirty="0"/>
                  <a:t>【補完関係】 (</a:t>
                </a:r>
                <a14:m>
                  <m:oMath xmlns:m="http://schemas.openxmlformats.org/officeDocument/2006/math">
                    <m:sSub>
                      <m:sSubPr>
                        <m:ctrlPr>
                          <a:rPr lang="ja-JP" altLang="ja-JP" dirty="0">
                            <a:latin typeface="Cambria Math" panose="02040503050406030204" pitchFamily="18" charset="0"/>
                          </a:rPr>
                        </m:ctrlPr>
                      </m:sSubPr>
                      <m:e>
                        <m:r>
                          <a:rPr lang="ja-JP" altLang="ja-JP" dirty="0">
                            <a:latin typeface="Cambria Math" panose="02040503050406030204" pitchFamily="18" charset="0"/>
                          </a:rPr>
                          <m:t>𝐶</m:t>
                        </m:r>
                      </m:e>
                      <m:sub>
                        <m:r>
                          <a:rPr lang="ja-JP" altLang="ja-JP" dirty="0">
                            <a:latin typeface="Cambria Math" panose="02040503050406030204" pitchFamily="18" charset="0"/>
                          </a:rPr>
                          <m:t>𝑖𝑗</m:t>
                        </m:r>
                      </m:sub>
                    </m:sSub>
                    <m:r>
                      <a:rPr lang="ja-JP" altLang="ja-JP" dirty="0">
                        <a:latin typeface="Cambria Math" panose="02040503050406030204" pitchFamily="18" charset="0"/>
                      </a:rPr>
                      <m:t>&lt;0</m:t>
                    </m:r>
                  </m:oMath>
                </a14:m>
                <a:r>
                  <a:rPr lang="ja-JP" altLang="ja-JP" dirty="0"/>
                  <a:t>):互いの制約を緩和し、価値を高め合う相乗関係。</a:t>
                </a:r>
              </a:p>
              <a:p>
                <a:pPr lvl="1"/>
                <a:r>
                  <a:rPr lang="ja-JP" altLang="ja-JP" dirty="0"/>
                  <a:t>solar_capex </a:t>
                </a:r>
                <a14:m>
                  <m:oMath xmlns:m="http://schemas.openxmlformats.org/officeDocument/2006/math">
                    <m:r>
                      <a:rPr lang="ja-JP" altLang="ja-JP" dirty="0">
                        <a:latin typeface="Cambria Math" panose="02040503050406030204" pitchFamily="18" charset="0"/>
                      </a:rPr>
                      <m:t>×</m:t>
                    </m:r>
                  </m:oMath>
                </a14:m>
                <a:r>
                  <a:rPr lang="ja-JP" altLang="ja-JP" dirty="0"/>
                  <a:t>battery_capex (</a:t>
                </a:r>
                <a14:m>
                  <m:oMath xmlns:m="http://schemas.openxmlformats.org/officeDocument/2006/math">
                    <m:sSub>
                      <m:sSubPr>
                        <m:ctrlPr>
                          <a:rPr lang="ja-JP" altLang="ja-JP" dirty="0">
                            <a:latin typeface="Cambria Math" panose="02040503050406030204" pitchFamily="18" charset="0"/>
                          </a:rPr>
                        </m:ctrlPr>
                      </m:sSubPr>
                      <m:e>
                        <m:r>
                          <a:rPr lang="ja-JP" altLang="ja-JP" dirty="0">
                            <a:latin typeface="Cambria Math" panose="02040503050406030204" pitchFamily="18" charset="0"/>
                          </a:rPr>
                          <m:t>𝐶</m:t>
                        </m:r>
                      </m:e>
                      <m:sub>
                        <m:r>
                          <a:rPr lang="ja-JP" altLang="ja-JP" dirty="0">
                            <a:latin typeface="Cambria Math" panose="02040503050406030204" pitchFamily="18" charset="0"/>
                          </a:rPr>
                          <m:t>𝑖𝑗</m:t>
                        </m:r>
                      </m:sub>
                    </m:sSub>
                    <m:r>
                      <a:rPr lang="ja-JP" altLang="ja-JP" dirty="0">
                        <a:latin typeface="Cambria Math" panose="02040503050406030204" pitchFamily="18" charset="0"/>
                      </a:rPr>
                      <m:t>=−184.0</m:t>
                    </m:r>
                  </m:oMath>
                </a14:m>
                <a:r>
                  <a:rPr lang="ja-JP" altLang="ja-JP" dirty="0"/>
                  <a:t>): 蓄電池のコスト低下が太陽光の最適導入量を押し上げる強い容量連動効果。</a:t>
                </a:r>
              </a:p>
              <a:p>
                <a:pPr lvl="1"/>
                <a:r>
                  <a:rPr lang="ja-JP" altLang="ja-JP" dirty="0"/>
                  <a:t>wind_capex </a:t>
                </a:r>
                <a14:m>
                  <m:oMath xmlns:m="http://schemas.openxmlformats.org/officeDocument/2006/math">
                    <m:r>
                      <a:rPr lang="ja-JP" altLang="ja-JP" dirty="0">
                        <a:latin typeface="Cambria Math" panose="02040503050406030204" pitchFamily="18" charset="0"/>
                      </a:rPr>
                      <m:t>×</m:t>
                    </m:r>
                  </m:oMath>
                </a14:m>
                <a:r>
                  <a:rPr lang="ja-JP" altLang="ja-JP" dirty="0"/>
                  <a:t>diesel_opex (</a:t>
                </a:r>
                <a14:m>
                  <m:oMath xmlns:m="http://schemas.openxmlformats.org/officeDocument/2006/math">
                    <m:sSub>
                      <m:sSubPr>
                        <m:ctrlPr>
                          <a:rPr lang="ja-JP" altLang="ja-JP" dirty="0">
                            <a:latin typeface="Cambria Math" panose="02040503050406030204" pitchFamily="18" charset="0"/>
                          </a:rPr>
                        </m:ctrlPr>
                      </m:sSubPr>
                      <m:e>
                        <m:r>
                          <a:rPr lang="ja-JP" altLang="ja-JP" dirty="0">
                            <a:latin typeface="Cambria Math" panose="02040503050406030204" pitchFamily="18" charset="0"/>
                          </a:rPr>
                          <m:t>𝐶</m:t>
                        </m:r>
                      </m:e>
                      <m:sub>
                        <m:r>
                          <a:rPr lang="ja-JP" altLang="ja-JP" dirty="0">
                            <a:latin typeface="Cambria Math" panose="02040503050406030204" pitchFamily="18" charset="0"/>
                          </a:rPr>
                          <m:t>𝑖𝑗</m:t>
                        </m:r>
                      </m:sub>
                    </m:sSub>
                    <m:r>
                      <a:rPr lang="ja-JP" altLang="ja-JP" dirty="0">
                        <a:latin typeface="Cambria Math" panose="02040503050406030204" pitchFamily="18" charset="0"/>
                      </a:rPr>
                      <m:t>=−46.9</m:t>
                    </m:r>
                  </m:oMath>
                </a14:m>
                <a:r>
                  <a:rPr lang="ja-JP" altLang="ja-JP" dirty="0"/>
                  <a:t>): 燃料費高騰時の風力発電による置換・補完連動。</a:t>
                </a:r>
              </a:p>
              <a:p>
                <a:r>
                  <a:rPr lang="ja-JP" altLang="ja-JP" dirty="0"/>
                  <a:t>【代替関係】 (</a:t>
                </a:r>
                <a14:m>
                  <m:oMath xmlns:m="http://schemas.openxmlformats.org/officeDocument/2006/math">
                    <m:sSub>
                      <m:sSubPr>
                        <m:ctrlPr>
                          <a:rPr lang="ja-JP" altLang="ja-JP" i="1" dirty="0">
                            <a:latin typeface="Cambria Math" panose="02040503050406030204" pitchFamily="18" charset="0"/>
                          </a:rPr>
                        </m:ctrlPr>
                      </m:sSubPr>
                      <m:e>
                        <m:r>
                          <a:rPr lang="ja-JP" altLang="ja-JP" i="1" dirty="0">
                            <a:latin typeface="Cambria Math" panose="02040503050406030204" pitchFamily="18" charset="0"/>
                          </a:rPr>
                          <m:t>𝐶</m:t>
                        </m:r>
                      </m:e>
                      <m:sub>
                        <m:r>
                          <a:rPr lang="ja-JP" altLang="ja-JP" i="1" dirty="0">
                            <a:latin typeface="Cambria Math" panose="02040503050406030204" pitchFamily="18" charset="0"/>
                          </a:rPr>
                          <m:t>𝑖𝑗</m:t>
                        </m:r>
                      </m:sub>
                    </m:sSub>
                    <m:r>
                      <a:rPr lang="ja-JP" altLang="ja-JP" dirty="0">
                        <a:latin typeface="Cambria Math" panose="02040503050406030204" pitchFamily="18" charset="0"/>
                      </a:rPr>
                      <m:t>&gt;0</m:t>
                    </m:r>
                  </m:oMath>
                </a14:m>
                <a:r>
                  <a:rPr lang="ja-JP" altLang="ja-JP" dirty="0"/>
                  <a:t>): 「物理仕事」を奪い合い、一方の導入が他方の限界価値を低下させる関係。</a:t>
                </a:r>
                <a:endParaRPr lang="en-US" altLang="ja-JP" dirty="0"/>
              </a:p>
              <a:p>
                <a:pPr lvl="1"/>
                <a:r>
                  <a:rPr lang="ja-JP" altLang="ja-JP" dirty="0"/>
                  <a:t>solar_capex </a:t>
                </a:r>
                <a14:m>
                  <m:oMath xmlns:m="http://schemas.openxmlformats.org/officeDocument/2006/math">
                    <m:r>
                      <a:rPr lang="ja-JP" altLang="ja-JP" dirty="0">
                        <a:latin typeface="Cambria Math" panose="02040503050406030204" pitchFamily="18" charset="0"/>
                      </a:rPr>
                      <m:t>×</m:t>
                    </m:r>
                  </m:oMath>
                </a14:m>
                <a:r>
                  <a:rPr lang="ja-JP" altLang="ja-JP" dirty="0"/>
                  <a:t>wind_capex (</a:t>
                </a:r>
                <a14:m>
                  <m:oMath xmlns:m="http://schemas.openxmlformats.org/officeDocument/2006/math">
                    <m:sSub>
                      <m:sSubPr>
                        <m:ctrlPr>
                          <a:rPr lang="ja-JP" altLang="ja-JP" dirty="0">
                            <a:latin typeface="Cambria Math" panose="02040503050406030204" pitchFamily="18" charset="0"/>
                          </a:rPr>
                        </m:ctrlPr>
                      </m:sSubPr>
                      <m:e>
                        <m:r>
                          <a:rPr lang="ja-JP" altLang="ja-JP" dirty="0">
                            <a:latin typeface="Cambria Math" panose="02040503050406030204" pitchFamily="18" charset="0"/>
                          </a:rPr>
                          <m:t>𝐶</m:t>
                        </m:r>
                      </m:e>
                      <m:sub>
                        <m:r>
                          <a:rPr lang="ja-JP" altLang="ja-JP" dirty="0">
                            <a:latin typeface="Cambria Math" panose="02040503050406030204" pitchFamily="18" charset="0"/>
                          </a:rPr>
                          <m:t>𝑖𝑗</m:t>
                        </m:r>
                      </m:sub>
                    </m:sSub>
                    <m:r>
                      <a:rPr lang="ja-JP" altLang="ja-JP" dirty="0">
                        <a:latin typeface="Cambria Math" panose="02040503050406030204" pitchFamily="18" charset="0"/>
                      </a:rPr>
                      <m:t>=+284.9</m:t>
                    </m:r>
                  </m:oMath>
                </a14:m>
                <a:r>
                  <a:rPr lang="ja-JP" altLang="ja-JP" dirty="0"/>
                  <a:t>): 太陽光と風力による強い電源間シェア置換。</a:t>
                </a:r>
              </a:p>
              <a:p>
                <a:pPr lvl="1"/>
                <a:r>
                  <a:rPr lang="ja-JP" altLang="ja-JP" dirty="0"/>
                  <a:t>solar_capex </a:t>
                </a:r>
                <a14:m>
                  <m:oMath xmlns:m="http://schemas.openxmlformats.org/officeDocument/2006/math">
                    <m:r>
                      <a:rPr lang="ja-JP" altLang="ja-JP" dirty="0">
                        <a:latin typeface="Cambria Math" panose="02040503050406030204" pitchFamily="18" charset="0"/>
                      </a:rPr>
                      <m:t>×</m:t>
                    </m:r>
                  </m:oMath>
                </a14:m>
                <a:r>
                  <a:rPr lang="ja-JP" altLang="ja-JP" dirty="0"/>
                  <a:t>diesel_opex (</a:t>
                </a:r>
                <a14:m>
                  <m:oMath xmlns:m="http://schemas.openxmlformats.org/officeDocument/2006/math">
                    <m:sSub>
                      <m:sSubPr>
                        <m:ctrlPr>
                          <a:rPr lang="ja-JP" altLang="ja-JP" dirty="0">
                            <a:latin typeface="Cambria Math" panose="02040503050406030204" pitchFamily="18" charset="0"/>
                          </a:rPr>
                        </m:ctrlPr>
                      </m:sSubPr>
                      <m:e>
                        <m:r>
                          <a:rPr lang="ja-JP" altLang="ja-JP" dirty="0">
                            <a:latin typeface="Cambria Math" panose="02040503050406030204" pitchFamily="18" charset="0"/>
                          </a:rPr>
                          <m:t>𝐶</m:t>
                        </m:r>
                      </m:e>
                      <m:sub>
                        <m:r>
                          <a:rPr lang="ja-JP" altLang="ja-JP" dirty="0">
                            <a:latin typeface="Cambria Math" panose="02040503050406030204" pitchFamily="18" charset="0"/>
                          </a:rPr>
                          <m:t>𝑖𝑗</m:t>
                        </m:r>
                      </m:sub>
                    </m:sSub>
                    <m:r>
                      <a:rPr lang="ja-JP" altLang="ja-JP" dirty="0">
                        <a:latin typeface="Cambria Math" panose="02040503050406030204" pitchFamily="18" charset="0"/>
                      </a:rPr>
                      <m:t>=+244.8</m:t>
                    </m:r>
                  </m:oMath>
                </a14:m>
                <a:r>
                  <a:rPr lang="ja-JP" altLang="ja-JP" dirty="0"/>
                  <a:t>), </a:t>
                </a:r>
                <a:br>
                  <a:rPr lang="en-US" altLang="ja-JP" dirty="0"/>
                </a:br>
                <a:r>
                  <a:rPr lang="ja-JP" altLang="ja-JP" dirty="0"/>
                  <a:t>battery_capex </a:t>
                </a:r>
                <a14:m>
                  <m:oMath xmlns:m="http://schemas.openxmlformats.org/officeDocument/2006/math">
                    <m:r>
                      <a:rPr lang="ja-JP" altLang="ja-JP" dirty="0">
                        <a:latin typeface="Cambria Math" panose="02040503050406030204" pitchFamily="18" charset="0"/>
                      </a:rPr>
                      <m:t>×</m:t>
                    </m:r>
                  </m:oMath>
                </a14:m>
                <a:r>
                  <a:rPr lang="ja-JP" altLang="ja-JP" dirty="0"/>
                  <a:t>diesel_opex (</a:t>
                </a:r>
                <a14:m>
                  <m:oMath xmlns:m="http://schemas.openxmlformats.org/officeDocument/2006/math">
                    <m:sSub>
                      <m:sSubPr>
                        <m:ctrlPr>
                          <a:rPr lang="ja-JP" altLang="ja-JP" dirty="0">
                            <a:latin typeface="Cambria Math" panose="02040503050406030204" pitchFamily="18" charset="0"/>
                          </a:rPr>
                        </m:ctrlPr>
                      </m:sSubPr>
                      <m:e>
                        <m:r>
                          <a:rPr lang="ja-JP" altLang="ja-JP" dirty="0">
                            <a:latin typeface="Cambria Math" panose="02040503050406030204" pitchFamily="18" charset="0"/>
                          </a:rPr>
                          <m:t>𝐶</m:t>
                        </m:r>
                      </m:e>
                      <m:sub>
                        <m:r>
                          <a:rPr lang="ja-JP" altLang="ja-JP" dirty="0">
                            <a:latin typeface="Cambria Math" panose="02040503050406030204" pitchFamily="18" charset="0"/>
                          </a:rPr>
                          <m:t>𝑖𝑗</m:t>
                        </m:r>
                      </m:sub>
                    </m:sSub>
                    <m:r>
                      <a:rPr lang="ja-JP" altLang="ja-JP" dirty="0">
                        <a:latin typeface="Cambria Math" panose="02040503050406030204" pitchFamily="18" charset="0"/>
                      </a:rPr>
                      <m:t>=+229.0</m:t>
                    </m:r>
                  </m:oMath>
                </a14:m>
                <a:r>
                  <a:rPr lang="ja-JP" altLang="ja-JP" dirty="0"/>
                  <a:t>): 再エネ・蓄電池による化石燃料の置換。</a:t>
                </a:r>
              </a:p>
            </p:txBody>
          </p:sp>
        </mc:Choice>
        <mc:Fallback>
          <p:sp>
            <p:nvSpPr>
              <p:cNvPr id="3" name="テキスト プレースホルダー 2">
                <a:extLst>
                  <a:ext uri="{FF2B5EF4-FFF2-40B4-BE49-F238E27FC236}">
                    <a16:creationId xmlns:a16="http://schemas.microsoft.com/office/drawing/2014/main" id="{110CEEF9-D18E-4597-F603-ADDAD29EA2BA}"/>
                  </a:ext>
                </a:extLst>
              </p:cNvPr>
              <p:cNvSpPr>
                <a:spLocks noGrp="1" noRot="1" noChangeAspect="1" noMove="1" noResize="1" noEditPoints="1" noAdjustHandles="1" noChangeArrowheads="1" noChangeShapeType="1" noTextEdit="1"/>
              </p:cNvSpPr>
              <p:nvPr>
                <p:ph type="body" sz="quarter" idx="12"/>
              </p:nvPr>
            </p:nvSpPr>
            <p:spPr>
              <a:xfrm>
                <a:off x="374650" y="949972"/>
                <a:ext cx="10004425" cy="6365227"/>
              </a:xfrm>
              <a:blipFill>
                <a:blip r:embed="rId2"/>
                <a:stretch>
                  <a:fillRect l="-244" t="-766" b="-479"/>
                </a:stretch>
              </a:blipFill>
            </p:spPr>
            <p:txBody>
              <a:bodyPr/>
              <a:lstStyle/>
              <a:p>
                <a:r>
                  <a:rPr lang="ja-JP" altLang="en-US">
                    <a:noFill/>
                  </a:rPr>
                  <a:t> </a:t>
                </a:r>
              </a:p>
            </p:txBody>
          </p:sp>
        </mc:Fallback>
      </mc:AlternateContent>
      <p:pic>
        <p:nvPicPr>
          <p:cNvPr id="8" name="図 7">
            <a:extLst>
              <a:ext uri="{FF2B5EF4-FFF2-40B4-BE49-F238E27FC236}">
                <a16:creationId xmlns:a16="http://schemas.microsoft.com/office/drawing/2014/main" id="{07535382-A1A3-9093-2171-FBC018A9B258}"/>
              </a:ext>
            </a:extLst>
          </p:cNvPr>
          <p:cNvPicPr>
            <a:picLocks noChangeAspect="1"/>
          </p:cNvPicPr>
          <p:nvPr/>
        </p:nvPicPr>
        <p:blipFill>
          <a:blip r:embed="rId3"/>
          <a:stretch>
            <a:fillRect/>
          </a:stretch>
        </p:blipFill>
        <p:spPr>
          <a:xfrm>
            <a:off x="6086144" y="856898"/>
            <a:ext cx="4232606" cy="1681641"/>
          </a:xfrm>
          <a:prstGeom prst="rect">
            <a:avLst/>
          </a:prstGeom>
        </p:spPr>
      </p:pic>
      <p:graphicFrame>
        <p:nvGraphicFramePr>
          <p:cNvPr id="11" name="表 10">
            <a:extLst>
              <a:ext uri="{FF2B5EF4-FFF2-40B4-BE49-F238E27FC236}">
                <a16:creationId xmlns:a16="http://schemas.microsoft.com/office/drawing/2014/main" id="{FA0DE70E-3AE6-2827-CD4E-CBC058DF9891}"/>
              </a:ext>
            </a:extLst>
          </p:cNvPr>
          <p:cNvGraphicFramePr>
            <a:graphicFrameLocks noGrp="1"/>
          </p:cNvGraphicFramePr>
          <p:nvPr>
            <p:extLst>
              <p:ext uri="{D42A27DB-BD31-4B8C-83A1-F6EECF244321}">
                <p14:modId xmlns:p14="http://schemas.microsoft.com/office/powerpoint/2010/main" val="2517142477"/>
              </p:ext>
            </p:extLst>
          </p:nvPr>
        </p:nvGraphicFramePr>
        <p:xfrm>
          <a:off x="462905" y="2721042"/>
          <a:ext cx="9855845" cy="1262590"/>
        </p:xfrm>
        <a:graphic>
          <a:graphicData uri="http://schemas.openxmlformats.org/drawingml/2006/table">
            <a:tbl>
              <a:tblPr/>
              <a:tblGrid>
                <a:gridCol w="2332485">
                  <a:extLst>
                    <a:ext uri="{9D8B030D-6E8A-4147-A177-3AD203B41FA5}">
                      <a16:colId xmlns:a16="http://schemas.microsoft.com/office/drawing/2014/main" val="358415725"/>
                    </a:ext>
                  </a:extLst>
                </a:gridCol>
                <a:gridCol w="1880840">
                  <a:extLst>
                    <a:ext uri="{9D8B030D-6E8A-4147-A177-3AD203B41FA5}">
                      <a16:colId xmlns:a16="http://schemas.microsoft.com/office/drawing/2014/main" val="843320135"/>
                    </a:ext>
                  </a:extLst>
                </a:gridCol>
                <a:gridCol w="1880840">
                  <a:extLst>
                    <a:ext uri="{9D8B030D-6E8A-4147-A177-3AD203B41FA5}">
                      <a16:colId xmlns:a16="http://schemas.microsoft.com/office/drawing/2014/main" val="2383171364"/>
                    </a:ext>
                  </a:extLst>
                </a:gridCol>
                <a:gridCol w="1880840">
                  <a:extLst>
                    <a:ext uri="{9D8B030D-6E8A-4147-A177-3AD203B41FA5}">
                      <a16:colId xmlns:a16="http://schemas.microsoft.com/office/drawing/2014/main" val="3270856195"/>
                    </a:ext>
                  </a:extLst>
                </a:gridCol>
                <a:gridCol w="1880840">
                  <a:extLst>
                    <a:ext uri="{9D8B030D-6E8A-4147-A177-3AD203B41FA5}">
                      <a16:colId xmlns:a16="http://schemas.microsoft.com/office/drawing/2014/main" val="1215251837"/>
                    </a:ext>
                  </a:extLst>
                </a:gridCol>
              </a:tblGrid>
              <a:tr h="156202">
                <a:tc>
                  <a:txBody>
                    <a:bodyPr/>
                    <a:lstStyle/>
                    <a:p>
                      <a:pPr algn="ctr" fontAlgn="ctr">
                        <a:buNone/>
                      </a:pPr>
                      <a:r>
                        <a:rPr lang="ja-JP" sz="1600" b="1" i="0" u="none" strike="noStrike" dirty="0">
                          <a:solidFill>
                            <a:srgbClr val="FFFFFF"/>
                          </a:solidFill>
                          <a:effectLst/>
                          <a:latin typeface="+mn-ea"/>
                          <a:ea typeface="+mn-ea"/>
                        </a:rPr>
                        <a:t>パラメータ</a:t>
                      </a:r>
                    </a:p>
                  </a:txBody>
                  <a:tcPr marL="8678" marR="8678" marT="867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2F5496"/>
                    </a:solidFill>
                  </a:tcPr>
                </a:tc>
                <a:tc>
                  <a:txBody>
                    <a:bodyPr/>
                    <a:lstStyle/>
                    <a:p>
                      <a:pPr algn="ctr" fontAlgn="ctr">
                        <a:buNone/>
                      </a:pPr>
                      <a:r>
                        <a:rPr lang="ja-JP" sz="1600" b="1" i="0" u="none" strike="noStrike" dirty="0">
                          <a:solidFill>
                            <a:srgbClr val="FFFFFF"/>
                          </a:solidFill>
                          <a:effectLst/>
                          <a:latin typeface="+mn-ea"/>
                          <a:ea typeface="+mn-ea"/>
                        </a:rPr>
                        <a:t>solar_capex</a:t>
                      </a:r>
                    </a:p>
                  </a:txBody>
                  <a:tcPr marL="8678" marR="8678" marT="867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2F5496"/>
                    </a:solidFill>
                  </a:tcPr>
                </a:tc>
                <a:tc>
                  <a:txBody>
                    <a:bodyPr/>
                    <a:lstStyle/>
                    <a:p>
                      <a:pPr algn="ctr" fontAlgn="ctr">
                        <a:buNone/>
                      </a:pPr>
                      <a:r>
                        <a:rPr lang="ja-JP" sz="1600" b="1" i="0" u="none" strike="noStrike" dirty="0">
                          <a:solidFill>
                            <a:srgbClr val="FFFFFF"/>
                          </a:solidFill>
                          <a:effectLst/>
                          <a:latin typeface="+mn-ea"/>
                          <a:ea typeface="+mn-ea"/>
                        </a:rPr>
                        <a:t>wind_capex</a:t>
                      </a:r>
                    </a:p>
                  </a:txBody>
                  <a:tcPr marL="8678" marR="8678" marT="867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2F5496"/>
                    </a:solidFill>
                  </a:tcPr>
                </a:tc>
                <a:tc>
                  <a:txBody>
                    <a:bodyPr/>
                    <a:lstStyle/>
                    <a:p>
                      <a:pPr algn="ctr" fontAlgn="ctr">
                        <a:buNone/>
                      </a:pPr>
                      <a:r>
                        <a:rPr lang="ja-JP" sz="1600" b="1" i="0" u="none" strike="noStrike">
                          <a:solidFill>
                            <a:srgbClr val="FFFFFF"/>
                          </a:solidFill>
                          <a:effectLst/>
                          <a:latin typeface="+mn-ea"/>
                          <a:ea typeface="+mn-ea"/>
                        </a:rPr>
                        <a:t>battery_capex</a:t>
                      </a:r>
                    </a:p>
                  </a:txBody>
                  <a:tcPr marL="8678" marR="8678" marT="867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2F5496"/>
                    </a:solidFill>
                  </a:tcPr>
                </a:tc>
                <a:tc>
                  <a:txBody>
                    <a:bodyPr/>
                    <a:lstStyle/>
                    <a:p>
                      <a:pPr algn="ctr" fontAlgn="ctr">
                        <a:buNone/>
                      </a:pPr>
                      <a:r>
                        <a:rPr lang="ja-JP" sz="1600" b="1" i="0" u="none" strike="noStrike" dirty="0">
                          <a:solidFill>
                            <a:srgbClr val="FFFFFF"/>
                          </a:solidFill>
                          <a:effectLst/>
                          <a:latin typeface="+mn-ea"/>
                          <a:ea typeface="+mn-ea"/>
                        </a:rPr>
                        <a:t>diesel_opex</a:t>
                      </a:r>
                    </a:p>
                  </a:txBody>
                  <a:tcPr marL="8678" marR="8678" marT="867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2F5496"/>
                    </a:solidFill>
                  </a:tcPr>
                </a:tc>
                <a:extLst>
                  <a:ext uri="{0D108BD9-81ED-4DB2-BD59-A6C34878D82A}">
                    <a16:rowId xmlns:a16="http://schemas.microsoft.com/office/drawing/2014/main" val="313598250"/>
                  </a:ext>
                </a:extLst>
              </a:tr>
              <a:tr h="156202">
                <a:tc>
                  <a:txBody>
                    <a:bodyPr/>
                    <a:lstStyle/>
                    <a:p>
                      <a:pPr algn="l" fontAlgn="ctr">
                        <a:buNone/>
                      </a:pPr>
                      <a:r>
                        <a:rPr lang="ja-JP" sz="1600" b="1" i="0" u="none" strike="noStrike">
                          <a:solidFill>
                            <a:srgbClr val="000000"/>
                          </a:solidFill>
                          <a:effectLst/>
                          <a:latin typeface="+mn-ea"/>
                          <a:ea typeface="+mn-ea"/>
                        </a:rPr>
                        <a:t>solar_capex</a:t>
                      </a:r>
                    </a:p>
                  </a:txBody>
                  <a:tcPr marL="8678" marR="8678" marT="867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ctr">
                        <a:buNone/>
                      </a:pPr>
                      <a:endParaRPr lang="ja-JP" sz="1600" b="0" i="0" u="none" strike="noStrike" dirty="0">
                        <a:solidFill>
                          <a:srgbClr val="000000"/>
                        </a:solidFill>
                        <a:effectLst/>
                        <a:latin typeface="+mn-ea"/>
                        <a:ea typeface="+mn-ea"/>
                      </a:endParaRPr>
                    </a:p>
                  </a:txBody>
                  <a:tcPr marL="8678" marR="8678" marT="867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ctr">
                        <a:buNone/>
                      </a:pPr>
                      <a:r>
                        <a:rPr lang="ja-JP" sz="1600" b="0" i="0" u="none" strike="noStrike" dirty="0">
                          <a:solidFill>
                            <a:srgbClr val="000000"/>
                          </a:solidFill>
                          <a:effectLst/>
                          <a:latin typeface="+mn-ea"/>
                          <a:ea typeface="+mn-ea"/>
                        </a:rPr>
                        <a:t>284.9</a:t>
                      </a:r>
                    </a:p>
                  </a:txBody>
                  <a:tcPr marL="8678" marR="8678" marT="867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CE4D6"/>
                    </a:solidFill>
                  </a:tcPr>
                </a:tc>
                <a:tc>
                  <a:txBody>
                    <a:bodyPr/>
                    <a:lstStyle/>
                    <a:p>
                      <a:pPr algn="r" fontAlgn="ctr">
                        <a:buNone/>
                      </a:pPr>
                      <a:r>
                        <a:rPr lang="ja-JP" sz="1600" b="0" i="0" u="none" strike="noStrike">
                          <a:solidFill>
                            <a:srgbClr val="000000"/>
                          </a:solidFill>
                          <a:effectLst/>
                          <a:latin typeface="+mn-ea"/>
                          <a:ea typeface="+mn-ea"/>
                        </a:rPr>
                        <a:t>-184.0</a:t>
                      </a:r>
                    </a:p>
                  </a:txBody>
                  <a:tcPr marL="8678" marR="8678" marT="867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2EFDA"/>
                    </a:solidFill>
                  </a:tcPr>
                </a:tc>
                <a:tc>
                  <a:txBody>
                    <a:bodyPr/>
                    <a:lstStyle/>
                    <a:p>
                      <a:pPr algn="r" fontAlgn="ctr">
                        <a:buNone/>
                      </a:pPr>
                      <a:r>
                        <a:rPr lang="ja-JP" sz="1600" b="0" i="0" u="none" strike="noStrike">
                          <a:solidFill>
                            <a:srgbClr val="000000"/>
                          </a:solidFill>
                          <a:effectLst/>
                          <a:latin typeface="+mn-ea"/>
                          <a:ea typeface="+mn-ea"/>
                        </a:rPr>
                        <a:t>244.8</a:t>
                      </a:r>
                    </a:p>
                  </a:txBody>
                  <a:tcPr marL="8678" marR="8678" marT="867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CE4D6"/>
                    </a:solidFill>
                  </a:tcPr>
                </a:tc>
                <a:extLst>
                  <a:ext uri="{0D108BD9-81ED-4DB2-BD59-A6C34878D82A}">
                    <a16:rowId xmlns:a16="http://schemas.microsoft.com/office/drawing/2014/main" val="1038155395"/>
                  </a:ext>
                </a:extLst>
              </a:tr>
              <a:tr h="156202">
                <a:tc>
                  <a:txBody>
                    <a:bodyPr/>
                    <a:lstStyle/>
                    <a:p>
                      <a:pPr algn="l" fontAlgn="ctr">
                        <a:buNone/>
                      </a:pPr>
                      <a:r>
                        <a:rPr lang="ja-JP" sz="1600" b="1" i="0" u="none" strike="noStrike">
                          <a:solidFill>
                            <a:srgbClr val="000000"/>
                          </a:solidFill>
                          <a:effectLst/>
                          <a:latin typeface="+mn-ea"/>
                          <a:ea typeface="+mn-ea"/>
                        </a:rPr>
                        <a:t>wind_capex</a:t>
                      </a:r>
                    </a:p>
                  </a:txBody>
                  <a:tcPr marL="8678" marR="8678" marT="867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c>
                  <a:txBody>
                    <a:bodyPr/>
                    <a:lstStyle/>
                    <a:p>
                      <a:pPr algn="r" fontAlgn="ctr">
                        <a:buNone/>
                      </a:pPr>
                      <a:r>
                        <a:rPr lang="ja-JP" sz="1600" b="0" i="0" u="none" strike="noStrike" dirty="0">
                          <a:solidFill>
                            <a:srgbClr val="000000"/>
                          </a:solidFill>
                          <a:effectLst/>
                          <a:latin typeface="+mn-ea"/>
                          <a:ea typeface="+mn-ea"/>
                        </a:rPr>
                        <a:t>284.9</a:t>
                      </a:r>
                    </a:p>
                  </a:txBody>
                  <a:tcPr marL="8678" marR="8678" marT="867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CE4D6"/>
                    </a:solidFill>
                  </a:tcPr>
                </a:tc>
                <a:tc>
                  <a:txBody>
                    <a:bodyPr/>
                    <a:lstStyle/>
                    <a:p>
                      <a:pPr algn="r" fontAlgn="ctr">
                        <a:buNone/>
                      </a:pPr>
                      <a:endParaRPr lang="ja-JP" sz="1600" b="0" i="0" u="none" strike="noStrike" dirty="0">
                        <a:solidFill>
                          <a:srgbClr val="000000"/>
                        </a:solidFill>
                        <a:effectLst/>
                        <a:latin typeface="+mn-ea"/>
                        <a:ea typeface="+mn-ea"/>
                      </a:endParaRPr>
                    </a:p>
                  </a:txBody>
                  <a:tcPr marL="8678" marR="8678" marT="867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ctr">
                        <a:buNone/>
                      </a:pPr>
                      <a:r>
                        <a:rPr lang="ja-JP" sz="1600" b="0" i="0" u="none" strike="noStrike" dirty="0">
                          <a:solidFill>
                            <a:srgbClr val="000000"/>
                          </a:solidFill>
                          <a:effectLst/>
                          <a:latin typeface="+mn-ea"/>
                          <a:ea typeface="+mn-ea"/>
                        </a:rPr>
                        <a:t>175.8</a:t>
                      </a:r>
                    </a:p>
                  </a:txBody>
                  <a:tcPr marL="8678" marR="8678" marT="867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CE4D6"/>
                    </a:solidFill>
                  </a:tcPr>
                </a:tc>
                <a:tc>
                  <a:txBody>
                    <a:bodyPr/>
                    <a:lstStyle/>
                    <a:p>
                      <a:pPr algn="r" fontAlgn="ctr">
                        <a:buNone/>
                      </a:pPr>
                      <a:r>
                        <a:rPr lang="ja-JP" sz="1600" b="0" i="0" u="none" strike="noStrike" dirty="0">
                          <a:solidFill>
                            <a:srgbClr val="000000"/>
                          </a:solidFill>
                          <a:effectLst/>
                          <a:latin typeface="+mn-ea"/>
                          <a:ea typeface="+mn-ea"/>
                        </a:rPr>
                        <a:t>-46.9</a:t>
                      </a:r>
                    </a:p>
                  </a:txBody>
                  <a:tcPr marL="8678" marR="8678" marT="867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2EFDA"/>
                    </a:solidFill>
                  </a:tcPr>
                </a:tc>
                <a:extLst>
                  <a:ext uri="{0D108BD9-81ED-4DB2-BD59-A6C34878D82A}">
                    <a16:rowId xmlns:a16="http://schemas.microsoft.com/office/drawing/2014/main" val="1636621016"/>
                  </a:ext>
                </a:extLst>
              </a:tr>
              <a:tr h="156202">
                <a:tc>
                  <a:txBody>
                    <a:bodyPr/>
                    <a:lstStyle/>
                    <a:p>
                      <a:pPr algn="l" fontAlgn="ctr">
                        <a:buNone/>
                      </a:pPr>
                      <a:r>
                        <a:rPr lang="ja-JP" sz="1600" b="1" i="0" u="none" strike="noStrike">
                          <a:solidFill>
                            <a:srgbClr val="000000"/>
                          </a:solidFill>
                          <a:effectLst/>
                          <a:latin typeface="+mn-ea"/>
                          <a:ea typeface="+mn-ea"/>
                        </a:rPr>
                        <a:t>battery_capex</a:t>
                      </a:r>
                    </a:p>
                  </a:txBody>
                  <a:tcPr marL="8678" marR="8678" marT="867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ctr">
                        <a:buNone/>
                      </a:pPr>
                      <a:r>
                        <a:rPr lang="ja-JP" sz="1600" b="0" i="0" u="none" strike="noStrike">
                          <a:solidFill>
                            <a:srgbClr val="000000"/>
                          </a:solidFill>
                          <a:effectLst/>
                          <a:latin typeface="+mn-ea"/>
                          <a:ea typeface="+mn-ea"/>
                        </a:rPr>
                        <a:t>-184.0</a:t>
                      </a:r>
                    </a:p>
                  </a:txBody>
                  <a:tcPr marL="8678" marR="8678" marT="867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2EFDA"/>
                    </a:solidFill>
                  </a:tcPr>
                </a:tc>
                <a:tc>
                  <a:txBody>
                    <a:bodyPr/>
                    <a:lstStyle/>
                    <a:p>
                      <a:pPr algn="r" fontAlgn="ctr">
                        <a:buNone/>
                      </a:pPr>
                      <a:r>
                        <a:rPr lang="ja-JP" sz="1600" b="0" i="0" u="none" strike="noStrike" dirty="0">
                          <a:solidFill>
                            <a:srgbClr val="000000"/>
                          </a:solidFill>
                          <a:effectLst/>
                          <a:latin typeface="+mn-ea"/>
                          <a:ea typeface="+mn-ea"/>
                        </a:rPr>
                        <a:t>175.8</a:t>
                      </a:r>
                    </a:p>
                  </a:txBody>
                  <a:tcPr marL="8678" marR="8678" marT="867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CE4D6"/>
                    </a:solidFill>
                  </a:tcPr>
                </a:tc>
                <a:tc>
                  <a:txBody>
                    <a:bodyPr/>
                    <a:lstStyle/>
                    <a:p>
                      <a:pPr algn="r" fontAlgn="ctr">
                        <a:buNone/>
                      </a:pPr>
                      <a:endParaRPr lang="ja-JP" sz="1600" b="0" i="0" u="none" strike="noStrike" dirty="0">
                        <a:solidFill>
                          <a:srgbClr val="000000"/>
                        </a:solidFill>
                        <a:effectLst/>
                        <a:latin typeface="+mn-ea"/>
                        <a:ea typeface="+mn-ea"/>
                      </a:endParaRPr>
                    </a:p>
                  </a:txBody>
                  <a:tcPr marL="8678" marR="8678" marT="867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ctr">
                        <a:buNone/>
                      </a:pPr>
                      <a:r>
                        <a:rPr lang="ja-JP" sz="1600" b="0" i="0" u="none" strike="noStrike">
                          <a:solidFill>
                            <a:srgbClr val="000000"/>
                          </a:solidFill>
                          <a:effectLst/>
                          <a:latin typeface="+mn-ea"/>
                          <a:ea typeface="+mn-ea"/>
                        </a:rPr>
                        <a:t>229.0</a:t>
                      </a:r>
                    </a:p>
                  </a:txBody>
                  <a:tcPr marL="8678" marR="8678" marT="867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CE4D6"/>
                    </a:solidFill>
                  </a:tcPr>
                </a:tc>
                <a:extLst>
                  <a:ext uri="{0D108BD9-81ED-4DB2-BD59-A6C34878D82A}">
                    <a16:rowId xmlns:a16="http://schemas.microsoft.com/office/drawing/2014/main" val="964170582"/>
                  </a:ext>
                </a:extLst>
              </a:tr>
              <a:tr h="156202">
                <a:tc>
                  <a:txBody>
                    <a:bodyPr/>
                    <a:lstStyle/>
                    <a:p>
                      <a:pPr algn="l" fontAlgn="ctr">
                        <a:buNone/>
                      </a:pPr>
                      <a:r>
                        <a:rPr lang="ja-JP" sz="1600" b="1" i="0" u="none" strike="noStrike">
                          <a:solidFill>
                            <a:srgbClr val="000000"/>
                          </a:solidFill>
                          <a:effectLst/>
                          <a:latin typeface="+mn-ea"/>
                          <a:ea typeface="+mn-ea"/>
                        </a:rPr>
                        <a:t>diesel_opex</a:t>
                      </a:r>
                    </a:p>
                  </a:txBody>
                  <a:tcPr marL="8678" marR="8678" marT="867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c>
                  <a:txBody>
                    <a:bodyPr/>
                    <a:lstStyle/>
                    <a:p>
                      <a:pPr algn="r" fontAlgn="ctr">
                        <a:buNone/>
                      </a:pPr>
                      <a:r>
                        <a:rPr lang="ja-JP" sz="1600" b="0" i="0" u="none" strike="noStrike">
                          <a:solidFill>
                            <a:srgbClr val="000000"/>
                          </a:solidFill>
                          <a:effectLst/>
                          <a:latin typeface="+mn-ea"/>
                          <a:ea typeface="+mn-ea"/>
                        </a:rPr>
                        <a:t>244.8</a:t>
                      </a:r>
                    </a:p>
                  </a:txBody>
                  <a:tcPr marL="8678" marR="8678" marT="867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CE4D6"/>
                    </a:solidFill>
                  </a:tcPr>
                </a:tc>
                <a:tc>
                  <a:txBody>
                    <a:bodyPr/>
                    <a:lstStyle/>
                    <a:p>
                      <a:pPr algn="r" fontAlgn="ctr">
                        <a:buNone/>
                      </a:pPr>
                      <a:r>
                        <a:rPr lang="ja-JP" sz="1600" b="0" i="0" u="none" strike="noStrike" dirty="0">
                          <a:solidFill>
                            <a:srgbClr val="000000"/>
                          </a:solidFill>
                          <a:effectLst/>
                          <a:latin typeface="+mn-ea"/>
                          <a:ea typeface="+mn-ea"/>
                        </a:rPr>
                        <a:t>-46.9</a:t>
                      </a:r>
                    </a:p>
                  </a:txBody>
                  <a:tcPr marL="8678" marR="8678" marT="867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2EFDA"/>
                    </a:solidFill>
                  </a:tcPr>
                </a:tc>
                <a:tc>
                  <a:txBody>
                    <a:bodyPr/>
                    <a:lstStyle/>
                    <a:p>
                      <a:pPr algn="r" fontAlgn="ctr">
                        <a:buNone/>
                      </a:pPr>
                      <a:r>
                        <a:rPr lang="ja-JP" sz="1600" b="0" i="0" u="none" strike="noStrike" dirty="0">
                          <a:solidFill>
                            <a:srgbClr val="000000"/>
                          </a:solidFill>
                          <a:effectLst/>
                          <a:latin typeface="+mn-ea"/>
                          <a:ea typeface="+mn-ea"/>
                        </a:rPr>
                        <a:t>229.0</a:t>
                      </a:r>
                    </a:p>
                  </a:txBody>
                  <a:tcPr marL="8678" marR="8678" marT="867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CE4D6"/>
                    </a:solidFill>
                  </a:tcPr>
                </a:tc>
                <a:tc>
                  <a:txBody>
                    <a:bodyPr/>
                    <a:lstStyle/>
                    <a:p>
                      <a:pPr algn="r" fontAlgn="ctr">
                        <a:buNone/>
                      </a:pPr>
                      <a:endParaRPr lang="ja-JP" sz="1600" b="0" i="0" u="none" strike="noStrike" dirty="0">
                        <a:solidFill>
                          <a:srgbClr val="000000"/>
                        </a:solidFill>
                        <a:effectLst/>
                        <a:latin typeface="+mn-ea"/>
                        <a:ea typeface="+mn-ea"/>
                      </a:endParaRPr>
                    </a:p>
                  </a:txBody>
                  <a:tcPr marL="8678" marR="8678" marT="8678"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973656760"/>
                  </a:ext>
                </a:extLst>
              </a:tr>
            </a:tbl>
          </a:graphicData>
        </a:graphic>
      </p:graphicFrame>
      <p:sp>
        <p:nvSpPr>
          <p:cNvPr id="16" name="テキスト ボックス 15">
            <a:extLst>
              <a:ext uri="{FF2B5EF4-FFF2-40B4-BE49-F238E27FC236}">
                <a16:creationId xmlns:a16="http://schemas.microsoft.com/office/drawing/2014/main" id="{D4702084-BF27-64AE-4D15-26A9F6980924}"/>
              </a:ext>
            </a:extLst>
          </p:cNvPr>
          <p:cNvSpPr txBox="1"/>
          <p:nvPr/>
        </p:nvSpPr>
        <p:spPr>
          <a:xfrm>
            <a:off x="374650" y="2141333"/>
            <a:ext cx="3259097" cy="338554"/>
          </a:xfrm>
          <a:prstGeom prst="rect">
            <a:avLst/>
          </a:prstGeom>
          <a:solidFill>
            <a:schemeClr val="accent1">
              <a:lumMod val="50000"/>
            </a:schemeClr>
          </a:solidFill>
        </p:spPr>
        <p:txBody>
          <a:bodyPr wrap="square">
            <a:spAutoFit/>
          </a:bodyPr>
          <a:lstStyle/>
          <a:p>
            <a:pPr algn="l" fontAlgn="b">
              <a:buNone/>
            </a:pPr>
            <a:r>
              <a:rPr lang="ja-JP" altLang="ja-JP" sz="1600" b="1" u="none" strike="noStrike" dirty="0">
                <a:solidFill>
                  <a:schemeClr val="bg1"/>
                </a:solidFill>
                <a:effectLst/>
                <a:latin typeface="+mn-ea"/>
                <a:ea typeface="+mn-ea"/>
              </a:rPr>
              <a:t>PCE交差項係数 (Cij) マトリクス</a:t>
            </a:r>
            <a:endParaRPr lang="ja-JP" altLang="ja-JP" sz="1600" b="1" i="0" u="none" strike="noStrike" dirty="0">
              <a:solidFill>
                <a:schemeClr val="bg1"/>
              </a:solidFill>
              <a:effectLst/>
              <a:latin typeface="+mn-ea"/>
              <a:ea typeface="+mn-ea"/>
            </a:endParaRPr>
          </a:p>
        </p:txBody>
      </p:sp>
    </p:spTree>
    <p:extLst>
      <p:ext uri="{BB962C8B-B14F-4D97-AF65-F5344CB8AC3E}">
        <p14:creationId xmlns:p14="http://schemas.microsoft.com/office/powerpoint/2010/main" val="12754654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7361E3A-62A2-048A-D6D6-12292EA059DE}"/>
              </a:ext>
            </a:extLst>
          </p:cNvPr>
          <p:cNvSpPr>
            <a:spLocks noGrp="1"/>
          </p:cNvSpPr>
          <p:nvPr>
            <p:ph type="title"/>
          </p:nvPr>
        </p:nvSpPr>
        <p:spPr/>
        <p:txBody>
          <a:bodyPr/>
          <a:lstStyle/>
          <a:p>
            <a:r>
              <a:rPr kumimoji="1" lang="en-US" altLang="ja-JP" dirty="0"/>
              <a:t>PCE</a:t>
            </a:r>
            <a:r>
              <a:rPr kumimoji="1" lang="ja-JP" altLang="en-US" dirty="0"/>
              <a:t>サロゲートモデルによる複数パラメータの感度分析</a:t>
            </a:r>
          </a:p>
        </p:txBody>
      </p:sp>
      <p:pic>
        <p:nvPicPr>
          <p:cNvPr id="5" name="図 4">
            <a:extLst>
              <a:ext uri="{FF2B5EF4-FFF2-40B4-BE49-F238E27FC236}">
                <a16:creationId xmlns:a16="http://schemas.microsoft.com/office/drawing/2014/main" id="{D0B2D793-4E5F-479D-BF34-CC7D98279A60}"/>
              </a:ext>
            </a:extLst>
          </p:cNvPr>
          <p:cNvPicPr>
            <a:picLocks noChangeAspect="1"/>
          </p:cNvPicPr>
          <p:nvPr/>
        </p:nvPicPr>
        <p:blipFill>
          <a:blip r:embed="rId2"/>
          <a:srcRect b="3371"/>
          <a:stretch>
            <a:fillRect/>
          </a:stretch>
        </p:blipFill>
        <p:spPr>
          <a:xfrm>
            <a:off x="2212871" y="1015671"/>
            <a:ext cx="6267657" cy="5194981"/>
          </a:xfrm>
          <a:prstGeom prst="rect">
            <a:avLst/>
          </a:prstGeom>
        </p:spPr>
      </p:pic>
      <p:sp>
        <p:nvSpPr>
          <p:cNvPr id="6" name="テキスト ボックス 5">
            <a:extLst>
              <a:ext uri="{FF2B5EF4-FFF2-40B4-BE49-F238E27FC236}">
                <a16:creationId xmlns:a16="http://schemas.microsoft.com/office/drawing/2014/main" id="{34A637ED-D5FE-CAFF-8FF2-B81B6612D6F6}"/>
              </a:ext>
            </a:extLst>
          </p:cNvPr>
          <p:cNvSpPr txBox="1"/>
          <p:nvPr/>
        </p:nvSpPr>
        <p:spPr>
          <a:xfrm>
            <a:off x="374650" y="6369904"/>
            <a:ext cx="10229850" cy="584775"/>
          </a:xfrm>
          <a:prstGeom prst="rect">
            <a:avLst/>
          </a:prstGeom>
          <a:solidFill>
            <a:schemeClr val="accent5">
              <a:lumMod val="75000"/>
            </a:schemeClr>
          </a:solidFill>
        </p:spPr>
        <p:txBody>
          <a:bodyPr wrap="square">
            <a:spAutoFit/>
          </a:bodyPr>
          <a:lstStyle>
            <a:defPPr marR="0" lvl="0" algn="l" rtl="0">
              <a:lnSpc>
                <a:spcPct val="100000"/>
              </a:lnSpc>
              <a:spcBef>
                <a:spcPts val="0"/>
              </a:spcBef>
              <a:spcAft>
                <a:spcPts val="0"/>
              </a:spcAft>
              <a:defRPr/>
            </a:defPPr>
            <a:lvl1pPr>
              <a:defRPr b="1">
                <a:solidFill>
                  <a:schemeClr val="bg1"/>
                </a:solidFill>
                <a:latin typeface="+mn-ea"/>
                <a:ea typeface="+mn-ea"/>
              </a:defRPr>
            </a:lvl1pPr>
          </a:lstStyle>
          <a:p>
            <a:r>
              <a:rPr lang="ja-JP" altLang="ja-JP" sz="1600" dirty="0"/>
              <a:t>「PCEサロゲートモデルにより10,240回の評価が可能となり、複数パラメータの同時感度分析が実施できた。（上図はBattery・Solarのコストとディーゼル比率の関係）」</a:t>
            </a:r>
            <a:endParaRPr lang="ja-JP" altLang="ja-JP" sz="1600" dirty="0">
              <a:solidFill>
                <a:schemeClr val="bg1"/>
              </a:solidFill>
            </a:endParaRPr>
          </a:p>
        </p:txBody>
      </p:sp>
    </p:spTree>
    <p:extLst>
      <p:ext uri="{BB962C8B-B14F-4D97-AF65-F5344CB8AC3E}">
        <p14:creationId xmlns:p14="http://schemas.microsoft.com/office/powerpoint/2010/main" val="1675052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D12CD-AB0E-EF96-4CDB-279031F3244C}"/>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C895B585-5809-BD82-9553-432FB0E4C83F}"/>
              </a:ext>
            </a:extLst>
          </p:cNvPr>
          <p:cNvSpPr>
            <a:spLocks noGrp="1"/>
          </p:cNvSpPr>
          <p:nvPr>
            <p:ph type="title"/>
          </p:nvPr>
        </p:nvSpPr>
        <p:spPr/>
        <p:txBody>
          <a:bodyPr/>
          <a:lstStyle/>
          <a:p>
            <a:r>
              <a:rPr lang="en-US" altLang="ja-JP" dirty="0"/>
              <a:t>PCE</a:t>
            </a:r>
            <a:r>
              <a:rPr lang="ja-JP" altLang="en-US" dirty="0"/>
              <a:t>サロゲートモデルの精度検証</a:t>
            </a:r>
          </a:p>
        </p:txBody>
      </p:sp>
    </p:spTree>
    <p:extLst>
      <p:ext uri="{BB962C8B-B14F-4D97-AF65-F5344CB8AC3E}">
        <p14:creationId xmlns:p14="http://schemas.microsoft.com/office/powerpoint/2010/main" val="14701939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DFB7E3-23B3-3E69-AE5C-20D4905562EC}"/>
              </a:ext>
            </a:extLst>
          </p:cNvPr>
          <p:cNvSpPr>
            <a:spLocks noGrp="1"/>
          </p:cNvSpPr>
          <p:nvPr>
            <p:ph type="title"/>
          </p:nvPr>
        </p:nvSpPr>
        <p:spPr/>
        <p:txBody>
          <a:bodyPr/>
          <a:lstStyle/>
          <a:p>
            <a:r>
              <a:rPr kumimoji="1" lang="en-US" altLang="ja-JP" dirty="0"/>
              <a:t>PCE</a:t>
            </a:r>
            <a:r>
              <a:rPr lang="ja-JP" altLang="en-US" dirty="0"/>
              <a:t>サロゲート</a:t>
            </a:r>
            <a:r>
              <a:rPr kumimoji="1" lang="ja-JP" altLang="en-US" dirty="0"/>
              <a:t>モデルの精度検証</a:t>
            </a:r>
          </a:p>
        </p:txBody>
      </p:sp>
      <p:pic>
        <p:nvPicPr>
          <p:cNvPr id="4" name="図 3">
            <a:extLst>
              <a:ext uri="{FF2B5EF4-FFF2-40B4-BE49-F238E27FC236}">
                <a16:creationId xmlns:a16="http://schemas.microsoft.com/office/drawing/2014/main" id="{CDA0ABEA-148D-5F9E-E912-4BA6CC5DB0B7}"/>
              </a:ext>
            </a:extLst>
          </p:cNvPr>
          <p:cNvPicPr>
            <a:picLocks noChangeAspect="1"/>
          </p:cNvPicPr>
          <p:nvPr/>
        </p:nvPicPr>
        <p:blipFill>
          <a:blip r:embed="rId2"/>
          <a:srcRect l="50000" t="5586" b="6116"/>
          <a:stretch>
            <a:fillRect/>
          </a:stretch>
        </p:blipFill>
        <p:spPr>
          <a:xfrm>
            <a:off x="1779642" y="1374645"/>
            <a:ext cx="7134116" cy="4811971"/>
          </a:xfrm>
          <a:prstGeom prst="rect">
            <a:avLst/>
          </a:prstGeom>
        </p:spPr>
      </p:pic>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1046F29C-93BA-0212-4850-5221CD57E795}"/>
                  </a:ext>
                </a:extLst>
              </p:cNvPr>
              <p:cNvSpPr txBox="1"/>
              <p:nvPr/>
            </p:nvSpPr>
            <p:spPr>
              <a:xfrm>
                <a:off x="283779" y="6424460"/>
                <a:ext cx="9911255" cy="748282"/>
              </a:xfrm>
              <a:prstGeom prst="rect">
                <a:avLst/>
              </a:prstGeom>
              <a:solidFill>
                <a:schemeClr val="accent5">
                  <a:lumMod val="75000"/>
                </a:schemeClr>
              </a:solidFill>
            </p:spPr>
            <p:txBody>
              <a:bodyPr wrap="square">
                <a:spAutoFit/>
              </a:bodyPr>
              <a:lstStyle>
                <a:defPPr marR="0" lvl="0" algn="l" rtl="0">
                  <a:lnSpc>
                    <a:spcPct val="100000"/>
                  </a:lnSpc>
                  <a:spcBef>
                    <a:spcPts val="0"/>
                  </a:spcBef>
                  <a:spcAft>
                    <a:spcPts val="0"/>
                  </a:spcAft>
                </a:defPPr>
                <a:lvl1pPr>
                  <a:defRPr i="1">
                    <a:solidFill>
                      <a:schemeClr val="bg1"/>
                    </a:solidFill>
                  </a:defRPr>
                </a:lvl1pPr>
              </a:lstStyle>
              <a:p>
                <a:r>
                  <a:rPr lang="ja-JP" altLang="ja-JP" b="1" i="0" dirty="0">
                    <a:latin typeface="+mn-ea"/>
                    <a:ea typeface="+mn-ea"/>
                  </a:rPr>
                  <a:t>PCEサロゲートモデルの近似精度検証（</a:t>
                </a:r>
                <a:r>
                  <a:rPr lang="en-US" altLang="ja-JP" b="1" i="0" dirty="0">
                    <a:latin typeface="+mn-ea"/>
                    <a:ea typeface="+mn-ea"/>
                  </a:rPr>
                  <a:t>LP</a:t>
                </a:r>
                <a:r>
                  <a:rPr lang="ja-JP" altLang="ja-JP" b="1" i="0" dirty="0">
                    <a:latin typeface="+mn-ea"/>
                    <a:ea typeface="+mn-ea"/>
                  </a:rPr>
                  <a:t>計算値 vs PCE予測値）</a:t>
                </a:r>
                <a:br>
                  <a:rPr lang="en-US" altLang="ja-JP" b="1" i="0" dirty="0">
                    <a:latin typeface="+mn-ea"/>
                    <a:ea typeface="+mn-ea"/>
                  </a:rPr>
                </a:br>
                <a:r>
                  <a:rPr lang="ja-JP" altLang="ja-JP" b="1" i="0" dirty="0">
                    <a:latin typeface="+mn-ea"/>
                    <a:ea typeface="+mn-ea"/>
                  </a:rPr>
                  <a:t>決定係数 (</a:t>
                </a:r>
                <a14:m>
                  <m:oMath xmlns:m="http://schemas.openxmlformats.org/officeDocument/2006/math">
                    <m:sSup>
                      <m:sSupPr>
                        <m:ctrlPr>
                          <a:rPr lang="ja-JP" altLang="ja-JP" b="1" i="0" dirty="0">
                            <a:latin typeface="Cambria Math" panose="02040503050406030204" pitchFamily="18" charset="0"/>
                            <a:ea typeface="+mn-ea"/>
                          </a:rPr>
                        </m:ctrlPr>
                      </m:sSupPr>
                      <m:e>
                        <m:r>
                          <a:rPr lang="ja-JP" altLang="ja-JP" b="1" i="0" dirty="0">
                            <a:latin typeface="Cambria Math" panose="02040503050406030204" pitchFamily="18" charset="0"/>
                            <a:ea typeface="+mn-ea"/>
                          </a:rPr>
                          <m:t>𝑅</m:t>
                        </m:r>
                      </m:e>
                      <m:sup>
                        <m:r>
                          <a:rPr lang="ja-JP" altLang="ja-JP" b="1" i="0" dirty="0">
                            <a:latin typeface="Cambria Math" panose="02040503050406030204" pitchFamily="18" charset="0"/>
                            <a:ea typeface="+mn-ea"/>
                          </a:rPr>
                          <m:t>2</m:t>
                        </m:r>
                      </m:sup>
                    </m:sSup>
                  </m:oMath>
                </a14:m>
                <a:r>
                  <a:rPr lang="ja-JP" altLang="ja-JP" b="1" i="0" dirty="0">
                    <a:latin typeface="+mn-ea"/>
                    <a:ea typeface="+mn-ea"/>
                  </a:rPr>
                  <a:t>): 学習 </a:t>
                </a:r>
                <a14:m>
                  <m:oMath xmlns:m="http://schemas.openxmlformats.org/officeDocument/2006/math">
                    <m:sSup>
                      <m:sSupPr>
                        <m:ctrlPr>
                          <a:rPr lang="ja-JP" altLang="ja-JP" b="1" i="0" dirty="0">
                            <a:latin typeface="Cambria Math" panose="02040503050406030204" pitchFamily="18" charset="0"/>
                            <a:ea typeface="+mn-ea"/>
                          </a:rPr>
                        </m:ctrlPr>
                      </m:sSupPr>
                      <m:e>
                        <m:r>
                          <a:rPr lang="ja-JP" altLang="ja-JP" b="1" i="0" dirty="0">
                            <a:latin typeface="Cambria Math" panose="02040503050406030204" pitchFamily="18" charset="0"/>
                            <a:ea typeface="+mn-ea"/>
                          </a:rPr>
                          <m:t>𝐑</m:t>
                        </m:r>
                      </m:e>
                      <m:sup>
                        <m:r>
                          <a:rPr lang="ja-JP" altLang="ja-JP" b="1" i="0" dirty="0">
                            <a:latin typeface="Cambria Math" panose="02040503050406030204" pitchFamily="18" charset="0"/>
                            <a:ea typeface="+mn-ea"/>
                          </a:rPr>
                          <m:t>𝟐</m:t>
                        </m:r>
                      </m:sup>
                    </m:sSup>
                    <m:r>
                      <a:rPr lang="ja-JP" altLang="ja-JP" b="1" i="0" dirty="0">
                        <a:latin typeface="Cambria Math" panose="02040503050406030204" pitchFamily="18" charset="0"/>
                        <a:ea typeface="+mn-ea"/>
                      </a:rPr>
                      <m:t>=</m:t>
                    </m:r>
                    <m:r>
                      <a:rPr lang="ja-JP" altLang="ja-JP" b="1" i="0" dirty="0">
                        <a:latin typeface="Cambria Math" panose="02040503050406030204" pitchFamily="18" charset="0"/>
                        <a:ea typeface="+mn-ea"/>
                      </a:rPr>
                      <m:t>𝟎</m:t>
                    </m:r>
                    <m:r>
                      <a:rPr lang="ja-JP" altLang="ja-JP" b="1" i="0" dirty="0">
                        <a:latin typeface="Cambria Math" panose="02040503050406030204" pitchFamily="18" charset="0"/>
                        <a:ea typeface="+mn-ea"/>
                      </a:rPr>
                      <m:t>.</m:t>
                    </m:r>
                    <m:r>
                      <a:rPr lang="ja-JP" altLang="ja-JP" b="1" i="0" dirty="0">
                        <a:latin typeface="Cambria Math" panose="02040503050406030204" pitchFamily="18" charset="0"/>
                        <a:ea typeface="+mn-ea"/>
                      </a:rPr>
                      <m:t>𝟗𝟗𝟗𝟗𝟑</m:t>
                    </m:r>
                  </m:oMath>
                </a14:m>
                <a:r>
                  <a:rPr lang="ja-JP" altLang="ja-JP" b="1" i="0" dirty="0">
                    <a:latin typeface="+mn-ea"/>
                    <a:ea typeface="+mn-ea"/>
                  </a:rPr>
                  <a:t>/ 10-fold CV </a:t>
                </a:r>
                <a14:m>
                  <m:oMath xmlns:m="http://schemas.openxmlformats.org/officeDocument/2006/math">
                    <m:sSup>
                      <m:sSupPr>
                        <m:ctrlPr>
                          <a:rPr lang="ja-JP" altLang="ja-JP" b="1" i="0" dirty="0">
                            <a:latin typeface="Cambria Math" panose="02040503050406030204" pitchFamily="18" charset="0"/>
                            <a:ea typeface="+mn-ea"/>
                          </a:rPr>
                        </m:ctrlPr>
                      </m:sSupPr>
                      <m:e>
                        <m:r>
                          <a:rPr lang="ja-JP" altLang="ja-JP" b="1" i="0" dirty="0">
                            <a:latin typeface="Cambria Math" panose="02040503050406030204" pitchFamily="18" charset="0"/>
                            <a:ea typeface="+mn-ea"/>
                          </a:rPr>
                          <m:t>𝐑</m:t>
                        </m:r>
                      </m:e>
                      <m:sup>
                        <m:r>
                          <a:rPr lang="ja-JP" altLang="ja-JP" b="1" i="0" dirty="0">
                            <a:latin typeface="Cambria Math" panose="02040503050406030204" pitchFamily="18" charset="0"/>
                            <a:ea typeface="+mn-ea"/>
                          </a:rPr>
                          <m:t>𝟐</m:t>
                        </m:r>
                      </m:sup>
                    </m:sSup>
                    <m:r>
                      <a:rPr lang="ja-JP" altLang="ja-JP" b="1" i="0" dirty="0">
                        <a:latin typeface="Cambria Math" panose="02040503050406030204" pitchFamily="18" charset="0"/>
                        <a:ea typeface="+mn-ea"/>
                      </a:rPr>
                      <m:t>=</m:t>
                    </m:r>
                    <m:r>
                      <a:rPr lang="ja-JP" altLang="ja-JP" b="1" i="0" dirty="0">
                        <a:latin typeface="Cambria Math" panose="02040503050406030204" pitchFamily="18" charset="0"/>
                        <a:ea typeface="+mn-ea"/>
                      </a:rPr>
                      <m:t>𝟎</m:t>
                    </m:r>
                    <m:r>
                      <a:rPr lang="ja-JP" altLang="ja-JP" b="1" i="0" dirty="0">
                        <a:latin typeface="Cambria Math" panose="02040503050406030204" pitchFamily="18" charset="0"/>
                        <a:ea typeface="+mn-ea"/>
                      </a:rPr>
                      <m:t>.</m:t>
                    </m:r>
                    <m:r>
                      <a:rPr lang="ja-JP" altLang="ja-JP" b="1" i="0" dirty="0">
                        <a:latin typeface="Cambria Math" panose="02040503050406030204" pitchFamily="18" charset="0"/>
                        <a:ea typeface="+mn-ea"/>
                      </a:rPr>
                      <m:t>𝟗𝟗𝟗𝟗𝟏</m:t>
                    </m:r>
                  </m:oMath>
                </a14:m>
                <a:r>
                  <a:rPr lang="ja-JP" altLang="ja-JP" b="1" i="0" dirty="0">
                    <a:latin typeface="+mn-ea"/>
                    <a:ea typeface="+mn-ea"/>
                  </a:rPr>
                  <a:t>（ほぼ完全な一致）</a:t>
                </a:r>
              </a:p>
              <a:p>
                <a:r>
                  <a:rPr lang="ja-JP" altLang="ja-JP" b="1" i="0" dirty="0">
                    <a:latin typeface="+mn-ea"/>
                    <a:ea typeface="+mn-ea"/>
                  </a:rPr>
                  <a:t>予測誤差 (RMSE): 学習 RMSE = 96.3 / 10-fold CV RMSE = 104.5 [USD/year] （総コストに対して極小）</a:t>
                </a:r>
              </a:p>
            </p:txBody>
          </p:sp>
        </mc:Choice>
        <mc:Fallback xmlns="">
          <p:sp>
            <p:nvSpPr>
              <p:cNvPr id="5" name="テキスト ボックス 4">
                <a:extLst>
                  <a:ext uri="{FF2B5EF4-FFF2-40B4-BE49-F238E27FC236}">
                    <a16:creationId xmlns:a16="http://schemas.microsoft.com/office/drawing/2014/main" id="{1046F29C-93BA-0212-4850-5221CD57E795}"/>
                  </a:ext>
                </a:extLst>
              </p:cNvPr>
              <p:cNvSpPr txBox="1">
                <a:spLocks noRot="1" noChangeAspect="1" noMove="1" noResize="1" noEditPoints="1" noAdjustHandles="1" noChangeArrowheads="1" noChangeShapeType="1" noTextEdit="1"/>
              </p:cNvSpPr>
              <p:nvPr/>
            </p:nvSpPr>
            <p:spPr>
              <a:xfrm>
                <a:off x="283779" y="6424460"/>
                <a:ext cx="9911255" cy="748282"/>
              </a:xfrm>
              <a:prstGeom prst="rect">
                <a:avLst/>
              </a:prstGeom>
              <a:blipFill>
                <a:blip r:embed="rId3"/>
                <a:stretch>
                  <a:fillRect l="-185" t="-1626" b="-6504"/>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7950295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FE5BBF4C-EE11-63D8-8691-736376792B53}"/>
              </a:ext>
            </a:extLst>
          </p:cNvPr>
          <p:cNvSpPr>
            <a:spLocks noGrp="1"/>
          </p:cNvSpPr>
          <p:nvPr>
            <p:ph type="title"/>
          </p:nvPr>
        </p:nvSpPr>
        <p:spPr/>
        <p:txBody>
          <a:bodyPr/>
          <a:lstStyle/>
          <a:p>
            <a:r>
              <a:rPr lang="en-US" altLang="ja-JP" sz="3200" dirty="0"/>
              <a:t>PCE</a:t>
            </a:r>
            <a:r>
              <a:rPr lang="ja-JP" altLang="en-US" sz="3200" dirty="0"/>
              <a:t>サロゲートモデルが過学習を起こしていないかの検証</a:t>
            </a:r>
          </a:p>
        </p:txBody>
      </p:sp>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88D739BD-F94C-971E-9F81-E5C2CF53B129}"/>
                  </a:ext>
                </a:extLst>
              </p:cNvPr>
              <p:cNvSpPr txBox="1"/>
              <p:nvPr/>
            </p:nvSpPr>
            <p:spPr>
              <a:xfrm>
                <a:off x="152400" y="4664825"/>
                <a:ext cx="5156200" cy="1600438"/>
              </a:xfrm>
              <a:prstGeom prst="rect">
                <a:avLst/>
              </a:prstGeom>
              <a:noFill/>
            </p:spPr>
            <p:txBody>
              <a:bodyPr wrap="square" rtlCol="0">
                <a:spAutoFit/>
              </a:bodyPr>
              <a:lstStyle/>
              <a:p>
                <a:pPr lvl="0"/>
                <a:r>
                  <a:rPr lang="ja-JP" altLang="ja-JP" b="1" dirty="0">
                    <a:latin typeface="+mn-ea"/>
                    <a:ea typeface="+mn-ea"/>
                  </a:rPr>
                  <a:t>サロゲートモデルの最適化と過学習の抑制 (CV Error Curve)</a:t>
                </a:r>
                <a:br>
                  <a:rPr lang="en-US" altLang="ja-JP" b="1" dirty="0">
                    <a:latin typeface="+mn-ea"/>
                    <a:ea typeface="+mn-ea"/>
                  </a:rPr>
                </a:br>
                <a:r>
                  <a:rPr lang="ja-JP" altLang="ja-JP" dirty="0">
                    <a:latin typeface="+mn-ea"/>
                    <a:ea typeface="+mn-ea"/>
                  </a:rPr>
                  <a:t>30点の </a:t>
                </a:r>
                <a14:m>
                  <m:oMath xmlns:m="http://schemas.openxmlformats.org/officeDocument/2006/math">
                    <m:r>
                      <a:rPr lang="ja-JP" altLang="ja-JP" b="0" i="1" dirty="0" smtClean="0">
                        <a:latin typeface="Cambria Math" panose="02040503050406030204" pitchFamily="18" charset="0"/>
                        <a:ea typeface="+mn-ea"/>
                      </a:rPr>
                      <m:t>𝛼</m:t>
                    </m:r>
                  </m:oMath>
                </a14:m>
                <a:r>
                  <a:rPr lang="ja-JP" altLang="ja-JP" dirty="0">
                    <a:latin typeface="+mn-ea"/>
                    <a:ea typeface="+mn-ea"/>
                  </a:rPr>
                  <a:t>探索空間において、10-fold CV 誤差が最小となる 最適正則化パラメータ </a:t>
                </a:r>
                <a14:m>
                  <m:oMath xmlns:m="http://schemas.openxmlformats.org/officeDocument/2006/math">
                    <m:r>
                      <a:rPr lang="ja-JP" altLang="ja-JP" b="0" i="1" dirty="0" smtClean="0">
                        <a:latin typeface="Cambria Math" panose="02040503050406030204" pitchFamily="18" charset="0"/>
                        <a:ea typeface="+mn-ea"/>
                      </a:rPr>
                      <m:t>𝛼</m:t>
                    </m:r>
                    <m:r>
                      <a:rPr lang="ja-JP" altLang="ja-JP" b="0" i="0" dirty="0">
                        <a:latin typeface="Cambria Math" panose="02040503050406030204" pitchFamily="18" charset="0"/>
                        <a:ea typeface="+mn-ea"/>
                      </a:rPr>
                      <m:t>=0.1374</m:t>
                    </m:r>
                  </m:oMath>
                </a14:m>
                <a:r>
                  <a:rPr lang="ja-JP" altLang="ja-JP" dirty="0">
                    <a:latin typeface="+mn-ea"/>
                    <a:ea typeface="+mn-ea"/>
                  </a:rPr>
                  <a:t>を選定</a:t>
                </a:r>
                <a:r>
                  <a:rPr lang="ja-JP" altLang="en-US" dirty="0">
                    <a:latin typeface="+mn-ea"/>
                    <a:ea typeface="+mn-ea"/>
                  </a:rPr>
                  <a:t>された。</a:t>
                </a:r>
                <a:endParaRPr lang="ja-JP" altLang="ja-JP" dirty="0">
                  <a:latin typeface="+mn-ea"/>
                  <a:ea typeface="+mn-ea"/>
                </a:endParaRPr>
              </a:p>
              <a:p>
                <a:pPr lvl="0"/>
                <a:r>
                  <a:rPr lang="ja-JP" altLang="ja-JP" dirty="0">
                    <a:latin typeface="+mn-ea"/>
                    <a:ea typeface="+mn-ea"/>
                  </a:rPr>
                  <a:t>学習 </a:t>
                </a:r>
                <a14:m>
                  <m:oMath xmlns:m="http://schemas.openxmlformats.org/officeDocument/2006/math">
                    <m:sSup>
                      <m:sSupPr>
                        <m:ctrlPr>
                          <a:rPr lang="ja-JP" altLang="ja-JP" b="0" i="1" dirty="0">
                            <a:latin typeface="Cambria Math" panose="02040503050406030204" pitchFamily="18" charset="0"/>
                            <a:ea typeface="+mn-ea"/>
                          </a:rPr>
                        </m:ctrlPr>
                      </m:sSupPr>
                      <m:e>
                        <m:r>
                          <a:rPr lang="ja-JP" altLang="ja-JP" b="0" i="1" dirty="0">
                            <a:latin typeface="Cambria Math" panose="02040503050406030204" pitchFamily="18" charset="0"/>
                            <a:ea typeface="+mn-ea"/>
                          </a:rPr>
                          <m:t>𝑅</m:t>
                        </m:r>
                      </m:e>
                      <m:sup>
                        <m:r>
                          <a:rPr lang="ja-JP" altLang="ja-JP" b="0" i="0" dirty="0">
                            <a:latin typeface="Cambria Math" panose="02040503050406030204" pitchFamily="18" charset="0"/>
                            <a:ea typeface="+mn-ea"/>
                          </a:rPr>
                          <m:t>2</m:t>
                        </m:r>
                      </m:sup>
                    </m:sSup>
                    <m:r>
                      <a:rPr lang="ja-JP" altLang="ja-JP" b="0" i="0" dirty="0">
                        <a:latin typeface="Cambria Math" panose="02040503050406030204" pitchFamily="18" charset="0"/>
                        <a:ea typeface="+mn-ea"/>
                      </a:rPr>
                      <m:t>=0.99993</m:t>
                    </m:r>
                  </m:oMath>
                </a14:m>
                <a:r>
                  <a:rPr lang="ja-JP" altLang="ja-JP" dirty="0">
                    <a:latin typeface="+mn-ea"/>
                    <a:ea typeface="+mn-ea"/>
                  </a:rPr>
                  <a:t>（RMSE = 96.3）に対し、CV </a:t>
                </a:r>
                <a14:m>
                  <m:oMath xmlns:m="http://schemas.openxmlformats.org/officeDocument/2006/math">
                    <m:sSup>
                      <m:sSupPr>
                        <m:ctrlPr>
                          <a:rPr lang="ja-JP" altLang="ja-JP" b="0" i="1" dirty="0">
                            <a:latin typeface="Cambria Math" panose="02040503050406030204" pitchFamily="18" charset="0"/>
                            <a:ea typeface="+mn-ea"/>
                          </a:rPr>
                        </m:ctrlPr>
                      </m:sSupPr>
                      <m:e>
                        <m:r>
                          <a:rPr lang="ja-JP" altLang="ja-JP" b="0" i="1" dirty="0">
                            <a:latin typeface="Cambria Math" panose="02040503050406030204" pitchFamily="18" charset="0"/>
                            <a:ea typeface="+mn-ea"/>
                          </a:rPr>
                          <m:t>𝑅</m:t>
                        </m:r>
                      </m:e>
                      <m:sup>
                        <m:r>
                          <a:rPr lang="ja-JP" altLang="ja-JP" b="0" i="0" dirty="0">
                            <a:latin typeface="Cambria Math" panose="02040503050406030204" pitchFamily="18" charset="0"/>
                            <a:ea typeface="+mn-ea"/>
                          </a:rPr>
                          <m:t>2</m:t>
                        </m:r>
                      </m:sup>
                    </m:sSup>
                    <m:r>
                      <a:rPr lang="ja-JP" altLang="ja-JP" b="0" i="0" dirty="0">
                        <a:latin typeface="Cambria Math" panose="02040503050406030204" pitchFamily="18" charset="0"/>
                        <a:ea typeface="+mn-ea"/>
                      </a:rPr>
                      <m:t>=0.99991</m:t>
                    </m:r>
                  </m:oMath>
                </a14:m>
                <a:r>
                  <a:rPr lang="ja-JP" altLang="ja-JP" dirty="0">
                    <a:latin typeface="+mn-ea"/>
                    <a:ea typeface="+mn-ea"/>
                  </a:rPr>
                  <a:t>（RMSE = 104.5 USD/year）と極めて小さく、高い予測性能</a:t>
                </a:r>
                <a:r>
                  <a:rPr lang="ja-JP" altLang="en-US" dirty="0">
                    <a:latin typeface="+mn-ea"/>
                    <a:ea typeface="+mn-ea"/>
                  </a:rPr>
                  <a:t>が検証された。</a:t>
                </a:r>
                <a:endParaRPr lang="ja-JP" altLang="ja-JP" dirty="0">
                  <a:latin typeface="+mn-ea"/>
                  <a:ea typeface="+mn-ea"/>
                </a:endParaRPr>
              </a:p>
              <a:p>
                <a:endParaRPr kumimoji="1" lang="ja-JP" altLang="en-US" dirty="0">
                  <a:latin typeface="+mn-ea"/>
                  <a:ea typeface="+mn-ea"/>
                </a:endParaRPr>
              </a:p>
            </p:txBody>
          </p:sp>
        </mc:Choice>
        <mc:Fallback xmlns="">
          <p:sp>
            <p:nvSpPr>
              <p:cNvPr id="7" name="テキスト ボックス 6">
                <a:extLst>
                  <a:ext uri="{FF2B5EF4-FFF2-40B4-BE49-F238E27FC236}">
                    <a16:creationId xmlns:a16="http://schemas.microsoft.com/office/drawing/2014/main" id="{88D739BD-F94C-971E-9F81-E5C2CF53B129}"/>
                  </a:ext>
                </a:extLst>
              </p:cNvPr>
              <p:cNvSpPr txBox="1">
                <a:spLocks noRot="1" noChangeAspect="1" noMove="1" noResize="1" noEditPoints="1" noAdjustHandles="1" noChangeArrowheads="1" noChangeShapeType="1" noTextEdit="1"/>
              </p:cNvSpPr>
              <p:nvPr/>
            </p:nvSpPr>
            <p:spPr>
              <a:xfrm>
                <a:off x="152400" y="4664825"/>
                <a:ext cx="5156200" cy="1600438"/>
              </a:xfrm>
              <a:prstGeom prst="rect">
                <a:avLst/>
              </a:prstGeom>
              <a:blipFill>
                <a:blip r:embed="rId2"/>
                <a:stretch>
                  <a:fillRect l="-355" t="-76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19E71D0B-18A4-1E9B-7830-2780FABDA0E9}"/>
                  </a:ext>
                </a:extLst>
              </p:cNvPr>
              <p:cNvSpPr txBox="1"/>
              <p:nvPr/>
            </p:nvSpPr>
            <p:spPr>
              <a:xfrm>
                <a:off x="5596047" y="4616478"/>
                <a:ext cx="5097353" cy="1836272"/>
              </a:xfrm>
              <a:prstGeom prst="rect">
                <a:avLst/>
              </a:prstGeom>
              <a:noFill/>
            </p:spPr>
            <p:txBody>
              <a:bodyPr wrap="square" rtlCol="0">
                <a:spAutoFit/>
              </a:bodyPr>
              <a:lstStyle/>
              <a:p>
                <a:pPr lvl="0"/>
                <a:r>
                  <a:rPr lang="ja-JP" altLang="ja-JP" b="1" dirty="0">
                    <a:latin typeface="+mn-ea"/>
                    <a:ea typeface="+mn-ea"/>
                  </a:rPr>
                  <a:t>PCE多項式基底の安定性と係数挙動 (Coefficient Shrinkage Path)</a:t>
                </a:r>
                <a:br>
                  <a:rPr lang="en-US" altLang="ja-JP" b="1" dirty="0">
                    <a:latin typeface="+mn-ea"/>
                    <a:ea typeface="+mn-ea"/>
                  </a:rPr>
                </a:br>
                <a:r>
                  <a:rPr lang="ja-JP" altLang="ja-JP" dirty="0">
                    <a:latin typeface="+mn-ea"/>
                    <a:ea typeface="+mn-ea"/>
                  </a:rPr>
                  <a:t>4次元2次PCE（1</a:t>
                </a:r>
                <a:r>
                  <a:rPr lang="en-US" altLang="ja-JP" dirty="0">
                    <a:latin typeface="+mn-ea"/>
                    <a:ea typeface="+mn-ea"/>
                  </a:rPr>
                  <a:t>5</a:t>
                </a:r>
                <a:r>
                  <a:rPr lang="ja-JP" altLang="ja-JP" dirty="0">
                    <a:latin typeface="+mn-ea"/>
                    <a:ea typeface="+mn-ea"/>
                  </a:rPr>
                  <a:t>基底）の各回帰係数は、</a:t>
                </a:r>
                <a14:m>
                  <m:oMath xmlns:m="http://schemas.openxmlformats.org/officeDocument/2006/math">
                    <m:r>
                      <a:rPr lang="ja-JP" altLang="ja-JP" b="0" i="1" dirty="0" smtClean="0">
                        <a:latin typeface="Cambria Math" panose="02040503050406030204" pitchFamily="18" charset="0"/>
                        <a:ea typeface="+mn-ea"/>
                      </a:rPr>
                      <m:t>𝛼</m:t>
                    </m:r>
                  </m:oMath>
                </a14:m>
                <a:r>
                  <a:rPr lang="ja-JP" altLang="ja-JP" dirty="0">
                    <a:latin typeface="+mn-ea"/>
                    <a:ea typeface="+mn-ea"/>
                  </a:rPr>
                  <a:t>の増加に応じて発振することなく滑らかにゼロへ収縮。</a:t>
                </a:r>
              </a:p>
              <a:p>
                <a:pPr lvl="0"/>
                <a:r>
                  <a:rPr lang="ja-JP" altLang="ja-JP" dirty="0">
                    <a:latin typeface="+mn-ea"/>
                    <a:ea typeface="+mn-ea"/>
                  </a:rPr>
                  <a:t>感度寄与の大きい battery_capex・solar_capex の主要係数を維持しつつ多重共線性を抑制し、物理的解釈性（</a:t>
                </a:r>
                <a14:m>
                  <m:oMath xmlns:m="http://schemas.openxmlformats.org/officeDocument/2006/math">
                    <m:sSub>
                      <m:sSubPr>
                        <m:ctrlPr>
                          <a:rPr lang="ja-JP" altLang="ja-JP" b="0" i="1" dirty="0">
                            <a:latin typeface="Cambria Math" panose="02040503050406030204" pitchFamily="18" charset="0"/>
                            <a:ea typeface="+mn-ea"/>
                          </a:rPr>
                        </m:ctrlPr>
                      </m:sSubPr>
                      <m:e>
                        <m:r>
                          <a:rPr lang="ja-JP" altLang="ja-JP" b="0" i="1" dirty="0">
                            <a:latin typeface="Cambria Math" panose="02040503050406030204" pitchFamily="18" charset="0"/>
                            <a:ea typeface="+mn-ea"/>
                          </a:rPr>
                          <m:t>𝐶</m:t>
                        </m:r>
                      </m:e>
                      <m:sub>
                        <m:r>
                          <a:rPr lang="ja-JP" altLang="ja-JP" b="0" i="1" dirty="0">
                            <a:latin typeface="Cambria Math" panose="02040503050406030204" pitchFamily="18" charset="0"/>
                            <a:ea typeface="+mn-ea"/>
                          </a:rPr>
                          <m:t>𝑖𝑗</m:t>
                        </m:r>
                      </m:sub>
                    </m:sSub>
                  </m:oMath>
                </a14:m>
                <a:r>
                  <a:rPr lang="ja-JP" altLang="ja-JP" dirty="0">
                    <a:latin typeface="+mn-ea"/>
                    <a:ea typeface="+mn-ea"/>
                  </a:rPr>
                  <a:t>交差項分析）に耐えうる安定した解を獲得。</a:t>
                </a:r>
              </a:p>
              <a:p>
                <a:endParaRPr kumimoji="1" lang="ja-JP" altLang="en-US" dirty="0">
                  <a:latin typeface="+mn-ea"/>
                  <a:ea typeface="+mn-ea"/>
                </a:endParaRPr>
              </a:p>
            </p:txBody>
          </p:sp>
        </mc:Choice>
        <mc:Fallback xmlns="">
          <p:sp>
            <p:nvSpPr>
              <p:cNvPr id="8" name="テキスト ボックス 7">
                <a:extLst>
                  <a:ext uri="{FF2B5EF4-FFF2-40B4-BE49-F238E27FC236}">
                    <a16:creationId xmlns:a16="http://schemas.microsoft.com/office/drawing/2014/main" id="{19E71D0B-18A4-1E9B-7830-2780FABDA0E9}"/>
                  </a:ext>
                </a:extLst>
              </p:cNvPr>
              <p:cNvSpPr txBox="1">
                <a:spLocks noRot="1" noChangeAspect="1" noMove="1" noResize="1" noEditPoints="1" noAdjustHandles="1" noChangeArrowheads="1" noChangeShapeType="1" noTextEdit="1"/>
              </p:cNvSpPr>
              <p:nvPr/>
            </p:nvSpPr>
            <p:spPr>
              <a:xfrm>
                <a:off x="5596047" y="4616478"/>
                <a:ext cx="5097353" cy="1836272"/>
              </a:xfrm>
              <a:prstGeom prst="rect">
                <a:avLst/>
              </a:prstGeom>
              <a:blipFill>
                <a:blip r:embed="rId3"/>
                <a:stretch>
                  <a:fillRect l="-359" t="-331"/>
                </a:stretch>
              </a:blipFill>
            </p:spPr>
            <p:txBody>
              <a:bodyPr/>
              <a:lstStyle/>
              <a:p>
                <a:r>
                  <a:rPr lang="ja-JP" altLang="en-US">
                    <a:noFill/>
                  </a:rPr>
                  <a:t> </a:t>
                </a:r>
              </a:p>
            </p:txBody>
          </p:sp>
        </mc:Fallback>
      </mc:AlternateContent>
      <p:pic>
        <p:nvPicPr>
          <p:cNvPr id="13" name="図 12">
            <a:extLst>
              <a:ext uri="{FF2B5EF4-FFF2-40B4-BE49-F238E27FC236}">
                <a16:creationId xmlns:a16="http://schemas.microsoft.com/office/drawing/2014/main" id="{48C0FD64-F7ED-791F-2671-8C9110B9BD2C}"/>
              </a:ext>
            </a:extLst>
          </p:cNvPr>
          <p:cNvPicPr>
            <a:picLocks noChangeAspect="1"/>
          </p:cNvPicPr>
          <p:nvPr/>
        </p:nvPicPr>
        <p:blipFill>
          <a:blip r:embed="rId4"/>
          <a:stretch>
            <a:fillRect/>
          </a:stretch>
        </p:blipFill>
        <p:spPr>
          <a:xfrm>
            <a:off x="75832" y="919834"/>
            <a:ext cx="5048174" cy="3565570"/>
          </a:xfrm>
          <a:prstGeom prst="rect">
            <a:avLst/>
          </a:prstGeom>
        </p:spPr>
      </p:pic>
      <p:pic>
        <p:nvPicPr>
          <p:cNvPr id="15" name="図 14">
            <a:extLst>
              <a:ext uri="{FF2B5EF4-FFF2-40B4-BE49-F238E27FC236}">
                <a16:creationId xmlns:a16="http://schemas.microsoft.com/office/drawing/2014/main" id="{C99ABBA1-89EC-80F9-65D5-36B5AF6B8EF5}"/>
              </a:ext>
            </a:extLst>
          </p:cNvPr>
          <p:cNvPicPr>
            <a:picLocks noChangeAspect="1"/>
          </p:cNvPicPr>
          <p:nvPr/>
        </p:nvPicPr>
        <p:blipFill>
          <a:blip r:embed="rId5"/>
          <a:stretch>
            <a:fillRect/>
          </a:stretch>
        </p:blipFill>
        <p:spPr>
          <a:xfrm>
            <a:off x="5308600" y="919834"/>
            <a:ext cx="5384800" cy="3565570"/>
          </a:xfrm>
          <a:prstGeom prst="rect">
            <a:avLst/>
          </a:prstGeom>
        </p:spPr>
      </p:pic>
      <mc:AlternateContent xmlns:mc="http://schemas.openxmlformats.org/markup-compatibility/2006" xmlns:a14="http://schemas.microsoft.com/office/drawing/2010/main">
        <mc:Choice Requires="a14">
          <p:sp>
            <p:nvSpPr>
              <p:cNvPr id="3" name="テキスト ボックス 2">
                <a:extLst>
                  <a:ext uri="{FF2B5EF4-FFF2-40B4-BE49-F238E27FC236}">
                    <a16:creationId xmlns:a16="http://schemas.microsoft.com/office/drawing/2014/main" id="{49D55BE4-ED14-5182-285F-0E33362D9E09}"/>
                  </a:ext>
                </a:extLst>
              </p:cNvPr>
              <p:cNvSpPr txBox="1"/>
              <p:nvPr/>
            </p:nvSpPr>
            <p:spPr>
              <a:xfrm>
                <a:off x="195643" y="6449494"/>
                <a:ext cx="10362160" cy="954107"/>
              </a:xfrm>
              <a:prstGeom prst="rect">
                <a:avLst/>
              </a:prstGeom>
              <a:solidFill>
                <a:schemeClr val="accent5">
                  <a:lumMod val="75000"/>
                </a:schemeClr>
              </a:solidFill>
            </p:spPr>
            <p:txBody>
              <a:bodyPr wrap="square">
                <a:spAutoFit/>
              </a:bodyPr>
              <a:lstStyle/>
              <a:p>
                <a:r>
                  <a:rPr lang="ja-JP" altLang="ja-JP" b="1" i="1" dirty="0">
                    <a:solidFill>
                      <a:schemeClr val="bg1"/>
                    </a:solidFill>
                    <a:latin typeface="+mn-ea"/>
                    <a:ea typeface="+mn-ea"/>
                  </a:rPr>
                  <a:t>10分割交差検証による RMSE の </a:t>
                </a:r>
                <a14:m>
                  <m:oMath xmlns:m="http://schemas.openxmlformats.org/officeDocument/2006/math">
                    <m:r>
                      <a:rPr lang="ja-JP" altLang="ja-JP" b="1" i="1" dirty="0" smtClean="0">
                        <a:solidFill>
                          <a:schemeClr val="bg1"/>
                        </a:solidFill>
                        <a:latin typeface="Cambria Math" panose="02040503050406030204" pitchFamily="18" charset="0"/>
                        <a:ea typeface="+mn-ea"/>
                      </a:rPr>
                      <m:t>𝜶</m:t>
                    </m:r>
                  </m:oMath>
                </a14:m>
                <a:r>
                  <a:rPr lang="ja-JP" altLang="ja-JP" b="1" i="1" dirty="0">
                    <a:solidFill>
                      <a:schemeClr val="bg1"/>
                    </a:solidFill>
                    <a:latin typeface="+mn-ea"/>
                    <a:ea typeface="+mn-ea"/>
                  </a:rPr>
                  <a:t>依存性。最適点 </a:t>
                </a:r>
                <a14:m>
                  <m:oMath xmlns:m="http://schemas.openxmlformats.org/officeDocument/2006/math">
                    <m:r>
                      <a:rPr lang="ja-JP" altLang="ja-JP" b="1" i="1" dirty="0" smtClean="0">
                        <a:solidFill>
                          <a:schemeClr val="bg1"/>
                        </a:solidFill>
                        <a:latin typeface="Cambria Math" panose="02040503050406030204" pitchFamily="18" charset="0"/>
                        <a:ea typeface="+mn-ea"/>
                      </a:rPr>
                      <m:t>𝜶</m:t>
                    </m:r>
                    <m:r>
                      <a:rPr lang="ja-JP" altLang="ja-JP" b="1" i="0" dirty="0" smtClean="0">
                        <a:solidFill>
                          <a:schemeClr val="bg1"/>
                        </a:solidFill>
                        <a:latin typeface="Cambria Math" panose="02040503050406030204" pitchFamily="18" charset="0"/>
                        <a:ea typeface="+mn-ea"/>
                      </a:rPr>
                      <m:t>=</m:t>
                    </m:r>
                    <m:r>
                      <a:rPr lang="ja-JP" altLang="ja-JP" b="1" i="0" dirty="0" smtClean="0">
                        <a:solidFill>
                          <a:schemeClr val="bg1"/>
                        </a:solidFill>
                        <a:latin typeface="Cambria Math" panose="02040503050406030204" pitchFamily="18" charset="0"/>
                        <a:ea typeface="+mn-ea"/>
                      </a:rPr>
                      <m:t>𝟎</m:t>
                    </m:r>
                    <m:r>
                      <a:rPr lang="ja-JP" altLang="ja-JP" b="1" i="0" dirty="0" smtClean="0">
                        <a:solidFill>
                          <a:schemeClr val="bg1"/>
                        </a:solidFill>
                        <a:latin typeface="Cambria Math" panose="02040503050406030204" pitchFamily="18" charset="0"/>
                        <a:ea typeface="+mn-ea"/>
                      </a:rPr>
                      <m:t>.</m:t>
                    </m:r>
                    <m:r>
                      <a:rPr lang="ja-JP" altLang="ja-JP" b="1" i="0" dirty="0" smtClean="0">
                        <a:solidFill>
                          <a:schemeClr val="bg1"/>
                        </a:solidFill>
                        <a:latin typeface="Cambria Math" panose="02040503050406030204" pitchFamily="18" charset="0"/>
                        <a:ea typeface="+mn-ea"/>
                      </a:rPr>
                      <m:t>𝟏𝟑𝟕𝟒</m:t>
                    </m:r>
                  </m:oMath>
                </a14:m>
                <a:r>
                  <a:rPr lang="ja-JP" altLang="ja-JP" b="1" i="1" dirty="0">
                    <a:solidFill>
                      <a:schemeClr val="bg1"/>
                    </a:solidFill>
                    <a:latin typeface="+mn-ea"/>
                    <a:ea typeface="+mn-ea"/>
                  </a:rPr>
                  <a:t>にて最小 CV 誤差（104.5 USD/year）を達成。</a:t>
                </a:r>
                <a:endParaRPr lang="en-US" altLang="ja-JP" b="1" i="1" dirty="0">
                  <a:solidFill>
                    <a:schemeClr val="bg1"/>
                  </a:solidFill>
                  <a:latin typeface="+mn-ea"/>
                  <a:ea typeface="+mn-ea"/>
                </a:endParaRPr>
              </a:p>
              <a:p>
                <a:endParaRPr lang="en-US" altLang="ja-JP" b="1" i="1" dirty="0">
                  <a:solidFill>
                    <a:schemeClr val="bg1"/>
                  </a:solidFill>
                  <a:latin typeface="+mn-ea"/>
                  <a:ea typeface="+mn-ea"/>
                </a:endParaRPr>
              </a:p>
              <a:p>
                <a14:m>
                  <m:oMath xmlns:m="http://schemas.openxmlformats.org/officeDocument/2006/math">
                    <m:r>
                      <a:rPr lang="ja-JP" altLang="ja-JP" b="1" i="1" dirty="0" smtClean="0">
                        <a:solidFill>
                          <a:schemeClr val="bg1"/>
                        </a:solidFill>
                        <a:latin typeface="Cambria Math" panose="02040503050406030204" pitchFamily="18" charset="0"/>
                        <a:ea typeface="+mn-ea"/>
                      </a:rPr>
                      <m:t>𝜶</m:t>
                    </m:r>
                  </m:oMath>
                </a14:m>
                <a:r>
                  <a:rPr lang="ja-JP" altLang="ja-JP" b="1" i="1" dirty="0">
                    <a:solidFill>
                      <a:schemeClr val="bg1"/>
                    </a:solidFill>
                    <a:latin typeface="+mn-ea"/>
                    <a:ea typeface="+mn-ea"/>
                  </a:rPr>
                  <a:t>に対するPCE多項式基底（</a:t>
                </a:r>
                <a:r>
                  <a:rPr lang="en-US" altLang="ja-JP" b="1" i="1" dirty="0">
                    <a:solidFill>
                      <a:schemeClr val="bg1"/>
                    </a:solidFill>
                    <a:latin typeface="+mn-ea"/>
                    <a:ea typeface="+mn-ea"/>
                  </a:rPr>
                  <a:t>15</a:t>
                </a:r>
                <a:r>
                  <a:rPr lang="ja-JP" altLang="ja-JP" b="1" i="1" dirty="0">
                    <a:solidFill>
                      <a:schemeClr val="bg1"/>
                    </a:solidFill>
                    <a:latin typeface="+mn-ea"/>
                    <a:ea typeface="+mn-ea"/>
                  </a:rPr>
                  <a:t>項）の回帰係数軌跡。</a:t>
                </a:r>
                <a:endParaRPr lang="en-US" altLang="ja-JP" b="1" i="1" dirty="0">
                  <a:solidFill>
                    <a:schemeClr val="bg1"/>
                  </a:solidFill>
                  <a:latin typeface="+mn-ea"/>
                  <a:ea typeface="+mn-ea"/>
                </a:endParaRPr>
              </a:p>
              <a:p>
                <a:r>
                  <a:rPr lang="ja-JP" altLang="ja-JP" b="1" i="1" dirty="0">
                    <a:solidFill>
                      <a:schemeClr val="bg1"/>
                    </a:solidFill>
                    <a:latin typeface="+mn-ea"/>
                    <a:ea typeface="+mn-ea"/>
                  </a:rPr>
                  <a:t>Ridge正則化により過学習を防止しつつ主要な交互作用を安定に抽出している。</a:t>
                </a:r>
                <a:endParaRPr lang="ja-JP" altLang="en-US" b="1" dirty="0">
                  <a:solidFill>
                    <a:schemeClr val="bg1"/>
                  </a:solidFill>
                  <a:latin typeface="+mn-ea"/>
                  <a:ea typeface="+mn-ea"/>
                </a:endParaRPr>
              </a:p>
            </p:txBody>
          </p:sp>
        </mc:Choice>
        <mc:Fallback xmlns="">
          <p:sp>
            <p:nvSpPr>
              <p:cNvPr id="3" name="テキスト ボックス 2">
                <a:extLst>
                  <a:ext uri="{FF2B5EF4-FFF2-40B4-BE49-F238E27FC236}">
                    <a16:creationId xmlns:a16="http://schemas.microsoft.com/office/drawing/2014/main" id="{49D55BE4-ED14-5182-285F-0E33362D9E09}"/>
                  </a:ext>
                </a:extLst>
              </p:cNvPr>
              <p:cNvSpPr txBox="1">
                <a:spLocks noRot="1" noChangeAspect="1" noMove="1" noResize="1" noEditPoints="1" noAdjustHandles="1" noChangeArrowheads="1" noChangeShapeType="1" noTextEdit="1"/>
              </p:cNvSpPr>
              <p:nvPr/>
            </p:nvSpPr>
            <p:spPr>
              <a:xfrm>
                <a:off x="195643" y="6449494"/>
                <a:ext cx="10362160" cy="954107"/>
              </a:xfrm>
              <a:prstGeom prst="rect">
                <a:avLst/>
              </a:prstGeom>
              <a:blipFill>
                <a:blip r:embed="rId6"/>
                <a:stretch>
                  <a:fillRect l="-176" t="-1274" b="-5096"/>
                </a:stretch>
              </a:blipFill>
            </p:spPr>
            <p:txBody>
              <a:bodyPr/>
              <a:lstStyle/>
              <a:p>
                <a:r>
                  <a:rPr lang="ja-JP" altLang="en-US">
                    <a:noFill/>
                  </a:rPr>
                  <a:t> </a:t>
                </a:r>
              </a:p>
            </p:txBody>
          </p:sp>
        </mc:Fallback>
      </mc:AlternateContent>
      <p:sp>
        <p:nvSpPr>
          <p:cNvPr id="2" name="テキスト ボックス 1">
            <a:extLst>
              <a:ext uri="{FF2B5EF4-FFF2-40B4-BE49-F238E27FC236}">
                <a16:creationId xmlns:a16="http://schemas.microsoft.com/office/drawing/2014/main" id="{2DBDEA87-0770-6C40-0F0A-94F5F99353F6}"/>
              </a:ext>
            </a:extLst>
          </p:cNvPr>
          <p:cNvSpPr txBox="1"/>
          <p:nvPr/>
        </p:nvSpPr>
        <p:spPr>
          <a:xfrm>
            <a:off x="195643" y="4616478"/>
            <a:ext cx="4901651" cy="307777"/>
          </a:xfrm>
          <a:prstGeom prst="rect">
            <a:avLst/>
          </a:prstGeom>
          <a:solidFill>
            <a:schemeClr val="accent5">
              <a:lumMod val="75000"/>
            </a:schemeClr>
          </a:solidFill>
        </p:spPr>
        <p:txBody>
          <a:bodyPr wrap="square">
            <a:spAutoFit/>
          </a:bodyPr>
          <a:lstStyle/>
          <a:p>
            <a:r>
              <a:rPr lang="ja-JP" altLang="ja-JP" b="1" i="1" dirty="0">
                <a:solidFill>
                  <a:schemeClr val="bg1"/>
                </a:solidFill>
                <a:latin typeface="+mn-ea"/>
                <a:ea typeface="+mn-ea"/>
              </a:rPr>
              <a:t>サロゲートモデルの最適化と過学習の抑制 (CV Error Curve)</a:t>
            </a:r>
            <a:endParaRPr lang="ja-JP" altLang="en-US" b="1" i="1" dirty="0">
              <a:solidFill>
                <a:schemeClr val="bg1"/>
              </a:solidFill>
              <a:latin typeface="+mn-ea"/>
              <a:ea typeface="+mn-ea"/>
            </a:endParaRPr>
          </a:p>
        </p:txBody>
      </p:sp>
      <p:sp>
        <p:nvSpPr>
          <p:cNvPr id="5" name="テキスト ボックス 4">
            <a:extLst>
              <a:ext uri="{FF2B5EF4-FFF2-40B4-BE49-F238E27FC236}">
                <a16:creationId xmlns:a16="http://schemas.microsoft.com/office/drawing/2014/main" id="{9DAD4B26-9978-3D6A-940A-93DF94A641EE}"/>
              </a:ext>
            </a:extLst>
          </p:cNvPr>
          <p:cNvSpPr txBox="1"/>
          <p:nvPr/>
        </p:nvSpPr>
        <p:spPr>
          <a:xfrm>
            <a:off x="5655613" y="4616478"/>
            <a:ext cx="4978219" cy="523220"/>
          </a:xfrm>
          <a:prstGeom prst="rect">
            <a:avLst/>
          </a:prstGeom>
          <a:solidFill>
            <a:schemeClr val="accent5">
              <a:lumMod val="75000"/>
            </a:schemeClr>
          </a:solidFill>
        </p:spPr>
        <p:txBody>
          <a:bodyPr wrap="square">
            <a:spAutoFit/>
          </a:bodyPr>
          <a:lstStyle/>
          <a:p>
            <a:r>
              <a:rPr lang="en-US" altLang="ja-JP" b="1" dirty="0">
                <a:solidFill>
                  <a:schemeClr val="bg1"/>
                </a:solidFill>
                <a:latin typeface="+mn-ea"/>
                <a:ea typeface="+mn-ea"/>
              </a:rPr>
              <a:t>PCE</a:t>
            </a:r>
            <a:r>
              <a:rPr lang="ja-JP" altLang="en-US" b="1" dirty="0">
                <a:solidFill>
                  <a:schemeClr val="bg1"/>
                </a:solidFill>
                <a:latin typeface="+mn-ea"/>
                <a:ea typeface="+mn-ea"/>
              </a:rPr>
              <a:t>多項式基底の安定性と係数挙動（</a:t>
            </a:r>
            <a:r>
              <a:rPr lang="en-US" altLang="ja-JP" b="1" dirty="0">
                <a:solidFill>
                  <a:schemeClr val="bg1"/>
                </a:solidFill>
                <a:latin typeface="+mn-ea"/>
                <a:ea typeface="+mn-ea"/>
              </a:rPr>
              <a:t>Coefficient</a:t>
            </a:r>
            <a:r>
              <a:rPr lang="ja-JP" altLang="en-US" b="1" dirty="0">
                <a:solidFill>
                  <a:schemeClr val="bg1"/>
                </a:solidFill>
                <a:latin typeface="+mn-ea"/>
                <a:ea typeface="+mn-ea"/>
              </a:rPr>
              <a:t> </a:t>
            </a:r>
            <a:r>
              <a:rPr lang="en-US" altLang="ja-JP" b="1" dirty="0">
                <a:solidFill>
                  <a:schemeClr val="bg1"/>
                </a:solidFill>
                <a:latin typeface="+mn-ea"/>
                <a:ea typeface="+mn-ea"/>
              </a:rPr>
              <a:t>Shrinkage</a:t>
            </a:r>
            <a:r>
              <a:rPr lang="ja-JP" altLang="en-US" b="1" dirty="0">
                <a:solidFill>
                  <a:schemeClr val="bg1"/>
                </a:solidFill>
                <a:latin typeface="+mn-ea"/>
                <a:ea typeface="+mn-ea"/>
              </a:rPr>
              <a:t> </a:t>
            </a:r>
            <a:r>
              <a:rPr lang="en-US" altLang="ja-JP" b="1" dirty="0">
                <a:solidFill>
                  <a:schemeClr val="bg1"/>
                </a:solidFill>
                <a:latin typeface="+mn-ea"/>
                <a:ea typeface="+mn-ea"/>
              </a:rPr>
              <a:t>Path)</a:t>
            </a:r>
            <a:endParaRPr lang="ja-JP" altLang="en-US" b="1" dirty="0">
              <a:solidFill>
                <a:schemeClr val="bg1"/>
              </a:solidFill>
              <a:latin typeface="+mn-ea"/>
              <a:ea typeface="+mn-ea"/>
            </a:endParaRPr>
          </a:p>
        </p:txBody>
      </p:sp>
    </p:spTree>
    <p:extLst>
      <p:ext uri="{BB962C8B-B14F-4D97-AF65-F5344CB8AC3E}">
        <p14:creationId xmlns:p14="http://schemas.microsoft.com/office/powerpoint/2010/main" val="33986462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02074-221C-E12E-F58F-87E2DA913ABD}"/>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DF37CD37-B2A5-EE2D-04D3-523453658145}"/>
              </a:ext>
            </a:extLst>
          </p:cNvPr>
          <p:cNvSpPr>
            <a:spLocks noGrp="1"/>
          </p:cNvSpPr>
          <p:nvPr>
            <p:ph type="title"/>
          </p:nvPr>
        </p:nvSpPr>
        <p:spPr/>
        <p:txBody>
          <a:bodyPr/>
          <a:lstStyle/>
          <a:p>
            <a:r>
              <a:rPr lang="ja-JP" altLang="en-US" dirty="0"/>
              <a:t>まとめ</a:t>
            </a:r>
          </a:p>
        </p:txBody>
      </p:sp>
    </p:spTree>
    <p:extLst>
      <p:ext uri="{BB962C8B-B14F-4D97-AF65-F5344CB8AC3E}">
        <p14:creationId xmlns:p14="http://schemas.microsoft.com/office/powerpoint/2010/main" val="18793224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606A2-A330-CD3D-A4D2-633349722F8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9740B93-5192-8D9B-360B-5ECB38295109}"/>
              </a:ext>
            </a:extLst>
          </p:cNvPr>
          <p:cNvSpPr>
            <a:spLocks noGrp="1"/>
          </p:cNvSpPr>
          <p:nvPr>
            <p:ph type="title"/>
          </p:nvPr>
        </p:nvSpPr>
        <p:spPr>
          <a:xfrm>
            <a:off x="374904" y="61259"/>
            <a:ext cx="10003638" cy="706210"/>
          </a:xfrm>
        </p:spPr>
        <p:txBody>
          <a:bodyPr/>
          <a:lstStyle/>
          <a:p>
            <a:r>
              <a:rPr lang="en-US" altLang="ja-JP" sz="2800" b="1" dirty="0"/>
              <a:t>1. </a:t>
            </a:r>
            <a:r>
              <a:rPr lang="ja-JP" altLang="en-US" sz="2800" b="1" dirty="0"/>
              <a:t>サロゲートモデル構築と精度検証</a:t>
            </a:r>
          </a:p>
        </p:txBody>
      </p:sp>
      <mc:AlternateContent xmlns:mc="http://schemas.openxmlformats.org/markup-compatibility/2006" xmlns:a14="http://schemas.microsoft.com/office/drawing/2010/main">
        <mc:Choice Requires="a14">
          <p:sp>
            <p:nvSpPr>
              <p:cNvPr id="3" name="テキスト プレースホルダー 2">
                <a:extLst>
                  <a:ext uri="{FF2B5EF4-FFF2-40B4-BE49-F238E27FC236}">
                    <a16:creationId xmlns:a16="http://schemas.microsoft.com/office/drawing/2014/main" id="{62863200-5B4E-2659-BB52-5EAA808C8ED8}"/>
                  </a:ext>
                </a:extLst>
              </p:cNvPr>
              <p:cNvSpPr>
                <a:spLocks noGrp="1"/>
              </p:cNvSpPr>
              <p:nvPr>
                <p:ph type="body" sz="quarter" idx="12"/>
              </p:nvPr>
            </p:nvSpPr>
            <p:spPr>
              <a:xfrm>
                <a:off x="374650" y="949973"/>
                <a:ext cx="10004425" cy="6250928"/>
              </a:xfrm>
            </p:spPr>
            <p:txBody>
              <a:bodyPr>
                <a:normAutofit/>
              </a:bodyPr>
              <a:lstStyle/>
              <a:p>
                <a:r>
                  <a:rPr lang="ja-JP" altLang="ja-JP" sz="1600" dirty="0"/>
                  <a:t>計算構成: 320点 LHS (8,760時間時系列LP) ➔ StandardScaler + 2次PCE + RidgeCV (</a:t>
                </a:r>
                <a14:m>
                  <m:oMath xmlns:m="http://schemas.openxmlformats.org/officeDocument/2006/math">
                    <m:r>
                      <a:rPr lang="ja-JP" altLang="ja-JP" sz="1600" dirty="0" smtClean="0">
                        <a:latin typeface="Cambria Math" panose="02040503050406030204" pitchFamily="18" charset="0"/>
                      </a:rPr>
                      <m:t>𝛼</m:t>
                    </m:r>
                    <m:r>
                      <a:rPr lang="ja-JP" altLang="ja-JP" sz="1600" dirty="0">
                        <a:latin typeface="Cambria Math" panose="02040503050406030204" pitchFamily="18" charset="0"/>
                      </a:rPr>
                      <m:t>=0.1374</m:t>
                    </m:r>
                  </m:oMath>
                </a14:m>
                <a:r>
                  <a:rPr lang="ja-JP" altLang="ja-JP" sz="1600" dirty="0"/>
                  <a:t>)</a:t>
                </a:r>
              </a:p>
              <a:p>
                <a:r>
                  <a:rPr lang="ja-JP" altLang="ja-JP" sz="1600" dirty="0"/>
                  <a:t>予測精度:</a:t>
                </a:r>
              </a:p>
              <a:p>
                <a:pPr lvl="1"/>
                <a:r>
                  <a:rPr lang="ja-JP" altLang="ja-JP" sz="1600" dirty="0"/>
                  <a:t>決定係数: 学習 </a:t>
                </a:r>
                <a14:m>
                  <m:oMath xmlns:m="http://schemas.openxmlformats.org/officeDocument/2006/math">
                    <m:sSup>
                      <m:sSupPr>
                        <m:ctrlPr>
                          <a:rPr lang="ja-JP" altLang="ja-JP" sz="1600" dirty="0" smtClean="0">
                            <a:latin typeface="Cambria Math" panose="02040503050406030204" pitchFamily="18" charset="0"/>
                          </a:rPr>
                        </m:ctrlPr>
                      </m:sSupPr>
                      <m:e>
                        <m:r>
                          <a:rPr lang="ja-JP" altLang="ja-JP" sz="1600" dirty="0" smtClean="0">
                            <a:latin typeface="Cambria Math" panose="02040503050406030204" pitchFamily="18" charset="0"/>
                          </a:rPr>
                          <m:t>𝑅</m:t>
                        </m:r>
                      </m:e>
                      <m:sup>
                        <m:r>
                          <a:rPr lang="ja-JP" altLang="ja-JP" sz="1600" dirty="0" smtClean="0">
                            <a:latin typeface="Cambria Math" panose="02040503050406030204" pitchFamily="18" charset="0"/>
                          </a:rPr>
                          <m:t>2</m:t>
                        </m:r>
                      </m:sup>
                    </m:sSup>
                    <m:r>
                      <a:rPr lang="ja-JP" altLang="ja-JP" sz="1600" dirty="0" smtClean="0">
                        <a:latin typeface="Cambria Math" panose="02040503050406030204" pitchFamily="18" charset="0"/>
                      </a:rPr>
                      <m:t>=0.99993</m:t>
                    </m:r>
                  </m:oMath>
                </a14:m>
                <a:r>
                  <a:rPr lang="ja-JP" altLang="ja-JP" sz="1600" dirty="0"/>
                  <a:t>／ 10-fold CV </a:t>
                </a:r>
                <a14:m>
                  <m:oMath xmlns:m="http://schemas.openxmlformats.org/officeDocument/2006/math">
                    <m:sSup>
                      <m:sSupPr>
                        <m:ctrlPr>
                          <a:rPr lang="ja-JP" altLang="ja-JP" sz="1600" dirty="0" smtClean="0">
                            <a:latin typeface="Cambria Math" panose="02040503050406030204" pitchFamily="18" charset="0"/>
                          </a:rPr>
                        </m:ctrlPr>
                      </m:sSupPr>
                      <m:e>
                        <m:r>
                          <a:rPr lang="ja-JP" altLang="ja-JP" sz="1600" dirty="0" smtClean="0">
                            <a:latin typeface="Cambria Math" panose="02040503050406030204" pitchFamily="18" charset="0"/>
                          </a:rPr>
                          <m:t>𝑅</m:t>
                        </m:r>
                      </m:e>
                      <m:sup>
                        <m:r>
                          <a:rPr lang="ja-JP" altLang="ja-JP" sz="1600" dirty="0" smtClean="0">
                            <a:latin typeface="Cambria Math" panose="02040503050406030204" pitchFamily="18" charset="0"/>
                          </a:rPr>
                          <m:t>2</m:t>
                        </m:r>
                      </m:sup>
                    </m:sSup>
                    <m:r>
                      <a:rPr lang="ja-JP" altLang="ja-JP" sz="1600" dirty="0" smtClean="0">
                        <a:latin typeface="Cambria Math" panose="02040503050406030204" pitchFamily="18" charset="0"/>
                      </a:rPr>
                      <m:t>=0.99991</m:t>
                    </m:r>
                  </m:oMath>
                </a14:m>
                <a:r>
                  <a:rPr lang="ja-JP" altLang="ja-JP" sz="1600" dirty="0"/>
                  <a:t>（ほぼ完全な一致）</a:t>
                </a:r>
              </a:p>
              <a:p>
                <a:pPr lvl="1"/>
                <a:r>
                  <a:rPr lang="ja-JP" altLang="ja-JP" sz="1600" dirty="0"/>
                  <a:t>二乗平均平方根誤差: 学習 RMSE = 96.3 ／ 10-fold CV RMSE = 104.5 [USD/year]</a:t>
                </a:r>
              </a:p>
              <a:p>
                <a:r>
                  <a:rPr lang="ja-JP" altLang="en-US" sz="1600" dirty="0"/>
                  <a:t>⇒</a:t>
                </a:r>
                <a:r>
                  <a:rPr lang="ja-JP" altLang="ja-JP" sz="1600" dirty="0"/>
                  <a:t>過学習を起こさずに</a:t>
                </a:r>
                <a:r>
                  <a:rPr lang="en-US" altLang="ja-JP" sz="1600" dirty="0"/>
                  <a:t>LP</a:t>
                </a:r>
                <a:r>
                  <a:rPr lang="ja-JP" altLang="ja-JP" sz="1600" dirty="0"/>
                  <a:t>複雑な年間コスト最小化問題を</a:t>
                </a:r>
                <a:r>
                  <a:rPr lang="ja-JP" altLang="en-US" sz="1600" dirty="0"/>
                  <a:t>高速・</a:t>
                </a:r>
                <a:r>
                  <a:rPr lang="ja-JP" altLang="ja-JP" sz="1600" dirty="0"/>
                  <a:t>高精度に</a:t>
                </a:r>
                <a:r>
                  <a:rPr lang="ja-JP" altLang="en-US" sz="1600" dirty="0"/>
                  <a:t>計算することができた。</a:t>
                </a:r>
                <a:endParaRPr lang="en-US" altLang="ja-JP" sz="1600" dirty="0"/>
              </a:p>
              <a:p>
                <a:r>
                  <a:rPr lang="en-US" altLang="ja-JP" sz="1600" dirty="0"/>
                  <a:t>10,240</a:t>
                </a:r>
                <a:r>
                  <a:rPr lang="ja-JP" altLang="en-US" sz="1600" dirty="0"/>
                  <a:t>回のサロゲート評価を</a:t>
                </a:r>
                <a:r>
                  <a:rPr lang="en-US" altLang="ja-JP" sz="1600" dirty="0"/>
                  <a:t>320</a:t>
                </a:r>
                <a:r>
                  <a:rPr lang="ja-JP" altLang="en-US" sz="1600" dirty="0"/>
                  <a:t>個の</a:t>
                </a:r>
                <a:r>
                  <a:rPr lang="en-US" altLang="ja-JP" sz="1600" dirty="0"/>
                  <a:t>LP</a:t>
                </a:r>
                <a:r>
                  <a:rPr lang="ja-JP" altLang="en-US" sz="1600" dirty="0"/>
                  <a:t>の計算量（</a:t>
                </a:r>
                <a:r>
                  <a:rPr lang="en-US" altLang="ja-JP" sz="1600" dirty="0"/>
                  <a:t>30</a:t>
                </a:r>
                <a:r>
                  <a:rPr lang="ja-JP" altLang="en-US" sz="1600" dirty="0"/>
                  <a:t>分程度）で実現。</a:t>
                </a:r>
                <a:r>
                  <a:rPr lang="en-US" altLang="ja-JP" sz="1600" dirty="0"/>
                  <a:t>PCE</a:t>
                </a:r>
                <a:r>
                  <a:rPr lang="ja-JP" altLang="en-US" sz="1600" dirty="0"/>
                  <a:t>を使わない場合は</a:t>
                </a:r>
                <a:r>
                  <a:rPr lang="en-US" altLang="ja-JP" sz="1600" dirty="0"/>
                  <a:t>18</a:t>
                </a:r>
                <a:r>
                  <a:rPr lang="ja-JP" altLang="en-US" sz="1600" dirty="0"/>
                  <a:t>時間必要。　</a:t>
                </a:r>
              </a:p>
              <a:p>
                <a:endParaRPr lang="ja-JP" altLang="ja-JP" sz="1600" dirty="0"/>
              </a:p>
            </p:txBody>
          </p:sp>
        </mc:Choice>
        <mc:Fallback xmlns="">
          <p:sp>
            <p:nvSpPr>
              <p:cNvPr id="3" name="テキスト プレースホルダー 2">
                <a:extLst>
                  <a:ext uri="{FF2B5EF4-FFF2-40B4-BE49-F238E27FC236}">
                    <a16:creationId xmlns:a16="http://schemas.microsoft.com/office/drawing/2014/main" id="{62863200-5B4E-2659-BB52-5EAA808C8ED8}"/>
                  </a:ext>
                </a:extLst>
              </p:cNvPr>
              <p:cNvSpPr>
                <a:spLocks noGrp="1" noRot="1" noChangeAspect="1" noMove="1" noResize="1" noEditPoints="1" noAdjustHandles="1" noChangeArrowheads="1" noChangeShapeType="1" noTextEdit="1"/>
              </p:cNvSpPr>
              <p:nvPr>
                <p:ph type="body" sz="quarter" idx="12"/>
              </p:nvPr>
            </p:nvSpPr>
            <p:spPr>
              <a:xfrm>
                <a:off x="374650" y="949973"/>
                <a:ext cx="10004425" cy="6250928"/>
              </a:xfrm>
              <a:blipFill>
                <a:blip r:embed="rId2"/>
                <a:stretch>
                  <a:fillRect l="-244" t="-68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8843570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83C56-C030-BF0A-2621-22D2E2F3919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7100F24-FCFA-C4D4-FD93-BF7062A4E8F7}"/>
              </a:ext>
            </a:extLst>
          </p:cNvPr>
          <p:cNvSpPr>
            <a:spLocks noGrp="1"/>
          </p:cNvSpPr>
          <p:nvPr>
            <p:ph type="title"/>
          </p:nvPr>
        </p:nvSpPr>
        <p:spPr>
          <a:xfrm>
            <a:off x="374904" y="61259"/>
            <a:ext cx="10003638" cy="706210"/>
          </a:xfrm>
        </p:spPr>
        <p:txBody>
          <a:bodyPr/>
          <a:lstStyle/>
          <a:p>
            <a:r>
              <a:rPr lang="en-US" altLang="ja-JP" sz="2800" b="1" dirty="0"/>
              <a:t>2. </a:t>
            </a:r>
            <a:r>
              <a:rPr lang="ja-JP" altLang="en-US" sz="2800" b="1" dirty="0"/>
              <a:t>総コスト不確実性の主要因特定（</a:t>
            </a:r>
            <a:r>
              <a:rPr lang="en-US" altLang="ja-JP" sz="2800" b="1" dirty="0"/>
              <a:t>Sobol</a:t>
            </a:r>
            <a:r>
              <a:rPr lang="ja-JP" altLang="en-US" sz="2800" b="1" dirty="0"/>
              <a:t>感度指標）</a:t>
            </a:r>
          </a:p>
        </p:txBody>
      </p:sp>
      <mc:AlternateContent xmlns:mc="http://schemas.openxmlformats.org/markup-compatibility/2006" xmlns:a14="http://schemas.microsoft.com/office/drawing/2010/main">
        <mc:Choice Requires="a14">
          <p:sp>
            <p:nvSpPr>
              <p:cNvPr id="3" name="テキスト プレースホルダー 2">
                <a:extLst>
                  <a:ext uri="{FF2B5EF4-FFF2-40B4-BE49-F238E27FC236}">
                    <a16:creationId xmlns:a16="http://schemas.microsoft.com/office/drawing/2014/main" id="{6BC7AC47-7D24-1BFE-57FE-791F13E3E15F}"/>
                  </a:ext>
                </a:extLst>
              </p:cNvPr>
              <p:cNvSpPr>
                <a:spLocks noGrp="1"/>
              </p:cNvSpPr>
              <p:nvPr>
                <p:ph type="body" sz="quarter" idx="12"/>
              </p:nvPr>
            </p:nvSpPr>
            <p:spPr>
              <a:xfrm>
                <a:off x="374650" y="949973"/>
                <a:ext cx="10004425" cy="6250928"/>
              </a:xfrm>
            </p:spPr>
            <p:txBody>
              <a:bodyPr>
                <a:normAutofit/>
              </a:bodyPr>
              <a:lstStyle/>
              <a:p>
                <a:pPr lvl="0"/>
                <a:r>
                  <a:rPr lang="ja-JP" altLang="ja-JP" dirty="0"/>
                  <a:t>2大支配因子（全体の約98%の分散を説明）:</a:t>
                </a:r>
              </a:p>
              <a:p>
                <a:pPr lvl="1"/>
                <a:r>
                  <a:rPr lang="ja-JP" altLang="ja-JP" dirty="0"/>
                  <a:t>battery_capex: </a:t>
                </a:r>
                <a14:m>
                  <m:oMath xmlns:m="http://schemas.openxmlformats.org/officeDocument/2006/math">
                    <m:sSub>
                      <m:sSubPr>
                        <m:ctrlPr>
                          <a:rPr lang="ja-JP" altLang="ja-JP" dirty="0">
                            <a:latin typeface="Cambria Math" panose="02040503050406030204" pitchFamily="18" charset="0"/>
                          </a:rPr>
                        </m:ctrlPr>
                      </m:sSubPr>
                      <m:e>
                        <m:r>
                          <a:rPr lang="ja-JP" altLang="ja-JP" dirty="0">
                            <a:latin typeface="Cambria Math" panose="02040503050406030204" pitchFamily="18" charset="0"/>
                          </a:rPr>
                          <m:t>𝑆</m:t>
                        </m:r>
                      </m:e>
                      <m:sub>
                        <m:r>
                          <a:rPr lang="ja-JP" altLang="ja-JP" dirty="0">
                            <a:latin typeface="Cambria Math" panose="02040503050406030204" pitchFamily="18" charset="0"/>
                          </a:rPr>
                          <m:t>1</m:t>
                        </m:r>
                      </m:sub>
                    </m:sSub>
                    <m:r>
                      <a:rPr lang="ja-JP" altLang="ja-JP" dirty="0">
                        <a:latin typeface="Cambria Math" panose="02040503050406030204" pitchFamily="18" charset="0"/>
                      </a:rPr>
                      <m:t>=0.5345</m:t>
                    </m:r>
                  </m:oMath>
                </a14:m>
                <a:r>
                  <a:rPr lang="ja-JP" altLang="ja-JP" dirty="0"/>
                  <a:t>（</a:t>
                </a:r>
                <a14:m>
                  <m:oMath xmlns:m="http://schemas.openxmlformats.org/officeDocument/2006/math">
                    <m:sSub>
                      <m:sSubPr>
                        <m:ctrlPr>
                          <a:rPr lang="ja-JP" altLang="ja-JP" dirty="0" smtClean="0">
                            <a:latin typeface="Cambria Math" panose="02040503050406030204" pitchFamily="18" charset="0"/>
                          </a:rPr>
                        </m:ctrlPr>
                      </m:sSubPr>
                      <m:e>
                        <m:r>
                          <a:rPr lang="ja-JP" altLang="ja-JP" dirty="0" smtClean="0">
                            <a:latin typeface="Cambria Math" panose="02040503050406030204" pitchFamily="18" charset="0"/>
                          </a:rPr>
                          <m:t>𝑆</m:t>
                        </m:r>
                      </m:e>
                      <m:sub>
                        <m:r>
                          <a:rPr lang="ja-JP" altLang="ja-JP" dirty="0" smtClean="0">
                            <a:latin typeface="Cambria Math" panose="02040503050406030204" pitchFamily="18" charset="0"/>
                          </a:rPr>
                          <m:t>𝑇</m:t>
                        </m:r>
                      </m:sub>
                    </m:sSub>
                    <m:r>
                      <a:rPr lang="ja-JP" altLang="ja-JP" dirty="0" smtClean="0">
                        <a:latin typeface="Cambria Math" panose="02040503050406030204" pitchFamily="18" charset="0"/>
                      </a:rPr>
                      <m:t>=0.5347</m:t>
                    </m:r>
                  </m:oMath>
                </a14:m>
                <a:r>
                  <a:rPr lang="ja-JP" altLang="ja-JP" dirty="0"/>
                  <a:t>） — 最大影響要因（不確実性の約53.5%）</a:t>
                </a:r>
              </a:p>
              <a:p>
                <a:pPr lvl="1"/>
                <a:r>
                  <a:rPr lang="ja-JP" altLang="ja-JP" dirty="0"/>
                  <a:t>solar_capex: </a:t>
                </a:r>
                <a14:m>
                  <m:oMath xmlns:m="http://schemas.openxmlformats.org/officeDocument/2006/math">
                    <m:sSub>
                      <m:sSubPr>
                        <m:ctrlPr>
                          <a:rPr lang="ja-JP" altLang="ja-JP" dirty="0">
                            <a:latin typeface="Cambria Math" panose="02040503050406030204" pitchFamily="18" charset="0"/>
                          </a:rPr>
                        </m:ctrlPr>
                      </m:sSubPr>
                      <m:e>
                        <m:r>
                          <a:rPr lang="ja-JP" altLang="ja-JP" dirty="0">
                            <a:latin typeface="Cambria Math" panose="02040503050406030204" pitchFamily="18" charset="0"/>
                          </a:rPr>
                          <m:t>𝑆</m:t>
                        </m:r>
                      </m:e>
                      <m:sub>
                        <m:r>
                          <a:rPr lang="ja-JP" altLang="ja-JP" dirty="0">
                            <a:latin typeface="Cambria Math" panose="02040503050406030204" pitchFamily="18" charset="0"/>
                          </a:rPr>
                          <m:t>1</m:t>
                        </m:r>
                      </m:sub>
                    </m:sSub>
                    <m:r>
                      <a:rPr lang="ja-JP" altLang="ja-JP" dirty="0">
                        <a:latin typeface="Cambria Math" panose="02040503050406030204" pitchFamily="18" charset="0"/>
                      </a:rPr>
                      <m:t>=0.4417</m:t>
                    </m:r>
                  </m:oMath>
                </a14:m>
                <a:r>
                  <a:rPr lang="ja-JP" altLang="ja-JP" dirty="0"/>
                  <a:t>（</a:t>
                </a:r>
                <a14:m>
                  <m:oMath xmlns:m="http://schemas.openxmlformats.org/officeDocument/2006/math">
                    <m:sSub>
                      <m:sSubPr>
                        <m:ctrlPr>
                          <a:rPr lang="ja-JP" altLang="ja-JP" dirty="0">
                            <a:latin typeface="Cambria Math" panose="02040503050406030204" pitchFamily="18" charset="0"/>
                          </a:rPr>
                        </m:ctrlPr>
                      </m:sSubPr>
                      <m:e>
                        <m:r>
                          <a:rPr lang="ja-JP" altLang="ja-JP" dirty="0">
                            <a:latin typeface="Cambria Math" panose="02040503050406030204" pitchFamily="18" charset="0"/>
                          </a:rPr>
                          <m:t>𝑆</m:t>
                        </m:r>
                      </m:e>
                      <m:sub>
                        <m:r>
                          <a:rPr lang="ja-JP" altLang="ja-JP" dirty="0">
                            <a:latin typeface="Cambria Math" panose="02040503050406030204" pitchFamily="18" charset="0"/>
                          </a:rPr>
                          <m:t>𝑇</m:t>
                        </m:r>
                      </m:sub>
                    </m:sSub>
                    <m:r>
                      <a:rPr lang="ja-JP" altLang="ja-JP" dirty="0">
                        <a:latin typeface="Cambria Math" panose="02040503050406030204" pitchFamily="18" charset="0"/>
                      </a:rPr>
                      <m:t>=0.4429</m:t>
                    </m:r>
                  </m:oMath>
                </a14:m>
                <a:r>
                  <a:rPr lang="ja-JP" altLang="ja-JP" dirty="0"/>
                  <a:t>） — 第2の影響要因（不確実性の約44.2%）</a:t>
                </a:r>
              </a:p>
              <a:p>
                <a:pPr lvl="0"/>
                <a:r>
                  <a:rPr lang="ja-JP" altLang="ja-JP" dirty="0"/>
                  <a:t>影響軽微な因子: wind_capex（約1.2%）、diesel_opex（約1.1%）</a:t>
                </a:r>
              </a:p>
              <a:p>
                <a:pPr lvl="0"/>
                <a:r>
                  <a:rPr lang="ja-JP" altLang="ja-JP" dirty="0"/>
                  <a:t>インサイト: システム全体の年間総コスト変動は、太陽光と蓄電池の設備容量コスト（CAPEX）の不確実性にほぼ一元化される。</a:t>
                </a:r>
              </a:p>
            </p:txBody>
          </p:sp>
        </mc:Choice>
        <mc:Fallback xmlns="">
          <p:sp>
            <p:nvSpPr>
              <p:cNvPr id="3" name="テキスト プレースホルダー 2">
                <a:extLst>
                  <a:ext uri="{FF2B5EF4-FFF2-40B4-BE49-F238E27FC236}">
                    <a16:creationId xmlns:a16="http://schemas.microsoft.com/office/drawing/2014/main" id="{6BC7AC47-7D24-1BFE-57FE-791F13E3E15F}"/>
                  </a:ext>
                </a:extLst>
              </p:cNvPr>
              <p:cNvSpPr>
                <a:spLocks noGrp="1" noRot="1" noChangeAspect="1" noMove="1" noResize="1" noEditPoints="1" noAdjustHandles="1" noChangeArrowheads="1" noChangeShapeType="1" noTextEdit="1"/>
              </p:cNvSpPr>
              <p:nvPr>
                <p:ph type="body" sz="quarter" idx="12"/>
              </p:nvPr>
            </p:nvSpPr>
            <p:spPr>
              <a:xfrm>
                <a:off x="374650" y="949973"/>
                <a:ext cx="10004425" cy="6250928"/>
              </a:xfrm>
              <a:blipFill>
                <a:blip r:embed="rId2"/>
                <a:stretch>
                  <a:fillRect l="-365" t="-976" r="-426"/>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1349821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F15B7-E2D5-4079-660C-8D6E0AF43EE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タイトル 1">
                <a:extLst>
                  <a:ext uri="{FF2B5EF4-FFF2-40B4-BE49-F238E27FC236}">
                    <a16:creationId xmlns:a16="http://schemas.microsoft.com/office/drawing/2014/main" id="{A9166A23-942A-199A-25CC-75B023F921F0}"/>
                  </a:ext>
                </a:extLst>
              </p:cNvPr>
              <p:cNvSpPr>
                <a:spLocks noGrp="1"/>
              </p:cNvSpPr>
              <p:nvPr>
                <p:ph type="title"/>
              </p:nvPr>
            </p:nvSpPr>
            <p:spPr>
              <a:xfrm>
                <a:off x="374904" y="61259"/>
                <a:ext cx="10003638" cy="706210"/>
              </a:xfrm>
            </p:spPr>
            <p:txBody>
              <a:bodyPr/>
              <a:lstStyle/>
              <a:p>
                <a:r>
                  <a:rPr lang="ja-JP" altLang="ja-JP" sz="2800" b="1" dirty="0"/>
                  <a:t>3. PCE交差項（</a:t>
                </a:r>
                <a14:m>
                  <m:oMath xmlns:m="http://schemas.openxmlformats.org/officeDocument/2006/math">
                    <m:sSub>
                      <m:sSubPr>
                        <m:ctrlPr>
                          <a:rPr lang="ja-JP" altLang="ja-JP" sz="2800" b="1" i="1" dirty="0">
                            <a:latin typeface="Cambria Math" panose="02040503050406030204" pitchFamily="18" charset="0"/>
                          </a:rPr>
                        </m:ctrlPr>
                      </m:sSubPr>
                      <m:e>
                        <m:r>
                          <a:rPr lang="ja-JP" altLang="ja-JP" sz="2800" b="1" i="1" dirty="0">
                            <a:latin typeface="Cambria Math" panose="02040503050406030204" pitchFamily="18" charset="0"/>
                          </a:rPr>
                          <m:t>𝑪</m:t>
                        </m:r>
                      </m:e>
                      <m:sub>
                        <m:r>
                          <a:rPr lang="ja-JP" altLang="ja-JP" sz="2800" b="1" i="1" dirty="0">
                            <a:latin typeface="Cambria Math" panose="02040503050406030204" pitchFamily="18" charset="0"/>
                          </a:rPr>
                          <m:t>𝒊𝒋</m:t>
                        </m:r>
                      </m:sub>
                    </m:sSub>
                  </m:oMath>
                </a14:m>
                <a:r>
                  <a:rPr lang="ja-JP" altLang="ja-JP" sz="2800" b="1" dirty="0"/>
                  <a:t>）に基づく技術間相互作用の物理的判定</a:t>
                </a:r>
              </a:p>
            </p:txBody>
          </p:sp>
        </mc:Choice>
        <mc:Fallback xmlns="">
          <p:sp>
            <p:nvSpPr>
              <p:cNvPr id="2" name="タイトル 1">
                <a:extLst>
                  <a:ext uri="{FF2B5EF4-FFF2-40B4-BE49-F238E27FC236}">
                    <a16:creationId xmlns:a16="http://schemas.microsoft.com/office/drawing/2014/main" id="{A9166A23-942A-199A-25CC-75B023F921F0}"/>
                  </a:ext>
                </a:extLst>
              </p:cNvPr>
              <p:cNvSpPr>
                <a:spLocks noGrp="1" noRot="1" noChangeAspect="1" noMove="1" noResize="1" noEditPoints="1" noAdjustHandles="1" noChangeArrowheads="1" noChangeShapeType="1" noTextEdit="1"/>
              </p:cNvSpPr>
              <p:nvPr>
                <p:ph type="title"/>
              </p:nvPr>
            </p:nvSpPr>
            <p:spPr>
              <a:xfrm>
                <a:off x="374904" y="61259"/>
                <a:ext cx="10003638" cy="706210"/>
              </a:xfrm>
              <a:blipFill>
                <a:blip r:embed="rId2"/>
                <a:stretch>
                  <a:fillRect l="-1218" t="-2586" b="-344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 name="テキスト プレースホルダー 2">
                <a:extLst>
                  <a:ext uri="{FF2B5EF4-FFF2-40B4-BE49-F238E27FC236}">
                    <a16:creationId xmlns:a16="http://schemas.microsoft.com/office/drawing/2014/main" id="{4F8EBF3D-EEC4-BAF8-431C-13D303E1390D}"/>
                  </a:ext>
                </a:extLst>
              </p:cNvPr>
              <p:cNvSpPr>
                <a:spLocks noGrp="1"/>
              </p:cNvSpPr>
              <p:nvPr>
                <p:ph type="body" sz="quarter" idx="12"/>
              </p:nvPr>
            </p:nvSpPr>
            <p:spPr>
              <a:xfrm>
                <a:off x="374650" y="949973"/>
                <a:ext cx="10004425" cy="6250928"/>
              </a:xfrm>
            </p:spPr>
            <p:txBody>
              <a:bodyPr>
                <a:normAutofit/>
              </a:bodyPr>
              <a:lstStyle/>
              <a:p>
                <a:pPr lvl="0"/>
                <a:r>
                  <a:rPr lang="ja-JP" altLang="ja-JP" dirty="0"/>
                  <a:t>包絡線定理によるメカニズム: </a:t>
                </a:r>
                <a14:m>
                  <m:oMath xmlns:m="http://schemas.openxmlformats.org/officeDocument/2006/math">
                    <m:sSub>
                      <m:sSubPr>
                        <m:ctrlPr>
                          <a:rPr lang="ja-JP" altLang="ja-JP" dirty="0">
                            <a:latin typeface="Cambria Math" panose="02040503050406030204" pitchFamily="18" charset="0"/>
                          </a:rPr>
                        </m:ctrlPr>
                      </m:sSubPr>
                      <m:e>
                        <m:r>
                          <a:rPr lang="ja-JP" altLang="ja-JP" dirty="0">
                            <a:latin typeface="Cambria Math" panose="02040503050406030204" pitchFamily="18" charset="0"/>
                          </a:rPr>
                          <m:t>𝐶</m:t>
                        </m:r>
                      </m:e>
                      <m:sub>
                        <m:r>
                          <a:rPr lang="ja-JP" altLang="ja-JP" dirty="0">
                            <a:latin typeface="Cambria Math" panose="02040503050406030204" pitchFamily="18" charset="0"/>
                          </a:rPr>
                          <m:t>𝑖𝑗</m:t>
                        </m:r>
                      </m:sub>
                    </m:sSub>
                    <m:r>
                      <a:rPr lang="ja-JP" altLang="ja-JP" dirty="0">
                        <a:latin typeface="Cambria Math" panose="02040503050406030204" pitchFamily="18" charset="0"/>
                      </a:rPr>
                      <m:t>=</m:t>
                    </m:r>
                    <m:f>
                      <m:fPr>
                        <m:ctrlPr>
                          <a:rPr lang="ja-JP" altLang="ja-JP" i="1" dirty="0">
                            <a:latin typeface="Cambria Math" panose="02040503050406030204" pitchFamily="18" charset="0"/>
                          </a:rPr>
                        </m:ctrlPr>
                      </m:fPr>
                      <m:num>
                        <m:sSup>
                          <m:sSupPr>
                            <m:ctrlPr>
                              <a:rPr lang="ja-JP" altLang="ja-JP" dirty="0">
                                <a:latin typeface="Cambria Math" panose="02040503050406030204" pitchFamily="18" charset="0"/>
                              </a:rPr>
                            </m:ctrlPr>
                          </m:sSupPr>
                          <m:e>
                            <m:r>
                              <a:rPr lang="ja-JP" altLang="ja-JP" dirty="0">
                                <a:latin typeface="Cambria Math" panose="02040503050406030204" pitchFamily="18" charset="0"/>
                              </a:rPr>
                              <m:t>𝜕</m:t>
                            </m:r>
                          </m:e>
                          <m:sup>
                            <m:r>
                              <a:rPr lang="ja-JP" altLang="ja-JP" dirty="0">
                                <a:latin typeface="Cambria Math" panose="02040503050406030204" pitchFamily="18" charset="0"/>
                              </a:rPr>
                              <m:t>2</m:t>
                            </m:r>
                          </m:sup>
                        </m:sSup>
                        <m:r>
                          <a:rPr lang="ja-JP" altLang="ja-JP" dirty="0">
                            <a:latin typeface="Cambria Math" panose="02040503050406030204" pitchFamily="18" charset="0"/>
                          </a:rPr>
                          <m:t>𝐶</m:t>
                        </m:r>
                      </m:num>
                      <m:den>
                        <m:r>
                          <a:rPr lang="ja-JP" altLang="ja-JP" dirty="0">
                            <a:latin typeface="Cambria Math" panose="02040503050406030204" pitchFamily="18" charset="0"/>
                          </a:rPr>
                          <m:t>𝜕</m:t>
                        </m:r>
                        <m:sSub>
                          <m:sSubPr>
                            <m:ctrlPr>
                              <a:rPr lang="ja-JP" altLang="ja-JP" dirty="0">
                                <a:latin typeface="Cambria Math" panose="02040503050406030204" pitchFamily="18" charset="0"/>
                              </a:rPr>
                            </m:ctrlPr>
                          </m:sSubPr>
                          <m:e>
                            <m:r>
                              <a:rPr lang="ja-JP" altLang="ja-JP" dirty="0">
                                <a:latin typeface="Cambria Math" panose="02040503050406030204" pitchFamily="18" charset="0"/>
                              </a:rPr>
                              <m:t>𝜃</m:t>
                            </m:r>
                          </m:e>
                          <m:sub>
                            <m:r>
                              <a:rPr lang="ja-JP" altLang="ja-JP" dirty="0">
                                <a:latin typeface="Cambria Math" panose="02040503050406030204" pitchFamily="18" charset="0"/>
                              </a:rPr>
                              <m:t>𝑖</m:t>
                            </m:r>
                          </m:sub>
                        </m:sSub>
                        <m:r>
                          <a:rPr lang="ja-JP" altLang="ja-JP" dirty="0">
                            <a:latin typeface="Cambria Math" panose="02040503050406030204" pitchFamily="18" charset="0"/>
                          </a:rPr>
                          <m:t>𝜕</m:t>
                        </m:r>
                        <m:sSub>
                          <m:sSubPr>
                            <m:ctrlPr>
                              <a:rPr lang="ja-JP" altLang="ja-JP" dirty="0">
                                <a:latin typeface="Cambria Math" panose="02040503050406030204" pitchFamily="18" charset="0"/>
                              </a:rPr>
                            </m:ctrlPr>
                          </m:sSubPr>
                          <m:e>
                            <m:r>
                              <a:rPr lang="ja-JP" altLang="ja-JP" dirty="0">
                                <a:latin typeface="Cambria Math" panose="02040503050406030204" pitchFamily="18" charset="0"/>
                              </a:rPr>
                              <m:t>𝜃</m:t>
                            </m:r>
                          </m:e>
                          <m:sub>
                            <m:r>
                              <a:rPr lang="ja-JP" altLang="ja-JP" dirty="0">
                                <a:latin typeface="Cambria Math" panose="02040503050406030204" pitchFamily="18" charset="0"/>
                              </a:rPr>
                              <m:t>𝑗</m:t>
                            </m:r>
                          </m:sub>
                        </m:sSub>
                      </m:den>
                    </m:f>
                    <m:r>
                      <a:rPr lang="ja-JP" altLang="ja-JP" dirty="0">
                        <a:latin typeface="Cambria Math" panose="02040503050406030204" pitchFamily="18" charset="0"/>
                      </a:rPr>
                      <m:t>=</m:t>
                    </m:r>
                    <m:f>
                      <m:fPr>
                        <m:ctrlPr>
                          <a:rPr lang="ja-JP" altLang="ja-JP" dirty="0">
                            <a:latin typeface="Cambria Math" panose="02040503050406030204" pitchFamily="18" charset="0"/>
                          </a:rPr>
                        </m:ctrlPr>
                      </m:fPr>
                      <m:num>
                        <m:r>
                          <a:rPr lang="ja-JP" altLang="ja-JP" dirty="0">
                            <a:latin typeface="Cambria Math" panose="02040503050406030204" pitchFamily="18" charset="0"/>
                          </a:rPr>
                          <m:t>𝜕</m:t>
                        </m:r>
                        <m:d>
                          <m:dPr>
                            <m:ctrlPr>
                              <a:rPr lang="ja-JP" altLang="ja-JP" i="1" dirty="0">
                                <a:latin typeface="Cambria Math" panose="02040503050406030204" pitchFamily="18" charset="0"/>
                              </a:rPr>
                            </m:ctrlPr>
                          </m:dPr>
                          <m:e>
                            <m:sSub>
                              <m:sSubPr>
                                <m:ctrlPr>
                                  <a:rPr lang="ja-JP" altLang="ja-JP" i="0" dirty="0"/>
                                </m:ctrlPr>
                              </m:sSubPr>
                              <m:e>
                                <m:r>
                                  <m:rPr>
                                    <m:nor/>
                                  </m:rPr>
                                  <a:rPr lang="ja-JP" altLang="ja-JP" i="0" dirty="0"/>
                                  <m:t>最適容量</m:t>
                                </m:r>
                              </m:e>
                              <m:sub>
                                <m:r>
                                  <a:rPr lang="ja-JP" altLang="ja-JP" dirty="0">
                                    <a:latin typeface="Cambria Math" panose="02040503050406030204" pitchFamily="18" charset="0"/>
                                  </a:rPr>
                                  <m:t>𝑖</m:t>
                                </m:r>
                              </m:sub>
                            </m:sSub>
                          </m:e>
                        </m:d>
                      </m:num>
                      <m:den>
                        <m:r>
                          <a:rPr lang="ja-JP" altLang="ja-JP" dirty="0">
                            <a:latin typeface="Cambria Math" panose="02040503050406030204" pitchFamily="18" charset="0"/>
                          </a:rPr>
                          <m:t>𝜕</m:t>
                        </m:r>
                        <m:sSub>
                          <m:sSubPr>
                            <m:ctrlPr>
                              <a:rPr lang="ja-JP" altLang="ja-JP" dirty="0">
                                <a:latin typeface="Cambria Math" panose="02040503050406030204" pitchFamily="18" charset="0"/>
                              </a:rPr>
                            </m:ctrlPr>
                          </m:sSubPr>
                          <m:e>
                            <m:r>
                              <a:rPr lang="ja-JP" altLang="ja-JP" dirty="0">
                                <a:latin typeface="Cambria Math" panose="02040503050406030204" pitchFamily="18" charset="0"/>
                              </a:rPr>
                              <m:t>𝜃</m:t>
                            </m:r>
                          </m:e>
                          <m:sub>
                            <m:r>
                              <a:rPr lang="ja-JP" altLang="ja-JP" dirty="0">
                                <a:latin typeface="Cambria Math" panose="02040503050406030204" pitchFamily="18" charset="0"/>
                              </a:rPr>
                              <m:t>𝑗</m:t>
                            </m:r>
                          </m:sub>
                        </m:sSub>
                      </m:den>
                    </m:f>
                  </m:oMath>
                </a14:m>
                <a:endParaRPr lang="ja-JP" altLang="ja-JP" dirty="0"/>
              </a:p>
              <a:p>
                <a:pPr lvl="0"/>
                <a:r>
                  <a:rPr lang="ja-JP" altLang="ja-JP" dirty="0"/>
                  <a:t>主要パラメータペアの定量評価:</a:t>
                </a:r>
              </a:p>
              <a:p>
                <a:pPr lvl="1"/>
                <a:r>
                  <a:rPr lang="ja-JP" altLang="ja-JP" dirty="0"/>
                  <a:t>【補完関係 (シナジー)】 (</a:t>
                </a:r>
                <a14:m>
                  <m:oMath xmlns:m="http://schemas.openxmlformats.org/officeDocument/2006/math">
                    <m:sSub>
                      <m:sSubPr>
                        <m:ctrlPr>
                          <a:rPr lang="ja-JP" altLang="ja-JP" dirty="0">
                            <a:latin typeface="Cambria Math" panose="02040503050406030204" pitchFamily="18" charset="0"/>
                          </a:rPr>
                        </m:ctrlPr>
                      </m:sSubPr>
                      <m:e>
                        <m:r>
                          <a:rPr lang="ja-JP" altLang="ja-JP" dirty="0">
                            <a:latin typeface="Cambria Math" panose="02040503050406030204" pitchFamily="18" charset="0"/>
                          </a:rPr>
                          <m:t>𝐶</m:t>
                        </m:r>
                      </m:e>
                      <m:sub>
                        <m:r>
                          <a:rPr lang="ja-JP" altLang="ja-JP" dirty="0">
                            <a:latin typeface="Cambria Math" panose="02040503050406030204" pitchFamily="18" charset="0"/>
                          </a:rPr>
                          <m:t>𝑖𝑗</m:t>
                        </m:r>
                      </m:sub>
                    </m:sSub>
                    <m:r>
                      <a:rPr lang="ja-JP" altLang="ja-JP" dirty="0">
                        <a:latin typeface="Cambria Math" panose="02040503050406030204" pitchFamily="18" charset="0"/>
                      </a:rPr>
                      <m:t>&lt;0</m:t>
                    </m:r>
                  </m:oMath>
                </a14:m>
                <a:r>
                  <a:rPr lang="ja-JP" altLang="ja-JP" dirty="0"/>
                  <a:t>):</a:t>
                </a:r>
              </a:p>
              <a:p>
                <a:pPr lvl="2"/>
                <a:r>
                  <a:rPr lang="ja-JP" altLang="ja-JP" dirty="0"/>
                  <a:t>solar_capex </a:t>
                </a:r>
                <a14:m>
                  <m:oMath xmlns:m="http://schemas.openxmlformats.org/officeDocument/2006/math">
                    <m:r>
                      <a:rPr lang="ja-JP" altLang="ja-JP" dirty="0" smtClean="0">
                        <a:latin typeface="Cambria Math" panose="02040503050406030204" pitchFamily="18" charset="0"/>
                      </a:rPr>
                      <m:t>×</m:t>
                    </m:r>
                  </m:oMath>
                </a14:m>
                <a:r>
                  <a:rPr lang="ja-JP" altLang="ja-JP" dirty="0"/>
                  <a:t>battery_capex (</a:t>
                </a:r>
                <a14:m>
                  <m:oMath xmlns:m="http://schemas.openxmlformats.org/officeDocument/2006/math">
                    <m:sSub>
                      <m:sSubPr>
                        <m:ctrlPr>
                          <a:rPr lang="ja-JP" altLang="ja-JP" dirty="0">
                            <a:latin typeface="Cambria Math" panose="02040503050406030204" pitchFamily="18" charset="0"/>
                          </a:rPr>
                        </m:ctrlPr>
                      </m:sSubPr>
                      <m:e>
                        <m:r>
                          <a:rPr lang="ja-JP" altLang="ja-JP" dirty="0">
                            <a:latin typeface="Cambria Math" panose="02040503050406030204" pitchFamily="18" charset="0"/>
                          </a:rPr>
                          <m:t>𝐶</m:t>
                        </m:r>
                      </m:e>
                      <m:sub>
                        <m:r>
                          <a:rPr lang="ja-JP" altLang="ja-JP" dirty="0">
                            <a:latin typeface="Cambria Math" panose="02040503050406030204" pitchFamily="18" charset="0"/>
                          </a:rPr>
                          <m:t>𝑖𝑗</m:t>
                        </m:r>
                      </m:sub>
                    </m:sSub>
                    <m:r>
                      <a:rPr lang="ja-JP" altLang="ja-JP" dirty="0">
                        <a:latin typeface="Cambria Math" panose="02040503050406030204" pitchFamily="18" charset="0"/>
                      </a:rPr>
                      <m:t>=−184.0</m:t>
                    </m:r>
                  </m:oMath>
                </a14:m>
                <a:r>
                  <a:rPr lang="ja-JP" altLang="ja-JP" dirty="0"/>
                  <a:t>): 蓄電池のコスト低下が太陽光の最適導入量を押し上げる強い容量連動効果。</a:t>
                </a:r>
              </a:p>
              <a:p>
                <a:pPr lvl="2"/>
                <a:r>
                  <a:rPr lang="ja-JP" altLang="ja-JP" dirty="0"/>
                  <a:t>wind_capex </a:t>
                </a:r>
                <a14:m>
                  <m:oMath xmlns:m="http://schemas.openxmlformats.org/officeDocument/2006/math">
                    <m:r>
                      <a:rPr lang="ja-JP" altLang="ja-JP" dirty="0" smtClean="0">
                        <a:latin typeface="Cambria Math" panose="02040503050406030204" pitchFamily="18" charset="0"/>
                      </a:rPr>
                      <m:t>×</m:t>
                    </m:r>
                  </m:oMath>
                </a14:m>
                <a:r>
                  <a:rPr lang="ja-JP" altLang="ja-JP" dirty="0"/>
                  <a:t>diesel_opex (</a:t>
                </a:r>
                <a14:m>
                  <m:oMath xmlns:m="http://schemas.openxmlformats.org/officeDocument/2006/math">
                    <m:sSub>
                      <m:sSubPr>
                        <m:ctrlPr>
                          <a:rPr lang="ja-JP" altLang="ja-JP" dirty="0">
                            <a:latin typeface="Cambria Math" panose="02040503050406030204" pitchFamily="18" charset="0"/>
                          </a:rPr>
                        </m:ctrlPr>
                      </m:sSubPr>
                      <m:e>
                        <m:r>
                          <a:rPr lang="ja-JP" altLang="ja-JP" dirty="0">
                            <a:latin typeface="Cambria Math" panose="02040503050406030204" pitchFamily="18" charset="0"/>
                          </a:rPr>
                          <m:t>𝐶</m:t>
                        </m:r>
                      </m:e>
                      <m:sub>
                        <m:r>
                          <a:rPr lang="ja-JP" altLang="ja-JP" dirty="0">
                            <a:latin typeface="Cambria Math" panose="02040503050406030204" pitchFamily="18" charset="0"/>
                          </a:rPr>
                          <m:t>𝑖𝑗</m:t>
                        </m:r>
                      </m:sub>
                    </m:sSub>
                    <m:r>
                      <a:rPr lang="ja-JP" altLang="ja-JP" dirty="0">
                        <a:latin typeface="Cambria Math" panose="02040503050406030204" pitchFamily="18" charset="0"/>
                      </a:rPr>
                      <m:t>=−46.9</m:t>
                    </m:r>
                  </m:oMath>
                </a14:m>
                <a:r>
                  <a:rPr lang="ja-JP" altLang="ja-JP" dirty="0"/>
                  <a:t>): 燃料費高騰時の風力発電による置換・補完連動。</a:t>
                </a:r>
              </a:p>
              <a:p>
                <a:pPr lvl="1"/>
                <a:r>
                  <a:rPr lang="ja-JP" altLang="ja-JP" dirty="0"/>
                  <a:t>【代替関係 (技術競合・置換)】 (</a:t>
                </a:r>
                <a14:m>
                  <m:oMath xmlns:m="http://schemas.openxmlformats.org/officeDocument/2006/math">
                    <m:sSub>
                      <m:sSubPr>
                        <m:ctrlPr>
                          <a:rPr lang="ja-JP" altLang="ja-JP" i="1" dirty="0">
                            <a:latin typeface="Cambria Math" panose="02040503050406030204" pitchFamily="18" charset="0"/>
                          </a:rPr>
                        </m:ctrlPr>
                      </m:sSubPr>
                      <m:e>
                        <m:r>
                          <a:rPr lang="ja-JP" altLang="ja-JP" i="1" dirty="0">
                            <a:latin typeface="Cambria Math" panose="02040503050406030204" pitchFamily="18" charset="0"/>
                          </a:rPr>
                          <m:t>𝐶</m:t>
                        </m:r>
                      </m:e>
                      <m:sub>
                        <m:r>
                          <a:rPr lang="ja-JP" altLang="ja-JP" i="1" dirty="0">
                            <a:latin typeface="Cambria Math" panose="02040503050406030204" pitchFamily="18" charset="0"/>
                          </a:rPr>
                          <m:t>𝑖𝑗</m:t>
                        </m:r>
                      </m:sub>
                    </m:sSub>
                    <m:r>
                      <a:rPr lang="ja-JP" altLang="ja-JP" i="0" dirty="0">
                        <a:latin typeface="Cambria Math" panose="02040503050406030204" pitchFamily="18" charset="0"/>
                      </a:rPr>
                      <m:t>&gt;0</m:t>
                    </m:r>
                  </m:oMath>
                </a14:m>
                <a:r>
                  <a:rPr lang="ja-JP" altLang="ja-JP" dirty="0"/>
                  <a:t>):</a:t>
                </a:r>
              </a:p>
              <a:p>
                <a:pPr lvl="2"/>
                <a:r>
                  <a:rPr lang="ja-JP" altLang="ja-JP" dirty="0"/>
                  <a:t>solar_capex </a:t>
                </a:r>
                <a14:m>
                  <m:oMath xmlns:m="http://schemas.openxmlformats.org/officeDocument/2006/math">
                    <m:r>
                      <a:rPr lang="ja-JP" altLang="ja-JP" dirty="0" smtClean="0">
                        <a:latin typeface="Cambria Math" panose="02040503050406030204" pitchFamily="18" charset="0"/>
                      </a:rPr>
                      <m:t>×</m:t>
                    </m:r>
                  </m:oMath>
                </a14:m>
                <a:r>
                  <a:rPr lang="ja-JP" altLang="ja-JP" dirty="0"/>
                  <a:t>wind_capex (</a:t>
                </a:r>
                <a14:m>
                  <m:oMath xmlns:m="http://schemas.openxmlformats.org/officeDocument/2006/math">
                    <m:sSub>
                      <m:sSubPr>
                        <m:ctrlPr>
                          <a:rPr lang="ja-JP" altLang="ja-JP" dirty="0">
                            <a:latin typeface="Cambria Math" panose="02040503050406030204" pitchFamily="18" charset="0"/>
                          </a:rPr>
                        </m:ctrlPr>
                      </m:sSubPr>
                      <m:e>
                        <m:r>
                          <a:rPr lang="ja-JP" altLang="ja-JP" dirty="0">
                            <a:latin typeface="Cambria Math" panose="02040503050406030204" pitchFamily="18" charset="0"/>
                          </a:rPr>
                          <m:t>𝐶</m:t>
                        </m:r>
                      </m:e>
                      <m:sub>
                        <m:r>
                          <a:rPr lang="ja-JP" altLang="ja-JP" dirty="0">
                            <a:latin typeface="Cambria Math" panose="02040503050406030204" pitchFamily="18" charset="0"/>
                          </a:rPr>
                          <m:t>𝑖𝑗</m:t>
                        </m:r>
                      </m:sub>
                    </m:sSub>
                    <m:r>
                      <a:rPr lang="ja-JP" altLang="ja-JP" dirty="0">
                        <a:latin typeface="Cambria Math" panose="02040503050406030204" pitchFamily="18" charset="0"/>
                      </a:rPr>
                      <m:t>=+284.9</m:t>
                    </m:r>
                  </m:oMath>
                </a14:m>
                <a:r>
                  <a:rPr lang="ja-JP" altLang="ja-JP" dirty="0"/>
                  <a:t>): 太陽光と風力による強い電源間シェア置換。</a:t>
                </a:r>
              </a:p>
              <a:p>
                <a:pPr lvl="2"/>
                <a:r>
                  <a:rPr lang="ja-JP" altLang="ja-JP" dirty="0"/>
                  <a:t>solar_capex </a:t>
                </a:r>
                <a14:m>
                  <m:oMath xmlns:m="http://schemas.openxmlformats.org/officeDocument/2006/math">
                    <m:r>
                      <a:rPr lang="ja-JP" altLang="ja-JP" dirty="0" smtClean="0">
                        <a:latin typeface="Cambria Math" panose="02040503050406030204" pitchFamily="18" charset="0"/>
                      </a:rPr>
                      <m:t>×</m:t>
                    </m:r>
                  </m:oMath>
                </a14:m>
                <a:r>
                  <a:rPr lang="ja-JP" altLang="ja-JP" dirty="0"/>
                  <a:t>diesel_opex (</a:t>
                </a:r>
                <a14:m>
                  <m:oMath xmlns:m="http://schemas.openxmlformats.org/officeDocument/2006/math">
                    <m:sSub>
                      <m:sSubPr>
                        <m:ctrlPr>
                          <a:rPr lang="ja-JP" altLang="ja-JP" dirty="0">
                            <a:latin typeface="Cambria Math" panose="02040503050406030204" pitchFamily="18" charset="0"/>
                          </a:rPr>
                        </m:ctrlPr>
                      </m:sSubPr>
                      <m:e>
                        <m:r>
                          <a:rPr lang="ja-JP" altLang="ja-JP" dirty="0">
                            <a:latin typeface="Cambria Math" panose="02040503050406030204" pitchFamily="18" charset="0"/>
                          </a:rPr>
                          <m:t>𝐶</m:t>
                        </m:r>
                      </m:e>
                      <m:sub>
                        <m:r>
                          <a:rPr lang="ja-JP" altLang="ja-JP" dirty="0">
                            <a:latin typeface="Cambria Math" panose="02040503050406030204" pitchFamily="18" charset="0"/>
                          </a:rPr>
                          <m:t>𝑖𝑗</m:t>
                        </m:r>
                      </m:sub>
                    </m:sSub>
                    <m:r>
                      <a:rPr lang="ja-JP" altLang="ja-JP" dirty="0">
                        <a:latin typeface="Cambria Math" panose="02040503050406030204" pitchFamily="18" charset="0"/>
                      </a:rPr>
                      <m:t>=+244.8</m:t>
                    </m:r>
                  </m:oMath>
                </a14:m>
                <a:r>
                  <a:rPr lang="ja-JP" altLang="ja-JP" dirty="0"/>
                  <a:t>), </a:t>
                </a:r>
                <a:br>
                  <a:rPr lang="en-US" altLang="ja-JP" dirty="0"/>
                </a:br>
                <a:r>
                  <a:rPr lang="ja-JP" altLang="ja-JP" dirty="0"/>
                  <a:t>battery_capex </a:t>
                </a:r>
                <a14:m>
                  <m:oMath xmlns:m="http://schemas.openxmlformats.org/officeDocument/2006/math">
                    <m:r>
                      <a:rPr lang="ja-JP" altLang="ja-JP" dirty="0" smtClean="0">
                        <a:latin typeface="Cambria Math" panose="02040503050406030204" pitchFamily="18" charset="0"/>
                      </a:rPr>
                      <m:t>×</m:t>
                    </m:r>
                  </m:oMath>
                </a14:m>
                <a:r>
                  <a:rPr lang="ja-JP" altLang="ja-JP" dirty="0"/>
                  <a:t>diesel_opex (</a:t>
                </a:r>
                <a14:m>
                  <m:oMath xmlns:m="http://schemas.openxmlformats.org/officeDocument/2006/math">
                    <m:sSub>
                      <m:sSubPr>
                        <m:ctrlPr>
                          <a:rPr lang="ja-JP" altLang="ja-JP" dirty="0">
                            <a:latin typeface="Cambria Math" panose="02040503050406030204" pitchFamily="18" charset="0"/>
                          </a:rPr>
                        </m:ctrlPr>
                      </m:sSubPr>
                      <m:e>
                        <m:r>
                          <a:rPr lang="ja-JP" altLang="ja-JP" dirty="0">
                            <a:latin typeface="Cambria Math" panose="02040503050406030204" pitchFamily="18" charset="0"/>
                          </a:rPr>
                          <m:t>𝐶</m:t>
                        </m:r>
                      </m:e>
                      <m:sub>
                        <m:r>
                          <a:rPr lang="ja-JP" altLang="ja-JP" dirty="0">
                            <a:latin typeface="Cambria Math" panose="02040503050406030204" pitchFamily="18" charset="0"/>
                          </a:rPr>
                          <m:t>𝑖𝑗</m:t>
                        </m:r>
                      </m:sub>
                    </m:sSub>
                    <m:r>
                      <a:rPr lang="ja-JP" altLang="ja-JP" dirty="0">
                        <a:latin typeface="Cambria Math" panose="02040503050406030204" pitchFamily="18" charset="0"/>
                      </a:rPr>
                      <m:t>=+229.0</m:t>
                    </m:r>
                  </m:oMath>
                </a14:m>
                <a:r>
                  <a:rPr lang="ja-JP" altLang="ja-JP" dirty="0"/>
                  <a:t>): 再エネ・蓄電池による化石燃料の置換。</a:t>
                </a:r>
              </a:p>
            </p:txBody>
          </p:sp>
        </mc:Choice>
        <mc:Fallback xmlns="">
          <p:sp>
            <p:nvSpPr>
              <p:cNvPr id="3" name="テキスト プレースホルダー 2">
                <a:extLst>
                  <a:ext uri="{FF2B5EF4-FFF2-40B4-BE49-F238E27FC236}">
                    <a16:creationId xmlns:a16="http://schemas.microsoft.com/office/drawing/2014/main" id="{4F8EBF3D-EEC4-BAF8-431C-13D303E1390D}"/>
                  </a:ext>
                </a:extLst>
              </p:cNvPr>
              <p:cNvSpPr>
                <a:spLocks noGrp="1" noRot="1" noChangeAspect="1" noMove="1" noResize="1" noEditPoints="1" noAdjustHandles="1" noChangeArrowheads="1" noChangeShapeType="1" noTextEdit="1"/>
              </p:cNvSpPr>
              <p:nvPr>
                <p:ph type="body" sz="quarter" idx="12"/>
              </p:nvPr>
            </p:nvSpPr>
            <p:spPr>
              <a:xfrm>
                <a:off x="374650" y="949973"/>
                <a:ext cx="10004425" cy="6250928"/>
              </a:xfrm>
              <a:blipFill>
                <a:blip r:embed="rId3"/>
                <a:stretch>
                  <a:fillRect l="-365" r="-487"/>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7994402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50668-6F59-218A-F8C1-9D087B92D3C5}"/>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3788F5D8-A31D-F7E0-16A2-F8CC704892A6}"/>
              </a:ext>
            </a:extLst>
          </p:cNvPr>
          <p:cNvSpPr>
            <a:spLocks noGrp="1"/>
          </p:cNvSpPr>
          <p:nvPr>
            <p:ph type="title"/>
          </p:nvPr>
        </p:nvSpPr>
        <p:spPr/>
        <p:txBody>
          <a:bodyPr/>
          <a:lstStyle/>
          <a:p>
            <a:r>
              <a:rPr lang="ja-JP" altLang="en-US" dirty="0"/>
              <a:t>次のステップ</a:t>
            </a:r>
          </a:p>
        </p:txBody>
      </p:sp>
    </p:spTree>
    <p:extLst>
      <p:ext uri="{BB962C8B-B14F-4D97-AF65-F5344CB8AC3E}">
        <p14:creationId xmlns:p14="http://schemas.microsoft.com/office/powerpoint/2010/main" val="41057026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0A883-1BA0-FAC5-5479-6C6A58996DA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F4F9159-8314-B7CA-A9C3-9A384B7A12B0}"/>
              </a:ext>
            </a:extLst>
          </p:cNvPr>
          <p:cNvSpPr>
            <a:spLocks noGrp="1"/>
          </p:cNvSpPr>
          <p:nvPr>
            <p:ph type="title"/>
          </p:nvPr>
        </p:nvSpPr>
        <p:spPr>
          <a:xfrm>
            <a:off x="374904" y="61259"/>
            <a:ext cx="10003638" cy="706210"/>
          </a:xfrm>
        </p:spPr>
        <p:txBody>
          <a:bodyPr/>
          <a:lstStyle/>
          <a:p>
            <a:r>
              <a:rPr lang="ja-JP" altLang="en-US" sz="2800" b="1" dirty="0"/>
              <a:t>今後の予定</a:t>
            </a:r>
            <a:endParaRPr lang="ja-JP" altLang="ja-JP" sz="2800" b="1" dirty="0"/>
          </a:p>
        </p:txBody>
      </p:sp>
      <p:sp>
        <p:nvSpPr>
          <p:cNvPr id="3" name="テキスト プレースホルダー 2">
            <a:extLst>
              <a:ext uri="{FF2B5EF4-FFF2-40B4-BE49-F238E27FC236}">
                <a16:creationId xmlns:a16="http://schemas.microsoft.com/office/drawing/2014/main" id="{CF9DC77C-1F19-8727-5619-FC232C9538FB}"/>
              </a:ext>
            </a:extLst>
          </p:cNvPr>
          <p:cNvSpPr>
            <a:spLocks noGrp="1"/>
          </p:cNvSpPr>
          <p:nvPr>
            <p:ph type="body" sz="quarter" idx="12"/>
          </p:nvPr>
        </p:nvSpPr>
        <p:spPr>
          <a:xfrm>
            <a:off x="374650" y="949973"/>
            <a:ext cx="10004425" cy="6250928"/>
          </a:xfrm>
        </p:spPr>
        <p:txBody>
          <a:bodyPr>
            <a:normAutofit fontScale="92500" lnSpcReduction="10000"/>
          </a:bodyPr>
          <a:lstStyle/>
          <a:p>
            <a:r>
              <a:rPr lang="ja-JP" altLang="en-US" b="1" dirty="0"/>
              <a:t>帯域分解への拡張</a:t>
            </a:r>
            <a:endParaRPr lang="en-US" altLang="ja-JP" b="1" dirty="0"/>
          </a:p>
          <a:p>
            <a:pPr lvl="1"/>
            <a:r>
              <a:rPr lang="ja-JP" altLang="en-US" dirty="0"/>
              <a:t>各</a:t>
            </a:r>
            <a:r>
              <a:rPr lang="en-US" altLang="ja-JP" dirty="0"/>
              <a:t>LP</a:t>
            </a:r>
            <a:r>
              <a:rPr lang="ja-JP" altLang="en-US" dirty="0"/>
              <a:t>解の時系列を</a:t>
            </a:r>
            <a:r>
              <a:rPr lang="en-US" altLang="ja-JP" dirty="0"/>
              <a:t>MODWT</a:t>
            </a:r>
            <a:r>
              <a:rPr lang="ja-JP" altLang="en-US" dirty="0"/>
              <a:t>で日次帯、</a:t>
            </a:r>
            <a:r>
              <a:rPr lang="en-US" altLang="ja-JP" dirty="0" err="1"/>
              <a:t>Dunkelflaute</a:t>
            </a:r>
            <a:r>
              <a:rPr lang="ja-JP" altLang="en-US" dirty="0"/>
              <a:t>帯、季節帯等に分解し、帯域ごとの資源の割当とそのコスト不確実性に対する感度を評価する</a:t>
            </a:r>
          </a:p>
          <a:p>
            <a:endParaRPr lang="en-US" altLang="ja-JP" dirty="0"/>
          </a:p>
          <a:p>
            <a:endParaRPr lang="en-US" altLang="ja-JP" dirty="0"/>
          </a:p>
          <a:p>
            <a:endParaRPr lang="en-US" altLang="ja-JP" dirty="0"/>
          </a:p>
          <a:p>
            <a:endParaRPr lang="en-US" altLang="ja-JP" dirty="0"/>
          </a:p>
          <a:p>
            <a:endParaRPr lang="en-US" altLang="ja-JP" dirty="0"/>
          </a:p>
          <a:p>
            <a:endParaRPr lang="en-US" altLang="ja-JP" dirty="0"/>
          </a:p>
          <a:p>
            <a:endParaRPr lang="en-US" altLang="ja-JP" dirty="0"/>
          </a:p>
          <a:p>
            <a:pPr marL="0" indent="0">
              <a:buNone/>
            </a:pPr>
            <a:endParaRPr lang="en-US" altLang="ja-JP" dirty="0"/>
          </a:p>
          <a:p>
            <a:pPr marL="0" indent="0">
              <a:buNone/>
            </a:pPr>
            <a:endParaRPr lang="en-US" altLang="ja-JP" dirty="0"/>
          </a:p>
          <a:p>
            <a:pPr lvl="0"/>
            <a:r>
              <a:rPr lang="ja-JP" altLang="en-US" b="1" dirty="0"/>
              <a:t>サンプル数と精度の関係</a:t>
            </a:r>
            <a:endParaRPr lang="en-US" altLang="ja-JP" b="1" dirty="0"/>
          </a:p>
          <a:p>
            <a:pPr lvl="1"/>
            <a:r>
              <a:rPr lang="ja-JP" altLang="en-US" dirty="0"/>
              <a:t>今回は計算時間の制約から320サンプルとした。サンプル数を減らしても精度を保てるかを検証する（Tröndle et al. (2020) は12パラメータを150サンプルで構築）</a:t>
            </a:r>
            <a:endParaRPr lang="en-US" altLang="ja-JP" dirty="0"/>
          </a:p>
          <a:p>
            <a:pPr lvl="0"/>
            <a:r>
              <a:rPr lang="ja-JP" altLang="en-US" b="1" dirty="0"/>
              <a:t>出力指標の拡張・大規模モデルへの適用</a:t>
            </a:r>
            <a:endParaRPr lang="en-US" altLang="ja-JP" b="1" dirty="0"/>
          </a:p>
          <a:p>
            <a:pPr lvl="1"/>
            <a:r>
              <a:rPr lang="ja-JP" altLang="en-US" dirty="0"/>
              <a:t>総コストに加え、各技術の最適容量・ディーゼル比率・出力抑制率を分析対象とする。大規模系統への拡張時や不確実変数を増加させた時の計算時間と精度を評価する</a:t>
            </a:r>
            <a:endParaRPr lang="en-US" altLang="ja-JP" dirty="0"/>
          </a:p>
          <a:p>
            <a:pPr lvl="0"/>
            <a:r>
              <a:rPr lang="ja-JP" altLang="en-US" b="1" dirty="0"/>
              <a:t>その他の課題への適用</a:t>
            </a:r>
            <a:endParaRPr lang="en-US" altLang="ja-JP" b="1" dirty="0"/>
          </a:p>
          <a:p>
            <a:pPr lvl="1"/>
            <a:r>
              <a:rPr lang="en-US" altLang="ja-JP" dirty="0" err="1"/>
              <a:t>需要や変動性再エネ出力の不確実性を考慮した計算にもPCEサロゲートモデルを適用し、高速化できるかを検討する</a:t>
            </a:r>
            <a:r>
              <a:rPr lang="ja-JP" altLang="en-US" dirty="0"/>
              <a:t>。</a:t>
            </a:r>
            <a:endParaRPr lang="en-US" altLang="ja-JP" dirty="0"/>
          </a:p>
        </p:txBody>
      </p:sp>
      <p:graphicFrame>
        <p:nvGraphicFramePr>
          <p:cNvPr id="6" name="図表 5">
            <a:extLst>
              <a:ext uri="{FF2B5EF4-FFF2-40B4-BE49-F238E27FC236}">
                <a16:creationId xmlns:a16="http://schemas.microsoft.com/office/drawing/2014/main" id="{E1F5B05B-D79B-B752-B961-FCE3C10DAF03}"/>
              </a:ext>
            </a:extLst>
          </p:cNvPr>
          <p:cNvGraphicFramePr/>
          <p:nvPr>
            <p:extLst>
              <p:ext uri="{D42A27DB-BD31-4B8C-83A1-F6EECF244321}">
                <p14:modId xmlns:p14="http://schemas.microsoft.com/office/powerpoint/2010/main" val="2577223814"/>
              </p:ext>
            </p:extLst>
          </p:nvPr>
        </p:nvGraphicFramePr>
        <p:xfrm>
          <a:off x="2504873" y="1580526"/>
          <a:ext cx="5346700" cy="3054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607553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40E53-0852-F1EA-5399-B3A8A9075FD1}"/>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923FD941-84C7-7F57-3FDE-542D2200C129}"/>
              </a:ext>
            </a:extLst>
          </p:cNvPr>
          <p:cNvSpPr>
            <a:spLocks noGrp="1"/>
          </p:cNvSpPr>
          <p:nvPr>
            <p:ph type="title"/>
          </p:nvPr>
        </p:nvSpPr>
        <p:spPr/>
        <p:txBody>
          <a:bodyPr/>
          <a:lstStyle/>
          <a:p>
            <a:r>
              <a:rPr lang="en-US" altLang="ja-JP" dirty="0"/>
              <a:t>Reference</a:t>
            </a:r>
            <a:endParaRPr lang="ja-JP" altLang="en-US" dirty="0"/>
          </a:p>
        </p:txBody>
      </p:sp>
    </p:spTree>
    <p:extLst>
      <p:ext uri="{BB962C8B-B14F-4D97-AF65-F5344CB8AC3E}">
        <p14:creationId xmlns:p14="http://schemas.microsoft.com/office/powerpoint/2010/main" val="33331699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9E9896E7-8AE3-06CC-388F-586FAD621DD7}"/>
              </a:ext>
            </a:extLst>
          </p:cNvPr>
          <p:cNvSpPr>
            <a:spLocks noGrp="1"/>
          </p:cNvSpPr>
          <p:nvPr>
            <p:ph type="title"/>
          </p:nvPr>
        </p:nvSpPr>
        <p:spPr/>
        <p:txBody>
          <a:bodyPr/>
          <a:lstStyle/>
          <a:p>
            <a:r>
              <a:rPr lang="en-US" altLang="ja-JP" dirty="0"/>
              <a:t>Reference</a:t>
            </a:r>
            <a:endParaRPr lang="ja-JP" altLang="en-US" dirty="0"/>
          </a:p>
        </p:txBody>
      </p:sp>
      <p:graphicFrame>
        <p:nvGraphicFramePr>
          <p:cNvPr id="6" name="オブジェクト 5">
            <a:extLst>
              <a:ext uri="{FF2B5EF4-FFF2-40B4-BE49-F238E27FC236}">
                <a16:creationId xmlns:a16="http://schemas.microsoft.com/office/drawing/2014/main" id="{82FB52E9-39B7-E005-8805-C40ECABCBFBB}"/>
              </a:ext>
            </a:extLst>
          </p:cNvPr>
          <p:cNvGraphicFramePr>
            <a:graphicFrameLocks noChangeAspect="1"/>
          </p:cNvGraphicFramePr>
          <p:nvPr>
            <p:extLst>
              <p:ext uri="{D42A27DB-BD31-4B8C-83A1-F6EECF244321}">
                <p14:modId xmlns:p14="http://schemas.microsoft.com/office/powerpoint/2010/main" val="3919123107"/>
              </p:ext>
            </p:extLst>
          </p:nvPr>
        </p:nvGraphicFramePr>
        <p:xfrm>
          <a:off x="253241" y="987218"/>
          <a:ext cx="9922722" cy="4608512"/>
        </p:xfrm>
        <a:graphic>
          <a:graphicData uri="http://schemas.openxmlformats.org/presentationml/2006/ole">
            <mc:AlternateContent xmlns:mc="http://schemas.openxmlformats.org/markup-compatibility/2006">
              <mc:Choice xmlns:v="urn:schemas-microsoft-com:vml" Requires="v">
                <p:oleObj name="Worksheet" r:id="rId2" imgW="10277358" imgH="4771921" progId="Excel.Sheet.12">
                  <p:embed/>
                </p:oleObj>
              </mc:Choice>
              <mc:Fallback>
                <p:oleObj name="Worksheet" r:id="rId2" imgW="10277358" imgH="4771921" progId="Excel.Sheet.12">
                  <p:embed/>
                  <p:pic>
                    <p:nvPicPr>
                      <p:cNvPr id="0" name=""/>
                      <p:cNvPicPr/>
                      <p:nvPr/>
                    </p:nvPicPr>
                    <p:blipFill>
                      <a:blip r:embed="rId3"/>
                      <a:stretch>
                        <a:fillRect/>
                      </a:stretch>
                    </p:blipFill>
                    <p:spPr>
                      <a:xfrm>
                        <a:off x="253241" y="987218"/>
                        <a:ext cx="9922722" cy="4608512"/>
                      </a:xfrm>
                      <a:prstGeom prst="rect">
                        <a:avLst/>
                      </a:prstGeom>
                    </p:spPr>
                  </p:pic>
                </p:oleObj>
              </mc:Fallback>
            </mc:AlternateContent>
          </a:graphicData>
        </a:graphic>
      </p:graphicFrame>
      <p:sp>
        <p:nvSpPr>
          <p:cNvPr id="3" name="テキスト ボックス 2">
            <a:extLst>
              <a:ext uri="{FF2B5EF4-FFF2-40B4-BE49-F238E27FC236}">
                <a16:creationId xmlns:a16="http://schemas.microsoft.com/office/drawing/2014/main" id="{0C004D01-B2FB-A8D1-43E9-3496E4303E32}"/>
              </a:ext>
            </a:extLst>
          </p:cNvPr>
          <p:cNvSpPr txBox="1"/>
          <p:nvPr/>
        </p:nvSpPr>
        <p:spPr>
          <a:xfrm>
            <a:off x="144254" y="5909756"/>
            <a:ext cx="10140696" cy="954107"/>
          </a:xfrm>
          <a:prstGeom prst="rect">
            <a:avLst/>
          </a:prstGeom>
          <a:noFill/>
        </p:spPr>
        <p:txBody>
          <a:bodyPr wrap="square">
            <a:spAutoFit/>
          </a:bodyPr>
          <a:lstStyle/>
          <a:p>
            <a:pPr marL="342900" lvl="0" indent="-342900" rtl="0">
              <a:buFont typeface="Arial" panose="020B0604020202020204" pitchFamily="34" charset="0"/>
              <a:buChar char="•"/>
            </a:pPr>
            <a:r>
              <a:rPr lang="ja-JP" altLang="ja-JP" dirty="0"/>
              <a:t>Sudret (2008), </a:t>
            </a:r>
            <a:r>
              <a:rPr lang="ja-JP" altLang="ja-JP" i="1" dirty="0"/>
              <a:t>Reliability Engineering &amp; System Safety</a:t>
            </a:r>
            <a:r>
              <a:rPr lang="ja-JP" altLang="ja-JP" dirty="0"/>
              <a:t>：PCEからのSobol指数の解析的導出</a:t>
            </a:r>
          </a:p>
          <a:p>
            <a:pPr marL="342900" lvl="0" indent="-342900" rtl="0">
              <a:buFont typeface="Arial" panose="020B0604020202020204" pitchFamily="34" charset="0"/>
              <a:buChar char="•"/>
            </a:pPr>
            <a:r>
              <a:rPr lang="ja-JP" altLang="ja-JP" dirty="0"/>
              <a:t>Blatman &amp; Sudret (2011), </a:t>
            </a:r>
            <a:r>
              <a:rPr lang="ja-JP" altLang="ja-JP" i="1" dirty="0"/>
              <a:t>Journal of Computational Physics</a:t>
            </a:r>
            <a:r>
              <a:rPr lang="ja-JP" altLang="ja-JP" dirty="0"/>
              <a:t>：LARを使った疎なPCE</a:t>
            </a:r>
          </a:p>
          <a:p>
            <a:pPr marL="342900" lvl="0" indent="-342900" rtl="0">
              <a:buFont typeface="Arial" panose="020B0604020202020204" pitchFamily="34" charset="0"/>
              <a:buChar char="•"/>
            </a:pPr>
            <a:r>
              <a:rPr lang="ja-JP" altLang="ja-JP" dirty="0"/>
              <a:t>Saltelli et al. (2010), </a:t>
            </a:r>
            <a:r>
              <a:rPr lang="ja-JP" altLang="ja-JP" i="1" dirty="0"/>
              <a:t>Computer Physics Communications</a:t>
            </a:r>
            <a:r>
              <a:rPr lang="ja-JP" altLang="ja-JP" dirty="0"/>
              <a:t>：Sobol指数の推定法</a:t>
            </a:r>
          </a:p>
          <a:p>
            <a:pPr marL="342900" lvl="0" indent="-342900" rtl="0">
              <a:buFont typeface="Arial" panose="020B0604020202020204" pitchFamily="34" charset="0"/>
              <a:buChar char="•"/>
            </a:pPr>
            <a:r>
              <a:rPr lang="ja-JP" altLang="ja-JP" dirty="0"/>
              <a:t>Tröndle et al. (2020), </a:t>
            </a:r>
            <a:r>
              <a:rPr lang="ja-JP" altLang="ja-JP" i="1" dirty="0"/>
              <a:t>Joule</a:t>
            </a:r>
            <a:r>
              <a:rPr lang="ja-JP" altLang="ja-JP" dirty="0"/>
              <a:t>：エネルギーシステムモデルにPCEとSobolを適用した先行例。</a:t>
            </a:r>
          </a:p>
        </p:txBody>
      </p:sp>
    </p:spTree>
    <p:extLst>
      <p:ext uri="{BB962C8B-B14F-4D97-AF65-F5344CB8AC3E}">
        <p14:creationId xmlns:p14="http://schemas.microsoft.com/office/powerpoint/2010/main" val="41200709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タイトル 1">
                <a:extLst>
                  <a:ext uri="{FF2B5EF4-FFF2-40B4-BE49-F238E27FC236}">
                    <a16:creationId xmlns:a16="http://schemas.microsoft.com/office/drawing/2014/main" id="{0DD00B20-BED4-74CC-AC64-6A28AAC2FE89}"/>
                  </a:ext>
                </a:extLst>
              </p:cNvPr>
              <p:cNvSpPr>
                <a:spLocks noGrp="1"/>
              </p:cNvSpPr>
              <p:nvPr>
                <p:ph type="title"/>
              </p:nvPr>
            </p:nvSpPr>
            <p:spPr/>
            <p:txBody>
              <a:bodyPr/>
              <a:lstStyle/>
              <a:p>
                <a14:m>
                  <m:oMath xmlns:m="http://schemas.openxmlformats.org/officeDocument/2006/math">
                    <m:sSub>
                      <m:sSubPr>
                        <m:ctrlPr>
                          <a:rPr lang="ja-JP" altLang="en-US" i="1" dirty="0">
                            <a:latin typeface="Cambria Math" panose="02040503050406030204" pitchFamily="18" charset="0"/>
                          </a:rPr>
                        </m:ctrlPr>
                      </m:sSubPr>
                      <m:e>
                        <m:r>
                          <a:rPr lang="ja-JP" altLang="en-US" i="1" dirty="0">
                            <a:latin typeface="Cambria Math" panose="02040503050406030204" pitchFamily="18" charset="0"/>
                          </a:rPr>
                          <m:t>𝑆</m:t>
                        </m:r>
                      </m:e>
                      <m:sub>
                        <m:r>
                          <a:rPr lang="ja-JP" altLang="en-US" i="1" dirty="0">
                            <a:latin typeface="Cambria Math" panose="02040503050406030204" pitchFamily="18" charset="0"/>
                          </a:rPr>
                          <m:t>𝑖𝑗</m:t>
                        </m:r>
                      </m:sub>
                    </m:sSub>
                  </m:oMath>
                </a14:m>
                <a:r>
                  <a:rPr lang="ja-JP" altLang="ja-JP" dirty="0">
                    <a:latin typeface="+mn-ea"/>
                  </a:rPr>
                  <a:t>(Sobol 2次感度指標)</a:t>
                </a:r>
                <a:r>
                  <a:rPr lang="ja-JP" altLang="en-US" dirty="0">
                    <a:latin typeface="+mn-ea"/>
                  </a:rPr>
                  <a:t>と</a:t>
                </a:r>
                <a14:m>
                  <m:oMath xmlns:m="http://schemas.openxmlformats.org/officeDocument/2006/math">
                    <m:sSub>
                      <m:sSubPr>
                        <m:ctrlPr>
                          <a:rPr lang="ja-JP" altLang="en-US" i="1" dirty="0">
                            <a:latin typeface="Cambria Math" panose="02040503050406030204" pitchFamily="18" charset="0"/>
                          </a:rPr>
                        </m:ctrlPr>
                      </m:sSubPr>
                      <m:e>
                        <m:r>
                          <a:rPr lang="ja-JP" altLang="en-US" i="1" dirty="0">
                            <a:latin typeface="Cambria Math" panose="02040503050406030204" pitchFamily="18" charset="0"/>
                          </a:rPr>
                          <m:t>𝐶</m:t>
                        </m:r>
                      </m:e>
                      <m:sub>
                        <m:r>
                          <a:rPr lang="ja-JP" altLang="en-US" i="1" dirty="0">
                            <a:latin typeface="Cambria Math" panose="02040503050406030204" pitchFamily="18" charset="0"/>
                          </a:rPr>
                          <m:t>𝑖𝑗</m:t>
                        </m:r>
                      </m:sub>
                    </m:sSub>
                  </m:oMath>
                </a14:m>
                <a:r>
                  <a:rPr lang="ja-JP" altLang="ja-JP" dirty="0">
                    <a:latin typeface="+mn-ea"/>
                  </a:rPr>
                  <a:t>(PCE交差項係数)</a:t>
                </a:r>
                <a:r>
                  <a:rPr lang="ja-JP" altLang="en-US" dirty="0">
                    <a:latin typeface="+mn-ea"/>
                  </a:rPr>
                  <a:t>の比較</a:t>
                </a:r>
                <a:endParaRPr kumimoji="1" lang="ja-JP" altLang="en-US" dirty="0"/>
              </a:p>
            </p:txBody>
          </p:sp>
        </mc:Choice>
        <mc:Fallback xmlns="">
          <p:sp>
            <p:nvSpPr>
              <p:cNvPr id="2" name="タイトル 1">
                <a:extLst>
                  <a:ext uri="{FF2B5EF4-FFF2-40B4-BE49-F238E27FC236}">
                    <a16:creationId xmlns:a16="http://schemas.microsoft.com/office/drawing/2014/main" id="{0DD00B20-BED4-74CC-AC64-6A28AAC2FE89}"/>
                  </a:ext>
                </a:extLst>
              </p:cNvPr>
              <p:cNvSpPr>
                <a:spLocks noGrp="1" noRot="1" noChangeAspect="1" noMove="1" noResize="1" noEditPoints="1" noAdjustHandles="1" noChangeArrowheads="1" noChangeShapeType="1" noTextEdit="1"/>
              </p:cNvSpPr>
              <p:nvPr>
                <p:ph type="title"/>
              </p:nvPr>
            </p:nvSpPr>
            <p:spPr>
              <a:blipFill>
                <a:blip r:embed="rId2"/>
                <a:stretch>
                  <a:fillRect t="-1724" b="-431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graphicFrame>
            <p:nvGraphicFramePr>
              <p:cNvPr id="3" name="表 2">
                <a:extLst>
                  <a:ext uri="{FF2B5EF4-FFF2-40B4-BE49-F238E27FC236}">
                    <a16:creationId xmlns:a16="http://schemas.microsoft.com/office/drawing/2014/main" id="{AA0D0FF9-5C25-BE58-1BF1-006A6C0C1F32}"/>
                  </a:ext>
                </a:extLst>
              </p:cNvPr>
              <p:cNvGraphicFramePr>
                <a:graphicFrameLocks noGrp="1"/>
              </p:cNvGraphicFramePr>
              <p:nvPr>
                <p:extLst>
                  <p:ext uri="{D42A27DB-BD31-4B8C-83A1-F6EECF244321}">
                    <p14:modId xmlns:p14="http://schemas.microsoft.com/office/powerpoint/2010/main" val="1542596326"/>
                  </p:ext>
                </p:extLst>
              </p:nvPr>
            </p:nvGraphicFramePr>
            <p:xfrm>
              <a:off x="312204" y="1077789"/>
              <a:ext cx="10066338" cy="3238628"/>
            </p:xfrm>
            <a:graphic>
              <a:graphicData uri="http://schemas.openxmlformats.org/drawingml/2006/table">
                <a:tbl>
                  <a:tblPr firstRow="1" firstCol="1" bandRow="1">
                    <a:tableStyleId>{854B67C7-B280-42D8-B184-0A409CBFCAF9}</a:tableStyleId>
                  </a:tblPr>
                  <a:tblGrid>
                    <a:gridCol w="2246382">
                      <a:extLst>
                        <a:ext uri="{9D8B030D-6E8A-4147-A177-3AD203B41FA5}">
                          <a16:colId xmlns:a16="http://schemas.microsoft.com/office/drawing/2014/main" val="3362548641"/>
                        </a:ext>
                      </a:extLst>
                    </a:gridCol>
                    <a:gridCol w="3796747">
                      <a:extLst>
                        <a:ext uri="{9D8B030D-6E8A-4147-A177-3AD203B41FA5}">
                          <a16:colId xmlns:a16="http://schemas.microsoft.com/office/drawing/2014/main" val="2484898381"/>
                        </a:ext>
                      </a:extLst>
                    </a:gridCol>
                    <a:gridCol w="4023209">
                      <a:extLst>
                        <a:ext uri="{9D8B030D-6E8A-4147-A177-3AD203B41FA5}">
                          <a16:colId xmlns:a16="http://schemas.microsoft.com/office/drawing/2014/main" val="1612371265"/>
                        </a:ext>
                      </a:extLst>
                    </a:gridCol>
                  </a:tblGrid>
                  <a:tr h="0">
                    <a:tc>
                      <a:txBody>
                        <a:bodyPr/>
                        <a:lstStyle/>
                        <a:p>
                          <a:pPr>
                            <a:buNone/>
                          </a:pPr>
                          <a:r>
                            <a:rPr lang="ja-JP" sz="1600">
                              <a:latin typeface="+mn-ea"/>
                              <a:ea typeface="+mn-ea"/>
                            </a:rPr>
                            <a:t>評価項目</a:t>
                          </a:r>
                        </a:p>
                      </a:txBody>
                      <a:tcPr anchor="ctr"/>
                    </a:tc>
                    <a:tc>
                      <a:txBody>
                        <a:bodyPr/>
                        <a:lstStyle/>
                        <a:p>
                          <a:pPr>
                            <a:buNone/>
                          </a:pPr>
                          <a14:m>
                            <m:oMath xmlns:m="http://schemas.openxmlformats.org/officeDocument/2006/math">
                              <m:sSub>
                                <m:sSubPr>
                                  <m:ctrlPr>
                                    <a:rPr lang="ja-JP" altLang="en-US" sz="1600" dirty="0">
                                      <a:latin typeface="Cambria Math" panose="02040503050406030204" pitchFamily="18" charset="0"/>
                                      <a:ea typeface="+mn-ea"/>
                                    </a:rPr>
                                  </m:ctrlPr>
                                </m:sSubPr>
                                <m:e>
                                  <m:r>
                                    <a:rPr lang="ja-JP" altLang="en-US" sz="1600" dirty="0">
                                      <a:latin typeface="Cambria Math" panose="02040503050406030204" pitchFamily="18" charset="0"/>
                                      <a:ea typeface="+mn-ea"/>
                                    </a:rPr>
                                    <m:t>𝑆</m:t>
                                  </m:r>
                                </m:e>
                                <m:sub>
                                  <m:r>
                                    <a:rPr lang="ja-JP" altLang="en-US" sz="1600" dirty="0">
                                      <a:latin typeface="Cambria Math" panose="02040503050406030204" pitchFamily="18" charset="0"/>
                                      <a:ea typeface="+mn-ea"/>
                                    </a:rPr>
                                    <m:t>𝑖𝑗</m:t>
                                  </m:r>
                                </m:sub>
                              </m:sSub>
                            </m:oMath>
                          </a14:m>
                          <a:r>
                            <a:rPr lang="ja-JP" sz="1600" dirty="0">
                              <a:latin typeface="+mn-ea"/>
                              <a:ea typeface="+mn-ea"/>
                            </a:rPr>
                            <a:t>(Sobol 2次感度指標)</a:t>
                          </a:r>
                        </a:p>
                      </a:txBody>
                      <a:tcPr anchor="ctr"/>
                    </a:tc>
                    <a:tc>
                      <a:txBody>
                        <a:bodyPr/>
                        <a:lstStyle/>
                        <a:p>
                          <a:pPr>
                            <a:buNone/>
                          </a:pPr>
                          <a14:m>
                            <m:oMath xmlns:m="http://schemas.openxmlformats.org/officeDocument/2006/math">
                              <m:sSub>
                                <m:sSubPr>
                                  <m:ctrlPr>
                                    <a:rPr lang="ja-JP" altLang="en-US" sz="1600" dirty="0">
                                      <a:latin typeface="Cambria Math" panose="02040503050406030204" pitchFamily="18" charset="0"/>
                                      <a:ea typeface="+mn-ea"/>
                                    </a:rPr>
                                  </m:ctrlPr>
                                </m:sSubPr>
                                <m:e>
                                  <m:r>
                                    <a:rPr lang="ja-JP" altLang="en-US" sz="1600" dirty="0">
                                      <a:latin typeface="Cambria Math" panose="02040503050406030204" pitchFamily="18" charset="0"/>
                                      <a:ea typeface="+mn-ea"/>
                                    </a:rPr>
                                    <m:t>𝐶</m:t>
                                  </m:r>
                                </m:e>
                                <m:sub>
                                  <m:r>
                                    <a:rPr lang="ja-JP" altLang="en-US" sz="1600" dirty="0">
                                      <a:latin typeface="Cambria Math" panose="02040503050406030204" pitchFamily="18" charset="0"/>
                                      <a:ea typeface="+mn-ea"/>
                                    </a:rPr>
                                    <m:t>𝑖𝑗</m:t>
                                  </m:r>
                                </m:sub>
                              </m:sSub>
                            </m:oMath>
                          </a14:m>
                          <a:r>
                            <a:rPr lang="ja-JP" sz="1600" dirty="0">
                              <a:latin typeface="+mn-ea"/>
                              <a:ea typeface="+mn-ea"/>
                            </a:rPr>
                            <a:t>(PCE交差項係数)</a:t>
                          </a:r>
                        </a:p>
                      </a:txBody>
                      <a:tcPr anchor="ctr"/>
                    </a:tc>
                    <a:extLst>
                      <a:ext uri="{0D108BD9-81ED-4DB2-BD59-A6C34878D82A}">
                        <a16:rowId xmlns:a16="http://schemas.microsoft.com/office/drawing/2014/main" val="1596755709"/>
                      </a:ext>
                    </a:extLst>
                  </a:tr>
                  <a:tr h="0">
                    <a:tc>
                      <a:txBody>
                        <a:bodyPr/>
                        <a:lstStyle/>
                        <a:p>
                          <a:pPr>
                            <a:buNone/>
                          </a:pPr>
                          <a:r>
                            <a:rPr lang="ja-JP" sz="1600">
                              <a:latin typeface="+mn-ea"/>
                              <a:ea typeface="+mn-ea"/>
                            </a:rPr>
                            <a:t>みているもの</a:t>
                          </a:r>
                        </a:p>
                      </a:txBody>
                      <a:tcPr anchor="ctr"/>
                    </a:tc>
                    <a:tc>
                      <a:txBody>
                        <a:bodyPr/>
                        <a:lstStyle/>
                        <a:p>
                          <a:pPr>
                            <a:buNone/>
                          </a:pPr>
                          <a:r>
                            <a:rPr lang="ja-JP" sz="1600">
                              <a:latin typeface="+mn-ea"/>
                              <a:ea typeface="+mn-ea"/>
                            </a:rPr>
                            <a:t>「影響の大きさ（寄与度）」</a:t>
                          </a:r>
                        </a:p>
                      </a:txBody>
                      <a:tcPr anchor="ctr"/>
                    </a:tc>
                    <a:tc>
                      <a:txBody>
                        <a:bodyPr/>
                        <a:lstStyle/>
                        <a:p>
                          <a:pPr>
                            <a:buNone/>
                          </a:pPr>
                          <a:r>
                            <a:rPr lang="ja-JP" sz="1600">
                              <a:latin typeface="+mn-ea"/>
                              <a:ea typeface="+mn-ea"/>
                            </a:rPr>
                            <a:t>「技術間の相互関係（作用メカニズム）」</a:t>
                          </a:r>
                        </a:p>
                      </a:txBody>
                      <a:tcPr anchor="ctr"/>
                    </a:tc>
                    <a:extLst>
                      <a:ext uri="{0D108BD9-81ED-4DB2-BD59-A6C34878D82A}">
                        <a16:rowId xmlns:a16="http://schemas.microsoft.com/office/drawing/2014/main" val="58392941"/>
                      </a:ext>
                    </a:extLst>
                  </a:tr>
                  <a:tr h="0">
                    <a:tc>
                      <a:txBody>
                        <a:bodyPr/>
                        <a:lstStyle/>
                        <a:p>
                          <a:pPr>
                            <a:buNone/>
                          </a:pPr>
                          <a:r>
                            <a:rPr lang="ja-JP" sz="1600">
                              <a:latin typeface="+mn-ea"/>
                              <a:ea typeface="+mn-ea"/>
                            </a:rPr>
                            <a:t>定義・意味</a:t>
                          </a:r>
                        </a:p>
                      </a:txBody>
                      <a:tcPr anchor="ctr"/>
                    </a:tc>
                    <a:tc>
                      <a:txBody>
                        <a:bodyPr/>
                        <a:lstStyle/>
                        <a:p>
                          <a:pPr>
                            <a:buNone/>
                          </a:pPr>
                          <a:r>
                            <a:rPr lang="ja-JP" sz="1600">
                              <a:latin typeface="+mn-ea"/>
                              <a:ea typeface="+mn-ea"/>
                            </a:rPr>
                            <a:t>総コストの不確実性（分散）のうち、2因子の組合せで生じるブレの割合</a:t>
                          </a:r>
                        </a:p>
                      </a:txBody>
                      <a:tcPr anchor="ctr"/>
                    </a:tc>
                    <a:tc>
                      <a:txBody>
                        <a:bodyPr/>
                        <a:lstStyle/>
                        <a:p>
                          <a:pPr>
                            <a:buNone/>
                          </a:pPr>
                          <a:r>
                            <a:rPr lang="ja-JP" sz="1600" dirty="0">
                              <a:latin typeface="+mn-ea"/>
                              <a:ea typeface="+mn-ea"/>
                            </a:rPr>
                            <a:t>PCE多項式近似における2次交差項の係数（コスト関数の二次微分 </a:t>
                          </a:r>
                          <a14:m>
                            <m:oMath xmlns:m="http://schemas.openxmlformats.org/officeDocument/2006/math">
                              <m:f>
                                <m:fPr>
                                  <m:ctrlPr>
                                    <a:rPr lang="ja-JP" altLang="en-US" sz="1600" i="1" dirty="0">
                                      <a:latin typeface="Cambria Math" panose="02040503050406030204" pitchFamily="18" charset="0"/>
                                      <a:ea typeface="+mn-ea"/>
                                    </a:rPr>
                                  </m:ctrlPr>
                                </m:fPr>
                                <m:num>
                                  <m:sSup>
                                    <m:sSupPr>
                                      <m:ctrlPr>
                                        <a:rPr lang="ja-JP" altLang="en-US" sz="1600" dirty="0">
                                          <a:latin typeface="Cambria Math" panose="02040503050406030204" pitchFamily="18" charset="0"/>
                                          <a:ea typeface="+mn-ea"/>
                                        </a:rPr>
                                      </m:ctrlPr>
                                    </m:sSupPr>
                                    <m:e>
                                      <m:r>
                                        <a:rPr lang="ja-JP" altLang="en-US" sz="1600" dirty="0">
                                          <a:latin typeface="Cambria Math" panose="02040503050406030204" pitchFamily="18" charset="0"/>
                                          <a:ea typeface="+mn-ea"/>
                                        </a:rPr>
                                        <m:t>𝜕</m:t>
                                      </m:r>
                                    </m:e>
                                    <m:sup>
                                      <m:r>
                                        <a:rPr lang="en-US" altLang="ja-JP" sz="1600" dirty="0">
                                          <a:latin typeface="Cambria Math" panose="02040503050406030204" pitchFamily="18" charset="0"/>
                                          <a:ea typeface="+mn-ea"/>
                                        </a:rPr>
                                        <m:t>2</m:t>
                                      </m:r>
                                    </m:sup>
                                  </m:sSup>
                                  <m:r>
                                    <a:rPr lang="ja-JP" altLang="en-US" sz="1600" dirty="0">
                                      <a:latin typeface="Cambria Math" panose="02040503050406030204" pitchFamily="18" charset="0"/>
                                      <a:ea typeface="+mn-ea"/>
                                    </a:rPr>
                                    <m:t>𝐶</m:t>
                                  </m:r>
                                </m:num>
                                <m:den>
                                  <m:r>
                                    <a:rPr lang="ja-JP" altLang="en-US" sz="1600" dirty="0">
                                      <a:latin typeface="Cambria Math" panose="02040503050406030204" pitchFamily="18" charset="0"/>
                                      <a:ea typeface="+mn-ea"/>
                                    </a:rPr>
                                    <m:t>𝜕</m:t>
                                  </m:r>
                                  <m:sSub>
                                    <m:sSubPr>
                                      <m:ctrlPr>
                                        <a:rPr lang="ja-JP" altLang="en-US" sz="1600" dirty="0">
                                          <a:latin typeface="Cambria Math" panose="02040503050406030204" pitchFamily="18" charset="0"/>
                                          <a:ea typeface="+mn-ea"/>
                                        </a:rPr>
                                      </m:ctrlPr>
                                    </m:sSubPr>
                                    <m:e>
                                      <m:r>
                                        <a:rPr lang="ja-JP" altLang="en-US" sz="1600" dirty="0">
                                          <a:latin typeface="Cambria Math" panose="02040503050406030204" pitchFamily="18" charset="0"/>
                                          <a:ea typeface="+mn-ea"/>
                                        </a:rPr>
                                        <m:t>𝜃</m:t>
                                      </m:r>
                                    </m:e>
                                    <m:sub>
                                      <m:r>
                                        <a:rPr lang="ja-JP" altLang="en-US" sz="1600" dirty="0">
                                          <a:latin typeface="Cambria Math" panose="02040503050406030204" pitchFamily="18" charset="0"/>
                                          <a:ea typeface="+mn-ea"/>
                                        </a:rPr>
                                        <m:t>𝑖</m:t>
                                      </m:r>
                                    </m:sub>
                                  </m:sSub>
                                  <m:r>
                                    <a:rPr lang="ja-JP" altLang="en-US" sz="1600" dirty="0">
                                      <a:latin typeface="Cambria Math" panose="02040503050406030204" pitchFamily="18" charset="0"/>
                                      <a:ea typeface="+mn-ea"/>
                                    </a:rPr>
                                    <m:t>𝜕</m:t>
                                  </m:r>
                                  <m:sSub>
                                    <m:sSubPr>
                                      <m:ctrlPr>
                                        <a:rPr lang="ja-JP" altLang="en-US" sz="1600" dirty="0">
                                          <a:latin typeface="Cambria Math" panose="02040503050406030204" pitchFamily="18" charset="0"/>
                                          <a:ea typeface="+mn-ea"/>
                                        </a:rPr>
                                      </m:ctrlPr>
                                    </m:sSubPr>
                                    <m:e>
                                      <m:r>
                                        <a:rPr lang="ja-JP" altLang="en-US" sz="1600" dirty="0">
                                          <a:latin typeface="Cambria Math" panose="02040503050406030204" pitchFamily="18" charset="0"/>
                                          <a:ea typeface="+mn-ea"/>
                                        </a:rPr>
                                        <m:t>𝜃</m:t>
                                      </m:r>
                                    </m:e>
                                    <m:sub>
                                      <m:r>
                                        <a:rPr lang="ja-JP" altLang="en-US" sz="1600" dirty="0">
                                          <a:latin typeface="Cambria Math" panose="02040503050406030204" pitchFamily="18" charset="0"/>
                                          <a:ea typeface="+mn-ea"/>
                                        </a:rPr>
                                        <m:t>𝑗</m:t>
                                      </m:r>
                                    </m:sub>
                                  </m:sSub>
                                </m:den>
                              </m:f>
                            </m:oMath>
                          </a14:m>
                          <a:r>
                            <a:rPr lang="ja-JP" sz="1600" dirty="0">
                              <a:latin typeface="+mn-ea"/>
                              <a:ea typeface="+mn-ea"/>
                            </a:rPr>
                            <a:t>）</a:t>
                          </a:r>
                        </a:p>
                      </a:txBody>
                      <a:tcPr anchor="ctr"/>
                    </a:tc>
                    <a:extLst>
                      <a:ext uri="{0D108BD9-81ED-4DB2-BD59-A6C34878D82A}">
                        <a16:rowId xmlns:a16="http://schemas.microsoft.com/office/drawing/2014/main" val="3869808694"/>
                      </a:ext>
                    </a:extLst>
                  </a:tr>
                  <a:tr h="0">
                    <a:tc>
                      <a:txBody>
                        <a:bodyPr/>
                        <a:lstStyle/>
                        <a:p>
                          <a:pPr>
                            <a:buNone/>
                          </a:pPr>
                          <a:r>
                            <a:rPr lang="ja-JP" sz="1600">
                              <a:latin typeface="+mn-ea"/>
                              <a:ea typeface="+mn-ea"/>
                            </a:rPr>
                            <a:t>単位</a:t>
                          </a:r>
                        </a:p>
                      </a:txBody>
                      <a:tcPr anchor="ctr"/>
                    </a:tc>
                    <a:tc>
                      <a:txBody>
                        <a:bodyPr/>
                        <a:lstStyle/>
                        <a:p>
                          <a:pPr>
                            <a:buNone/>
                          </a:pPr>
                          <a:r>
                            <a:rPr lang="ja-JP" sz="1600">
                              <a:latin typeface="+mn-ea"/>
                              <a:ea typeface="+mn-ea"/>
                            </a:rPr>
                            <a:t>無次元（0〜1の割合・%）</a:t>
                          </a:r>
                        </a:p>
                      </a:txBody>
                      <a:tcPr anchor="ctr"/>
                    </a:tc>
                    <a:tc>
                      <a:txBody>
                        <a:bodyPr/>
                        <a:lstStyle/>
                        <a:p>
                          <a:pPr>
                            <a:buNone/>
                          </a:pPr>
                          <a:r>
                            <a:rPr lang="ja-JP" sz="1600">
                              <a:latin typeface="+mn-ea"/>
                              <a:ea typeface="+mn-ea"/>
                            </a:rPr>
                            <a:t>USD/year（具体額・限界変化量）</a:t>
                          </a:r>
                        </a:p>
                      </a:txBody>
                      <a:tcPr anchor="ctr"/>
                    </a:tc>
                    <a:extLst>
                      <a:ext uri="{0D108BD9-81ED-4DB2-BD59-A6C34878D82A}">
                        <a16:rowId xmlns:a16="http://schemas.microsoft.com/office/drawing/2014/main" val="2762100434"/>
                      </a:ext>
                    </a:extLst>
                  </a:tr>
                  <a:tr h="0">
                    <a:tc>
                      <a:txBody>
                        <a:bodyPr/>
                        <a:lstStyle/>
                        <a:p>
                          <a:pPr>
                            <a:buNone/>
                          </a:pPr>
                          <a:r>
                            <a:rPr lang="ja-JP" sz="1600">
                              <a:latin typeface="+mn-ea"/>
                              <a:ea typeface="+mn-ea"/>
                            </a:rPr>
                            <a:t>符号の物理的意味</a:t>
                          </a:r>
                        </a:p>
                      </a:txBody>
                      <a:tcPr anchor="ctr"/>
                    </a:tc>
                    <a:tc>
                      <a:txBody>
                        <a:bodyPr/>
                        <a:lstStyle/>
                        <a:p>
                          <a:pPr>
                            <a:buNone/>
                          </a:pPr>
                          <a:r>
                            <a:rPr lang="ja-JP" sz="1600">
                              <a:latin typeface="+mn-ea"/>
                              <a:ea typeface="+mn-ea"/>
                            </a:rPr>
                            <a:t>なし（基本は大きさのみを見る）</a:t>
                          </a:r>
                        </a:p>
                      </a:txBody>
                      <a:tcPr anchor="ctr"/>
                    </a:tc>
                    <a:tc>
                      <a:txBody>
                        <a:bodyPr/>
                        <a:lstStyle/>
                        <a:p>
                          <a:pPr>
                            <a:buNone/>
                          </a:pPr>
                          <a:r>
                            <a:rPr lang="ja-JP" sz="1600" dirty="0">
                              <a:latin typeface="+mn-ea"/>
                              <a:ea typeface="+mn-ea"/>
                            </a:rPr>
                            <a:t>あり（符号が超重要）</a:t>
                          </a:r>
                          <a:endParaRPr lang="en-US" altLang="ja-JP" sz="1600" dirty="0">
                            <a:latin typeface="+mn-ea"/>
                            <a:ea typeface="+mn-ea"/>
                          </a:endParaRPr>
                        </a:p>
                        <a:p>
                          <a:pPr>
                            <a:buNone/>
                          </a:pPr>
                          <a:r>
                            <a:rPr lang="ja-JP" sz="1600" dirty="0">
                              <a:latin typeface="+mn-ea"/>
                              <a:ea typeface="+mn-ea"/>
                            </a:rPr>
                            <a:t>・</a:t>
                          </a:r>
                          <a14:m>
                            <m:oMath xmlns:m="http://schemas.openxmlformats.org/officeDocument/2006/math">
                              <m:sSub>
                                <m:sSubPr>
                                  <m:ctrlPr>
                                    <a:rPr lang="ja-JP" altLang="en-US" sz="1600" dirty="0">
                                      <a:latin typeface="Cambria Math" panose="02040503050406030204" pitchFamily="18" charset="0"/>
                                      <a:ea typeface="+mn-ea"/>
                                    </a:rPr>
                                  </m:ctrlPr>
                                </m:sSubPr>
                                <m:e>
                                  <m:r>
                                    <a:rPr lang="ja-JP" altLang="en-US" sz="1600" dirty="0">
                                      <a:latin typeface="Cambria Math" panose="02040503050406030204" pitchFamily="18" charset="0"/>
                                      <a:ea typeface="+mn-ea"/>
                                    </a:rPr>
                                    <m:t>𝐶</m:t>
                                  </m:r>
                                </m:e>
                                <m:sub>
                                  <m:r>
                                    <a:rPr lang="ja-JP" altLang="en-US" sz="1600" dirty="0">
                                      <a:latin typeface="Cambria Math" panose="02040503050406030204" pitchFamily="18" charset="0"/>
                                      <a:ea typeface="+mn-ea"/>
                                    </a:rPr>
                                    <m:t>𝑖𝑗</m:t>
                                  </m:r>
                                </m:sub>
                              </m:sSub>
                              <m:r>
                                <a:rPr lang="en-US" altLang="ja-JP" sz="1600" dirty="0">
                                  <a:latin typeface="Cambria Math" panose="02040503050406030204" pitchFamily="18" charset="0"/>
                                  <a:ea typeface="+mn-ea"/>
                                </a:rPr>
                                <m:t>&lt;0</m:t>
                              </m:r>
                            </m:oMath>
                          </a14:m>
                          <a:r>
                            <a:rPr lang="ja-JP" sz="1600" dirty="0">
                              <a:latin typeface="+mn-ea"/>
                              <a:ea typeface="+mn-ea"/>
                            </a:rPr>
                            <a:t>: 補完関係（容量連動）</a:t>
                          </a:r>
                          <a:endParaRPr lang="en-US" altLang="ja-JP" sz="1600" dirty="0">
                            <a:latin typeface="+mn-ea"/>
                            <a:ea typeface="+mn-ea"/>
                          </a:endParaRPr>
                        </a:p>
                        <a:p>
                          <a:pPr>
                            <a:buNone/>
                          </a:pPr>
                          <a:r>
                            <a:rPr lang="ja-JP" sz="1600" dirty="0">
                              <a:latin typeface="+mn-ea"/>
                              <a:ea typeface="+mn-ea"/>
                            </a:rPr>
                            <a:t>・</a:t>
                          </a:r>
                          <a14:m>
                            <m:oMath xmlns:m="http://schemas.openxmlformats.org/officeDocument/2006/math">
                              <m:sSub>
                                <m:sSubPr>
                                  <m:ctrlPr>
                                    <a:rPr lang="ja-JP" altLang="en-US" sz="1600" dirty="0">
                                      <a:latin typeface="Cambria Math" panose="02040503050406030204" pitchFamily="18" charset="0"/>
                                      <a:ea typeface="+mn-ea"/>
                                    </a:rPr>
                                  </m:ctrlPr>
                                </m:sSubPr>
                                <m:e>
                                  <m:r>
                                    <a:rPr lang="ja-JP" altLang="en-US" sz="1600" dirty="0">
                                      <a:latin typeface="Cambria Math" panose="02040503050406030204" pitchFamily="18" charset="0"/>
                                      <a:ea typeface="+mn-ea"/>
                                    </a:rPr>
                                    <m:t>𝐶</m:t>
                                  </m:r>
                                </m:e>
                                <m:sub>
                                  <m:r>
                                    <a:rPr lang="ja-JP" altLang="en-US" sz="1600" dirty="0">
                                      <a:latin typeface="Cambria Math" panose="02040503050406030204" pitchFamily="18" charset="0"/>
                                      <a:ea typeface="+mn-ea"/>
                                    </a:rPr>
                                    <m:t>𝑖𝑗</m:t>
                                  </m:r>
                                </m:sub>
                              </m:sSub>
                              <m:r>
                                <a:rPr lang="en-US" altLang="ja-JP" sz="1600" dirty="0">
                                  <a:latin typeface="Cambria Math" panose="02040503050406030204" pitchFamily="18" charset="0"/>
                                  <a:ea typeface="+mn-ea"/>
                                </a:rPr>
                                <m:t>&gt;0</m:t>
                              </m:r>
                            </m:oMath>
                          </a14:m>
                          <a:r>
                            <a:rPr lang="ja-JP" sz="1600" dirty="0">
                              <a:latin typeface="+mn-ea"/>
                              <a:ea typeface="+mn-ea"/>
                            </a:rPr>
                            <a:t>: 代替関係（技術競合）</a:t>
                          </a:r>
                        </a:p>
                      </a:txBody>
                      <a:tcPr anchor="ctr"/>
                    </a:tc>
                    <a:extLst>
                      <a:ext uri="{0D108BD9-81ED-4DB2-BD59-A6C34878D82A}">
                        <a16:rowId xmlns:a16="http://schemas.microsoft.com/office/drawing/2014/main" val="63636077"/>
                      </a:ext>
                    </a:extLst>
                  </a:tr>
                  <a:tr h="0">
                    <a:tc>
                      <a:txBody>
                        <a:bodyPr/>
                        <a:lstStyle/>
                        <a:p>
                          <a:pPr>
                            <a:buNone/>
                          </a:pPr>
                          <a:r>
                            <a:rPr lang="ja-JP" sz="1600">
                              <a:latin typeface="+mn-ea"/>
                              <a:ea typeface="+mn-ea"/>
                            </a:rPr>
                            <a:t>役割・用途</a:t>
                          </a:r>
                        </a:p>
                      </a:txBody>
                      <a:tcPr anchor="ctr"/>
                    </a:tc>
                    <a:tc>
                      <a:txBody>
                        <a:bodyPr/>
                        <a:lstStyle/>
                        <a:p>
                          <a:pPr>
                            <a:buNone/>
                          </a:pPr>
                          <a:r>
                            <a:rPr lang="ja-JP" sz="1600">
                              <a:latin typeface="+mn-ea"/>
                              <a:ea typeface="+mn-ea"/>
                            </a:rPr>
                            <a:t>「どの組合せがコスト不確実性の原因か？」の特定</a:t>
                          </a:r>
                        </a:p>
                      </a:txBody>
                      <a:tcPr anchor="ctr"/>
                    </a:tc>
                    <a:tc>
                      <a:txBody>
                        <a:bodyPr/>
                        <a:lstStyle/>
                        <a:p>
                          <a:pPr>
                            <a:buNone/>
                          </a:pPr>
                          <a:r>
                            <a:rPr lang="ja-JP" sz="1600" dirty="0">
                              <a:latin typeface="+mn-ea"/>
                              <a:ea typeface="+mn-ea"/>
                            </a:rPr>
                            <a:t>「なぜその2つの技術が相乗/競合効果を持つのか？」の理由説明</a:t>
                          </a:r>
                        </a:p>
                      </a:txBody>
                      <a:tcPr anchor="ctr"/>
                    </a:tc>
                    <a:extLst>
                      <a:ext uri="{0D108BD9-81ED-4DB2-BD59-A6C34878D82A}">
                        <a16:rowId xmlns:a16="http://schemas.microsoft.com/office/drawing/2014/main" val="322583877"/>
                      </a:ext>
                    </a:extLst>
                  </a:tr>
                </a:tbl>
              </a:graphicData>
            </a:graphic>
          </p:graphicFrame>
        </mc:Choice>
        <mc:Fallback xmlns="">
          <p:graphicFrame>
            <p:nvGraphicFramePr>
              <p:cNvPr id="3" name="表 2">
                <a:extLst>
                  <a:ext uri="{FF2B5EF4-FFF2-40B4-BE49-F238E27FC236}">
                    <a16:creationId xmlns:a16="http://schemas.microsoft.com/office/drawing/2014/main" id="{AA0D0FF9-5C25-BE58-1BF1-006A6C0C1F32}"/>
                  </a:ext>
                </a:extLst>
              </p:cNvPr>
              <p:cNvGraphicFramePr>
                <a:graphicFrameLocks noGrp="1"/>
              </p:cNvGraphicFramePr>
              <p:nvPr>
                <p:extLst>
                  <p:ext uri="{D42A27DB-BD31-4B8C-83A1-F6EECF244321}">
                    <p14:modId xmlns:p14="http://schemas.microsoft.com/office/powerpoint/2010/main" val="1542596326"/>
                  </p:ext>
                </p:extLst>
              </p:nvPr>
            </p:nvGraphicFramePr>
            <p:xfrm>
              <a:off x="312204" y="1077789"/>
              <a:ext cx="10066338" cy="3256598"/>
            </p:xfrm>
            <a:graphic>
              <a:graphicData uri="http://schemas.openxmlformats.org/drawingml/2006/table">
                <a:tbl>
                  <a:tblPr firstRow="1" firstCol="1" bandRow="1">
                    <a:tableStyleId>{854B67C7-B280-42D8-B184-0A409CBFCAF9}</a:tableStyleId>
                  </a:tblPr>
                  <a:tblGrid>
                    <a:gridCol w="2246382">
                      <a:extLst>
                        <a:ext uri="{9D8B030D-6E8A-4147-A177-3AD203B41FA5}">
                          <a16:colId xmlns:a16="http://schemas.microsoft.com/office/drawing/2014/main" val="3362548641"/>
                        </a:ext>
                      </a:extLst>
                    </a:gridCol>
                    <a:gridCol w="3796747">
                      <a:extLst>
                        <a:ext uri="{9D8B030D-6E8A-4147-A177-3AD203B41FA5}">
                          <a16:colId xmlns:a16="http://schemas.microsoft.com/office/drawing/2014/main" val="2484898381"/>
                        </a:ext>
                      </a:extLst>
                    </a:gridCol>
                    <a:gridCol w="4023209">
                      <a:extLst>
                        <a:ext uri="{9D8B030D-6E8A-4147-A177-3AD203B41FA5}">
                          <a16:colId xmlns:a16="http://schemas.microsoft.com/office/drawing/2014/main" val="1612371265"/>
                        </a:ext>
                      </a:extLst>
                    </a:gridCol>
                  </a:tblGrid>
                  <a:tr h="358331">
                    <a:tc>
                      <a:txBody>
                        <a:bodyPr/>
                        <a:lstStyle/>
                        <a:p>
                          <a:pPr>
                            <a:buNone/>
                          </a:pPr>
                          <a:r>
                            <a:rPr lang="ja-JP" sz="1600">
                              <a:latin typeface="+mn-ea"/>
                              <a:ea typeface="+mn-ea"/>
                            </a:rPr>
                            <a:t>評価項目</a:t>
                          </a:r>
                        </a:p>
                      </a:txBody>
                      <a:tcPr anchor="ctr"/>
                    </a:tc>
                    <a:tc>
                      <a:txBody>
                        <a:bodyPr/>
                        <a:lstStyle/>
                        <a:p>
                          <a:endParaRPr lang="ja-JP"/>
                        </a:p>
                      </a:txBody>
                      <a:tcPr anchor="ctr">
                        <a:blipFill>
                          <a:blip r:embed="rId3"/>
                          <a:stretch>
                            <a:fillRect l="-59390" t="-5085" r="-106581" b="-828814"/>
                          </a:stretch>
                        </a:blipFill>
                      </a:tcPr>
                    </a:tc>
                    <a:tc>
                      <a:txBody>
                        <a:bodyPr/>
                        <a:lstStyle/>
                        <a:p>
                          <a:endParaRPr lang="ja-JP"/>
                        </a:p>
                      </a:txBody>
                      <a:tcPr anchor="ctr">
                        <a:blipFill>
                          <a:blip r:embed="rId3"/>
                          <a:stretch>
                            <a:fillRect l="-150455" t="-5085" r="-606" b="-828814"/>
                          </a:stretch>
                        </a:blipFill>
                      </a:tcPr>
                    </a:tc>
                    <a:extLst>
                      <a:ext uri="{0D108BD9-81ED-4DB2-BD59-A6C34878D82A}">
                        <a16:rowId xmlns:a16="http://schemas.microsoft.com/office/drawing/2014/main" val="1596755709"/>
                      </a:ext>
                    </a:extLst>
                  </a:tr>
                  <a:tr h="335280">
                    <a:tc>
                      <a:txBody>
                        <a:bodyPr/>
                        <a:lstStyle/>
                        <a:p>
                          <a:pPr>
                            <a:buNone/>
                          </a:pPr>
                          <a:r>
                            <a:rPr lang="ja-JP" sz="1600">
                              <a:latin typeface="+mn-ea"/>
                              <a:ea typeface="+mn-ea"/>
                            </a:rPr>
                            <a:t>みているもの</a:t>
                          </a:r>
                        </a:p>
                      </a:txBody>
                      <a:tcPr anchor="ctr"/>
                    </a:tc>
                    <a:tc>
                      <a:txBody>
                        <a:bodyPr/>
                        <a:lstStyle/>
                        <a:p>
                          <a:pPr>
                            <a:buNone/>
                          </a:pPr>
                          <a:r>
                            <a:rPr lang="ja-JP" sz="1600">
                              <a:latin typeface="+mn-ea"/>
                              <a:ea typeface="+mn-ea"/>
                            </a:rPr>
                            <a:t>「影響の大きさ（寄与度）」</a:t>
                          </a:r>
                        </a:p>
                      </a:txBody>
                      <a:tcPr anchor="ctr"/>
                    </a:tc>
                    <a:tc>
                      <a:txBody>
                        <a:bodyPr/>
                        <a:lstStyle/>
                        <a:p>
                          <a:pPr>
                            <a:buNone/>
                          </a:pPr>
                          <a:r>
                            <a:rPr lang="ja-JP" sz="1600">
                              <a:latin typeface="+mn-ea"/>
                              <a:ea typeface="+mn-ea"/>
                            </a:rPr>
                            <a:t>「技術間の相互関係（作用メカニズム）」</a:t>
                          </a:r>
                        </a:p>
                      </a:txBody>
                      <a:tcPr anchor="ctr"/>
                    </a:tc>
                    <a:extLst>
                      <a:ext uri="{0D108BD9-81ED-4DB2-BD59-A6C34878D82A}">
                        <a16:rowId xmlns:a16="http://schemas.microsoft.com/office/drawing/2014/main" val="58392941"/>
                      </a:ext>
                    </a:extLst>
                  </a:tr>
                  <a:tr h="779526">
                    <a:tc>
                      <a:txBody>
                        <a:bodyPr/>
                        <a:lstStyle/>
                        <a:p>
                          <a:pPr>
                            <a:buNone/>
                          </a:pPr>
                          <a:r>
                            <a:rPr lang="ja-JP" sz="1600">
                              <a:latin typeface="+mn-ea"/>
                              <a:ea typeface="+mn-ea"/>
                            </a:rPr>
                            <a:t>定義・意味</a:t>
                          </a:r>
                        </a:p>
                      </a:txBody>
                      <a:tcPr anchor="ctr"/>
                    </a:tc>
                    <a:tc>
                      <a:txBody>
                        <a:bodyPr/>
                        <a:lstStyle/>
                        <a:p>
                          <a:pPr>
                            <a:buNone/>
                          </a:pPr>
                          <a:r>
                            <a:rPr lang="ja-JP" sz="1600">
                              <a:latin typeface="+mn-ea"/>
                              <a:ea typeface="+mn-ea"/>
                            </a:rPr>
                            <a:t>総コストの不確実性（分散）のうち、2因子の組合せで生じるブレの割合</a:t>
                          </a:r>
                        </a:p>
                      </a:txBody>
                      <a:tcPr anchor="ctr"/>
                    </a:tc>
                    <a:tc>
                      <a:txBody>
                        <a:bodyPr/>
                        <a:lstStyle/>
                        <a:p>
                          <a:endParaRPr lang="ja-JP"/>
                        </a:p>
                      </a:txBody>
                      <a:tcPr anchor="ctr">
                        <a:blipFill>
                          <a:blip r:embed="rId3"/>
                          <a:stretch>
                            <a:fillRect l="-150455" t="-91406" r="-606" b="-239063"/>
                          </a:stretch>
                        </a:blipFill>
                      </a:tcPr>
                    </a:tc>
                    <a:extLst>
                      <a:ext uri="{0D108BD9-81ED-4DB2-BD59-A6C34878D82A}">
                        <a16:rowId xmlns:a16="http://schemas.microsoft.com/office/drawing/2014/main" val="3869808694"/>
                      </a:ext>
                    </a:extLst>
                  </a:tr>
                  <a:tr h="335280">
                    <a:tc>
                      <a:txBody>
                        <a:bodyPr/>
                        <a:lstStyle/>
                        <a:p>
                          <a:pPr>
                            <a:buNone/>
                          </a:pPr>
                          <a:r>
                            <a:rPr lang="ja-JP" sz="1600">
                              <a:latin typeface="+mn-ea"/>
                              <a:ea typeface="+mn-ea"/>
                            </a:rPr>
                            <a:t>単位</a:t>
                          </a:r>
                        </a:p>
                      </a:txBody>
                      <a:tcPr anchor="ctr"/>
                    </a:tc>
                    <a:tc>
                      <a:txBody>
                        <a:bodyPr/>
                        <a:lstStyle/>
                        <a:p>
                          <a:pPr>
                            <a:buNone/>
                          </a:pPr>
                          <a:r>
                            <a:rPr lang="ja-JP" sz="1600">
                              <a:latin typeface="+mn-ea"/>
                              <a:ea typeface="+mn-ea"/>
                            </a:rPr>
                            <a:t>無次元（0〜1の割合・%）</a:t>
                          </a:r>
                        </a:p>
                      </a:txBody>
                      <a:tcPr anchor="ctr"/>
                    </a:tc>
                    <a:tc>
                      <a:txBody>
                        <a:bodyPr/>
                        <a:lstStyle/>
                        <a:p>
                          <a:pPr>
                            <a:buNone/>
                          </a:pPr>
                          <a:r>
                            <a:rPr lang="ja-JP" sz="1600">
                              <a:latin typeface="+mn-ea"/>
                              <a:ea typeface="+mn-ea"/>
                            </a:rPr>
                            <a:t>USD/year（具体額・限界変化量）</a:t>
                          </a:r>
                        </a:p>
                      </a:txBody>
                      <a:tcPr anchor="ctr"/>
                    </a:tc>
                    <a:extLst>
                      <a:ext uri="{0D108BD9-81ED-4DB2-BD59-A6C34878D82A}">
                        <a16:rowId xmlns:a16="http://schemas.microsoft.com/office/drawing/2014/main" val="2762100434"/>
                      </a:ext>
                    </a:extLst>
                  </a:tr>
                  <a:tr h="869061">
                    <a:tc>
                      <a:txBody>
                        <a:bodyPr/>
                        <a:lstStyle/>
                        <a:p>
                          <a:pPr>
                            <a:buNone/>
                          </a:pPr>
                          <a:r>
                            <a:rPr lang="ja-JP" sz="1600">
                              <a:latin typeface="+mn-ea"/>
                              <a:ea typeface="+mn-ea"/>
                            </a:rPr>
                            <a:t>符号の物理的意味</a:t>
                          </a:r>
                        </a:p>
                      </a:txBody>
                      <a:tcPr anchor="ctr"/>
                    </a:tc>
                    <a:tc>
                      <a:txBody>
                        <a:bodyPr/>
                        <a:lstStyle/>
                        <a:p>
                          <a:pPr>
                            <a:buNone/>
                          </a:pPr>
                          <a:r>
                            <a:rPr lang="ja-JP" sz="1600">
                              <a:latin typeface="+mn-ea"/>
                              <a:ea typeface="+mn-ea"/>
                            </a:rPr>
                            <a:t>なし（基本は大きさのみを見る）</a:t>
                          </a:r>
                        </a:p>
                      </a:txBody>
                      <a:tcPr anchor="ctr"/>
                    </a:tc>
                    <a:tc>
                      <a:txBody>
                        <a:bodyPr/>
                        <a:lstStyle/>
                        <a:p>
                          <a:endParaRPr lang="ja-JP"/>
                        </a:p>
                      </a:txBody>
                      <a:tcPr anchor="ctr">
                        <a:blipFill>
                          <a:blip r:embed="rId3"/>
                          <a:stretch>
                            <a:fillRect l="-150455" t="-210490" r="-606" b="-74825"/>
                          </a:stretch>
                        </a:blipFill>
                      </a:tcPr>
                    </a:tc>
                    <a:extLst>
                      <a:ext uri="{0D108BD9-81ED-4DB2-BD59-A6C34878D82A}">
                        <a16:rowId xmlns:a16="http://schemas.microsoft.com/office/drawing/2014/main" val="63636077"/>
                      </a:ext>
                    </a:extLst>
                  </a:tr>
                  <a:tr h="579120">
                    <a:tc>
                      <a:txBody>
                        <a:bodyPr/>
                        <a:lstStyle/>
                        <a:p>
                          <a:pPr>
                            <a:buNone/>
                          </a:pPr>
                          <a:r>
                            <a:rPr lang="ja-JP" sz="1600">
                              <a:latin typeface="+mn-ea"/>
                              <a:ea typeface="+mn-ea"/>
                            </a:rPr>
                            <a:t>役割・用途</a:t>
                          </a:r>
                        </a:p>
                      </a:txBody>
                      <a:tcPr anchor="ctr"/>
                    </a:tc>
                    <a:tc>
                      <a:txBody>
                        <a:bodyPr/>
                        <a:lstStyle/>
                        <a:p>
                          <a:pPr>
                            <a:buNone/>
                          </a:pPr>
                          <a:r>
                            <a:rPr lang="ja-JP" sz="1600">
                              <a:latin typeface="+mn-ea"/>
                              <a:ea typeface="+mn-ea"/>
                            </a:rPr>
                            <a:t>「どの組合せがコスト不確実性の原因か？」の特定</a:t>
                          </a:r>
                        </a:p>
                      </a:txBody>
                      <a:tcPr anchor="ctr"/>
                    </a:tc>
                    <a:tc>
                      <a:txBody>
                        <a:bodyPr/>
                        <a:lstStyle/>
                        <a:p>
                          <a:pPr>
                            <a:buNone/>
                          </a:pPr>
                          <a:r>
                            <a:rPr lang="ja-JP" sz="1600" dirty="0">
                              <a:latin typeface="+mn-ea"/>
                              <a:ea typeface="+mn-ea"/>
                            </a:rPr>
                            <a:t>「なぜその2つの技術が相乗/競合効果を持つのか？」の理由説明</a:t>
                          </a:r>
                        </a:p>
                      </a:txBody>
                      <a:tcPr anchor="ctr"/>
                    </a:tc>
                    <a:extLst>
                      <a:ext uri="{0D108BD9-81ED-4DB2-BD59-A6C34878D82A}">
                        <a16:rowId xmlns:a16="http://schemas.microsoft.com/office/drawing/2014/main" val="322583877"/>
                      </a:ext>
                    </a:extLst>
                  </a:tr>
                </a:tbl>
              </a:graphicData>
            </a:graphic>
          </p:graphicFrame>
        </mc:Fallback>
      </mc:AlternateContent>
    </p:spTree>
    <p:extLst>
      <p:ext uri="{BB962C8B-B14F-4D97-AF65-F5344CB8AC3E}">
        <p14:creationId xmlns:p14="http://schemas.microsoft.com/office/powerpoint/2010/main" val="22053936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5127E64-15EB-DF51-9E1E-AC3A87520EA6}"/>
              </a:ext>
            </a:extLst>
          </p:cNvPr>
          <p:cNvSpPr>
            <a:spLocks noGrp="1"/>
          </p:cNvSpPr>
          <p:nvPr>
            <p:ph type="title"/>
          </p:nvPr>
        </p:nvSpPr>
        <p:spPr/>
        <p:txBody>
          <a:bodyPr/>
          <a:lstStyle/>
          <a:p>
            <a:r>
              <a:rPr kumimoji="1" lang="en-US" altLang="ja-JP" dirty="0" err="1"/>
              <a:t>RidgeCV</a:t>
            </a:r>
            <a:r>
              <a:rPr kumimoji="1" lang="ja-JP" altLang="en-US" dirty="0"/>
              <a:t>と</a:t>
            </a:r>
            <a:r>
              <a:rPr kumimoji="1" lang="en-US" altLang="ja-JP" dirty="0"/>
              <a:t>LAR(Least</a:t>
            </a:r>
            <a:r>
              <a:rPr kumimoji="1" lang="ja-JP" altLang="en-US" dirty="0"/>
              <a:t> </a:t>
            </a:r>
            <a:r>
              <a:rPr kumimoji="1" lang="en-US" altLang="ja-JP" dirty="0"/>
              <a:t>Angle</a:t>
            </a:r>
            <a:r>
              <a:rPr kumimoji="1" lang="ja-JP" altLang="en-US" dirty="0"/>
              <a:t> </a:t>
            </a:r>
            <a:r>
              <a:rPr kumimoji="1" lang="en-US" altLang="ja-JP" dirty="0"/>
              <a:t>Regression)</a:t>
            </a:r>
            <a:r>
              <a:rPr kumimoji="1" lang="ja-JP" altLang="en-US" dirty="0"/>
              <a:t>の比較</a:t>
            </a:r>
          </a:p>
        </p:txBody>
      </p:sp>
      <p:graphicFrame>
        <p:nvGraphicFramePr>
          <p:cNvPr id="3" name="表 2">
            <a:extLst>
              <a:ext uri="{FF2B5EF4-FFF2-40B4-BE49-F238E27FC236}">
                <a16:creationId xmlns:a16="http://schemas.microsoft.com/office/drawing/2014/main" id="{54506BE8-089F-38B5-03AC-7A9DFBC3610C}"/>
              </a:ext>
            </a:extLst>
          </p:cNvPr>
          <p:cNvGraphicFramePr>
            <a:graphicFrameLocks noGrp="1"/>
          </p:cNvGraphicFramePr>
          <p:nvPr>
            <p:extLst>
              <p:ext uri="{D42A27DB-BD31-4B8C-83A1-F6EECF244321}">
                <p14:modId xmlns:p14="http://schemas.microsoft.com/office/powerpoint/2010/main" val="3445384509"/>
              </p:ext>
            </p:extLst>
          </p:nvPr>
        </p:nvGraphicFramePr>
        <p:xfrm>
          <a:off x="312204" y="1101642"/>
          <a:ext cx="10066338" cy="2011680"/>
        </p:xfrm>
        <a:graphic>
          <a:graphicData uri="http://schemas.openxmlformats.org/drawingml/2006/table">
            <a:tbl>
              <a:tblPr firstRow="1" firstCol="1" bandRow="1">
                <a:tableStyleId>{854B67C7-B280-42D8-B184-0A409CBFCAF9}</a:tableStyleId>
              </a:tblPr>
              <a:tblGrid>
                <a:gridCol w="2196686">
                  <a:extLst>
                    <a:ext uri="{9D8B030D-6E8A-4147-A177-3AD203B41FA5}">
                      <a16:colId xmlns:a16="http://schemas.microsoft.com/office/drawing/2014/main" val="2977736108"/>
                    </a:ext>
                  </a:extLst>
                </a:gridCol>
                <a:gridCol w="3558209">
                  <a:extLst>
                    <a:ext uri="{9D8B030D-6E8A-4147-A177-3AD203B41FA5}">
                      <a16:colId xmlns:a16="http://schemas.microsoft.com/office/drawing/2014/main" val="2633138424"/>
                    </a:ext>
                  </a:extLst>
                </a:gridCol>
                <a:gridCol w="4311443">
                  <a:extLst>
                    <a:ext uri="{9D8B030D-6E8A-4147-A177-3AD203B41FA5}">
                      <a16:colId xmlns:a16="http://schemas.microsoft.com/office/drawing/2014/main" val="2933199964"/>
                    </a:ext>
                  </a:extLst>
                </a:gridCol>
              </a:tblGrid>
              <a:tr h="0">
                <a:tc>
                  <a:txBody>
                    <a:bodyPr/>
                    <a:lstStyle/>
                    <a:p>
                      <a:pPr>
                        <a:buNone/>
                      </a:pPr>
                      <a:endParaRPr lang="ja-JP">
                        <a:latin typeface="+mn-ea"/>
                        <a:ea typeface="+mn-ea"/>
                      </a:endParaRPr>
                    </a:p>
                  </a:txBody>
                  <a:tcPr anchor="ctr"/>
                </a:tc>
                <a:tc>
                  <a:txBody>
                    <a:bodyPr/>
                    <a:lstStyle/>
                    <a:p>
                      <a:pPr>
                        <a:buNone/>
                      </a:pPr>
                      <a:r>
                        <a:rPr lang="ja-JP">
                          <a:latin typeface="+mn-ea"/>
                          <a:ea typeface="+mn-ea"/>
                        </a:rPr>
                        <a:t>RidgeCV</a:t>
                      </a:r>
                    </a:p>
                  </a:txBody>
                  <a:tcPr anchor="ctr"/>
                </a:tc>
                <a:tc>
                  <a:txBody>
                    <a:bodyPr/>
                    <a:lstStyle/>
                    <a:p>
                      <a:pPr>
                        <a:buNone/>
                      </a:pPr>
                      <a:r>
                        <a:rPr lang="ja-JP">
                          <a:latin typeface="+mn-ea"/>
                          <a:ea typeface="+mn-ea"/>
                        </a:rPr>
                        <a:t>LAR（Least Angle Regression）</a:t>
                      </a:r>
                    </a:p>
                  </a:txBody>
                  <a:tcPr anchor="ctr"/>
                </a:tc>
                <a:extLst>
                  <a:ext uri="{0D108BD9-81ED-4DB2-BD59-A6C34878D82A}">
                    <a16:rowId xmlns:a16="http://schemas.microsoft.com/office/drawing/2014/main" val="2494756375"/>
                  </a:ext>
                </a:extLst>
              </a:tr>
              <a:tr h="0">
                <a:tc>
                  <a:txBody>
                    <a:bodyPr/>
                    <a:lstStyle/>
                    <a:p>
                      <a:pPr>
                        <a:buNone/>
                      </a:pPr>
                      <a:r>
                        <a:rPr lang="ja-JP">
                          <a:latin typeface="+mn-ea"/>
                          <a:ea typeface="+mn-ea"/>
                        </a:rPr>
                        <a:t>正則化</a:t>
                      </a:r>
                    </a:p>
                  </a:txBody>
                  <a:tcPr anchor="ctr"/>
                </a:tc>
                <a:tc>
                  <a:txBody>
                    <a:bodyPr/>
                    <a:lstStyle/>
                    <a:p>
                      <a:pPr>
                        <a:buNone/>
                      </a:pPr>
                      <a:r>
                        <a:rPr lang="ja-JP">
                          <a:latin typeface="+mn-ea"/>
                          <a:ea typeface="+mn-ea"/>
                        </a:rPr>
                        <a:t>L2（係数を縮める）</a:t>
                      </a:r>
                    </a:p>
                  </a:txBody>
                  <a:tcPr anchor="ctr"/>
                </a:tc>
                <a:tc>
                  <a:txBody>
                    <a:bodyPr/>
                    <a:lstStyle/>
                    <a:p>
                      <a:pPr>
                        <a:buNone/>
                      </a:pPr>
                      <a:r>
                        <a:rPr lang="ja-JP">
                          <a:latin typeface="+mn-ea"/>
                          <a:ea typeface="+mn-ea"/>
                        </a:rPr>
                        <a:t>基底を1つずつ選んでいく（L1系）</a:t>
                      </a:r>
                    </a:p>
                  </a:txBody>
                  <a:tcPr anchor="ctr"/>
                </a:tc>
                <a:extLst>
                  <a:ext uri="{0D108BD9-81ED-4DB2-BD59-A6C34878D82A}">
                    <a16:rowId xmlns:a16="http://schemas.microsoft.com/office/drawing/2014/main" val="3867798810"/>
                  </a:ext>
                </a:extLst>
              </a:tr>
              <a:tr h="0">
                <a:tc>
                  <a:txBody>
                    <a:bodyPr/>
                    <a:lstStyle/>
                    <a:p>
                      <a:pPr>
                        <a:buNone/>
                      </a:pPr>
                      <a:r>
                        <a:rPr lang="ja-JP">
                          <a:latin typeface="+mn-ea"/>
                          <a:ea typeface="+mn-ea"/>
                        </a:rPr>
                        <a:t>結果</a:t>
                      </a:r>
                    </a:p>
                  </a:txBody>
                  <a:tcPr anchor="ctr"/>
                </a:tc>
                <a:tc>
                  <a:txBody>
                    <a:bodyPr/>
                    <a:lstStyle/>
                    <a:p>
                      <a:pPr>
                        <a:buNone/>
                      </a:pPr>
                      <a:r>
                        <a:rPr lang="ja-JP">
                          <a:latin typeface="+mn-ea"/>
                          <a:ea typeface="+mn-ea"/>
                        </a:rPr>
                        <a:t>全基底が残る（0にはならない）</a:t>
                      </a:r>
                    </a:p>
                  </a:txBody>
                  <a:tcPr anchor="ctr"/>
                </a:tc>
                <a:tc>
                  <a:txBody>
                    <a:bodyPr/>
                    <a:lstStyle/>
                    <a:p>
                      <a:pPr>
                        <a:buNone/>
                      </a:pPr>
                      <a:r>
                        <a:rPr lang="ja-JP">
                          <a:latin typeface="+mn-ea"/>
                          <a:ea typeface="+mn-ea"/>
                        </a:rPr>
                        <a:t>不要な基底の係数がちょうど0になる（疎なPCE）</a:t>
                      </a:r>
                    </a:p>
                  </a:txBody>
                  <a:tcPr anchor="ctr"/>
                </a:tc>
                <a:extLst>
                  <a:ext uri="{0D108BD9-81ED-4DB2-BD59-A6C34878D82A}">
                    <a16:rowId xmlns:a16="http://schemas.microsoft.com/office/drawing/2014/main" val="4036691485"/>
                  </a:ext>
                </a:extLst>
              </a:tr>
              <a:tr h="0">
                <a:tc>
                  <a:txBody>
                    <a:bodyPr/>
                    <a:lstStyle/>
                    <a:p>
                      <a:pPr>
                        <a:buNone/>
                      </a:pPr>
                      <a:r>
                        <a:rPr lang="ja-JP">
                          <a:latin typeface="+mn-ea"/>
                          <a:ea typeface="+mn-ea"/>
                        </a:rPr>
                        <a:t>向いている場面</a:t>
                      </a:r>
                    </a:p>
                  </a:txBody>
                  <a:tcPr anchor="ctr"/>
                </a:tc>
                <a:tc>
                  <a:txBody>
                    <a:bodyPr/>
                    <a:lstStyle/>
                    <a:p>
                      <a:pPr>
                        <a:buNone/>
                      </a:pPr>
                      <a:r>
                        <a:rPr lang="ja-JP">
                          <a:latin typeface="+mn-ea"/>
                          <a:ea typeface="+mn-ea"/>
                        </a:rPr>
                        <a:t>基底数が少なく、サンプルが十分</a:t>
                      </a:r>
                    </a:p>
                  </a:txBody>
                  <a:tcPr anchor="ctr"/>
                </a:tc>
                <a:tc>
                  <a:txBody>
                    <a:bodyPr/>
                    <a:lstStyle/>
                    <a:p>
                      <a:pPr>
                        <a:buNone/>
                      </a:pPr>
                      <a:r>
                        <a:rPr lang="ja-JP" dirty="0">
                          <a:latin typeface="+mn-ea"/>
                          <a:ea typeface="+mn-ea"/>
                        </a:rPr>
                        <a:t>次元や次数が高く、基底数がサンプル数に近い・上回る</a:t>
                      </a:r>
                    </a:p>
                  </a:txBody>
                  <a:tcPr anchor="ctr"/>
                </a:tc>
                <a:extLst>
                  <a:ext uri="{0D108BD9-81ED-4DB2-BD59-A6C34878D82A}">
                    <a16:rowId xmlns:a16="http://schemas.microsoft.com/office/drawing/2014/main" val="2762363302"/>
                  </a:ext>
                </a:extLst>
              </a:tr>
            </a:tbl>
          </a:graphicData>
        </a:graphic>
      </p:graphicFrame>
    </p:spTree>
    <p:extLst>
      <p:ext uri="{BB962C8B-B14F-4D97-AF65-F5344CB8AC3E}">
        <p14:creationId xmlns:p14="http://schemas.microsoft.com/office/powerpoint/2010/main" val="2244694006"/>
      </p:ext>
    </p:extLst>
  </p:cSld>
  <p:clrMapOvr>
    <a:masterClrMapping/>
  </p:clrMapOvr>
</p:sld>
</file>

<file path=ppt/theme/theme1.xml><?xml version="1.0" encoding="utf-8"?>
<a:theme xmlns:a="http://schemas.openxmlformats.org/drawingml/2006/main" name="デザインの設定">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ユーザー定義 3">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26420</TotalTime>
  <Words>3084</Words>
  <Application>Microsoft Office PowerPoint</Application>
  <PresentationFormat>ユーザー設定</PresentationFormat>
  <Paragraphs>333</Paragraphs>
  <Slides>31</Slides>
  <Notes>0</Notes>
  <HiddenSlides>0</HiddenSlides>
  <MMClips>0</MMClips>
  <ScaleCrop>false</ScaleCrop>
  <HeadingPairs>
    <vt:vector size="8" baseType="variant">
      <vt:variant>
        <vt:lpstr>使用されているフォント</vt:lpstr>
      </vt:variant>
      <vt:variant>
        <vt:i4>6</vt:i4>
      </vt:variant>
      <vt:variant>
        <vt:lpstr>テーマ</vt:lpstr>
      </vt:variant>
      <vt:variant>
        <vt:i4>1</vt:i4>
      </vt:variant>
      <vt:variant>
        <vt:lpstr>埋め込まれた OLE サーバー</vt:lpstr>
      </vt:variant>
      <vt:variant>
        <vt:i4>1</vt:i4>
      </vt:variant>
      <vt:variant>
        <vt:lpstr>スライド タイトル</vt:lpstr>
      </vt:variant>
      <vt:variant>
        <vt:i4>31</vt:i4>
      </vt:variant>
    </vt:vector>
  </HeadingPairs>
  <TitlesOfParts>
    <vt:vector size="39" baseType="lpstr">
      <vt:lpstr>Meiryo UI</vt:lpstr>
      <vt:lpstr>Noto Sans JP</vt:lpstr>
      <vt:lpstr>Arial</vt:lpstr>
      <vt:lpstr>Calibri</vt:lpstr>
      <vt:lpstr>Cambria Math</vt:lpstr>
      <vt:lpstr>Wingdings</vt:lpstr>
      <vt:lpstr>デザインの設定</vt:lpstr>
      <vt:lpstr>Worksheet</vt:lpstr>
      <vt:lpstr>電力系統におけるSobol感度分析  ~LHSサンプリング、PCEサロゲートモデル、 Sobol感度分析の検証~</vt:lpstr>
      <vt:lpstr>背景と目的</vt:lpstr>
      <vt:lpstr>容量拡張計画における不確実性の課題</vt:lpstr>
      <vt:lpstr>LHSサンプリング、PCEサロゲートモデル、 Sobol感度分析の検証用モデル</vt:lpstr>
      <vt:lpstr>実験用のサンプルモデル</vt:lpstr>
      <vt:lpstr>モデルの定式化</vt:lpstr>
      <vt:lpstr>各技術のコストと不確実性の設定</vt:lpstr>
      <vt:lpstr>不確実性パラメータとLHSサンプリング</vt:lpstr>
      <vt:lpstr>4. PCEサロゲートモデルの構築と精度検証</vt:lpstr>
      <vt:lpstr>SOBOL感度分析計算手法</vt:lpstr>
      <vt:lpstr>計算結果（代表値による計算）</vt:lpstr>
      <vt:lpstr>Monthly Energy Dispatch</vt:lpstr>
      <vt:lpstr>Weekly Supply-Demand Balance</vt:lpstr>
      <vt:lpstr>最適電源構成と年間発電量</vt:lpstr>
      <vt:lpstr>PCEサロゲートモデルによるSobol感度分析</vt:lpstr>
      <vt:lpstr>Sobol感度指標比較:</vt:lpstr>
      <vt:lpstr>PCE交差項符号解析（技術間の代替・補完判定）</vt:lpstr>
      <vt:lpstr>PCEサロゲートモデルによる複数パラメータの感度分析</vt:lpstr>
      <vt:lpstr>PCEサロゲートモデルの精度検証</vt:lpstr>
      <vt:lpstr>PCEサロゲートモデルの精度検証</vt:lpstr>
      <vt:lpstr>PCEサロゲートモデルが過学習を起こしていないかの検証</vt:lpstr>
      <vt:lpstr>まとめ</vt:lpstr>
      <vt:lpstr>1. サロゲートモデル構築と精度検証</vt:lpstr>
      <vt:lpstr>2. 総コスト不確実性の主要因特定（Sobol感度指標）</vt:lpstr>
      <vt:lpstr>3. PCE交差項（C_ij）に基づく技術間相互作用の物理的判定</vt:lpstr>
      <vt:lpstr>次のステップ</vt:lpstr>
      <vt:lpstr>今後の予定</vt:lpstr>
      <vt:lpstr>Reference</vt:lpstr>
      <vt:lpstr>Reference</vt:lpstr>
      <vt:lpstr>S_ij(Sobol 2次感度指標)とC_ij(PCE交差項係数)の比較</vt:lpstr>
      <vt:lpstr>RidgeCVとLAR(Least Angle Regression)の比較</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Project for Low Carbon and Stable Supply at Power System in Tunisia  Project Outline</dc:title>
  <dc:creator>田草川彰</dc:creator>
  <cp:lastModifiedBy>柳瀬　崇</cp:lastModifiedBy>
  <cp:revision>320</cp:revision>
  <cp:lastPrinted>2026-09-17T09:40:13Z</cp:lastPrinted>
  <dcterms:created xsi:type="dcterms:W3CDTF">2014-03-25T10:03:31Z</dcterms:created>
  <dcterms:modified xsi:type="dcterms:W3CDTF">2026-10-01T08:09:53Z</dcterms:modified>
</cp:coreProperties>
</file>